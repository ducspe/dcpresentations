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9" d="100"/>
          <a:sy n="199" d="100"/>
        </p:scale>
        <p:origin x="684" y="15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us, Danu" userId="76bbb7e8-a05c-4774-86b8-3bcd1c5d58b7" providerId="ADAL" clId="{25141FD5-A6FE-43F2-8E7E-7262B0A5DBE9}"/>
    <pc:docChg chg="custSel modSld">
      <pc:chgData name="Caus, Danu" userId="76bbb7e8-a05c-4774-86b8-3bcd1c5d58b7" providerId="ADAL" clId="{25141FD5-A6FE-43F2-8E7E-7262B0A5DBE9}" dt="2026-10-03T09:43:34.311" v="93" actId="1076"/>
      <pc:docMkLst>
        <pc:docMk/>
      </pc:docMkLst>
      <pc:sldChg chg="modSp mod">
        <pc:chgData name="Caus, Danu" userId="76bbb7e8-a05c-4774-86b8-3bcd1c5d58b7" providerId="ADAL" clId="{25141FD5-A6FE-43F2-8E7E-7262B0A5DBE9}" dt="2026-10-03T09:41:55.944" v="80" actId="14100"/>
        <pc:sldMkLst>
          <pc:docMk/>
          <pc:sldMk cId="0" sldId="257"/>
        </pc:sldMkLst>
        <pc:spChg chg="mod">
          <ac:chgData name="Caus, Danu" userId="76bbb7e8-a05c-4774-86b8-3bcd1c5d58b7" providerId="ADAL" clId="{25141FD5-A6FE-43F2-8E7E-7262B0A5DBE9}" dt="2026-10-03T09:41:55.944" v="80" actId="14100"/>
          <ac:spMkLst>
            <pc:docMk/>
            <pc:sldMk cId="0" sldId="257"/>
            <ac:spMk id="70" creationId="{00000000-0000-0000-0000-000000000000}"/>
          </ac:spMkLst>
        </pc:spChg>
      </pc:sldChg>
      <pc:sldChg chg="modSp mod">
        <pc:chgData name="Caus, Danu" userId="76bbb7e8-a05c-4774-86b8-3bcd1c5d58b7" providerId="ADAL" clId="{25141FD5-A6FE-43F2-8E7E-7262B0A5DBE9}" dt="2026-10-03T09:33:44.349" v="72" actId="1076"/>
        <pc:sldMkLst>
          <pc:docMk/>
          <pc:sldMk cId="0" sldId="264"/>
        </pc:sldMkLst>
        <pc:picChg chg="mod">
          <ac:chgData name="Caus, Danu" userId="76bbb7e8-a05c-4774-86b8-3bcd1c5d58b7" providerId="ADAL" clId="{25141FD5-A6FE-43F2-8E7E-7262B0A5DBE9}" dt="2026-10-03T09:33:44.349" v="72" actId="1076"/>
          <ac:picMkLst>
            <pc:docMk/>
            <pc:sldMk cId="0" sldId="264"/>
            <ac:picMk id="175" creationId="{00000000-0000-0000-0000-000000000000}"/>
          </ac:picMkLst>
        </pc:picChg>
      </pc:sldChg>
      <pc:sldChg chg="modSp mod">
        <pc:chgData name="Caus, Danu" userId="76bbb7e8-a05c-4774-86b8-3bcd1c5d58b7" providerId="ADAL" clId="{25141FD5-A6FE-43F2-8E7E-7262B0A5DBE9}" dt="2026-10-03T09:33:07.613" v="71" actId="1076"/>
        <pc:sldMkLst>
          <pc:docMk/>
          <pc:sldMk cId="0" sldId="310"/>
        </pc:sldMkLst>
        <pc:spChg chg="mod">
          <ac:chgData name="Caus, Danu" userId="76bbb7e8-a05c-4774-86b8-3bcd1c5d58b7" providerId="ADAL" clId="{25141FD5-A6FE-43F2-8E7E-7262B0A5DBE9}" dt="2026-10-03T09:33:07.613" v="71" actId="1076"/>
          <ac:spMkLst>
            <pc:docMk/>
            <pc:sldMk cId="0" sldId="310"/>
            <ac:spMk id="1119" creationId="{00000000-0000-0000-0000-000000000000}"/>
          </ac:spMkLst>
        </pc:spChg>
      </pc:sldChg>
      <pc:sldChg chg="modSp mod">
        <pc:chgData name="Caus, Danu" userId="76bbb7e8-a05c-4774-86b8-3bcd1c5d58b7" providerId="ADAL" clId="{25141FD5-A6FE-43F2-8E7E-7262B0A5DBE9}" dt="2026-09-03T14:55:05.666" v="70" actId="1035"/>
        <pc:sldMkLst>
          <pc:docMk/>
          <pc:sldMk cId="0" sldId="344"/>
        </pc:sldMkLst>
        <pc:picChg chg="mod">
          <ac:chgData name="Caus, Danu" userId="76bbb7e8-a05c-4774-86b8-3bcd1c5d58b7" providerId="ADAL" clId="{25141FD5-A6FE-43F2-8E7E-7262B0A5DBE9}" dt="2026-09-03T14:55:05.666" v="70" actId="1035"/>
          <ac:picMkLst>
            <pc:docMk/>
            <pc:sldMk cId="0" sldId="344"/>
            <ac:picMk id="1686" creationId="{00000000-0000-0000-0000-000000000000}"/>
          </ac:picMkLst>
        </pc:picChg>
        <pc:picChg chg="mod">
          <ac:chgData name="Caus, Danu" userId="76bbb7e8-a05c-4774-86b8-3bcd1c5d58b7" providerId="ADAL" clId="{25141FD5-A6FE-43F2-8E7E-7262B0A5DBE9}" dt="2026-09-03T14:55:02.538" v="62" actId="1038"/>
          <ac:picMkLst>
            <pc:docMk/>
            <pc:sldMk cId="0" sldId="344"/>
            <ac:picMk id="1687" creationId="{00000000-0000-0000-0000-000000000000}"/>
          </ac:picMkLst>
        </pc:picChg>
      </pc:sldChg>
      <pc:sldChg chg="modSp mod">
        <pc:chgData name="Caus, Danu" userId="76bbb7e8-a05c-4774-86b8-3bcd1c5d58b7" providerId="ADAL" clId="{25141FD5-A6FE-43F2-8E7E-7262B0A5DBE9}" dt="2026-10-03T09:43:34.311" v="93" actId="1076"/>
        <pc:sldMkLst>
          <pc:docMk/>
          <pc:sldMk cId="0" sldId="348"/>
        </pc:sldMkLst>
        <pc:spChg chg="mod">
          <ac:chgData name="Caus, Danu" userId="76bbb7e8-a05c-4774-86b8-3bcd1c5d58b7" providerId="ADAL" clId="{25141FD5-A6FE-43F2-8E7E-7262B0A5DBE9}" dt="2026-10-03T09:43:34.311" v="93" actId="1076"/>
          <ac:spMkLst>
            <pc:docMk/>
            <pc:sldMk cId="0" sldId="348"/>
            <ac:spMk id="1728" creationId="{00000000-0000-0000-0000-000000000000}"/>
          </ac:spMkLst>
        </pc:spChg>
      </pc:sldChg>
      <pc:sldChg chg="addSp delSp modSp mod">
        <pc:chgData name="Caus, Danu" userId="76bbb7e8-a05c-4774-86b8-3bcd1c5d58b7" providerId="ADAL" clId="{25141FD5-A6FE-43F2-8E7E-7262B0A5DBE9}" dt="2026-10-03T09:43:19.962" v="90" actId="1076"/>
        <pc:sldMkLst>
          <pc:docMk/>
          <pc:sldMk cId="0" sldId="349"/>
        </pc:sldMkLst>
        <pc:spChg chg="add mod">
          <ac:chgData name="Caus, Danu" userId="76bbb7e8-a05c-4774-86b8-3bcd1c5d58b7" providerId="ADAL" clId="{25141FD5-A6FE-43F2-8E7E-7262B0A5DBE9}" dt="2026-10-03T09:43:19.962" v="90" actId="1076"/>
          <ac:spMkLst>
            <pc:docMk/>
            <pc:sldMk cId="0" sldId="349"/>
            <ac:spMk id="3" creationId="{8D88B660-79CD-5746-53F8-A177786E3D62}"/>
          </ac:spMkLst>
        </pc:spChg>
        <pc:spChg chg="del">
          <ac:chgData name="Caus, Danu" userId="76bbb7e8-a05c-4774-86b8-3bcd1c5d58b7" providerId="ADAL" clId="{25141FD5-A6FE-43F2-8E7E-7262B0A5DBE9}" dt="2026-10-03T09:42:10.826" v="81" actId="478"/>
          <ac:spMkLst>
            <pc:docMk/>
            <pc:sldMk cId="0" sldId="349"/>
            <ac:spMk id="1734" creationId="{00000000-0000-0000-0000-000000000000}"/>
          </ac:spMkLst>
        </pc:spChg>
      </pc:sldChg>
      <pc:sldChg chg="addSp delSp modSp mod">
        <pc:chgData name="Caus, Danu" userId="76bbb7e8-a05c-4774-86b8-3bcd1c5d58b7" providerId="ADAL" clId="{25141FD5-A6FE-43F2-8E7E-7262B0A5DBE9}" dt="2026-10-03T09:43:25.834" v="92" actId="22"/>
        <pc:sldMkLst>
          <pc:docMk/>
          <pc:sldMk cId="0" sldId="350"/>
        </pc:sldMkLst>
        <pc:spChg chg="add del mod">
          <ac:chgData name="Caus, Danu" userId="76bbb7e8-a05c-4774-86b8-3bcd1c5d58b7" providerId="ADAL" clId="{25141FD5-A6FE-43F2-8E7E-7262B0A5DBE9}" dt="2026-10-03T09:43:25.555" v="91" actId="478"/>
          <ac:spMkLst>
            <pc:docMk/>
            <pc:sldMk cId="0" sldId="350"/>
            <ac:spMk id="3" creationId="{036C5505-E58B-BBBC-EC11-2EEB99CF8A8B}"/>
          </ac:spMkLst>
        </pc:spChg>
        <pc:spChg chg="add">
          <ac:chgData name="Caus, Danu" userId="76bbb7e8-a05c-4774-86b8-3bcd1c5d58b7" providerId="ADAL" clId="{25141FD5-A6FE-43F2-8E7E-7262B0A5DBE9}" dt="2026-10-03T09:43:25.834" v="92" actId="22"/>
          <ac:spMkLst>
            <pc:docMk/>
            <pc:sldMk cId="0" sldId="350"/>
            <ac:spMk id="5" creationId="{F2671E03-CBB1-8399-63F7-38F6E26D98A2}"/>
          </ac:spMkLst>
        </pc:spChg>
        <pc:spChg chg="del">
          <ac:chgData name="Caus, Danu" userId="76bbb7e8-a05c-4774-86b8-3bcd1c5d58b7" providerId="ADAL" clId="{25141FD5-A6FE-43F2-8E7E-7262B0A5DBE9}" dt="2026-10-03T09:42:19.580" v="84" actId="478"/>
          <ac:spMkLst>
            <pc:docMk/>
            <pc:sldMk cId="0" sldId="350"/>
            <ac:spMk id="174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neurips.cc/media/neurips-2024/Slides/99531.pdf"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neurips.cc/media/neurips-2024/Slides/99531.pdf"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diffusion.csail.mit.edu/2026/docs/20260120_Lecture_01.pdf"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diffusion.csail.mit.edu/2025/docs/slides_lecture_2.pdf"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3" Type="http://schemas.openxmlformats.org/officeDocument/2006/relationships/hyperlink" Target="https://neurips.cc/media/neurips-2024/Slides/99531.pdf" TargetMode="External"/><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e72f13fcc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e72f13fcc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e72f13fccc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e72f13fccc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f5989c3e95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f5989c3e9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e72f13fccc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e72f13fcc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e72f13fccc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e72f13fcc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e72f13fccc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e72f13fcc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e72f13fccc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e72f13fccc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e72f13fcc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e72f13fcc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e72f13fccc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e72f13fccc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 172 from </a:t>
            </a:r>
            <a:r>
              <a:rPr lang="en" u="sng">
                <a:solidFill>
                  <a:schemeClr val="hlink"/>
                </a:solidFill>
                <a:hlinkClick r:id="rId3"/>
              </a:rPr>
              <a:t>https://neurips.cc/media/neurips-2024/Slides/99531.pdf</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e72f13fccc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e72f13fcc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 8 from </a:t>
            </a:r>
            <a:r>
              <a:rPr lang="en" u="sng">
                <a:solidFill>
                  <a:schemeClr val="hlink"/>
                </a:solidFill>
                <a:hlinkClick r:id="rId3"/>
              </a:rPr>
              <a:t>https://neurips.cc/media/neurips-2024/Slides/99531.pdf</a:t>
            </a:r>
            <a:endParaRPr/>
          </a:p>
          <a:p>
            <a:pPr marL="0" lvl="0" indent="0" algn="l" rtl="0">
              <a:spcBef>
                <a:spcPts val="0"/>
              </a:spcBef>
              <a:spcAft>
                <a:spcPts val="0"/>
              </a:spcAft>
              <a:buNone/>
            </a:pPr>
            <a:r>
              <a:rPr lang="en"/>
              <a:t>Slide 20 from </a:t>
            </a:r>
            <a:r>
              <a:rPr lang="en" u="sng">
                <a:solidFill>
                  <a:schemeClr val="hlink"/>
                </a:solidFill>
                <a:hlinkClick r:id="rId4"/>
              </a:rPr>
              <a:t>https://diffusion.csail.mit.edu/2026/docs/20260120_Lecture_01.pdf</a:t>
            </a:r>
            <a:r>
              <a:rPr lang="en"/>
              <a:t> </a:t>
            </a:r>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e72f13fccc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e72f13fcc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e72f13fccc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e72f13fccc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e72f13fccc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e72f13fccc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e72f13fccc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e72f13fcc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e72f13fccc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e72f13fccc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edb19a705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edb19a705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e72f13fccc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e72f13fcc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e72f13fccc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3e72f13fccc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e72f13fccc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e72f13fccc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e72f13fccc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e72f13fcc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e72f13fccc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e72f13fccc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e72f13fccc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3e72f13fcc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e72f13fccc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e72f13fcc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e72f13fccc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3e72f13fccc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e72f13fccc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e72f13fccc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e72f13fccc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e72f13fccc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e72f13fcc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e72f13fcc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e72f13fccc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3e72f13fccc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3e72f13fccc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3e72f13fccc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f44c10c52b_0_3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f44c10c52b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3e72f13fccc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3e72f13fccc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e72f13fccc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3e72f13fccc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e72f13fccc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e72f13fccc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Slides 33, 34 and 35 at → </a:t>
            </a:r>
            <a:r>
              <a:rPr lang="en" u="sng">
                <a:solidFill>
                  <a:schemeClr val="hlink"/>
                </a:solidFill>
                <a:hlinkClick r:id="rId3"/>
              </a:rPr>
              <a:t>https://diffusion.csail.mit.edu/2025/docs/slides_lecture_2.pdf</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e72f13fccc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3e72f13fccc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e72f13fccc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3e72f13fccc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3f393436c23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3f393436c2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3f393436c23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 name="Google Shape;693;g3f393436c2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f393436c23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3f393436c2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3f393436c23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 name="Google Shape;736;g3f393436c2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f393436c23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3f393436c2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3f393436c23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3f393436c2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f44c10c52b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3f44c10c52b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3f44c10c52b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9" name="Google Shape;859;g3f44c10c52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3f42094cbee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3f42094cbee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3f42094cbee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3f42094cbee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3f42094cbee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8" name="Google Shape;908;g3f42094cbee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3f42094cbee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6" name="Google Shape;926;g3f42094cbee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3f42094cbee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7" name="Google Shape;1017;g3f42094cbee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3f42094cbee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3f42094cbee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3f42094cbee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3f42094cbee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3f42094cbee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3f42094cbee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3f42094cbee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3f42094cbee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3f42094cbee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6" name="Google Shape;1086;g3f42094cbee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3f44c10c52b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5" name="Google Shape;1105;g3f44c10c52b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3f44c10c52b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3" name="Google Shape;1123;g3f44c10c52b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g3f44c10c52b_0_2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3f44c10c52b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3f44c10c52b_0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1" name="Google Shape;1151;g3f44c10c52b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g3f44c10c52b_0_2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1" name="Google Shape;1161;g3f44c10c52b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g3f44c10c52b_0_3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6" name="Google Shape;1176;g3f44c10c52b_0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3f44c10c52b_0_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3f44c10c52b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g3f44c10c52b_0_2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6" name="Google Shape;1196;g3f44c10c52b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g3f44c10c52b_0_2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3f44c10c52b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g3f44c10c52b_0_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8" name="Google Shape;1228;g3f44c10c52b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g3f44c10c52b_0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0" name="Google Shape;1240;g3f44c10c52b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6"/>
        <p:cNvGrpSpPr/>
        <p:nvPr/>
      </p:nvGrpSpPr>
      <p:grpSpPr>
        <a:xfrm>
          <a:off x="0" y="0"/>
          <a:ext cx="0" cy="0"/>
          <a:chOff x="0" y="0"/>
          <a:chExt cx="0" cy="0"/>
        </a:xfrm>
      </p:grpSpPr>
      <p:sp>
        <p:nvSpPr>
          <p:cNvPr id="1267" name="Google Shape;1267;g3f44c10c52b_0_2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8" name="Google Shape;1268;g3f44c10c52b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g3f44c10c52b_0_2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5" name="Google Shape;1285;g3f44c10c52b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g3f44c10c52b_0_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8" name="Google Shape;1298;g3f44c10c52b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3f44c10c52b_0_2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3f44c10c52b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8"/>
        <p:cNvGrpSpPr/>
        <p:nvPr/>
      </p:nvGrpSpPr>
      <p:grpSpPr>
        <a:xfrm>
          <a:off x="0" y="0"/>
          <a:ext cx="0" cy="0"/>
          <a:chOff x="0" y="0"/>
          <a:chExt cx="0" cy="0"/>
        </a:xfrm>
      </p:grpSpPr>
      <p:sp>
        <p:nvSpPr>
          <p:cNvPr id="1349" name="Google Shape;1349;g3f44c10c52b_0_2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0" name="Google Shape;1350;g3f44c10c52b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2"/>
        <p:cNvGrpSpPr/>
        <p:nvPr/>
      </p:nvGrpSpPr>
      <p:grpSpPr>
        <a:xfrm>
          <a:off x="0" y="0"/>
          <a:ext cx="0" cy="0"/>
          <a:chOff x="0" y="0"/>
          <a:chExt cx="0" cy="0"/>
        </a:xfrm>
      </p:grpSpPr>
      <p:sp>
        <p:nvSpPr>
          <p:cNvPr id="1373" name="Google Shape;1373;g3f44c10c52b_0_2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4" name="Google Shape;1374;g3f44c10c52b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g3f44c10c52b_0_3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9" name="Google Shape;1409;g3f44c10c52b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 19 from </a:t>
            </a:r>
            <a:r>
              <a:rPr lang="en" u="sng">
                <a:solidFill>
                  <a:schemeClr val="hlink"/>
                </a:solidFill>
                <a:hlinkClick r:id="rId3"/>
              </a:rPr>
              <a:t>https://neurips.cc/media/neurips-2024/Slides/99531.pdf</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9"/>
        <p:cNvGrpSpPr/>
        <p:nvPr/>
      </p:nvGrpSpPr>
      <p:grpSpPr>
        <a:xfrm>
          <a:off x="0" y="0"/>
          <a:ext cx="0" cy="0"/>
          <a:chOff x="0" y="0"/>
          <a:chExt cx="0" cy="0"/>
        </a:xfrm>
      </p:grpSpPr>
      <p:sp>
        <p:nvSpPr>
          <p:cNvPr id="1420" name="Google Shape;1420;g3f44c10c52b_0_3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1" name="Google Shape;1421;g3f44c10c52b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8"/>
        <p:cNvGrpSpPr/>
        <p:nvPr/>
      </p:nvGrpSpPr>
      <p:grpSpPr>
        <a:xfrm>
          <a:off x="0" y="0"/>
          <a:ext cx="0" cy="0"/>
          <a:chOff x="0" y="0"/>
          <a:chExt cx="0" cy="0"/>
        </a:xfrm>
      </p:grpSpPr>
      <p:sp>
        <p:nvSpPr>
          <p:cNvPr id="1429" name="Google Shape;1429;g3f57ceabf1d_0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0" name="Google Shape;1430;g3f57ceabf1d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3f57ceabf1d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9" name="Google Shape;1469;g3f57ceabf1d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3"/>
        <p:cNvGrpSpPr/>
        <p:nvPr/>
      </p:nvGrpSpPr>
      <p:grpSpPr>
        <a:xfrm>
          <a:off x="0" y="0"/>
          <a:ext cx="0" cy="0"/>
          <a:chOff x="0" y="0"/>
          <a:chExt cx="0" cy="0"/>
        </a:xfrm>
      </p:grpSpPr>
      <p:sp>
        <p:nvSpPr>
          <p:cNvPr id="1484" name="Google Shape;1484;g3f57ceabf1d_0_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5" name="Google Shape;1485;g3f57ceabf1d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g3f57ceabf1d_0_2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5" name="Google Shape;1505;g3f57ceabf1d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3f57ceabf1d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3f57ceabf1d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7"/>
        <p:cNvGrpSpPr/>
        <p:nvPr/>
      </p:nvGrpSpPr>
      <p:grpSpPr>
        <a:xfrm>
          <a:off x="0" y="0"/>
          <a:ext cx="0" cy="0"/>
          <a:chOff x="0" y="0"/>
          <a:chExt cx="0" cy="0"/>
        </a:xfrm>
      </p:grpSpPr>
      <p:sp>
        <p:nvSpPr>
          <p:cNvPr id="1538" name="Google Shape;1538;g3f57ceabf1d_0_2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9" name="Google Shape;1539;g3f57ceabf1d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g3f57ceabf1d_0_2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1" name="Google Shape;1551;g3f57ceabf1d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3"/>
        <p:cNvGrpSpPr/>
        <p:nvPr/>
      </p:nvGrpSpPr>
      <p:grpSpPr>
        <a:xfrm>
          <a:off x="0" y="0"/>
          <a:ext cx="0" cy="0"/>
          <a:chOff x="0" y="0"/>
          <a:chExt cx="0" cy="0"/>
        </a:xfrm>
      </p:grpSpPr>
      <p:sp>
        <p:nvSpPr>
          <p:cNvPr id="1564" name="Google Shape;1564;g3f57ceabf1d_0_2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5" name="Google Shape;1565;g3f57ceabf1d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g3f57ceabf1d_0_2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3" name="Google Shape;1573;g3f57ceabf1d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2"/>
        <p:cNvGrpSpPr/>
        <p:nvPr/>
      </p:nvGrpSpPr>
      <p:grpSpPr>
        <a:xfrm>
          <a:off x="0" y="0"/>
          <a:ext cx="0" cy="0"/>
          <a:chOff x="0" y="0"/>
          <a:chExt cx="0" cy="0"/>
        </a:xfrm>
      </p:grpSpPr>
      <p:sp>
        <p:nvSpPr>
          <p:cNvPr id="1603" name="Google Shape;1603;g3f57ceabf1d_0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4" name="Google Shape;1604;g3f57ceabf1d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5"/>
        <p:cNvGrpSpPr/>
        <p:nvPr/>
      </p:nvGrpSpPr>
      <p:grpSpPr>
        <a:xfrm>
          <a:off x="0" y="0"/>
          <a:ext cx="0" cy="0"/>
          <a:chOff x="0" y="0"/>
          <a:chExt cx="0" cy="0"/>
        </a:xfrm>
      </p:grpSpPr>
      <p:sp>
        <p:nvSpPr>
          <p:cNvPr id="1616" name="Google Shape;1616;g3f57ceabf1d_0_2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7" name="Google Shape;1617;g3f57ceabf1d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3"/>
        <p:cNvGrpSpPr/>
        <p:nvPr/>
      </p:nvGrpSpPr>
      <p:grpSpPr>
        <a:xfrm>
          <a:off x="0" y="0"/>
          <a:ext cx="0" cy="0"/>
          <a:chOff x="0" y="0"/>
          <a:chExt cx="0" cy="0"/>
        </a:xfrm>
      </p:grpSpPr>
      <p:sp>
        <p:nvSpPr>
          <p:cNvPr id="1624" name="Google Shape;1624;g3f57ceabf1d_0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5" name="Google Shape;1625;g3f57ceabf1d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2"/>
        <p:cNvGrpSpPr/>
        <p:nvPr/>
      </p:nvGrpSpPr>
      <p:grpSpPr>
        <a:xfrm>
          <a:off x="0" y="0"/>
          <a:ext cx="0" cy="0"/>
          <a:chOff x="0" y="0"/>
          <a:chExt cx="0" cy="0"/>
        </a:xfrm>
      </p:grpSpPr>
      <p:sp>
        <p:nvSpPr>
          <p:cNvPr id="1643" name="Google Shape;1643;g3f57ceabf1d_0_2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4" name="Google Shape;1644;g3f57ceabf1d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
        <p:cNvGrpSpPr/>
        <p:nvPr/>
      </p:nvGrpSpPr>
      <p:grpSpPr>
        <a:xfrm>
          <a:off x="0" y="0"/>
          <a:ext cx="0" cy="0"/>
          <a:chOff x="0" y="0"/>
          <a:chExt cx="0" cy="0"/>
        </a:xfrm>
      </p:grpSpPr>
      <p:sp>
        <p:nvSpPr>
          <p:cNvPr id="1654" name="Google Shape;1654;g3f57ceabf1d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5" name="Google Shape;1655;g3f57ceabf1d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7"/>
        <p:cNvGrpSpPr/>
        <p:nvPr/>
      </p:nvGrpSpPr>
      <p:grpSpPr>
        <a:xfrm>
          <a:off x="0" y="0"/>
          <a:ext cx="0" cy="0"/>
          <a:chOff x="0" y="0"/>
          <a:chExt cx="0" cy="0"/>
        </a:xfrm>
      </p:grpSpPr>
      <p:sp>
        <p:nvSpPr>
          <p:cNvPr id="1668" name="Google Shape;1668;g3f57ceabf1d_0_2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9" name="Google Shape;1669;g3f57ceabf1d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1"/>
        <p:cNvGrpSpPr/>
        <p:nvPr/>
      </p:nvGrpSpPr>
      <p:grpSpPr>
        <a:xfrm>
          <a:off x="0" y="0"/>
          <a:ext cx="0" cy="0"/>
          <a:chOff x="0" y="0"/>
          <a:chExt cx="0" cy="0"/>
        </a:xfrm>
      </p:grpSpPr>
      <p:sp>
        <p:nvSpPr>
          <p:cNvPr id="1682" name="Google Shape;1682;g3f57ceabf1d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3" name="Google Shape;1683;g3f57ceabf1d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5"/>
        <p:cNvGrpSpPr/>
        <p:nvPr/>
      </p:nvGrpSpPr>
      <p:grpSpPr>
        <a:xfrm>
          <a:off x="0" y="0"/>
          <a:ext cx="0" cy="0"/>
          <a:chOff x="0" y="0"/>
          <a:chExt cx="0" cy="0"/>
        </a:xfrm>
      </p:grpSpPr>
      <p:sp>
        <p:nvSpPr>
          <p:cNvPr id="1696" name="Google Shape;1696;g3f57ceabf1d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7" name="Google Shape;1697;g3f57ceabf1d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8"/>
        <p:cNvGrpSpPr/>
        <p:nvPr/>
      </p:nvGrpSpPr>
      <p:grpSpPr>
        <a:xfrm>
          <a:off x="0" y="0"/>
          <a:ext cx="0" cy="0"/>
          <a:chOff x="0" y="0"/>
          <a:chExt cx="0" cy="0"/>
        </a:xfrm>
      </p:grpSpPr>
      <p:sp>
        <p:nvSpPr>
          <p:cNvPr id="1709" name="Google Shape;1709;g3f57ceabf1d_0_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0" name="Google Shape;1710;g3f57ceabf1d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3f57ceabf1d_0_2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3f57ceabf1d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2"/>
        <p:cNvGrpSpPr/>
        <p:nvPr/>
      </p:nvGrpSpPr>
      <p:grpSpPr>
        <a:xfrm>
          <a:off x="0" y="0"/>
          <a:ext cx="0" cy="0"/>
          <a:chOff x="0" y="0"/>
          <a:chExt cx="0" cy="0"/>
        </a:xfrm>
      </p:grpSpPr>
      <p:sp>
        <p:nvSpPr>
          <p:cNvPr id="1723" name="Google Shape;1723;g3f5d65caaf6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4" name="Google Shape;1724;g3f5d65caaf6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3f5da2a151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3f5da2a151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5"/>
        <p:cNvGrpSpPr/>
        <p:nvPr/>
      </p:nvGrpSpPr>
      <p:grpSpPr>
        <a:xfrm>
          <a:off x="0" y="0"/>
          <a:ext cx="0" cy="0"/>
          <a:chOff x="0" y="0"/>
          <a:chExt cx="0" cy="0"/>
        </a:xfrm>
      </p:grpSpPr>
      <p:sp>
        <p:nvSpPr>
          <p:cNvPr id="1736" name="Google Shape;1736;g3f57ceabf1d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7" name="Google Shape;1737;g3f57ceabf1d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2800"/>
              <a:buNone/>
              <a:defRPr sz="28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Char char="●"/>
              <a:defRPr sz="1800">
                <a:solidFill>
                  <a:schemeClr val="dk1"/>
                </a:solidFill>
              </a:defRPr>
            </a:lvl1pPr>
            <a:lvl2pPr marL="914400" lvl="1" indent="-317500">
              <a:lnSpc>
                <a:spcPct val="115000"/>
              </a:lnSpc>
              <a:spcBef>
                <a:spcPts val="0"/>
              </a:spcBef>
              <a:spcAft>
                <a:spcPts val="0"/>
              </a:spcAft>
              <a:buClr>
                <a:schemeClr val="dk1"/>
              </a:buClr>
              <a:buSzPts val="1400"/>
              <a:buChar char="○"/>
              <a:defRPr>
                <a:solidFill>
                  <a:schemeClr val="dk1"/>
                </a:solidFill>
              </a:defRPr>
            </a:lvl2pPr>
            <a:lvl3pPr marL="1371600" lvl="2" indent="-317500">
              <a:lnSpc>
                <a:spcPct val="115000"/>
              </a:lnSpc>
              <a:spcBef>
                <a:spcPts val="0"/>
              </a:spcBef>
              <a:spcAft>
                <a:spcPts val="0"/>
              </a:spcAft>
              <a:buClr>
                <a:schemeClr val="dk1"/>
              </a:buClr>
              <a:buSzPts val="1400"/>
              <a:buChar char="■"/>
              <a:defRPr>
                <a:solidFill>
                  <a:schemeClr val="dk1"/>
                </a:solidFill>
              </a:defRPr>
            </a:lvl3pPr>
            <a:lvl4pPr marL="1828800" lvl="3" indent="-317500">
              <a:lnSpc>
                <a:spcPct val="115000"/>
              </a:lnSpc>
              <a:spcBef>
                <a:spcPts val="0"/>
              </a:spcBef>
              <a:spcAft>
                <a:spcPts val="0"/>
              </a:spcAft>
              <a:buClr>
                <a:schemeClr val="dk1"/>
              </a:buClr>
              <a:buSzPts val="1400"/>
              <a:buChar char="●"/>
              <a:defRPr>
                <a:solidFill>
                  <a:schemeClr val="dk1"/>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hyperlink" Target="https://mariogemoll.com/flow-matching" TargetMode="External"/><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1.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28.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2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9.png"/><Relationship Id="rId7"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0.png"/><Relationship Id="rId7" Type="http://schemas.openxmlformats.org/officeDocument/2006/relationships/image" Target="../media/image8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_rels/slide2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91.png"/><Relationship Id="rId4" Type="http://schemas.openxmlformats.org/officeDocument/2006/relationships/image" Target="../media/image90.png"/></Relationships>
</file>

<file path=ppt/slides/_rels/slide2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92.png"/><Relationship Id="rId7"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93.png"/></Relationships>
</file>

<file path=ppt/slides/_rels/slide28.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97.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3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0.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s>
</file>

<file path=ppt/slides/_rels/slide3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3" Type="http://schemas.openxmlformats.org/officeDocument/2006/relationships/image" Target="../media/image113.png"/><Relationship Id="rId7" Type="http://schemas.openxmlformats.org/officeDocument/2006/relationships/image" Target="../media/image119.png"/><Relationship Id="rId12" Type="http://schemas.openxmlformats.org/officeDocument/2006/relationships/image" Target="../media/image124.png"/><Relationship Id="rId2" Type="http://schemas.openxmlformats.org/officeDocument/2006/relationships/notesSlide" Target="../notesSlides/notesSlide37.xml"/><Relationship Id="rId16" Type="http://schemas.openxmlformats.org/officeDocument/2006/relationships/image" Target="../media/image108.png"/><Relationship Id="rId1" Type="http://schemas.openxmlformats.org/officeDocument/2006/relationships/slideLayout" Target="../slideLayouts/slideLayout1.xml"/><Relationship Id="rId6" Type="http://schemas.openxmlformats.org/officeDocument/2006/relationships/image" Target="../media/image115.png"/><Relationship Id="rId11" Type="http://schemas.openxmlformats.org/officeDocument/2006/relationships/image" Target="../media/image123.png"/><Relationship Id="rId5" Type="http://schemas.openxmlformats.org/officeDocument/2006/relationships/image" Target="../media/image112.png"/><Relationship Id="rId15" Type="http://schemas.openxmlformats.org/officeDocument/2006/relationships/image" Target="../media/image12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s>
</file>

<file path=ppt/slides/_rels/slide38.xml.rels><?xml version="1.0" encoding="UTF-8" standalone="yes"?>
<Relationships xmlns="http://schemas.openxmlformats.org/package/2006/relationships"><Relationship Id="rId3" Type="http://schemas.openxmlformats.org/officeDocument/2006/relationships/image" Target="../media/image103.png"/><Relationship Id="rId7" Type="http://schemas.openxmlformats.org/officeDocument/2006/relationships/image" Target="../media/image13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39.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132.png"/><Relationship Id="rId7" Type="http://schemas.openxmlformats.org/officeDocument/2006/relationships/image" Target="../media/image136.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 Id="rId9" Type="http://schemas.openxmlformats.org/officeDocument/2006/relationships/image" Target="../media/image138.png"/></Relationships>
</file>

<file path=ppt/slides/_rels/slide40.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01.png"/><Relationship Id="rId7" Type="http://schemas.openxmlformats.org/officeDocument/2006/relationships/image" Target="../media/image14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4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4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45.png"/><Relationship Id="rId4" Type="http://schemas.openxmlformats.org/officeDocument/2006/relationships/image" Target="../media/image144.png"/></Relationships>
</file>

<file path=ppt/slides/_rels/slide43.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147.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4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46.png"/><Relationship Id="rId4" Type="http://schemas.openxmlformats.org/officeDocument/2006/relationships/image" Target="../media/image145.png"/></Relationships>
</file>

<file path=ppt/slides/_rels/slide4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53.png"/><Relationship Id="rId5" Type="http://schemas.openxmlformats.org/officeDocument/2006/relationships/image" Target="../media/image152.png"/><Relationship Id="rId10" Type="http://schemas.openxmlformats.org/officeDocument/2006/relationships/image" Target="../media/image2.png"/><Relationship Id="rId4" Type="http://schemas.openxmlformats.org/officeDocument/2006/relationships/image" Target="../media/image151.png"/><Relationship Id="rId9" Type="http://schemas.openxmlformats.org/officeDocument/2006/relationships/image" Target="../media/image156.png"/></Relationships>
</file>

<file path=ppt/slides/_rels/slide4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58.png"/><Relationship Id="rId4" Type="http://schemas.openxmlformats.org/officeDocument/2006/relationships/image" Target="../media/image157.png"/></Relationships>
</file>

<file path=ppt/slides/_rels/slide49.xml.rels><?xml version="1.0" encoding="UTF-8" standalone="yes"?>
<Relationships xmlns="http://schemas.openxmlformats.org/package/2006/relationships"><Relationship Id="rId3" Type="http://schemas.openxmlformats.org/officeDocument/2006/relationships/image" Target="../media/image149.png"/><Relationship Id="rId7"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50.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53.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68.png"/><Relationship Id="rId7" Type="http://schemas.openxmlformats.org/officeDocument/2006/relationships/image" Target="../media/image17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image" Target="../media/image169.png"/></Relationships>
</file>

<file path=ppt/slides/_rels/slide54.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71.png"/><Relationship Id="rId4" Type="http://schemas.openxmlformats.org/officeDocument/2006/relationships/image" Target="../media/image175.png"/></Relationships>
</file>

<file path=ppt/slides/_rels/slide55.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77.png"/></Relationships>
</file>

<file path=ppt/slides/_rels/slide56.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180.png"/><Relationship Id="rId5" Type="http://schemas.openxmlformats.org/officeDocument/2006/relationships/image" Target="../media/image102.png"/><Relationship Id="rId4" Type="http://schemas.openxmlformats.org/officeDocument/2006/relationships/image" Target="../media/image179.png"/></Relationships>
</file>

<file path=ppt/slides/_rels/slide57.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183.png"/><Relationship Id="rId4" Type="http://schemas.openxmlformats.org/officeDocument/2006/relationships/image" Target="../media/image182.png"/></Relationships>
</file>

<file path=ppt/slides/_rels/slide58.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85.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87.png"/></Relationships>
</file>

<file path=ppt/slides/_rels/slide6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190.png"/><Relationship Id="rId4" Type="http://schemas.openxmlformats.org/officeDocument/2006/relationships/image" Target="../media/image189.png"/></Relationships>
</file>

<file path=ppt/slides/_rels/slide63.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189.png"/><Relationship Id="rId5" Type="http://schemas.openxmlformats.org/officeDocument/2006/relationships/image" Target="../media/image177.png"/><Relationship Id="rId4" Type="http://schemas.openxmlformats.org/officeDocument/2006/relationships/image" Target="../media/image192.png"/></Relationships>
</file>

<file path=ppt/slides/_rels/slide6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193.png"/><Relationship Id="rId4" Type="http://schemas.openxmlformats.org/officeDocument/2006/relationships/image" Target="../media/image191.png"/></Relationships>
</file>

<file path=ppt/slides/_rels/slide65.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195.png"/></Relationships>
</file>

<file path=ppt/slides/_rels/slide66.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198.png"/><Relationship Id="rId4" Type="http://schemas.openxmlformats.org/officeDocument/2006/relationships/image" Target="../media/image197.png"/></Relationships>
</file>

<file path=ppt/slides/_rels/slide67.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201.png"/><Relationship Id="rId4" Type="http://schemas.openxmlformats.org/officeDocument/2006/relationships/image" Target="../media/image200.png"/></Relationships>
</file>

<file path=ppt/slides/_rels/slide68.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202.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204.png"/><Relationship Id="rId10" Type="http://schemas.openxmlformats.org/officeDocument/2006/relationships/image" Target="../media/image116.png"/><Relationship Id="rId4" Type="http://schemas.openxmlformats.org/officeDocument/2006/relationships/image" Target="../media/image203.png"/><Relationship Id="rId9" Type="http://schemas.openxmlformats.org/officeDocument/2006/relationships/image" Target="../media/image115.png"/></Relationships>
</file>

<file path=ppt/slides/_rels/slide69.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205.png"/><Relationship Id="rId7" Type="http://schemas.openxmlformats.org/officeDocument/2006/relationships/image" Target="../media/image209.png"/><Relationship Id="rId12"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208.png"/><Relationship Id="rId11" Type="http://schemas.openxmlformats.org/officeDocument/2006/relationships/image" Target="../media/image213.png"/><Relationship Id="rId5" Type="http://schemas.openxmlformats.org/officeDocument/2006/relationships/image" Target="../media/image207.png"/><Relationship Id="rId10" Type="http://schemas.openxmlformats.org/officeDocument/2006/relationships/image" Target="../media/image212.png"/><Relationship Id="rId4" Type="http://schemas.openxmlformats.org/officeDocument/2006/relationships/image" Target="../media/image206.png"/><Relationship Id="rId9" Type="http://schemas.openxmlformats.org/officeDocument/2006/relationships/image" Target="../media/image211.png"/></Relationships>
</file>

<file path=ppt/slides/_rels/slide7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14.png"/><Relationship Id="rId7" Type="http://schemas.openxmlformats.org/officeDocument/2006/relationships/image" Target="../media/image218.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215.png"/></Relationships>
</file>

<file path=ppt/slides/_rels/slide71.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221.png"/><Relationship Id="rId3" Type="http://schemas.openxmlformats.org/officeDocument/2006/relationships/image" Target="../media/image117.png"/><Relationship Id="rId7" Type="http://schemas.openxmlformats.org/officeDocument/2006/relationships/image" Target="../media/image114.png"/><Relationship Id="rId12" Type="http://schemas.openxmlformats.org/officeDocument/2006/relationships/image" Target="../media/image220.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113.png"/><Relationship Id="rId11" Type="http://schemas.openxmlformats.org/officeDocument/2006/relationships/image" Target="../media/image215.png"/><Relationship Id="rId5" Type="http://schemas.openxmlformats.org/officeDocument/2006/relationships/image" Target="../media/image112.png"/><Relationship Id="rId10" Type="http://schemas.openxmlformats.org/officeDocument/2006/relationships/image" Target="../media/image219.png"/><Relationship Id="rId4" Type="http://schemas.openxmlformats.org/officeDocument/2006/relationships/image" Target="../media/image118.png"/><Relationship Id="rId9" Type="http://schemas.openxmlformats.org/officeDocument/2006/relationships/image" Target="../media/image116.png"/></Relationships>
</file>

<file path=ppt/slides/_rels/slide72.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hyperlink" Target="https://neurips.cc/media/neurips-2024/Slides/99531.pdf"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225.png"/><Relationship Id="rId4" Type="http://schemas.openxmlformats.org/officeDocument/2006/relationships/image" Target="../media/image224.png"/></Relationships>
</file>

<file path=ppt/slides/_rels/slide75.xml.rels><?xml version="1.0" encoding="UTF-8" standalone="yes"?>
<Relationships xmlns="http://schemas.openxmlformats.org/package/2006/relationships"><Relationship Id="rId3" Type="http://schemas.openxmlformats.org/officeDocument/2006/relationships/image" Target="../media/image226.png"/><Relationship Id="rId7"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image" Target="../media/image229.png"/><Relationship Id="rId5" Type="http://schemas.openxmlformats.org/officeDocument/2006/relationships/image" Target="../media/image228.png"/><Relationship Id="rId4" Type="http://schemas.openxmlformats.org/officeDocument/2006/relationships/image" Target="../media/image227.png"/></Relationships>
</file>

<file path=ppt/slides/_rels/slide76.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94.png"/><Relationship Id="rId5" Type="http://schemas.openxmlformats.org/officeDocument/2006/relationships/image" Target="../media/image232.png"/><Relationship Id="rId4" Type="http://schemas.openxmlformats.org/officeDocument/2006/relationships/image" Target="../media/image231.png"/></Relationships>
</file>

<file path=ppt/slides/_rels/slide77.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8" Type="http://schemas.openxmlformats.org/officeDocument/2006/relationships/image" Target="../media/image237.png"/><Relationship Id="rId3" Type="http://schemas.openxmlformats.org/officeDocument/2006/relationships/image" Target="../media/image171.png"/><Relationship Id="rId7" Type="http://schemas.openxmlformats.org/officeDocument/2006/relationships/image" Target="../media/image236.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image" Target="../media/image235.png"/><Relationship Id="rId5" Type="http://schemas.openxmlformats.org/officeDocument/2006/relationships/image" Target="../media/image234.png"/><Relationship Id="rId4" Type="http://schemas.openxmlformats.org/officeDocument/2006/relationships/image" Target="../media/image181.png"/></Relationships>
</file>

<file path=ppt/slides/_rels/slide79.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102.png"/><Relationship Id="rId4" Type="http://schemas.openxmlformats.org/officeDocument/2006/relationships/image" Target="../media/image239.png"/></Relationships>
</file>

<file path=ppt/slides/_rels/slide80.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80.xml"/><Relationship Id="rId1" Type="http://schemas.openxmlformats.org/officeDocument/2006/relationships/slideLayout" Target="../slideLayouts/slideLayout1.xml"/><Relationship Id="rId6" Type="http://schemas.openxmlformats.org/officeDocument/2006/relationships/image" Target="../media/image243.png"/><Relationship Id="rId5" Type="http://schemas.openxmlformats.org/officeDocument/2006/relationships/image" Target="../media/image242.png"/><Relationship Id="rId4" Type="http://schemas.openxmlformats.org/officeDocument/2006/relationships/image" Target="../media/image241.png"/></Relationships>
</file>

<file path=ppt/slides/_rels/slide81.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8" Type="http://schemas.openxmlformats.org/officeDocument/2006/relationships/image" Target="../media/image248.png"/><Relationship Id="rId3" Type="http://schemas.openxmlformats.org/officeDocument/2006/relationships/image" Target="../media/image245.png"/><Relationship Id="rId7" Type="http://schemas.openxmlformats.org/officeDocument/2006/relationships/image" Target="../media/image215.png"/><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208.png"/><Relationship Id="rId11" Type="http://schemas.openxmlformats.org/officeDocument/2006/relationships/image" Target="../media/image250.png"/><Relationship Id="rId5" Type="http://schemas.openxmlformats.org/officeDocument/2006/relationships/image" Target="../media/image247.png"/><Relationship Id="rId10" Type="http://schemas.openxmlformats.org/officeDocument/2006/relationships/image" Target="../media/image249.png"/><Relationship Id="rId4" Type="http://schemas.openxmlformats.org/officeDocument/2006/relationships/image" Target="../media/image246.png"/><Relationship Id="rId9" Type="http://schemas.openxmlformats.org/officeDocument/2006/relationships/image" Target="../media/image211.png"/></Relationships>
</file>

<file path=ppt/slides/_rels/slide83.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215.png"/></Relationships>
</file>

<file path=ppt/slides/_rels/slide84.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53.png"/><Relationship Id="rId7" Type="http://schemas.openxmlformats.org/officeDocument/2006/relationships/image" Target="../media/image257.png"/><Relationship Id="rId2" Type="http://schemas.openxmlformats.org/officeDocument/2006/relationships/notesSlide" Target="../notesSlides/notesSlide85.xml"/><Relationship Id="rId1" Type="http://schemas.openxmlformats.org/officeDocument/2006/relationships/slideLayout" Target="../slideLayouts/slideLayout1.xml"/><Relationship Id="rId6" Type="http://schemas.openxmlformats.org/officeDocument/2006/relationships/image" Target="../media/image256.png"/><Relationship Id="rId5" Type="http://schemas.openxmlformats.org/officeDocument/2006/relationships/image" Target="../media/image255.png"/><Relationship Id="rId4" Type="http://schemas.openxmlformats.org/officeDocument/2006/relationships/image" Target="../media/image254.png"/></Relationships>
</file>

<file path=ppt/slides/_rels/slide86.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notesSlide" Target="../notesSlides/notesSlide87.xml"/><Relationship Id="rId1" Type="http://schemas.openxmlformats.org/officeDocument/2006/relationships/slideLayout" Target="../slideLayouts/slideLayout1.xml"/><Relationship Id="rId6" Type="http://schemas.openxmlformats.org/officeDocument/2006/relationships/image" Target="../media/image262.png"/><Relationship Id="rId5" Type="http://schemas.openxmlformats.org/officeDocument/2006/relationships/image" Target="../media/image261.png"/><Relationship Id="rId4" Type="http://schemas.openxmlformats.org/officeDocument/2006/relationships/image" Target="../media/image260.png"/></Relationships>
</file>

<file path=ppt/slides/_rels/slide88.xml.rels><?xml version="1.0" encoding="UTF-8" standalone="yes"?>
<Relationships xmlns="http://schemas.openxmlformats.org/package/2006/relationships"><Relationship Id="rId3" Type="http://schemas.openxmlformats.org/officeDocument/2006/relationships/image" Target="../media/image263.png"/><Relationship Id="rId2" Type="http://schemas.openxmlformats.org/officeDocument/2006/relationships/notesSlide" Target="../notesSlides/notesSlide88.xml"/><Relationship Id="rId1" Type="http://schemas.openxmlformats.org/officeDocument/2006/relationships/slideLayout" Target="../slideLayouts/slideLayout1.xml"/><Relationship Id="rId6" Type="http://schemas.openxmlformats.org/officeDocument/2006/relationships/image" Target="../media/image264.png"/><Relationship Id="rId5" Type="http://schemas.openxmlformats.org/officeDocument/2006/relationships/image" Target="../media/image260.png"/><Relationship Id="rId4" Type="http://schemas.openxmlformats.org/officeDocument/2006/relationships/image" Target="../media/image259.png"/></Relationships>
</file>

<file path=ppt/slides/_rels/slide89.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notesSlide" Target="../notesSlides/notesSlide89.xml"/><Relationship Id="rId1" Type="http://schemas.openxmlformats.org/officeDocument/2006/relationships/slideLayout" Target="../slideLayouts/slideLayout1.xml"/><Relationship Id="rId5" Type="http://schemas.openxmlformats.org/officeDocument/2006/relationships/image" Target="../media/image267.png"/><Relationship Id="rId4" Type="http://schemas.openxmlformats.org/officeDocument/2006/relationships/image" Target="../media/image266.png"/></Relationships>
</file>

<file path=ppt/slides/_rels/slide90.xml.rels><?xml version="1.0" encoding="UTF-8" standalone="yes"?>
<Relationships xmlns="http://schemas.openxmlformats.org/package/2006/relationships"><Relationship Id="rId3" Type="http://schemas.openxmlformats.org/officeDocument/2006/relationships/image" Target="../media/image268.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269.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hyperlink" Target="https://diffusion.csail.mit.edu/2026/index.html" TargetMode="External"/><Relationship Id="rId7" Type="http://schemas.openxmlformats.org/officeDocument/2006/relationships/hyperlink" Target="https://mariogemoll.com/flow-matching" TargetMode="External"/><Relationship Id="rId2" Type="http://schemas.openxmlformats.org/officeDocument/2006/relationships/notesSlide" Target="../notesSlides/notesSlide92.xml"/><Relationship Id="rId1" Type="http://schemas.openxmlformats.org/officeDocument/2006/relationships/slideLayout" Target="../slideLayouts/slideLayout1.xml"/><Relationship Id="rId6" Type="http://schemas.openxmlformats.org/officeDocument/2006/relationships/hyperlink" Target="https://github.com/facebookresearch/flow_matching" TargetMode="External"/><Relationship Id="rId5" Type="http://schemas.openxmlformats.org/officeDocument/2006/relationships/hyperlink" Target="https://neurips.cc/media/neurips-2024/Slides/99531.pdf" TargetMode="External"/><Relationship Id="rId4" Type="http://schemas.openxmlformats.org/officeDocument/2006/relationships/hyperlink" Target="https://diffusion.csail.mit.edu/2026/docs/lecture_notes.pdf" TargetMode="Externa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DFEAFB"/>
            </a:gs>
            <a:gs pos="100000">
              <a:srgbClr val="6E9CE7"/>
            </a:gs>
          </a:gsLst>
          <a:path path="circle">
            <a:fillToRect l="50000" t="50000" r="50000" b="50000"/>
          </a:path>
          <a:tileRect/>
        </a:gradFill>
        <a:effectLst/>
      </p:bgPr>
    </p:bg>
    <p:spTree>
      <p:nvGrpSpPr>
        <p:cNvPr id="1" name="Shape 53"/>
        <p:cNvGrpSpPr/>
        <p:nvPr/>
      </p:nvGrpSpPr>
      <p:grpSpPr>
        <a:xfrm>
          <a:off x="0" y="0"/>
          <a:ext cx="0" cy="0"/>
          <a:chOff x="0" y="0"/>
          <a:chExt cx="0" cy="0"/>
        </a:xfrm>
      </p:grpSpPr>
      <p:sp>
        <p:nvSpPr>
          <p:cNvPr id="54" name="Google Shape;54;p13"/>
          <p:cNvSpPr txBox="1"/>
          <p:nvPr/>
        </p:nvSpPr>
        <p:spPr>
          <a:xfrm>
            <a:off x="1225120" y="1629750"/>
            <a:ext cx="6927900" cy="94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400" b="1" i="1">
                <a:solidFill>
                  <a:schemeClr val="dk1"/>
                </a:solidFill>
              </a:rPr>
              <a:t>Understanding </a:t>
            </a:r>
            <a:endParaRPr sz="4400" b="1" i="1">
              <a:solidFill>
                <a:schemeClr val="dk1"/>
              </a:solidFill>
            </a:endParaRPr>
          </a:p>
          <a:p>
            <a:pPr marL="0" lvl="0" indent="0" algn="ctr" rtl="0">
              <a:spcBef>
                <a:spcPts val="0"/>
              </a:spcBef>
              <a:spcAft>
                <a:spcPts val="0"/>
              </a:spcAft>
              <a:buNone/>
            </a:pPr>
            <a:r>
              <a:rPr lang="en" sz="4400" b="1" i="1">
                <a:solidFill>
                  <a:schemeClr val="dk1"/>
                </a:solidFill>
              </a:rPr>
              <a:t>Diffusion</a:t>
            </a:r>
            <a:endParaRPr sz="4400" b="1" i="1">
              <a:solidFill>
                <a:schemeClr val="dk1"/>
              </a:solidFill>
            </a:endParaRPr>
          </a:p>
        </p:txBody>
      </p:sp>
      <p:sp>
        <p:nvSpPr>
          <p:cNvPr id="55" name="Google Shape;55;p13"/>
          <p:cNvSpPr txBox="1"/>
          <p:nvPr/>
        </p:nvSpPr>
        <p:spPr>
          <a:xfrm>
            <a:off x="7793400" y="4727538"/>
            <a:ext cx="1350600" cy="42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Danu Caus</a:t>
            </a:r>
            <a:endParaRPr sz="1800">
              <a:solidFill>
                <a:schemeClr val="dk1"/>
              </a:solidFill>
            </a:endParaRPr>
          </a:p>
        </p:txBody>
      </p:sp>
      <p:sp>
        <p:nvSpPr>
          <p:cNvPr id="56" name="Google Shape;56;p13"/>
          <p:cNvSpPr txBox="1"/>
          <p:nvPr/>
        </p:nvSpPr>
        <p:spPr>
          <a:xfrm>
            <a:off x="0" y="4748512"/>
            <a:ext cx="2881500" cy="35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a:solidFill>
                  <a:schemeClr val="dk1"/>
                </a:solidFill>
              </a:rPr>
              <a:t>September 2026</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grpSp>
        <p:nvGrpSpPr>
          <p:cNvPr id="61" name="Google Shape;61;p14"/>
          <p:cNvGrpSpPr/>
          <p:nvPr/>
        </p:nvGrpSpPr>
        <p:grpSpPr>
          <a:xfrm>
            <a:off x="162450" y="2022118"/>
            <a:ext cx="8819100" cy="1297200"/>
            <a:chOff x="162450" y="2225218"/>
            <a:chExt cx="8819100" cy="1297200"/>
          </a:xfrm>
        </p:grpSpPr>
        <p:sp>
          <p:nvSpPr>
            <p:cNvPr id="62" name="Google Shape;62;p14"/>
            <p:cNvSpPr txBox="1"/>
            <p:nvPr/>
          </p:nvSpPr>
          <p:spPr>
            <a:xfrm>
              <a:off x="162450" y="2225218"/>
              <a:ext cx="8819100" cy="129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Some of the slides are not mandatory for conceptual understanding, but very useful if you are more mathematically inclined or simply interested in a deeper understanding. They will be depicted using a </a:t>
              </a:r>
              <a:r>
                <a:rPr lang="en" sz="1600" b="1">
                  <a:solidFill>
                    <a:schemeClr val="dk1"/>
                  </a:solidFill>
                </a:rPr>
                <a:t>cherry </a:t>
              </a:r>
              <a:r>
                <a:rPr lang="en" sz="1600">
                  <a:solidFill>
                    <a:schemeClr val="dk1"/>
                  </a:solidFill>
                </a:rPr>
                <a:t>on top (-right) </a:t>
              </a:r>
              <a:r>
                <a:rPr lang="en" sz="1600" b="1">
                  <a:solidFill>
                    <a:schemeClr val="dk1"/>
                  </a:solidFill>
                </a:rPr>
                <a:t>symbol </a:t>
              </a:r>
              <a:r>
                <a:rPr lang="en" sz="1600">
                  <a:solidFill>
                    <a:schemeClr val="dk1"/>
                  </a:solidFill>
                </a:rPr>
                <a:t>     or sometimes as a double-dose of cherry</a:t>
              </a:r>
              <a:endParaRPr sz="1600">
                <a:solidFill>
                  <a:schemeClr val="dk1"/>
                </a:solidFill>
              </a:endParaRPr>
            </a:p>
            <a:p>
              <a:pPr marL="0" lvl="0" indent="0" algn="l" rtl="0">
                <a:spcBef>
                  <a:spcPts val="0"/>
                </a:spcBef>
                <a:spcAft>
                  <a:spcPts val="0"/>
                </a:spcAft>
                <a:buNone/>
              </a:pPr>
              <a:r>
                <a:rPr lang="en" sz="1600">
                  <a:solidFill>
                    <a:schemeClr val="dk1"/>
                  </a:solidFill>
                </a:rPr>
                <a:t>for even deeper derivations.</a:t>
              </a:r>
              <a:endParaRPr sz="1600">
                <a:solidFill>
                  <a:schemeClr val="dk1"/>
                </a:solidFill>
              </a:endParaRPr>
            </a:p>
          </p:txBody>
        </p:sp>
        <p:pic>
          <p:nvPicPr>
            <p:cNvPr id="63" name="Google Shape;63;p14"/>
            <p:cNvPicPr preferRelativeResize="0"/>
            <p:nvPr/>
          </p:nvPicPr>
          <p:blipFill>
            <a:blip r:embed="rId3">
              <a:alphaModFix/>
            </a:blip>
            <a:stretch>
              <a:fillRect/>
            </a:stretch>
          </p:blipFill>
          <p:spPr>
            <a:xfrm>
              <a:off x="8525302" y="2810752"/>
              <a:ext cx="211399" cy="234963"/>
            </a:xfrm>
            <a:prstGeom prst="rect">
              <a:avLst/>
            </a:prstGeom>
            <a:noFill/>
            <a:ln>
              <a:noFill/>
            </a:ln>
          </p:spPr>
        </p:pic>
        <p:pic>
          <p:nvPicPr>
            <p:cNvPr id="64" name="Google Shape;64;p14"/>
            <p:cNvPicPr preferRelativeResize="0"/>
            <p:nvPr/>
          </p:nvPicPr>
          <p:blipFill>
            <a:blip r:embed="rId4">
              <a:alphaModFix/>
            </a:blip>
            <a:stretch>
              <a:fillRect/>
            </a:stretch>
          </p:blipFill>
          <p:spPr>
            <a:xfrm rot="530014">
              <a:off x="4564253" y="2804336"/>
              <a:ext cx="163389" cy="247808"/>
            </a:xfrm>
            <a:prstGeom prst="rect">
              <a:avLst/>
            </a:prstGeom>
            <a:noFill/>
            <a:ln>
              <a:noFill/>
            </a:ln>
          </p:spPr>
        </p:pic>
      </p:grpSp>
      <p:sp>
        <p:nvSpPr>
          <p:cNvPr id="65" name="Google Shape;65;p14"/>
          <p:cNvSpPr txBox="1"/>
          <p:nvPr/>
        </p:nvSpPr>
        <p:spPr>
          <a:xfrm>
            <a:off x="2987142" y="0"/>
            <a:ext cx="3088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How to Read These Slides </a:t>
            </a:r>
            <a:endParaRPr sz="1800" b="1">
              <a:solidFill>
                <a:schemeClr val="dk1"/>
              </a:solidFill>
            </a:endParaRPr>
          </a:p>
        </p:txBody>
      </p:sp>
      <p:sp>
        <p:nvSpPr>
          <p:cNvPr id="66" name="Google Shape;66;p14"/>
          <p:cNvSpPr txBox="1"/>
          <p:nvPr/>
        </p:nvSpPr>
        <p:spPr>
          <a:xfrm>
            <a:off x="162450" y="572725"/>
            <a:ext cx="8819100" cy="142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Note that in presentation mode, not all content is necessarily visible. Please also check the </a:t>
            </a:r>
            <a:r>
              <a:rPr lang="en" sz="1600" b="1">
                <a:solidFill>
                  <a:schemeClr val="dk1"/>
                </a:solidFill>
              </a:rPr>
              <a:t>hidden notes</a:t>
            </a:r>
            <a:r>
              <a:rPr lang="en" sz="1600">
                <a:solidFill>
                  <a:schemeClr val="dk1"/>
                </a:solidFill>
              </a:rPr>
              <a:t> </a:t>
            </a:r>
            <a:r>
              <a:rPr lang="en" sz="1600" b="1">
                <a:solidFill>
                  <a:schemeClr val="dk1"/>
                </a:solidFill>
              </a:rPr>
              <a:t>section </a:t>
            </a:r>
            <a:r>
              <a:rPr lang="en" sz="1600">
                <a:solidFill>
                  <a:schemeClr val="dk1"/>
                </a:solidFill>
              </a:rPr>
              <a:t>in the PowerPoint format, to see if there are any additional URL references related to the visible content of any particular slide. The broader references are also available in the </a:t>
            </a:r>
            <a:r>
              <a:rPr lang="en" sz="1600" b="1">
                <a:solidFill>
                  <a:schemeClr val="dk1"/>
                </a:solidFill>
              </a:rPr>
              <a:t>References</a:t>
            </a:r>
            <a:r>
              <a:rPr lang="en" sz="1600">
                <a:solidFill>
                  <a:schemeClr val="dk1"/>
                </a:solidFill>
              </a:rPr>
              <a:t> slide at the very end. However, in the hidden notes you will see more concrete pointers, such as concrete PDF pages, exact Figure numbers within papers, etc.</a:t>
            </a:r>
            <a:endParaRPr sz="1600">
              <a:solidFill>
                <a:schemeClr val="dk1"/>
              </a:solidFill>
            </a:endParaRPr>
          </a:p>
        </p:txBody>
      </p:sp>
      <p:sp>
        <p:nvSpPr>
          <p:cNvPr id="67" name="Google Shape;67;p14"/>
          <p:cNvSpPr txBox="1"/>
          <p:nvPr/>
        </p:nvSpPr>
        <p:spPr>
          <a:xfrm>
            <a:off x="3788521" y="4221580"/>
            <a:ext cx="1428300"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b="1" i="1">
                <a:solidFill>
                  <a:schemeClr val="dk1"/>
                </a:solidFill>
              </a:rPr>
              <a:t>Enjoy! </a:t>
            </a:r>
            <a:endParaRPr sz="2800" b="1" i="1">
              <a:solidFill>
                <a:schemeClr val="dk1"/>
              </a:solidFill>
            </a:endParaRPr>
          </a:p>
        </p:txBody>
      </p:sp>
      <p:pic>
        <p:nvPicPr>
          <p:cNvPr id="68" name="Google Shape;68;p14"/>
          <p:cNvPicPr preferRelativeResize="0"/>
          <p:nvPr/>
        </p:nvPicPr>
        <p:blipFill>
          <a:blip r:embed="rId5">
            <a:alphaModFix/>
          </a:blip>
          <a:stretch>
            <a:fillRect/>
          </a:stretch>
        </p:blipFill>
        <p:spPr>
          <a:xfrm>
            <a:off x="2255515" y="4114566"/>
            <a:ext cx="1533000" cy="854950"/>
          </a:xfrm>
          <a:prstGeom prst="rect">
            <a:avLst/>
          </a:prstGeom>
          <a:noFill/>
          <a:ln>
            <a:noFill/>
          </a:ln>
        </p:spPr>
      </p:pic>
      <p:pic>
        <p:nvPicPr>
          <p:cNvPr id="69" name="Google Shape;69;p14"/>
          <p:cNvPicPr preferRelativeResize="0"/>
          <p:nvPr/>
        </p:nvPicPr>
        <p:blipFill>
          <a:blip r:embed="rId6">
            <a:alphaModFix/>
          </a:blip>
          <a:stretch>
            <a:fillRect/>
          </a:stretch>
        </p:blipFill>
        <p:spPr>
          <a:xfrm>
            <a:off x="5102181" y="4133606"/>
            <a:ext cx="1428301" cy="854960"/>
          </a:xfrm>
          <a:prstGeom prst="rect">
            <a:avLst/>
          </a:prstGeom>
          <a:noFill/>
          <a:ln>
            <a:noFill/>
          </a:ln>
        </p:spPr>
      </p:pic>
      <p:sp>
        <p:nvSpPr>
          <p:cNvPr id="70" name="Google Shape;70;p14"/>
          <p:cNvSpPr txBox="1"/>
          <p:nvPr/>
        </p:nvSpPr>
        <p:spPr>
          <a:xfrm>
            <a:off x="182864" y="3290691"/>
            <a:ext cx="8659528" cy="5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600" dirty="0">
                <a:solidFill>
                  <a:schemeClr val="dk1"/>
                </a:solidFill>
              </a:rPr>
              <a:t>If you find any mistakes on the slides, I would be very grateful 😇 if you could send me a note.</a:t>
            </a:r>
            <a:endParaRPr sz="1600"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p:nvPr/>
        </p:nvSpPr>
        <p:spPr>
          <a:xfrm>
            <a:off x="3487475" y="1644975"/>
            <a:ext cx="2736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Chapter 1</a:t>
            </a:r>
            <a:endParaRPr sz="3300" b="1">
              <a:solidFill>
                <a:schemeClr val="dk1"/>
              </a:solidFill>
            </a:endParaRPr>
          </a:p>
          <a:p>
            <a:pPr marL="0" lvl="0" indent="0" algn="l" rtl="0">
              <a:spcBef>
                <a:spcPts val="0"/>
              </a:spcBef>
              <a:spcAft>
                <a:spcPts val="0"/>
              </a:spcAft>
              <a:buNone/>
            </a:pPr>
            <a:endParaRPr sz="3300" b="1">
              <a:solidFill>
                <a:schemeClr val="dk1"/>
              </a:solidFill>
            </a:endParaRPr>
          </a:p>
        </p:txBody>
      </p:sp>
      <p:sp>
        <p:nvSpPr>
          <p:cNvPr id="76" name="Google Shape;76;p15"/>
          <p:cNvSpPr txBox="1"/>
          <p:nvPr/>
        </p:nvSpPr>
        <p:spPr>
          <a:xfrm>
            <a:off x="932766" y="2272400"/>
            <a:ext cx="72981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2000" b="1">
                <a:solidFill>
                  <a:schemeClr val="dk1"/>
                </a:solidFill>
              </a:rPr>
              <a:t>Defining Flow and Diffusion Models Through the Lens of Differential Equations</a:t>
            </a:r>
            <a:endParaRPr sz="2000" b="1">
              <a:solidFill>
                <a:schemeClr val="dk1"/>
              </a:solidFill>
            </a:endParaRPr>
          </a:p>
          <a:p>
            <a:pPr marL="0" lvl="0" indent="0" algn="ctr" rtl="0">
              <a:spcBef>
                <a:spcPts val="0"/>
              </a:spcBef>
              <a:spcAft>
                <a:spcPts val="0"/>
              </a:spcAft>
              <a:buNone/>
            </a:pPr>
            <a:endParaRPr sz="2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p:nvPr/>
        </p:nvSpPr>
        <p:spPr>
          <a:xfrm>
            <a:off x="3291150" y="1968900"/>
            <a:ext cx="2736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Flow Models</a:t>
            </a:r>
            <a:endParaRPr sz="3300"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7"/>
          <p:cNvPicPr preferRelativeResize="0"/>
          <p:nvPr/>
        </p:nvPicPr>
        <p:blipFill>
          <a:blip r:embed="rId3">
            <a:alphaModFix/>
          </a:blip>
          <a:stretch>
            <a:fillRect/>
          </a:stretch>
        </p:blipFill>
        <p:spPr>
          <a:xfrm>
            <a:off x="669969" y="1969416"/>
            <a:ext cx="1877450" cy="516975"/>
          </a:xfrm>
          <a:prstGeom prst="rect">
            <a:avLst/>
          </a:prstGeom>
          <a:noFill/>
          <a:ln>
            <a:noFill/>
          </a:ln>
        </p:spPr>
      </p:pic>
      <p:pic>
        <p:nvPicPr>
          <p:cNvPr id="87" name="Google Shape;87;p17"/>
          <p:cNvPicPr preferRelativeResize="0"/>
          <p:nvPr/>
        </p:nvPicPr>
        <p:blipFill>
          <a:blip r:embed="rId4">
            <a:alphaModFix/>
          </a:blip>
          <a:stretch>
            <a:fillRect/>
          </a:stretch>
        </p:blipFill>
        <p:spPr>
          <a:xfrm>
            <a:off x="6453419" y="1969416"/>
            <a:ext cx="1987456" cy="516975"/>
          </a:xfrm>
          <a:prstGeom prst="rect">
            <a:avLst/>
          </a:prstGeom>
          <a:noFill/>
          <a:ln>
            <a:noFill/>
          </a:ln>
        </p:spPr>
      </p:pic>
      <p:sp>
        <p:nvSpPr>
          <p:cNvPr id="88" name="Google Shape;88;p17"/>
          <p:cNvSpPr/>
          <p:nvPr/>
        </p:nvSpPr>
        <p:spPr>
          <a:xfrm>
            <a:off x="3289731" y="1687303"/>
            <a:ext cx="2392800" cy="1144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Generative</a:t>
            </a:r>
            <a:endParaRPr/>
          </a:p>
          <a:p>
            <a:pPr marL="0" lvl="0" indent="0" algn="ctr" rtl="0">
              <a:spcBef>
                <a:spcPts val="0"/>
              </a:spcBef>
              <a:spcAft>
                <a:spcPts val="0"/>
              </a:spcAft>
              <a:buNone/>
            </a:pPr>
            <a:r>
              <a:rPr lang="en"/>
              <a:t>Model</a:t>
            </a:r>
            <a:endParaRPr/>
          </a:p>
        </p:txBody>
      </p:sp>
      <p:sp>
        <p:nvSpPr>
          <p:cNvPr id="89" name="Google Shape;89;p17"/>
          <p:cNvSpPr/>
          <p:nvPr/>
        </p:nvSpPr>
        <p:spPr>
          <a:xfrm>
            <a:off x="2642819" y="2148403"/>
            <a:ext cx="484800" cy="222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 name="Google Shape;90;p17"/>
          <p:cNvSpPr/>
          <p:nvPr/>
        </p:nvSpPr>
        <p:spPr>
          <a:xfrm>
            <a:off x="5844631" y="2116603"/>
            <a:ext cx="484800" cy="2226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1" name="Google Shape;91;p17"/>
          <p:cNvPicPr preferRelativeResize="0"/>
          <p:nvPr/>
        </p:nvPicPr>
        <p:blipFill>
          <a:blip r:embed="rId5">
            <a:alphaModFix/>
          </a:blip>
          <a:stretch>
            <a:fillRect/>
          </a:stretch>
        </p:blipFill>
        <p:spPr>
          <a:xfrm>
            <a:off x="2635945" y="3560912"/>
            <a:ext cx="3700375" cy="722225"/>
          </a:xfrm>
          <a:prstGeom prst="rect">
            <a:avLst/>
          </a:prstGeom>
          <a:noFill/>
          <a:ln>
            <a:noFill/>
          </a:ln>
        </p:spPr>
      </p:pic>
      <p:sp>
        <p:nvSpPr>
          <p:cNvPr id="92" name="Google Shape;92;p17"/>
          <p:cNvSpPr txBox="1"/>
          <p:nvPr/>
        </p:nvSpPr>
        <p:spPr>
          <a:xfrm>
            <a:off x="2176169" y="0"/>
            <a:ext cx="5044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From Initial Distribution to Data Distribution </a:t>
            </a:r>
            <a:endParaRPr sz="1800" b="1">
              <a:solidFill>
                <a:schemeClr val="dk1"/>
              </a:solidFill>
            </a:endParaRPr>
          </a:p>
        </p:txBody>
      </p:sp>
      <p:sp>
        <p:nvSpPr>
          <p:cNvPr id="93" name="Google Shape;9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p:nvPr/>
        </p:nvSpPr>
        <p:spPr>
          <a:xfrm>
            <a:off x="2836225" y="0"/>
            <a:ext cx="3841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Trajectory Maps Time to State </a:t>
            </a:r>
            <a:endParaRPr sz="1800" b="1">
              <a:solidFill>
                <a:schemeClr val="dk1"/>
              </a:solidFill>
            </a:endParaRPr>
          </a:p>
        </p:txBody>
      </p:sp>
      <p:pic>
        <p:nvPicPr>
          <p:cNvPr id="99" name="Google Shape;99;p18"/>
          <p:cNvPicPr preferRelativeResize="0"/>
          <p:nvPr/>
        </p:nvPicPr>
        <p:blipFill>
          <a:blip r:embed="rId3">
            <a:alphaModFix/>
          </a:blip>
          <a:stretch>
            <a:fillRect/>
          </a:stretch>
        </p:blipFill>
        <p:spPr>
          <a:xfrm>
            <a:off x="2278700" y="2404049"/>
            <a:ext cx="348475" cy="487850"/>
          </a:xfrm>
          <a:prstGeom prst="rect">
            <a:avLst/>
          </a:prstGeom>
          <a:noFill/>
          <a:ln>
            <a:noFill/>
          </a:ln>
        </p:spPr>
      </p:pic>
      <p:pic>
        <p:nvPicPr>
          <p:cNvPr id="100" name="Google Shape;100;p18"/>
          <p:cNvPicPr preferRelativeResize="0"/>
          <p:nvPr/>
        </p:nvPicPr>
        <p:blipFill>
          <a:blip r:embed="rId4">
            <a:alphaModFix/>
          </a:blip>
          <a:stretch>
            <a:fillRect/>
          </a:stretch>
        </p:blipFill>
        <p:spPr>
          <a:xfrm>
            <a:off x="4101100" y="2472775"/>
            <a:ext cx="625226" cy="523050"/>
          </a:xfrm>
          <a:prstGeom prst="rect">
            <a:avLst/>
          </a:prstGeom>
          <a:noFill/>
          <a:ln>
            <a:noFill/>
          </a:ln>
        </p:spPr>
      </p:pic>
      <p:pic>
        <p:nvPicPr>
          <p:cNvPr id="101" name="Google Shape;101;p18"/>
          <p:cNvPicPr preferRelativeResize="0"/>
          <p:nvPr/>
        </p:nvPicPr>
        <p:blipFill>
          <a:blip r:embed="rId5">
            <a:alphaModFix/>
          </a:blip>
          <a:stretch>
            <a:fillRect/>
          </a:stretch>
        </p:blipFill>
        <p:spPr>
          <a:xfrm>
            <a:off x="3051525" y="2446298"/>
            <a:ext cx="625225" cy="403365"/>
          </a:xfrm>
          <a:prstGeom prst="rect">
            <a:avLst/>
          </a:prstGeom>
          <a:noFill/>
          <a:ln>
            <a:noFill/>
          </a:ln>
        </p:spPr>
      </p:pic>
      <p:grpSp>
        <p:nvGrpSpPr>
          <p:cNvPr id="102" name="Google Shape;102;p18"/>
          <p:cNvGrpSpPr/>
          <p:nvPr/>
        </p:nvGrpSpPr>
        <p:grpSpPr>
          <a:xfrm>
            <a:off x="2523063" y="4009747"/>
            <a:ext cx="4815600" cy="551203"/>
            <a:chOff x="2429400" y="3636097"/>
            <a:chExt cx="4815600" cy="551203"/>
          </a:xfrm>
        </p:grpSpPr>
        <p:sp>
          <p:nvSpPr>
            <p:cNvPr id="103" name="Google Shape;103;p18"/>
            <p:cNvSpPr txBox="1"/>
            <p:nvPr/>
          </p:nvSpPr>
          <p:spPr>
            <a:xfrm>
              <a:off x="2429400" y="3710300"/>
              <a:ext cx="48156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assign each time     a vector </a:t>
              </a:r>
              <a:endParaRPr sz="1800">
                <a:solidFill>
                  <a:schemeClr val="dk1"/>
                </a:solidFill>
              </a:endParaRPr>
            </a:p>
          </p:txBody>
        </p:sp>
        <p:pic>
          <p:nvPicPr>
            <p:cNvPr id="104" name="Google Shape;104;p18"/>
            <p:cNvPicPr preferRelativeResize="0"/>
            <p:nvPr/>
          </p:nvPicPr>
          <p:blipFill>
            <a:blip r:embed="rId4">
              <a:alphaModFix/>
            </a:blip>
            <a:stretch>
              <a:fillRect/>
            </a:stretch>
          </p:blipFill>
          <p:spPr>
            <a:xfrm>
              <a:off x="5795760" y="3697048"/>
              <a:ext cx="513176" cy="429300"/>
            </a:xfrm>
            <a:prstGeom prst="rect">
              <a:avLst/>
            </a:prstGeom>
            <a:noFill/>
            <a:ln>
              <a:noFill/>
            </a:ln>
          </p:spPr>
        </p:pic>
        <p:pic>
          <p:nvPicPr>
            <p:cNvPr id="105" name="Google Shape;105;p18"/>
            <p:cNvPicPr preferRelativeResize="0"/>
            <p:nvPr/>
          </p:nvPicPr>
          <p:blipFill>
            <a:blip r:embed="rId3">
              <a:alphaModFix/>
            </a:blip>
            <a:stretch>
              <a:fillRect/>
            </a:stretch>
          </p:blipFill>
          <p:spPr>
            <a:xfrm>
              <a:off x="4631550" y="3636097"/>
              <a:ext cx="306653" cy="429300"/>
            </a:xfrm>
            <a:prstGeom prst="rect">
              <a:avLst/>
            </a:prstGeom>
            <a:noFill/>
            <a:ln>
              <a:noFill/>
            </a:ln>
          </p:spPr>
        </p:pic>
      </p:grpSp>
      <p:grpSp>
        <p:nvGrpSpPr>
          <p:cNvPr id="106" name="Google Shape;106;p18"/>
          <p:cNvGrpSpPr/>
          <p:nvPr/>
        </p:nvGrpSpPr>
        <p:grpSpPr>
          <a:xfrm>
            <a:off x="5788325" y="1048075"/>
            <a:ext cx="2593450" cy="1975663"/>
            <a:chOff x="6114275" y="2660625"/>
            <a:chExt cx="2593450" cy="1975663"/>
          </a:xfrm>
        </p:grpSpPr>
        <p:cxnSp>
          <p:nvCxnSpPr>
            <p:cNvPr id="107" name="Google Shape;107;p18"/>
            <p:cNvCxnSpPr/>
            <p:nvPr/>
          </p:nvCxnSpPr>
          <p:spPr>
            <a:xfrm rot="10800000">
              <a:off x="6195525" y="2660625"/>
              <a:ext cx="0" cy="1709100"/>
            </a:xfrm>
            <a:prstGeom prst="straightConnector1">
              <a:avLst/>
            </a:prstGeom>
            <a:noFill/>
            <a:ln w="9525" cap="flat" cmpd="sng">
              <a:solidFill>
                <a:schemeClr val="dk1"/>
              </a:solidFill>
              <a:prstDash val="solid"/>
              <a:round/>
              <a:headEnd type="none" w="med" len="med"/>
              <a:tailEnd type="triangle" w="med" len="med"/>
            </a:ln>
          </p:spPr>
        </p:cxnSp>
        <p:cxnSp>
          <p:nvCxnSpPr>
            <p:cNvPr id="108" name="Google Shape;108;p18"/>
            <p:cNvCxnSpPr/>
            <p:nvPr/>
          </p:nvCxnSpPr>
          <p:spPr>
            <a:xfrm>
              <a:off x="6195525" y="4369725"/>
              <a:ext cx="2512200" cy="0"/>
            </a:xfrm>
            <a:prstGeom prst="straightConnector1">
              <a:avLst/>
            </a:prstGeom>
            <a:noFill/>
            <a:ln w="9525" cap="flat" cmpd="sng">
              <a:solidFill>
                <a:schemeClr val="dk1"/>
              </a:solidFill>
              <a:prstDash val="solid"/>
              <a:round/>
              <a:headEnd type="none" w="med" len="med"/>
              <a:tailEnd type="triangle" w="med" len="med"/>
            </a:ln>
          </p:spPr>
        </p:cxnSp>
        <p:sp>
          <p:nvSpPr>
            <p:cNvPr id="109" name="Google Shape;109;p18"/>
            <p:cNvSpPr/>
            <p:nvPr/>
          </p:nvSpPr>
          <p:spPr>
            <a:xfrm>
              <a:off x="6354525" y="3105725"/>
              <a:ext cx="2027175" cy="898325"/>
            </a:xfrm>
            <a:custGeom>
              <a:avLst/>
              <a:gdLst/>
              <a:ahLst/>
              <a:cxnLst/>
              <a:rect l="l" t="t" r="r" b="b"/>
              <a:pathLst>
                <a:path w="81087" h="35933" extrusionOk="0">
                  <a:moveTo>
                    <a:pt x="0" y="35933"/>
                  </a:moveTo>
                  <a:cubicBezTo>
                    <a:pt x="5300" y="32541"/>
                    <a:pt x="25068" y="17489"/>
                    <a:pt x="31799" y="15581"/>
                  </a:cubicBezTo>
                  <a:cubicBezTo>
                    <a:pt x="38530" y="13673"/>
                    <a:pt x="34342" y="26287"/>
                    <a:pt x="40384" y="24485"/>
                  </a:cubicBezTo>
                  <a:cubicBezTo>
                    <a:pt x="46426" y="22683"/>
                    <a:pt x="61266" y="8850"/>
                    <a:pt x="68050" y="4769"/>
                  </a:cubicBezTo>
                  <a:cubicBezTo>
                    <a:pt x="74834" y="688"/>
                    <a:pt x="78914" y="795"/>
                    <a:pt x="81087" y="0"/>
                  </a:cubicBezTo>
                </a:path>
              </a:pathLst>
            </a:custGeom>
            <a:noFill/>
            <a:ln w="9525" cap="flat" cmpd="sng">
              <a:solidFill>
                <a:schemeClr val="dk1"/>
              </a:solidFill>
              <a:prstDash val="solid"/>
              <a:round/>
              <a:headEnd type="none" w="med" len="med"/>
              <a:tailEnd type="none" w="med" len="med"/>
            </a:ln>
          </p:spPr>
          <p:txBody>
            <a:bodyPr/>
            <a:lstStyle/>
            <a:p>
              <a:endParaRPr lang="en-US"/>
            </a:p>
          </p:txBody>
        </p:sp>
        <p:pic>
          <p:nvPicPr>
            <p:cNvPr id="110" name="Google Shape;110;p18"/>
            <p:cNvPicPr preferRelativeResize="0"/>
            <p:nvPr/>
          </p:nvPicPr>
          <p:blipFill>
            <a:blip r:embed="rId4">
              <a:alphaModFix/>
            </a:blip>
            <a:stretch>
              <a:fillRect/>
            </a:stretch>
          </p:blipFill>
          <p:spPr>
            <a:xfrm>
              <a:off x="7284689" y="3259372"/>
              <a:ext cx="333875" cy="279300"/>
            </a:xfrm>
            <a:prstGeom prst="rect">
              <a:avLst/>
            </a:prstGeom>
            <a:noFill/>
            <a:ln>
              <a:noFill/>
            </a:ln>
          </p:spPr>
        </p:pic>
        <p:pic>
          <p:nvPicPr>
            <p:cNvPr id="111" name="Google Shape;111;p18"/>
            <p:cNvPicPr preferRelativeResize="0"/>
            <p:nvPr/>
          </p:nvPicPr>
          <p:blipFill>
            <a:blip r:embed="rId6">
              <a:alphaModFix/>
            </a:blip>
            <a:stretch>
              <a:fillRect/>
            </a:stretch>
          </p:blipFill>
          <p:spPr>
            <a:xfrm>
              <a:off x="6114275" y="4429350"/>
              <a:ext cx="558225" cy="201750"/>
            </a:xfrm>
            <a:prstGeom prst="rect">
              <a:avLst/>
            </a:prstGeom>
            <a:noFill/>
            <a:ln>
              <a:noFill/>
            </a:ln>
          </p:spPr>
        </p:pic>
        <p:pic>
          <p:nvPicPr>
            <p:cNvPr id="112" name="Google Shape;112;p18"/>
            <p:cNvPicPr preferRelativeResize="0"/>
            <p:nvPr/>
          </p:nvPicPr>
          <p:blipFill>
            <a:blip r:embed="rId7">
              <a:alphaModFix/>
            </a:blip>
            <a:stretch>
              <a:fillRect/>
            </a:stretch>
          </p:blipFill>
          <p:spPr>
            <a:xfrm>
              <a:off x="8101664" y="4424163"/>
              <a:ext cx="558225" cy="212125"/>
            </a:xfrm>
            <a:prstGeom prst="rect">
              <a:avLst/>
            </a:prstGeom>
            <a:noFill/>
            <a:ln>
              <a:noFill/>
            </a:ln>
          </p:spPr>
        </p:pic>
        <p:cxnSp>
          <p:nvCxnSpPr>
            <p:cNvPr id="113" name="Google Shape;113;p18"/>
            <p:cNvCxnSpPr/>
            <p:nvPr/>
          </p:nvCxnSpPr>
          <p:spPr>
            <a:xfrm>
              <a:off x="6354525" y="4004025"/>
              <a:ext cx="0" cy="381600"/>
            </a:xfrm>
            <a:prstGeom prst="straightConnector1">
              <a:avLst/>
            </a:prstGeom>
            <a:noFill/>
            <a:ln w="9525" cap="flat" cmpd="sng">
              <a:solidFill>
                <a:schemeClr val="dk1"/>
              </a:solidFill>
              <a:prstDash val="dash"/>
              <a:round/>
              <a:headEnd type="none" w="med" len="med"/>
              <a:tailEnd type="none" w="med" len="med"/>
            </a:ln>
          </p:spPr>
        </p:cxnSp>
        <p:cxnSp>
          <p:nvCxnSpPr>
            <p:cNvPr id="114" name="Google Shape;114;p18"/>
            <p:cNvCxnSpPr/>
            <p:nvPr/>
          </p:nvCxnSpPr>
          <p:spPr>
            <a:xfrm>
              <a:off x="8380764" y="3113825"/>
              <a:ext cx="0" cy="1248000"/>
            </a:xfrm>
            <a:prstGeom prst="straightConnector1">
              <a:avLst/>
            </a:prstGeom>
            <a:noFill/>
            <a:ln w="9525" cap="flat" cmpd="sng">
              <a:solidFill>
                <a:schemeClr val="dk1"/>
              </a:solidFill>
              <a:prstDash val="dash"/>
              <a:round/>
              <a:headEnd type="none" w="med" len="med"/>
              <a:tailEnd type="none" w="med" len="med"/>
            </a:ln>
          </p:spPr>
        </p:cxnSp>
      </p:grpSp>
      <p:pic>
        <p:nvPicPr>
          <p:cNvPr id="115" name="Google Shape;115;p18"/>
          <p:cNvPicPr preferRelativeResize="0"/>
          <p:nvPr/>
        </p:nvPicPr>
        <p:blipFill>
          <a:blip r:embed="rId8">
            <a:alphaModFix/>
          </a:blip>
          <a:stretch>
            <a:fillRect/>
          </a:stretch>
        </p:blipFill>
        <p:spPr>
          <a:xfrm>
            <a:off x="799975" y="1129850"/>
            <a:ext cx="4103025" cy="817725"/>
          </a:xfrm>
          <a:prstGeom prst="rect">
            <a:avLst/>
          </a:prstGeom>
          <a:noFill/>
          <a:ln>
            <a:noFill/>
          </a:ln>
        </p:spPr>
      </p:pic>
      <p:sp>
        <p:nvSpPr>
          <p:cNvPr id="116" name="Google Shape;116;p18"/>
          <p:cNvSpPr/>
          <p:nvPr/>
        </p:nvSpPr>
        <p:spPr>
          <a:xfrm>
            <a:off x="2430225" y="1947563"/>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 name="Google Shape;117;p18"/>
          <p:cNvSpPr/>
          <p:nvPr/>
        </p:nvSpPr>
        <p:spPr>
          <a:xfrm>
            <a:off x="4323325" y="1913788"/>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 name="Google Shape;11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p:nvPr/>
        </p:nvSpPr>
        <p:spPr>
          <a:xfrm>
            <a:off x="2753311" y="0"/>
            <a:ext cx="3915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Vector Field Assigns a Velocity </a:t>
            </a:r>
            <a:endParaRPr sz="1800" b="1">
              <a:solidFill>
                <a:schemeClr val="dk1"/>
              </a:solidFill>
            </a:endParaRPr>
          </a:p>
        </p:txBody>
      </p:sp>
      <p:sp>
        <p:nvSpPr>
          <p:cNvPr id="124" name="Google Shape;124;p19"/>
          <p:cNvSpPr txBox="1"/>
          <p:nvPr/>
        </p:nvSpPr>
        <p:spPr>
          <a:xfrm>
            <a:off x="657775" y="3786675"/>
            <a:ext cx="59187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 vector field assigns each pair           a direction           . </a:t>
            </a:r>
            <a:endParaRPr sz="1800">
              <a:solidFill>
                <a:schemeClr val="dk1"/>
              </a:solidFill>
            </a:endParaRPr>
          </a:p>
        </p:txBody>
      </p:sp>
      <p:grpSp>
        <p:nvGrpSpPr>
          <p:cNvPr id="125" name="Google Shape;125;p19"/>
          <p:cNvGrpSpPr/>
          <p:nvPr/>
        </p:nvGrpSpPr>
        <p:grpSpPr>
          <a:xfrm>
            <a:off x="6267075" y="1215025"/>
            <a:ext cx="2512200" cy="1709100"/>
            <a:chOff x="6163725" y="1230925"/>
            <a:chExt cx="2512200" cy="1709100"/>
          </a:xfrm>
        </p:grpSpPr>
        <p:grpSp>
          <p:nvGrpSpPr>
            <p:cNvPr id="126" name="Google Shape;126;p19"/>
            <p:cNvGrpSpPr/>
            <p:nvPr/>
          </p:nvGrpSpPr>
          <p:grpSpPr>
            <a:xfrm>
              <a:off x="6163725" y="1230925"/>
              <a:ext cx="2512200" cy="1709100"/>
              <a:chOff x="6195525" y="2660625"/>
              <a:chExt cx="2512200" cy="1709100"/>
            </a:xfrm>
          </p:grpSpPr>
          <p:cxnSp>
            <p:nvCxnSpPr>
              <p:cNvPr id="127" name="Google Shape;127;p19"/>
              <p:cNvCxnSpPr/>
              <p:nvPr/>
            </p:nvCxnSpPr>
            <p:spPr>
              <a:xfrm rot="10800000">
                <a:off x="6195525" y="2660625"/>
                <a:ext cx="0" cy="1709100"/>
              </a:xfrm>
              <a:prstGeom prst="straightConnector1">
                <a:avLst/>
              </a:prstGeom>
              <a:noFill/>
              <a:ln w="9525" cap="flat" cmpd="sng">
                <a:solidFill>
                  <a:schemeClr val="dk1"/>
                </a:solidFill>
                <a:prstDash val="solid"/>
                <a:round/>
                <a:headEnd type="none" w="med" len="med"/>
                <a:tailEnd type="triangle" w="med" len="med"/>
              </a:ln>
            </p:spPr>
          </p:cxnSp>
          <p:cxnSp>
            <p:nvCxnSpPr>
              <p:cNvPr id="128" name="Google Shape;128;p19"/>
              <p:cNvCxnSpPr/>
              <p:nvPr/>
            </p:nvCxnSpPr>
            <p:spPr>
              <a:xfrm>
                <a:off x="6195525" y="4369725"/>
                <a:ext cx="2512200" cy="0"/>
              </a:xfrm>
              <a:prstGeom prst="straightConnector1">
                <a:avLst/>
              </a:prstGeom>
              <a:noFill/>
              <a:ln w="9525" cap="flat" cmpd="sng">
                <a:solidFill>
                  <a:schemeClr val="dk1"/>
                </a:solidFill>
                <a:prstDash val="solid"/>
                <a:round/>
                <a:headEnd type="none" w="med" len="med"/>
                <a:tailEnd type="triangle" w="med" len="med"/>
              </a:ln>
            </p:spPr>
          </p:cxnSp>
        </p:grpSp>
        <p:cxnSp>
          <p:nvCxnSpPr>
            <p:cNvPr id="129" name="Google Shape;129;p19"/>
            <p:cNvCxnSpPr/>
            <p:nvPr/>
          </p:nvCxnSpPr>
          <p:spPr>
            <a:xfrm rot="10800000" flipH="1">
              <a:off x="6362450" y="2318550"/>
              <a:ext cx="167100" cy="253200"/>
            </a:xfrm>
            <a:prstGeom prst="straightConnector1">
              <a:avLst/>
            </a:prstGeom>
            <a:noFill/>
            <a:ln w="9525" cap="flat" cmpd="sng">
              <a:solidFill>
                <a:schemeClr val="dk1"/>
              </a:solidFill>
              <a:prstDash val="solid"/>
              <a:round/>
              <a:headEnd type="none" w="med" len="med"/>
              <a:tailEnd type="triangle" w="med" len="med"/>
            </a:ln>
          </p:spPr>
        </p:cxnSp>
        <p:cxnSp>
          <p:nvCxnSpPr>
            <p:cNvPr id="130" name="Google Shape;130;p19"/>
            <p:cNvCxnSpPr/>
            <p:nvPr/>
          </p:nvCxnSpPr>
          <p:spPr>
            <a:xfrm rot="10800000" flipH="1">
              <a:off x="6634100" y="2047425"/>
              <a:ext cx="213300" cy="181500"/>
            </a:xfrm>
            <a:prstGeom prst="straightConnector1">
              <a:avLst/>
            </a:prstGeom>
            <a:noFill/>
            <a:ln w="9525" cap="flat" cmpd="sng">
              <a:solidFill>
                <a:schemeClr val="dk1"/>
              </a:solidFill>
              <a:prstDash val="solid"/>
              <a:round/>
              <a:headEnd type="none" w="med" len="med"/>
              <a:tailEnd type="triangle" w="med" len="med"/>
            </a:ln>
          </p:spPr>
        </p:cxnSp>
        <p:cxnSp>
          <p:nvCxnSpPr>
            <p:cNvPr id="131" name="Google Shape;131;p19"/>
            <p:cNvCxnSpPr/>
            <p:nvPr/>
          </p:nvCxnSpPr>
          <p:spPr>
            <a:xfrm rot="10800000" flipH="1">
              <a:off x="6950751" y="1801951"/>
              <a:ext cx="254400" cy="159000"/>
            </a:xfrm>
            <a:prstGeom prst="straightConnector1">
              <a:avLst/>
            </a:prstGeom>
            <a:noFill/>
            <a:ln w="9525" cap="flat" cmpd="sng">
              <a:solidFill>
                <a:schemeClr val="dk1"/>
              </a:solidFill>
              <a:prstDash val="solid"/>
              <a:round/>
              <a:headEnd type="none" w="med" len="med"/>
              <a:tailEnd type="triangle" w="med" len="med"/>
            </a:ln>
          </p:spPr>
        </p:cxnSp>
        <p:cxnSp>
          <p:nvCxnSpPr>
            <p:cNvPr id="132" name="Google Shape;132;p19"/>
            <p:cNvCxnSpPr/>
            <p:nvPr/>
          </p:nvCxnSpPr>
          <p:spPr>
            <a:xfrm rot="10800000" flipH="1">
              <a:off x="7309850" y="1651050"/>
              <a:ext cx="324600" cy="112500"/>
            </a:xfrm>
            <a:prstGeom prst="straightConnector1">
              <a:avLst/>
            </a:prstGeom>
            <a:noFill/>
            <a:ln w="9525" cap="flat" cmpd="sng">
              <a:solidFill>
                <a:schemeClr val="dk1"/>
              </a:solidFill>
              <a:prstDash val="solid"/>
              <a:round/>
              <a:headEnd type="none" w="med" len="med"/>
              <a:tailEnd type="triangle" w="med" len="med"/>
            </a:ln>
          </p:spPr>
        </p:cxnSp>
        <p:cxnSp>
          <p:nvCxnSpPr>
            <p:cNvPr id="133" name="Google Shape;133;p19"/>
            <p:cNvCxnSpPr/>
            <p:nvPr/>
          </p:nvCxnSpPr>
          <p:spPr>
            <a:xfrm rot="10800000" flipH="1">
              <a:off x="6434000" y="2509625"/>
              <a:ext cx="270300" cy="166800"/>
            </a:xfrm>
            <a:prstGeom prst="straightConnector1">
              <a:avLst/>
            </a:prstGeom>
            <a:noFill/>
            <a:ln w="9525" cap="flat" cmpd="sng">
              <a:solidFill>
                <a:schemeClr val="dk1"/>
              </a:solidFill>
              <a:prstDash val="solid"/>
              <a:round/>
              <a:headEnd type="none" w="med" len="med"/>
              <a:tailEnd type="triangle" w="med" len="med"/>
            </a:ln>
          </p:spPr>
        </p:cxnSp>
        <p:cxnSp>
          <p:nvCxnSpPr>
            <p:cNvPr id="134" name="Google Shape;134;p19"/>
            <p:cNvCxnSpPr/>
            <p:nvPr/>
          </p:nvCxnSpPr>
          <p:spPr>
            <a:xfrm rot="10800000" flipH="1">
              <a:off x="6769250" y="2318550"/>
              <a:ext cx="270300" cy="166800"/>
            </a:xfrm>
            <a:prstGeom prst="straightConnector1">
              <a:avLst/>
            </a:prstGeom>
            <a:noFill/>
            <a:ln w="9525" cap="flat" cmpd="sng">
              <a:solidFill>
                <a:schemeClr val="dk1"/>
              </a:solidFill>
              <a:prstDash val="solid"/>
              <a:round/>
              <a:headEnd type="none" w="med" len="med"/>
              <a:tailEnd type="triangle" w="med" len="med"/>
            </a:ln>
          </p:spPr>
        </p:cxnSp>
        <p:cxnSp>
          <p:nvCxnSpPr>
            <p:cNvPr id="135" name="Google Shape;135;p19"/>
            <p:cNvCxnSpPr/>
            <p:nvPr/>
          </p:nvCxnSpPr>
          <p:spPr>
            <a:xfrm rot="10800000" flipH="1">
              <a:off x="7112450" y="2113200"/>
              <a:ext cx="270300" cy="166800"/>
            </a:xfrm>
            <a:prstGeom prst="straightConnector1">
              <a:avLst/>
            </a:prstGeom>
            <a:noFill/>
            <a:ln w="9525" cap="flat" cmpd="sng">
              <a:solidFill>
                <a:schemeClr val="dk1"/>
              </a:solidFill>
              <a:prstDash val="solid"/>
              <a:round/>
              <a:headEnd type="none" w="med" len="med"/>
              <a:tailEnd type="triangle" w="med" len="med"/>
            </a:ln>
          </p:spPr>
        </p:cxnSp>
        <p:cxnSp>
          <p:nvCxnSpPr>
            <p:cNvPr id="136" name="Google Shape;136;p19"/>
            <p:cNvCxnSpPr/>
            <p:nvPr/>
          </p:nvCxnSpPr>
          <p:spPr>
            <a:xfrm rot="10800000" flipH="1">
              <a:off x="7487451" y="1987051"/>
              <a:ext cx="329700" cy="102300"/>
            </a:xfrm>
            <a:prstGeom prst="straightConnector1">
              <a:avLst/>
            </a:prstGeom>
            <a:noFill/>
            <a:ln w="9525" cap="flat" cmpd="sng">
              <a:solidFill>
                <a:schemeClr val="dk1"/>
              </a:solidFill>
              <a:prstDash val="solid"/>
              <a:round/>
              <a:headEnd type="none" w="med" len="med"/>
              <a:tailEnd type="triangle" w="med" len="med"/>
            </a:ln>
          </p:spPr>
        </p:cxnSp>
        <p:cxnSp>
          <p:nvCxnSpPr>
            <p:cNvPr id="137" name="Google Shape;137;p19"/>
            <p:cNvCxnSpPr/>
            <p:nvPr/>
          </p:nvCxnSpPr>
          <p:spPr>
            <a:xfrm rot="10800000" flipH="1">
              <a:off x="6529550" y="2747850"/>
              <a:ext cx="278100" cy="77100"/>
            </a:xfrm>
            <a:prstGeom prst="straightConnector1">
              <a:avLst/>
            </a:prstGeom>
            <a:noFill/>
            <a:ln w="9525" cap="flat" cmpd="sng">
              <a:solidFill>
                <a:schemeClr val="dk1"/>
              </a:solidFill>
              <a:prstDash val="solid"/>
              <a:round/>
              <a:headEnd type="none" w="med" len="med"/>
              <a:tailEnd type="triangle" w="med" len="med"/>
            </a:ln>
          </p:spPr>
        </p:cxnSp>
        <p:cxnSp>
          <p:nvCxnSpPr>
            <p:cNvPr id="138" name="Google Shape;138;p19"/>
            <p:cNvCxnSpPr/>
            <p:nvPr/>
          </p:nvCxnSpPr>
          <p:spPr>
            <a:xfrm rot="10800000" flipH="1">
              <a:off x="6894950" y="2676425"/>
              <a:ext cx="310200" cy="20400"/>
            </a:xfrm>
            <a:prstGeom prst="straightConnector1">
              <a:avLst/>
            </a:prstGeom>
            <a:noFill/>
            <a:ln w="9525" cap="flat" cmpd="sng">
              <a:solidFill>
                <a:schemeClr val="dk1"/>
              </a:solidFill>
              <a:prstDash val="solid"/>
              <a:round/>
              <a:headEnd type="none" w="med" len="med"/>
              <a:tailEnd type="triangle" w="med" len="med"/>
            </a:ln>
          </p:spPr>
        </p:cxnSp>
        <p:cxnSp>
          <p:nvCxnSpPr>
            <p:cNvPr id="139" name="Google Shape;139;p19"/>
            <p:cNvCxnSpPr/>
            <p:nvPr/>
          </p:nvCxnSpPr>
          <p:spPr>
            <a:xfrm>
              <a:off x="7276700" y="2668475"/>
              <a:ext cx="349800" cy="15900"/>
            </a:xfrm>
            <a:prstGeom prst="straightConnector1">
              <a:avLst/>
            </a:prstGeom>
            <a:noFill/>
            <a:ln w="9525" cap="flat" cmpd="sng">
              <a:solidFill>
                <a:schemeClr val="dk1"/>
              </a:solidFill>
              <a:prstDash val="solid"/>
              <a:round/>
              <a:headEnd type="none" w="med" len="med"/>
              <a:tailEnd type="triangle" w="med" len="med"/>
            </a:ln>
          </p:spPr>
        </p:cxnSp>
        <p:cxnSp>
          <p:nvCxnSpPr>
            <p:cNvPr id="140" name="Google Shape;140;p19"/>
            <p:cNvCxnSpPr/>
            <p:nvPr/>
          </p:nvCxnSpPr>
          <p:spPr>
            <a:xfrm rot="10800000" flipH="1">
              <a:off x="7706000" y="2652600"/>
              <a:ext cx="333900" cy="29400"/>
            </a:xfrm>
            <a:prstGeom prst="straightConnector1">
              <a:avLst/>
            </a:prstGeom>
            <a:noFill/>
            <a:ln w="9525" cap="flat" cmpd="sng">
              <a:solidFill>
                <a:schemeClr val="dk1"/>
              </a:solidFill>
              <a:prstDash val="solid"/>
              <a:round/>
              <a:headEnd type="none" w="med" len="med"/>
              <a:tailEnd type="triangle" w="med" len="med"/>
            </a:ln>
          </p:spPr>
        </p:cxnSp>
      </p:grpSp>
      <p:sp>
        <p:nvSpPr>
          <p:cNvPr id="141" name="Google Shape;141;p19"/>
          <p:cNvSpPr txBox="1"/>
          <p:nvPr/>
        </p:nvSpPr>
        <p:spPr>
          <a:xfrm>
            <a:off x="641862" y="4465125"/>
            <a:ext cx="66381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other words, you could think of           as the speed vector.</a:t>
            </a:r>
            <a:endParaRPr sz="1800">
              <a:solidFill>
                <a:schemeClr val="dk1"/>
              </a:solidFill>
            </a:endParaRPr>
          </a:p>
        </p:txBody>
      </p:sp>
      <p:sp>
        <p:nvSpPr>
          <p:cNvPr id="142" name="Google Shape;142;p19"/>
          <p:cNvSpPr/>
          <p:nvPr/>
        </p:nvSpPr>
        <p:spPr>
          <a:xfrm>
            <a:off x="2389350" y="1913788"/>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19"/>
          <p:cNvSpPr/>
          <p:nvPr/>
        </p:nvSpPr>
        <p:spPr>
          <a:xfrm>
            <a:off x="4980550" y="1791675"/>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4" name="Google Shape;144;p19"/>
          <p:cNvPicPr preferRelativeResize="0"/>
          <p:nvPr/>
        </p:nvPicPr>
        <p:blipFill>
          <a:blip r:embed="rId3">
            <a:alphaModFix/>
          </a:blip>
          <a:stretch>
            <a:fillRect/>
          </a:stretch>
        </p:blipFill>
        <p:spPr>
          <a:xfrm>
            <a:off x="670321" y="987746"/>
            <a:ext cx="4815900" cy="700825"/>
          </a:xfrm>
          <a:prstGeom prst="rect">
            <a:avLst/>
          </a:prstGeom>
          <a:noFill/>
          <a:ln>
            <a:noFill/>
          </a:ln>
        </p:spPr>
      </p:pic>
      <p:pic>
        <p:nvPicPr>
          <p:cNvPr id="145" name="Google Shape;145;p19"/>
          <p:cNvPicPr preferRelativeResize="0"/>
          <p:nvPr/>
        </p:nvPicPr>
        <p:blipFill>
          <a:blip r:embed="rId4">
            <a:alphaModFix/>
          </a:blip>
          <a:stretch>
            <a:fillRect/>
          </a:stretch>
        </p:blipFill>
        <p:spPr>
          <a:xfrm>
            <a:off x="5669848" y="3838891"/>
            <a:ext cx="616850" cy="322500"/>
          </a:xfrm>
          <a:prstGeom prst="rect">
            <a:avLst/>
          </a:prstGeom>
          <a:noFill/>
          <a:ln>
            <a:noFill/>
          </a:ln>
        </p:spPr>
      </p:pic>
      <p:pic>
        <p:nvPicPr>
          <p:cNvPr id="146" name="Google Shape;146;p19"/>
          <p:cNvPicPr preferRelativeResize="0"/>
          <p:nvPr/>
        </p:nvPicPr>
        <p:blipFill>
          <a:blip r:embed="rId5">
            <a:alphaModFix/>
          </a:blip>
          <a:stretch>
            <a:fillRect/>
          </a:stretch>
        </p:blipFill>
        <p:spPr>
          <a:xfrm>
            <a:off x="1961268" y="2623962"/>
            <a:ext cx="3524957" cy="700825"/>
          </a:xfrm>
          <a:prstGeom prst="rect">
            <a:avLst/>
          </a:prstGeom>
          <a:noFill/>
          <a:ln>
            <a:noFill/>
          </a:ln>
        </p:spPr>
      </p:pic>
      <p:pic>
        <p:nvPicPr>
          <p:cNvPr id="147" name="Google Shape;147;p19"/>
          <p:cNvPicPr preferRelativeResize="0"/>
          <p:nvPr/>
        </p:nvPicPr>
        <p:blipFill>
          <a:blip r:embed="rId4">
            <a:alphaModFix/>
          </a:blip>
          <a:stretch>
            <a:fillRect/>
          </a:stretch>
        </p:blipFill>
        <p:spPr>
          <a:xfrm>
            <a:off x="4121236" y="4526250"/>
            <a:ext cx="616850" cy="322500"/>
          </a:xfrm>
          <a:prstGeom prst="rect">
            <a:avLst/>
          </a:prstGeom>
          <a:noFill/>
          <a:ln>
            <a:noFill/>
          </a:ln>
        </p:spPr>
      </p:pic>
      <p:pic>
        <p:nvPicPr>
          <p:cNvPr id="148" name="Google Shape;148;p19"/>
          <p:cNvPicPr preferRelativeResize="0"/>
          <p:nvPr/>
        </p:nvPicPr>
        <p:blipFill>
          <a:blip r:embed="rId6">
            <a:alphaModFix/>
          </a:blip>
          <a:stretch>
            <a:fillRect/>
          </a:stretch>
        </p:blipFill>
        <p:spPr>
          <a:xfrm>
            <a:off x="3981012" y="3858049"/>
            <a:ext cx="563843" cy="294000"/>
          </a:xfrm>
          <a:prstGeom prst="rect">
            <a:avLst/>
          </a:prstGeom>
          <a:noFill/>
          <a:ln>
            <a:noFill/>
          </a:ln>
        </p:spPr>
      </p:pic>
      <p:sp>
        <p:nvSpPr>
          <p:cNvPr id="149" name="Google Shape;14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p:nvPr/>
        </p:nvSpPr>
        <p:spPr>
          <a:xfrm>
            <a:off x="2713500" y="0"/>
            <a:ext cx="4293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Ordinary Differential Equation (ODE)</a:t>
            </a:r>
            <a:endParaRPr sz="1800" b="1">
              <a:solidFill>
                <a:schemeClr val="dk1"/>
              </a:solidFill>
            </a:endParaRPr>
          </a:p>
        </p:txBody>
      </p:sp>
      <p:sp>
        <p:nvSpPr>
          <p:cNvPr id="155" name="Google Shape;155;p20"/>
          <p:cNvSpPr txBox="1"/>
          <p:nvPr/>
        </p:nvSpPr>
        <p:spPr>
          <a:xfrm>
            <a:off x="91980" y="975175"/>
            <a:ext cx="3498000" cy="325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r>
              <a:rPr lang="en" sz="1800">
                <a:solidFill>
                  <a:schemeClr val="dk1"/>
                </a:solidFill>
              </a:rPr>
              <a:t>Initial Condition:</a:t>
            </a:r>
            <a:endParaRPr sz="1800">
              <a:solidFill>
                <a:schemeClr val="dk1"/>
              </a:solidFill>
            </a:endParaRPr>
          </a:p>
        </p:txBody>
      </p:sp>
      <p:pic>
        <p:nvPicPr>
          <p:cNvPr id="156" name="Google Shape;156;p20"/>
          <p:cNvPicPr preferRelativeResize="0"/>
          <p:nvPr/>
        </p:nvPicPr>
        <p:blipFill>
          <a:blip r:embed="rId3">
            <a:alphaModFix/>
          </a:blip>
          <a:stretch>
            <a:fillRect/>
          </a:stretch>
        </p:blipFill>
        <p:spPr>
          <a:xfrm>
            <a:off x="2424506" y="943375"/>
            <a:ext cx="1592906" cy="470400"/>
          </a:xfrm>
          <a:prstGeom prst="rect">
            <a:avLst/>
          </a:prstGeom>
          <a:noFill/>
          <a:ln>
            <a:noFill/>
          </a:ln>
        </p:spPr>
      </p:pic>
      <p:sp>
        <p:nvSpPr>
          <p:cNvPr id="157" name="Google Shape;157;p20"/>
          <p:cNvSpPr txBox="1"/>
          <p:nvPr/>
        </p:nvSpPr>
        <p:spPr>
          <a:xfrm>
            <a:off x="4311530" y="975175"/>
            <a:ext cx="3895500" cy="47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i.e. where should the trajectory start</a:t>
            </a:r>
            <a:endParaRPr sz="1800">
              <a:solidFill>
                <a:schemeClr val="dk1"/>
              </a:solidFill>
            </a:endParaRPr>
          </a:p>
        </p:txBody>
      </p:sp>
      <p:pic>
        <p:nvPicPr>
          <p:cNvPr id="158" name="Google Shape;158;p20"/>
          <p:cNvPicPr preferRelativeResize="0"/>
          <p:nvPr/>
        </p:nvPicPr>
        <p:blipFill>
          <a:blip r:embed="rId4">
            <a:alphaModFix/>
          </a:blip>
          <a:stretch>
            <a:fillRect/>
          </a:stretch>
        </p:blipFill>
        <p:spPr>
          <a:xfrm>
            <a:off x="4170230" y="2080925"/>
            <a:ext cx="3405276" cy="810800"/>
          </a:xfrm>
          <a:prstGeom prst="rect">
            <a:avLst/>
          </a:prstGeom>
          <a:noFill/>
          <a:ln>
            <a:noFill/>
          </a:ln>
        </p:spPr>
      </p:pic>
      <p:sp>
        <p:nvSpPr>
          <p:cNvPr id="159" name="Google Shape;159;p20"/>
          <p:cNvSpPr txBox="1"/>
          <p:nvPr/>
        </p:nvSpPr>
        <p:spPr>
          <a:xfrm>
            <a:off x="187380" y="2251125"/>
            <a:ext cx="4261200" cy="47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How does the trajectory evolve:</a:t>
            </a:r>
            <a:endParaRPr sz="1800">
              <a:solidFill>
                <a:schemeClr val="dk1"/>
              </a:solidFill>
            </a:endParaRPr>
          </a:p>
        </p:txBody>
      </p:sp>
      <p:sp>
        <p:nvSpPr>
          <p:cNvPr id="160" name="Google Shape;160;p20"/>
          <p:cNvSpPr txBox="1"/>
          <p:nvPr/>
        </p:nvSpPr>
        <p:spPr>
          <a:xfrm>
            <a:off x="199650" y="4670550"/>
            <a:ext cx="8744700" cy="32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Side remark →The next state is dependent only on the current state =&gt; it is a </a:t>
            </a:r>
            <a:r>
              <a:rPr lang="en" sz="1200" b="1">
                <a:solidFill>
                  <a:schemeClr val="dk1"/>
                </a:solidFill>
              </a:rPr>
              <a:t>Markov Process</a:t>
            </a:r>
            <a:r>
              <a:rPr lang="en" sz="1200">
                <a:solidFill>
                  <a:schemeClr val="dk1"/>
                </a:solidFill>
              </a:rPr>
              <a:t>, i.e. with no memory.</a:t>
            </a:r>
            <a:endParaRPr sz="1200">
              <a:solidFill>
                <a:schemeClr val="dk1"/>
              </a:solidFill>
            </a:endParaRPr>
          </a:p>
        </p:txBody>
      </p:sp>
      <p:sp>
        <p:nvSpPr>
          <p:cNvPr id="161" name="Google Shape;161;p20"/>
          <p:cNvSpPr txBox="1"/>
          <p:nvPr/>
        </p:nvSpPr>
        <p:spPr>
          <a:xfrm>
            <a:off x="167850" y="3140250"/>
            <a:ext cx="8776500" cy="32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One thing to note is that in the future slides you will also encounter the equivalent formula after multiplying both sides by </a:t>
            </a:r>
            <a:r>
              <a:rPr lang="en" sz="1800" i="1">
                <a:solidFill>
                  <a:schemeClr val="dk1"/>
                </a:solidFill>
              </a:rPr>
              <a:t>dt : </a:t>
            </a:r>
            <a:endParaRPr sz="1800" i="1">
              <a:solidFill>
                <a:schemeClr val="dk1"/>
              </a:solidFill>
            </a:endParaRPr>
          </a:p>
        </p:txBody>
      </p:sp>
      <p:pic>
        <p:nvPicPr>
          <p:cNvPr id="162" name="Google Shape;162;p20"/>
          <p:cNvPicPr preferRelativeResize="0"/>
          <p:nvPr/>
        </p:nvPicPr>
        <p:blipFill>
          <a:blip r:embed="rId5">
            <a:alphaModFix/>
          </a:blip>
          <a:stretch>
            <a:fillRect/>
          </a:stretch>
        </p:blipFill>
        <p:spPr>
          <a:xfrm>
            <a:off x="3056844" y="3884775"/>
            <a:ext cx="3252929" cy="558850"/>
          </a:xfrm>
          <a:prstGeom prst="rect">
            <a:avLst/>
          </a:prstGeom>
          <a:noFill/>
          <a:ln>
            <a:noFill/>
          </a:ln>
        </p:spPr>
      </p:pic>
      <p:sp>
        <p:nvSpPr>
          <p:cNvPr id="163" name="Google Shape;163;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p:nvPr/>
        </p:nvSpPr>
        <p:spPr>
          <a:xfrm>
            <a:off x="2568174" y="0"/>
            <a:ext cx="4186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Flow Collects All ODE Trajectories </a:t>
            </a:r>
            <a:endParaRPr sz="1800" b="1">
              <a:solidFill>
                <a:schemeClr val="dk1"/>
              </a:solidFill>
            </a:endParaRPr>
          </a:p>
        </p:txBody>
      </p:sp>
      <p:sp>
        <p:nvSpPr>
          <p:cNvPr id="169" name="Google Shape;169;p21"/>
          <p:cNvSpPr txBox="1"/>
          <p:nvPr/>
        </p:nvSpPr>
        <p:spPr>
          <a:xfrm>
            <a:off x="279900" y="792325"/>
            <a:ext cx="88641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flow corresponds to the bundle of trajectories of the ODE for all initial conditions</a:t>
            </a:r>
            <a:endParaRPr sz="1800">
              <a:solidFill>
                <a:schemeClr val="dk1"/>
              </a:solidFill>
            </a:endParaRPr>
          </a:p>
        </p:txBody>
      </p:sp>
      <p:pic>
        <p:nvPicPr>
          <p:cNvPr id="170" name="Google Shape;170;p21"/>
          <p:cNvPicPr preferRelativeResize="0"/>
          <p:nvPr/>
        </p:nvPicPr>
        <p:blipFill>
          <a:blip r:embed="rId3">
            <a:alphaModFix/>
          </a:blip>
          <a:stretch>
            <a:fillRect/>
          </a:stretch>
        </p:blipFill>
        <p:spPr>
          <a:xfrm>
            <a:off x="279900" y="1309050"/>
            <a:ext cx="4079524" cy="662325"/>
          </a:xfrm>
          <a:prstGeom prst="rect">
            <a:avLst/>
          </a:prstGeom>
          <a:noFill/>
          <a:ln>
            <a:noFill/>
          </a:ln>
        </p:spPr>
      </p:pic>
      <p:pic>
        <p:nvPicPr>
          <p:cNvPr id="171" name="Google Shape;171;p21"/>
          <p:cNvPicPr preferRelativeResize="0"/>
          <p:nvPr/>
        </p:nvPicPr>
        <p:blipFill>
          <a:blip r:embed="rId4">
            <a:alphaModFix/>
          </a:blip>
          <a:stretch>
            <a:fillRect/>
          </a:stretch>
        </p:blipFill>
        <p:spPr>
          <a:xfrm>
            <a:off x="1079038" y="2303688"/>
            <a:ext cx="3820551" cy="726075"/>
          </a:xfrm>
          <a:prstGeom prst="rect">
            <a:avLst/>
          </a:prstGeom>
          <a:noFill/>
          <a:ln>
            <a:noFill/>
          </a:ln>
        </p:spPr>
      </p:pic>
      <p:sp>
        <p:nvSpPr>
          <p:cNvPr id="172" name="Google Shape;172;p21"/>
          <p:cNvSpPr txBox="1"/>
          <p:nvPr/>
        </p:nvSpPr>
        <p:spPr>
          <a:xfrm>
            <a:off x="169575" y="3362075"/>
            <a:ext cx="3760200" cy="429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r>
              <a:rPr lang="en" sz="1800">
                <a:solidFill>
                  <a:schemeClr val="dk1"/>
                </a:solidFill>
              </a:rPr>
              <a:t>The trajectory at time 0 is just: </a:t>
            </a:r>
            <a:endParaRPr sz="1800">
              <a:solidFill>
                <a:schemeClr val="dk1"/>
              </a:solidFill>
            </a:endParaRPr>
          </a:p>
        </p:txBody>
      </p:sp>
      <p:pic>
        <p:nvPicPr>
          <p:cNvPr id="173" name="Google Shape;173;p21"/>
          <p:cNvPicPr preferRelativeResize="0"/>
          <p:nvPr/>
        </p:nvPicPr>
        <p:blipFill>
          <a:blip r:embed="rId5">
            <a:alphaModFix/>
          </a:blip>
          <a:stretch>
            <a:fillRect/>
          </a:stretch>
        </p:blipFill>
        <p:spPr>
          <a:xfrm>
            <a:off x="3841170" y="3362100"/>
            <a:ext cx="2014256" cy="461100"/>
          </a:xfrm>
          <a:prstGeom prst="rect">
            <a:avLst/>
          </a:prstGeom>
          <a:noFill/>
          <a:ln>
            <a:noFill/>
          </a:ln>
        </p:spPr>
      </p:pic>
      <p:sp>
        <p:nvSpPr>
          <p:cNvPr id="174" name="Google Shape;174;p21"/>
          <p:cNvSpPr txBox="1"/>
          <p:nvPr/>
        </p:nvSpPr>
        <p:spPr>
          <a:xfrm>
            <a:off x="169575" y="4051975"/>
            <a:ext cx="7351800" cy="3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At any other time step             we have the evolution formula:  </a:t>
            </a:r>
            <a:endParaRPr sz="1800">
              <a:solidFill>
                <a:schemeClr val="dk1"/>
              </a:solidFill>
            </a:endParaRPr>
          </a:p>
        </p:txBody>
      </p:sp>
      <p:pic>
        <p:nvPicPr>
          <p:cNvPr id="175" name="Google Shape;175;p21"/>
          <p:cNvPicPr preferRelativeResize="0"/>
          <p:nvPr/>
        </p:nvPicPr>
        <p:blipFill>
          <a:blip r:embed="rId6">
            <a:alphaModFix/>
          </a:blip>
          <a:stretch>
            <a:fillRect/>
          </a:stretch>
        </p:blipFill>
        <p:spPr>
          <a:xfrm>
            <a:off x="3462056" y="4123687"/>
            <a:ext cx="687037" cy="318000"/>
          </a:xfrm>
          <a:prstGeom prst="rect">
            <a:avLst/>
          </a:prstGeom>
          <a:noFill/>
          <a:ln>
            <a:noFill/>
          </a:ln>
        </p:spPr>
      </p:pic>
      <p:pic>
        <p:nvPicPr>
          <p:cNvPr id="176" name="Google Shape;176;p21"/>
          <p:cNvPicPr preferRelativeResize="0"/>
          <p:nvPr/>
        </p:nvPicPr>
        <p:blipFill>
          <a:blip r:embed="rId7">
            <a:alphaModFix/>
          </a:blip>
          <a:stretch>
            <a:fillRect/>
          </a:stretch>
        </p:blipFill>
        <p:spPr>
          <a:xfrm>
            <a:off x="6949550" y="4085425"/>
            <a:ext cx="2115704" cy="351450"/>
          </a:xfrm>
          <a:prstGeom prst="rect">
            <a:avLst/>
          </a:prstGeom>
          <a:noFill/>
          <a:ln>
            <a:noFill/>
          </a:ln>
        </p:spPr>
      </p:pic>
      <p:sp>
        <p:nvSpPr>
          <p:cNvPr id="177" name="Google Shape;177;p21"/>
          <p:cNvSpPr/>
          <p:nvPr/>
        </p:nvSpPr>
        <p:spPr>
          <a:xfrm>
            <a:off x="6306800" y="1253425"/>
            <a:ext cx="2145528" cy="1756944"/>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t>Intuitively speaking, a flow warps space into a new form</a:t>
            </a:r>
            <a:endParaRPr i="1"/>
          </a:p>
        </p:txBody>
      </p:sp>
      <p:sp>
        <p:nvSpPr>
          <p:cNvPr id="178" name="Google Shape;178;p21"/>
          <p:cNvSpPr/>
          <p:nvPr/>
        </p:nvSpPr>
        <p:spPr>
          <a:xfrm>
            <a:off x="1823150" y="1917250"/>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 name="Google Shape;179;p21"/>
          <p:cNvSpPr/>
          <p:nvPr/>
        </p:nvSpPr>
        <p:spPr>
          <a:xfrm>
            <a:off x="3875525" y="1917250"/>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 name="Google Shape;180;p21"/>
          <p:cNvSpPr txBox="1"/>
          <p:nvPr/>
        </p:nvSpPr>
        <p:spPr>
          <a:xfrm>
            <a:off x="554650" y="4630575"/>
            <a:ext cx="84219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i="1">
                <a:solidFill>
                  <a:schemeClr val="dk1"/>
                </a:solidFill>
              </a:rPr>
              <a:t>To gain intuition, check out this visualization tool → </a:t>
            </a:r>
            <a:r>
              <a:rPr lang="en" sz="1600" i="1" u="sng">
                <a:solidFill>
                  <a:schemeClr val="hlink"/>
                </a:solidFill>
                <a:hlinkClick r:id="rId8"/>
              </a:rPr>
              <a:t>https://mariogemoll.com/flow-matching</a:t>
            </a:r>
            <a:endParaRPr sz="1600" i="1">
              <a:solidFill>
                <a:schemeClr val="dk1"/>
              </a:solidFill>
            </a:endParaRPr>
          </a:p>
        </p:txBody>
      </p:sp>
      <p:sp>
        <p:nvSpPr>
          <p:cNvPr id="181" name="Google Shape;181;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2"/>
          <p:cNvSpPr txBox="1"/>
          <p:nvPr/>
        </p:nvSpPr>
        <p:spPr>
          <a:xfrm>
            <a:off x="2514050" y="0"/>
            <a:ext cx="4558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A Flow Transports Probability Density </a:t>
            </a:r>
            <a:endParaRPr sz="1800" b="1">
              <a:solidFill>
                <a:schemeClr val="dk1"/>
              </a:solidFill>
            </a:endParaRPr>
          </a:p>
        </p:txBody>
      </p:sp>
      <p:pic>
        <p:nvPicPr>
          <p:cNvPr id="187" name="Google Shape;187;p22"/>
          <p:cNvPicPr preferRelativeResize="0"/>
          <p:nvPr/>
        </p:nvPicPr>
        <p:blipFill>
          <a:blip r:embed="rId3">
            <a:alphaModFix/>
          </a:blip>
          <a:stretch>
            <a:fillRect/>
          </a:stretch>
        </p:blipFill>
        <p:spPr>
          <a:xfrm>
            <a:off x="4633339" y="856301"/>
            <a:ext cx="4353599" cy="3236649"/>
          </a:xfrm>
          <a:prstGeom prst="rect">
            <a:avLst/>
          </a:prstGeom>
          <a:noFill/>
          <a:ln>
            <a:noFill/>
          </a:ln>
        </p:spPr>
      </p:pic>
      <p:pic>
        <p:nvPicPr>
          <p:cNvPr id="188" name="Google Shape;188;p22"/>
          <p:cNvPicPr preferRelativeResize="0"/>
          <p:nvPr/>
        </p:nvPicPr>
        <p:blipFill>
          <a:blip r:embed="rId4">
            <a:alphaModFix/>
          </a:blip>
          <a:stretch>
            <a:fillRect/>
          </a:stretch>
        </p:blipFill>
        <p:spPr>
          <a:xfrm>
            <a:off x="137675" y="856552"/>
            <a:ext cx="4356849" cy="3236650"/>
          </a:xfrm>
          <a:prstGeom prst="rect">
            <a:avLst/>
          </a:prstGeom>
          <a:noFill/>
          <a:ln>
            <a:noFill/>
          </a:ln>
        </p:spPr>
      </p:pic>
      <p:sp>
        <p:nvSpPr>
          <p:cNvPr id="189" name="Google Shape;189;p22"/>
          <p:cNvSpPr/>
          <p:nvPr/>
        </p:nvSpPr>
        <p:spPr>
          <a:xfrm>
            <a:off x="1732525" y="1948500"/>
            <a:ext cx="1403700" cy="124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0" name="Google Shape;190;p22"/>
          <p:cNvCxnSpPr/>
          <p:nvPr/>
        </p:nvCxnSpPr>
        <p:spPr>
          <a:xfrm>
            <a:off x="1899375" y="2557025"/>
            <a:ext cx="235500" cy="0"/>
          </a:xfrm>
          <a:prstGeom prst="straightConnector1">
            <a:avLst/>
          </a:prstGeom>
          <a:noFill/>
          <a:ln w="9525" cap="flat" cmpd="sng">
            <a:solidFill>
              <a:schemeClr val="dk1"/>
            </a:solidFill>
            <a:prstDash val="solid"/>
            <a:round/>
            <a:headEnd type="none" w="med" len="med"/>
            <a:tailEnd type="triangle" w="med" len="med"/>
          </a:ln>
        </p:spPr>
      </p:cxnSp>
      <p:cxnSp>
        <p:nvCxnSpPr>
          <p:cNvPr id="191" name="Google Shape;191;p22"/>
          <p:cNvCxnSpPr/>
          <p:nvPr/>
        </p:nvCxnSpPr>
        <p:spPr>
          <a:xfrm>
            <a:off x="2198350" y="2557025"/>
            <a:ext cx="250800" cy="0"/>
          </a:xfrm>
          <a:prstGeom prst="straightConnector1">
            <a:avLst/>
          </a:prstGeom>
          <a:noFill/>
          <a:ln w="9525" cap="flat" cmpd="sng">
            <a:solidFill>
              <a:schemeClr val="dk1"/>
            </a:solidFill>
            <a:prstDash val="solid"/>
            <a:round/>
            <a:headEnd type="none" w="med" len="med"/>
            <a:tailEnd type="triangle" w="med" len="med"/>
          </a:ln>
        </p:spPr>
      </p:cxnSp>
      <p:cxnSp>
        <p:nvCxnSpPr>
          <p:cNvPr id="192" name="Google Shape;192;p22"/>
          <p:cNvCxnSpPr/>
          <p:nvPr/>
        </p:nvCxnSpPr>
        <p:spPr>
          <a:xfrm>
            <a:off x="2488825" y="2557025"/>
            <a:ext cx="244800" cy="19500"/>
          </a:xfrm>
          <a:prstGeom prst="straightConnector1">
            <a:avLst/>
          </a:prstGeom>
          <a:noFill/>
          <a:ln w="9525" cap="flat" cmpd="sng">
            <a:solidFill>
              <a:schemeClr val="dk1"/>
            </a:solidFill>
            <a:prstDash val="solid"/>
            <a:round/>
            <a:headEnd type="none" w="med" len="med"/>
            <a:tailEnd type="triangle" w="med" len="med"/>
          </a:ln>
        </p:spPr>
      </p:cxnSp>
      <p:cxnSp>
        <p:nvCxnSpPr>
          <p:cNvPr id="193" name="Google Shape;193;p22"/>
          <p:cNvCxnSpPr/>
          <p:nvPr/>
        </p:nvCxnSpPr>
        <p:spPr>
          <a:xfrm>
            <a:off x="2802475" y="2570025"/>
            <a:ext cx="239700" cy="24600"/>
          </a:xfrm>
          <a:prstGeom prst="straightConnector1">
            <a:avLst/>
          </a:prstGeom>
          <a:noFill/>
          <a:ln w="9525" cap="flat" cmpd="sng">
            <a:solidFill>
              <a:schemeClr val="dk1"/>
            </a:solidFill>
            <a:prstDash val="solid"/>
            <a:round/>
            <a:headEnd type="none" w="med" len="med"/>
            <a:tailEnd type="triangle" w="med" len="med"/>
          </a:ln>
        </p:spPr>
      </p:cxnSp>
      <p:cxnSp>
        <p:nvCxnSpPr>
          <p:cNvPr id="194" name="Google Shape;194;p22"/>
          <p:cNvCxnSpPr/>
          <p:nvPr/>
        </p:nvCxnSpPr>
        <p:spPr>
          <a:xfrm>
            <a:off x="1899375" y="2778900"/>
            <a:ext cx="245400" cy="23400"/>
          </a:xfrm>
          <a:prstGeom prst="straightConnector1">
            <a:avLst/>
          </a:prstGeom>
          <a:noFill/>
          <a:ln w="9525" cap="flat" cmpd="sng">
            <a:solidFill>
              <a:schemeClr val="dk1"/>
            </a:solidFill>
            <a:prstDash val="solid"/>
            <a:round/>
            <a:headEnd type="none" w="med" len="med"/>
            <a:tailEnd type="triangle" w="med" len="med"/>
          </a:ln>
        </p:spPr>
      </p:cxnSp>
      <p:cxnSp>
        <p:nvCxnSpPr>
          <p:cNvPr id="195" name="Google Shape;195;p22"/>
          <p:cNvCxnSpPr/>
          <p:nvPr/>
        </p:nvCxnSpPr>
        <p:spPr>
          <a:xfrm>
            <a:off x="2267450" y="2831875"/>
            <a:ext cx="246600" cy="45600"/>
          </a:xfrm>
          <a:prstGeom prst="straightConnector1">
            <a:avLst/>
          </a:prstGeom>
          <a:noFill/>
          <a:ln w="9525" cap="flat" cmpd="sng">
            <a:solidFill>
              <a:schemeClr val="dk1"/>
            </a:solidFill>
            <a:prstDash val="solid"/>
            <a:round/>
            <a:headEnd type="none" w="med" len="med"/>
            <a:tailEnd type="triangle" w="med" len="med"/>
          </a:ln>
        </p:spPr>
      </p:cxnSp>
      <p:cxnSp>
        <p:nvCxnSpPr>
          <p:cNvPr id="196" name="Google Shape;196;p22"/>
          <p:cNvCxnSpPr/>
          <p:nvPr/>
        </p:nvCxnSpPr>
        <p:spPr>
          <a:xfrm>
            <a:off x="2596300" y="2934925"/>
            <a:ext cx="242100" cy="45600"/>
          </a:xfrm>
          <a:prstGeom prst="straightConnector1">
            <a:avLst/>
          </a:prstGeom>
          <a:noFill/>
          <a:ln w="9525" cap="flat" cmpd="sng">
            <a:solidFill>
              <a:schemeClr val="dk1"/>
            </a:solidFill>
            <a:prstDash val="solid"/>
            <a:round/>
            <a:headEnd type="none" w="med" len="med"/>
            <a:tailEnd type="triangle" w="med" len="med"/>
          </a:ln>
        </p:spPr>
      </p:cxnSp>
      <p:cxnSp>
        <p:nvCxnSpPr>
          <p:cNvPr id="197" name="Google Shape;197;p22"/>
          <p:cNvCxnSpPr/>
          <p:nvPr/>
        </p:nvCxnSpPr>
        <p:spPr>
          <a:xfrm>
            <a:off x="1899375" y="2313425"/>
            <a:ext cx="245400" cy="42300"/>
          </a:xfrm>
          <a:prstGeom prst="straightConnector1">
            <a:avLst/>
          </a:prstGeom>
          <a:noFill/>
          <a:ln w="9525" cap="flat" cmpd="sng">
            <a:solidFill>
              <a:schemeClr val="dk1"/>
            </a:solidFill>
            <a:prstDash val="solid"/>
            <a:round/>
            <a:headEnd type="none" w="med" len="med"/>
            <a:tailEnd type="triangle" w="med" len="med"/>
          </a:ln>
        </p:spPr>
      </p:cxnSp>
      <p:cxnSp>
        <p:nvCxnSpPr>
          <p:cNvPr id="198" name="Google Shape;198;p22"/>
          <p:cNvCxnSpPr/>
          <p:nvPr/>
        </p:nvCxnSpPr>
        <p:spPr>
          <a:xfrm rot="10800000" flipH="1">
            <a:off x="2242925" y="2346125"/>
            <a:ext cx="240600" cy="19500"/>
          </a:xfrm>
          <a:prstGeom prst="straightConnector1">
            <a:avLst/>
          </a:prstGeom>
          <a:noFill/>
          <a:ln w="9525" cap="flat" cmpd="sng">
            <a:solidFill>
              <a:schemeClr val="dk1"/>
            </a:solidFill>
            <a:prstDash val="solid"/>
            <a:round/>
            <a:headEnd type="none" w="med" len="med"/>
            <a:tailEnd type="triangle" w="med" len="med"/>
          </a:ln>
        </p:spPr>
      </p:cxnSp>
      <p:cxnSp>
        <p:nvCxnSpPr>
          <p:cNvPr id="199" name="Google Shape;199;p22"/>
          <p:cNvCxnSpPr/>
          <p:nvPr/>
        </p:nvCxnSpPr>
        <p:spPr>
          <a:xfrm rot="10800000" flipH="1">
            <a:off x="2548075" y="2267525"/>
            <a:ext cx="254400" cy="45900"/>
          </a:xfrm>
          <a:prstGeom prst="straightConnector1">
            <a:avLst/>
          </a:prstGeom>
          <a:noFill/>
          <a:ln w="9525" cap="flat" cmpd="sng">
            <a:solidFill>
              <a:schemeClr val="dk1"/>
            </a:solidFill>
            <a:prstDash val="solid"/>
            <a:round/>
            <a:headEnd type="none" w="med" len="med"/>
            <a:tailEnd type="triangle" w="med" len="med"/>
          </a:ln>
        </p:spPr>
      </p:cxnSp>
      <p:cxnSp>
        <p:nvCxnSpPr>
          <p:cNvPr id="200" name="Google Shape;200;p22"/>
          <p:cNvCxnSpPr/>
          <p:nvPr/>
        </p:nvCxnSpPr>
        <p:spPr>
          <a:xfrm rot="10800000" flipH="1">
            <a:off x="2871125" y="2108125"/>
            <a:ext cx="203700" cy="75900"/>
          </a:xfrm>
          <a:prstGeom prst="straightConnector1">
            <a:avLst/>
          </a:prstGeom>
          <a:noFill/>
          <a:ln w="9525" cap="flat" cmpd="sng">
            <a:solidFill>
              <a:schemeClr val="dk1"/>
            </a:solidFill>
            <a:prstDash val="solid"/>
            <a:round/>
            <a:headEnd type="none" w="med" len="med"/>
            <a:tailEnd type="triangle" w="med" len="med"/>
          </a:ln>
        </p:spPr>
      </p:cxnSp>
      <p:cxnSp>
        <p:nvCxnSpPr>
          <p:cNvPr id="201" name="Google Shape;201;p22"/>
          <p:cNvCxnSpPr/>
          <p:nvPr/>
        </p:nvCxnSpPr>
        <p:spPr>
          <a:xfrm>
            <a:off x="2890775" y="3013475"/>
            <a:ext cx="220800" cy="108000"/>
          </a:xfrm>
          <a:prstGeom prst="straightConnector1">
            <a:avLst/>
          </a:prstGeom>
          <a:noFill/>
          <a:ln w="9525" cap="flat" cmpd="sng">
            <a:solidFill>
              <a:schemeClr val="dk1"/>
            </a:solidFill>
            <a:prstDash val="solid"/>
            <a:round/>
            <a:headEnd type="none" w="med" len="med"/>
            <a:tailEnd type="triangle" w="med" len="med"/>
          </a:ln>
        </p:spPr>
      </p:cxnSp>
      <p:sp>
        <p:nvSpPr>
          <p:cNvPr id="202" name="Google Shape;202;p22"/>
          <p:cNvSpPr txBox="1"/>
          <p:nvPr/>
        </p:nvSpPr>
        <p:spPr>
          <a:xfrm>
            <a:off x="161950" y="4279700"/>
            <a:ext cx="8825100" cy="544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1000">
                <a:solidFill>
                  <a:schemeClr val="dk1"/>
                </a:solidFill>
              </a:rPr>
              <a:t>A flow does not only move individual points. It moves an entire probability density over time: </a:t>
            </a:r>
            <a:r>
              <a:rPr lang="en" sz="1000" i="1">
                <a:solidFill>
                  <a:schemeClr val="dk1"/>
                </a:solidFill>
              </a:rPr>
              <a:t>p</a:t>
            </a:r>
            <a:r>
              <a:rPr lang="en" sz="1000">
                <a:solidFill>
                  <a:schemeClr val="dk1"/>
                </a:solidFill>
              </a:rPr>
              <a:t> → </a:t>
            </a:r>
            <a:r>
              <a:rPr lang="en" sz="1000" i="1">
                <a:solidFill>
                  <a:schemeClr val="dk1"/>
                </a:solidFill>
              </a:rPr>
              <a:t>p</a:t>
            </a:r>
            <a:r>
              <a:rPr lang="en" sz="1000" i="1" baseline="-25000">
                <a:solidFill>
                  <a:schemeClr val="dk1"/>
                </a:solidFill>
              </a:rPr>
              <a:t>t </a:t>
            </a:r>
            <a:r>
              <a:rPr lang="en" sz="1000">
                <a:solidFill>
                  <a:schemeClr val="dk1"/>
                </a:solidFill>
              </a:rPr>
              <a:t>→ </a:t>
            </a:r>
            <a:r>
              <a:rPr lang="en" sz="1000" i="1">
                <a:solidFill>
                  <a:schemeClr val="dk1"/>
                </a:solidFill>
              </a:rPr>
              <a:t>q .</a:t>
            </a:r>
            <a:r>
              <a:rPr lang="en" sz="1000">
                <a:solidFill>
                  <a:schemeClr val="dk1"/>
                </a:solidFill>
              </a:rPr>
              <a:t> The vector field tells each point where to move. If all points follow this vector field, the whole distribution is continuously transformed from the initial distribution </a:t>
            </a:r>
            <a:r>
              <a:rPr lang="en" sz="1000" i="1">
                <a:solidFill>
                  <a:schemeClr val="dk1"/>
                </a:solidFill>
              </a:rPr>
              <a:t>p</a:t>
            </a:r>
            <a:r>
              <a:rPr lang="en" sz="1000">
                <a:solidFill>
                  <a:schemeClr val="dk1"/>
                </a:solidFill>
              </a:rPr>
              <a:t> into the target distribution </a:t>
            </a:r>
            <a:r>
              <a:rPr lang="en" sz="1000" i="1">
                <a:solidFill>
                  <a:schemeClr val="dk1"/>
                </a:solidFill>
              </a:rPr>
              <a:t>q</a:t>
            </a:r>
            <a:r>
              <a:rPr lang="en" sz="1000">
                <a:solidFill>
                  <a:schemeClr val="dk1"/>
                </a:solidFill>
              </a:rPr>
              <a:t>.</a:t>
            </a:r>
            <a:endParaRPr sz="1000">
              <a:solidFill>
                <a:schemeClr val="dk1"/>
              </a:solidFill>
            </a:endParaRPr>
          </a:p>
        </p:txBody>
      </p:sp>
      <p:sp>
        <p:nvSpPr>
          <p:cNvPr id="203" name="Google Shape;203;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3"/>
          <p:cNvSpPr txBox="1"/>
          <p:nvPr/>
        </p:nvSpPr>
        <p:spPr>
          <a:xfrm>
            <a:off x="2626507" y="0"/>
            <a:ext cx="44883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Example: A Linear Contracting Flow </a:t>
            </a:r>
            <a:endParaRPr sz="1800" b="1">
              <a:solidFill>
                <a:schemeClr val="dk1"/>
              </a:solidFill>
            </a:endParaRPr>
          </a:p>
        </p:txBody>
      </p:sp>
      <p:sp>
        <p:nvSpPr>
          <p:cNvPr id="209" name="Google Shape;209;p23"/>
          <p:cNvSpPr txBox="1"/>
          <p:nvPr/>
        </p:nvSpPr>
        <p:spPr>
          <a:xfrm>
            <a:off x="202925" y="3443275"/>
            <a:ext cx="4100400" cy="5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Say we have a Linear ODE case: </a:t>
            </a:r>
            <a:endParaRPr sz="1800">
              <a:solidFill>
                <a:schemeClr val="dk1"/>
              </a:solidFill>
            </a:endParaRPr>
          </a:p>
        </p:txBody>
      </p:sp>
      <p:pic>
        <p:nvPicPr>
          <p:cNvPr id="210" name="Google Shape;210;p23"/>
          <p:cNvPicPr preferRelativeResize="0"/>
          <p:nvPr/>
        </p:nvPicPr>
        <p:blipFill>
          <a:blip r:embed="rId3">
            <a:alphaModFix/>
          </a:blip>
          <a:stretch>
            <a:fillRect/>
          </a:stretch>
        </p:blipFill>
        <p:spPr>
          <a:xfrm>
            <a:off x="3768350" y="3356524"/>
            <a:ext cx="2529800" cy="584500"/>
          </a:xfrm>
          <a:prstGeom prst="rect">
            <a:avLst/>
          </a:prstGeom>
          <a:noFill/>
          <a:ln>
            <a:noFill/>
          </a:ln>
        </p:spPr>
      </p:pic>
      <p:sp>
        <p:nvSpPr>
          <p:cNvPr id="211" name="Google Shape;211;p23"/>
          <p:cNvSpPr txBox="1"/>
          <p:nvPr/>
        </p:nvSpPr>
        <p:spPr>
          <a:xfrm>
            <a:off x="202925" y="4387150"/>
            <a:ext cx="36330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claim that the flow is given by: </a:t>
            </a:r>
            <a:endParaRPr sz="1800">
              <a:solidFill>
                <a:schemeClr val="dk1"/>
              </a:solidFill>
            </a:endParaRPr>
          </a:p>
        </p:txBody>
      </p:sp>
      <p:pic>
        <p:nvPicPr>
          <p:cNvPr id="212" name="Google Shape;212;p23"/>
          <p:cNvPicPr preferRelativeResize="0"/>
          <p:nvPr/>
        </p:nvPicPr>
        <p:blipFill>
          <a:blip r:embed="rId4">
            <a:alphaModFix/>
          </a:blip>
          <a:stretch>
            <a:fillRect/>
          </a:stretch>
        </p:blipFill>
        <p:spPr>
          <a:xfrm>
            <a:off x="3768350" y="4234863"/>
            <a:ext cx="3347026" cy="703025"/>
          </a:xfrm>
          <a:prstGeom prst="rect">
            <a:avLst/>
          </a:prstGeom>
          <a:noFill/>
          <a:ln>
            <a:noFill/>
          </a:ln>
        </p:spPr>
      </p:pic>
      <p:pic>
        <p:nvPicPr>
          <p:cNvPr id="213" name="Google Shape;213;p23"/>
          <p:cNvPicPr preferRelativeResize="0"/>
          <p:nvPr/>
        </p:nvPicPr>
        <p:blipFill>
          <a:blip r:embed="rId5">
            <a:alphaModFix/>
          </a:blip>
          <a:stretch>
            <a:fillRect/>
          </a:stretch>
        </p:blipFill>
        <p:spPr>
          <a:xfrm>
            <a:off x="7253095" y="3222820"/>
            <a:ext cx="1798499" cy="1626755"/>
          </a:xfrm>
          <a:prstGeom prst="rect">
            <a:avLst/>
          </a:prstGeom>
          <a:noFill/>
          <a:ln>
            <a:noFill/>
          </a:ln>
        </p:spPr>
      </p:pic>
      <p:pic>
        <p:nvPicPr>
          <p:cNvPr id="214" name="Google Shape;214;p23"/>
          <p:cNvPicPr preferRelativeResize="0"/>
          <p:nvPr/>
        </p:nvPicPr>
        <p:blipFill>
          <a:blip r:embed="rId6">
            <a:alphaModFix/>
          </a:blip>
          <a:stretch>
            <a:fillRect/>
          </a:stretch>
        </p:blipFill>
        <p:spPr>
          <a:xfrm>
            <a:off x="4381850" y="461725"/>
            <a:ext cx="4620673" cy="2448675"/>
          </a:xfrm>
          <a:prstGeom prst="rect">
            <a:avLst/>
          </a:prstGeom>
          <a:noFill/>
          <a:ln>
            <a:noFill/>
          </a:ln>
        </p:spPr>
      </p:pic>
      <p:sp>
        <p:nvSpPr>
          <p:cNvPr id="215" name="Google Shape;215;p23"/>
          <p:cNvSpPr txBox="1"/>
          <p:nvPr/>
        </p:nvSpPr>
        <p:spPr>
          <a:xfrm>
            <a:off x="256075" y="947225"/>
            <a:ext cx="3885300" cy="58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Keeping in mind the intuition that a flow model changes a Probability Density Function (PDF) across time</a:t>
            </a:r>
            <a:endParaRPr sz="1800">
              <a:solidFill>
                <a:schemeClr val="dk1"/>
              </a:solidFill>
            </a:endParaRPr>
          </a:p>
          <a:p>
            <a:pPr marL="0" lvl="0" indent="0" algn="l" rtl="0">
              <a:spcBef>
                <a:spcPts val="0"/>
              </a:spcBef>
              <a:spcAft>
                <a:spcPts val="0"/>
              </a:spcAft>
              <a:buNone/>
            </a:pPr>
            <a:r>
              <a:rPr lang="en" sz="1800">
                <a:solidFill>
                  <a:schemeClr val="dk1"/>
                </a:solidFill>
              </a:rPr>
              <a:t>let’s try to solve this simplified example below</a:t>
            </a:r>
            <a:endParaRPr sz="1800">
              <a:solidFill>
                <a:schemeClr val="dk1"/>
              </a:solidFill>
            </a:endParaRPr>
          </a:p>
        </p:txBody>
      </p:sp>
      <p:sp>
        <p:nvSpPr>
          <p:cNvPr id="216" name="Google Shape;216;p23"/>
          <p:cNvSpPr/>
          <p:nvPr/>
        </p:nvSpPr>
        <p:spPr>
          <a:xfrm>
            <a:off x="4098124" y="1678500"/>
            <a:ext cx="205200" cy="108000"/>
          </a:xfrm>
          <a:prstGeom prst="rightArrow">
            <a:avLst>
              <a:gd name="adj1" fmla="val 50000"/>
              <a:gd name="adj2" fmla="val 50000"/>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 name="Google Shape;217;p23"/>
          <p:cNvSpPr/>
          <p:nvPr/>
        </p:nvSpPr>
        <p:spPr>
          <a:xfrm rot="10800000" flipH="1">
            <a:off x="1962275" y="2257525"/>
            <a:ext cx="270900" cy="800100"/>
          </a:xfrm>
          <a:prstGeom prst="bentUpArrow">
            <a:avLst>
              <a:gd name="adj1" fmla="val 21788"/>
              <a:gd name="adj2" fmla="val 25000"/>
              <a:gd name="adj3" fmla="val 25000"/>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23"/>
          <p:cNvSpPr/>
          <p:nvPr/>
        </p:nvSpPr>
        <p:spPr>
          <a:xfrm>
            <a:off x="6361325" y="4912775"/>
            <a:ext cx="1947900" cy="191700"/>
          </a:xfrm>
          <a:prstGeom prst="curvedUp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4"/>
          <p:cNvSpPr txBox="1"/>
          <p:nvPr/>
        </p:nvSpPr>
        <p:spPr>
          <a:xfrm>
            <a:off x="343500" y="3763700"/>
            <a:ext cx="3037800" cy="67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This is just                         if we substitute the generic      with   </a:t>
            </a:r>
            <a:endParaRPr sz="1100">
              <a:solidFill>
                <a:schemeClr val="dk1"/>
              </a:solidFill>
            </a:endParaRPr>
          </a:p>
        </p:txBody>
      </p:sp>
      <p:sp>
        <p:nvSpPr>
          <p:cNvPr id="225" name="Google Shape;225;p24"/>
          <p:cNvSpPr txBox="1"/>
          <p:nvPr/>
        </p:nvSpPr>
        <p:spPr>
          <a:xfrm>
            <a:off x="453900" y="734225"/>
            <a:ext cx="3434400" cy="5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Proof:</a:t>
            </a:r>
            <a:endParaRPr sz="1800">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AutoNum type="arabicParenR"/>
            </a:pPr>
            <a:r>
              <a:rPr lang="en" sz="1800">
                <a:solidFill>
                  <a:schemeClr val="dk1"/>
                </a:solidFill>
              </a:rPr>
              <a:t>Initial condition:</a:t>
            </a:r>
            <a:endParaRPr sz="1800">
              <a:solidFill>
                <a:schemeClr val="dk1"/>
              </a:solidFill>
            </a:endParaRPr>
          </a:p>
          <a:p>
            <a:pPr marL="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AutoNum type="arabicParenR"/>
            </a:pPr>
            <a:r>
              <a:rPr lang="en" sz="1800">
                <a:solidFill>
                  <a:schemeClr val="dk1"/>
                </a:solidFill>
              </a:rPr>
              <a:t>ODE:</a:t>
            </a:r>
            <a:endParaRPr sz="1800">
              <a:solidFill>
                <a:schemeClr val="dk1"/>
              </a:solidFill>
            </a:endParaRPr>
          </a:p>
        </p:txBody>
      </p:sp>
      <p:pic>
        <p:nvPicPr>
          <p:cNvPr id="226" name="Google Shape;226;p24"/>
          <p:cNvPicPr preferRelativeResize="0"/>
          <p:nvPr/>
        </p:nvPicPr>
        <p:blipFill>
          <a:blip r:embed="rId3">
            <a:alphaModFix/>
          </a:blip>
          <a:stretch>
            <a:fillRect/>
          </a:stretch>
        </p:blipFill>
        <p:spPr>
          <a:xfrm>
            <a:off x="2651678" y="1211073"/>
            <a:ext cx="5130247" cy="532500"/>
          </a:xfrm>
          <a:prstGeom prst="rect">
            <a:avLst/>
          </a:prstGeom>
          <a:noFill/>
          <a:ln>
            <a:noFill/>
          </a:ln>
        </p:spPr>
      </p:pic>
      <p:sp>
        <p:nvSpPr>
          <p:cNvPr id="227" name="Google Shape;227;p24"/>
          <p:cNvSpPr txBox="1"/>
          <p:nvPr/>
        </p:nvSpPr>
        <p:spPr>
          <a:xfrm>
            <a:off x="4331375" y="2532150"/>
            <a:ext cx="2186100" cy="18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chemeClr val="dk1"/>
                </a:solidFill>
              </a:rPr>
              <a:t>Does not depend on time </a:t>
            </a:r>
            <a:r>
              <a:rPr lang="en" sz="900" i="1">
                <a:solidFill>
                  <a:schemeClr val="dk1"/>
                </a:solidFill>
              </a:rPr>
              <a:t>t</a:t>
            </a:r>
            <a:r>
              <a:rPr lang="en" sz="900">
                <a:solidFill>
                  <a:schemeClr val="dk1"/>
                </a:solidFill>
              </a:rPr>
              <a:t> so we take it out of derivative operator</a:t>
            </a:r>
            <a:endParaRPr sz="900">
              <a:solidFill>
                <a:schemeClr val="dk1"/>
              </a:solidFill>
            </a:endParaRPr>
          </a:p>
        </p:txBody>
      </p:sp>
      <p:pic>
        <p:nvPicPr>
          <p:cNvPr id="228" name="Google Shape;228;p24"/>
          <p:cNvPicPr preferRelativeResize="0"/>
          <p:nvPr/>
        </p:nvPicPr>
        <p:blipFill>
          <a:blip r:embed="rId4">
            <a:alphaModFix/>
          </a:blip>
          <a:stretch>
            <a:fillRect/>
          </a:stretch>
        </p:blipFill>
        <p:spPr>
          <a:xfrm>
            <a:off x="1940775" y="1801013"/>
            <a:ext cx="5580502" cy="532500"/>
          </a:xfrm>
          <a:prstGeom prst="rect">
            <a:avLst/>
          </a:prstGeom>
          <a:noFill/>
          <a:ln>
            <a:noFill/>
          </a:ln>
        </p:spPr>
      </p:pic>
      <p:sp>
        <p:nvSpPr>
          <p:cNvPr id="229" name="Google Shape;229;p24"/>
          <p:cNvSpPr/>
          <p:nvPr/>
        </p:nvSpPr>
        <p:spPr>
          <a:xfrm>
            <a:off x="4732750" y="1970850"/>
            <a:ext cx="333900" cy="276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 name="Google Shape;230;p24"/>
          <p:cNvSpPr/>
          <p:nvPr/>
        </p:nvSpPr>
        <p:spPr>
          <a:xfrm>
            <a:off x="4864025" y="2333500"/>
            <a:ext cx="1013400" cy="238200"/>
          </a:xfrm>
          <a:prstGeom prst="curvedUp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 name="Google Shape;231;p24"/>
          <p:cNvSpPr/>
          <p:nvPr/>
        </p:nvSpPr>
        <p:spPr>
          <a:xfrm>
            <a:off x="6243226" y="1801025"/>
            <a:ext cx="954000" cy="532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 name="Google Shape;232;p24"/>
          <p:cNvSpPr txBox="1"/>
          <p:nvPr/>
        </p:nvSpPr>
        <p:spPr>
          <a:xfrm>
            <a:off x="7229150" y="2914925"/>
            <a:ext cx="1526400" cy="53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endParaRPr>
          </a:p>
        </p:txBody>
      </p:sp>
      <p:sp>
        <p:nvSpPr>
          <p:cNvPr id="233" name="Google Shape;233;p24"/>
          <p:cNvSpPr/>
          <p:nvPr/>
        </p:nvSpPr>
        <p:spPr>
          <a:xfrm>
            <a:off x="6647177" y="2372383"/>
            <a:ext cx="146100" cy="18702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 name="Google Shape;234;p24"/>
          <p:cNvSpPr txBox="1"/>
          <p:nvPr/>
        </p:nvSpPr>
        <p:spPr>
          <a:xfrm>
            <a:off x="6964791" y="2261745"/>
            <a:ext cx="1462800" cy="4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1"/>
                </a:solidFill>
              </a:rPr>
              <a:t>This is a composed function so we have to take the inner derivative with respect to time:</a:t>
            </a:r>
            <a:endParaRPr sz="900">
              <a:solidFill>
                <a:schemeClr val="dk1"/>
              </a:solidFill>
            </a:endParaRPr>
          </a:p>
          <a:p>
            <a:pPr marL="0" lvl="0" indent="0" algn="l" rtl="0">
              <a:spcBef>
                <a:spcPts val="0"/>
              </a:spcBef>
              <a:spcAft>
                <a:spcPts val="0"/>
              </a:spcAft>
              <a:buNone/>
            </a:pPr>
            <a:endParaRPr sz="900">
              <a:solidFill>
                <a:schemeClr val="dk1"/>
              </a:solidFill>
            </a:endParaRPr>
          </a:p>
          <a:p>
            <a:pPr marL="0" lvl="0" indent="0" algn="l" rtl="0">
              <a:spcBef>
                <a:spcPts val="0"/>
              </a:spcBef>
              <a:spcAft>
                <a:spcPts val="0"/>
              </a:spcAft>
              <a:buNone/>
            </a:pPr>
            <a:endParaRPr sz="900">
              <a:solidFill>
                <a:schemeClr val="dk1"/>
              </a:solidFill>
            </a:endParaRPr>
          </a:p>
          <a:p>
            <a:pPr marL="0" lvl="0" indent="0" algn="l" rtl="0">
              <a:spcBef>
                <a:spcPts val="0"/>
              </a:spcBef>
              <a:spcAft>
                <a:spcPts val="0"/>
              </a:spcAft>
              <a:buNone/>
            </a:pPr>
            <a:r>
              <a:rPr lang="en" sz="900">
                <a:solidFill>
                  <a:schemeClr val="dk1"/>
                </a:solidFill>
              </a:rPr>
              <a:t>and then multiply with the outer derivative with respect to time: </a:t>
            </a:r>
            <a:endParaRPr sz="900">
              <a:solidFill>
                <a:schemeClr val="dk1"/>
              </a:solidFill>
            </a:endParaRPr>
          </a:p>
          <a:p>
            <a:pPr marL="0" lvl="0" indent="0" algn="l" rtl="0">
              <a:spcBef>
                <a:spcPts val="0"/>
              </a:spcBef>
              <a:spcAft>
                <a:spcPts val="0"/>
              </a:spcAft>
              <a:buNone/>
            </a:pPr>
            <a:endParaRPr sz="900">
              <a:solidFill>
                <a:schemeClr val="dk1"/>
              </a:solidFill>
            </a:endParaRPr>
          </a:p>
          <a:p>
            <a:pPr marL="0" lvl="0" indent="0" algn="l" rtl="0">
              <a:spcBef>
                <a:spcPts val="0"/>
              </a:spcBef>
              <a:spcAft>
                <a:spcPts val="0"/>
              </a:spcAft>
              <a:buNone/>
            </a:pPr>
            <a:endParaRPr sz="900">
              <a:solidFill>
                <a:schemeClr val="dk1"/>
              </a:solidFill>
            </a:endParaRPr>
          </a:p>
          <a:p>
            <a:pPr marL="0" lvl="0" indent="0" algn="l" rtl="0">
              <a:spcBef>
                <a:spcPts val="0"/>
              </a:spcBef>
              <a:spcAft>
                <a:spcPts val="0"/>
              </a:spcAft>
              <a:buNone/>
            </a:pPr>
            <a:r>
              <a:rPr lang="en" sz="900">
                <a:solidFill>
                  <a:schemeClr val="dk1"/>
                </a:solidFill>
              </a:rPr>
              <a:t>, where </a:t>
            </a:r>
            <a:endParaRPr sz="900">
              <a:solidFill>
                <a:schemeClr val="dk1"/>
              </a:solidFill>
            </a:endParaRPr>
          </a:p>
        </p:txBody>
      </p:sp>
      <p:pic>
        <p:nvPicPr>
          <p:cNvPr id="235" name="Google Shape;235;p24"/>
          <p:cNvPicPr preferRelativeResize="0"/>
          <p:nvPr/>
        </p:nvPicPr>
        <p:blipFill>
          <a:blip r:embed="rId5">
            <a:alphaModFix/>
          </a:blip>
          <a:stretch>
            <a:fillRect/>
          </a:stretch>
        </p:blipFill>
        <p:spPr>
          <a:xfrm>
            <a:off x="7229151" y="2937089"/>
            <a:ext cx="738750" cy="178485"/>
          </a:xfrm>
          <a:prstGeom prst="rect">
            <a:avLst/>
          </a:prstGeom>
          <a:noFill/>
          <a:ln>
            <a:noFill/>
          </a:ln>
        </p:spPr>
      </p:pic>
      <p:pic>
        <p:nvPicPr>
          <p:cNvPr id="236" name="Google Shape;236;p24"/>
          <p:cNvPicPr preferRelativeResize="0"/>
          <p:nvPr/>
        </p:nvPicPr>
        <p:blipFill>
          <a:blip r:embed="rId6">
            <a:alphaModFix/>
          </a:blip>
          <a:stretch>
            <a:fillRect/>
          </a:stretch>
        </p:blipFill>
        <p:spPr>
          <a:xfrm>
            <a:off x="7265188" y="3607200"/>
            <a:ext cx="738769" cy="238200"/>
          </a:xfrm>
          <a:prstGeom prst="rect">
            <a:avLst/>
          </a:prstGeom>
          <a:noFill/>
          <a:ln>
            <a:noFill/>
          </a:ln>
        </p:spPr>
      </p:pic>
      <p:pic>
        <p:nvPicPr>
          <p:cNvPr id="237" name="Google Shape;237;p24"/>
          <p:cNvPicPr preferRelativeResize="0"/>
          <p:nvPr/>
        </p:nvPicPr>
        <p:blipFill>
          <a:blip r:embed="rId7">
            <a:alphaModFix/>
          </a:blip>
          <a:stretch>
            <a:fillRect/>
          </a:stretch>
        </p:blipFill>
        <p:spPr>
          <a:xfrm>
            <a:off x="7453074" y="3845405"/>
            <a:ext cx="533950" cy="142394"/>
          </a:xfrm>
          <a:prstGeom prst="rect">
            <a:avLst/>
          </a:prstGeom>
          <a:noFill/>
          <a:ln>
            <a:noFill/>
          </a:ln>
        </p:spPr>
      </p:pic>
      <p:sp>
        <p:nvSpPr>
          <p:cNvPr id="238" name="Google Shape;238;p24"/>
          <p:cNvSpPr/>
          <p:nvPr/>
        </p:nvSpPr>
        <p:spPr>
          <a:xfrm rot="-5400000">
            <a:off x="8306600" y="4361950"/>
            <a:ext cx="110100" cy="6639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9" name="Google Shape;239;p24"/>
          <p:cNvPicPr preferRelativeResize="0"/>
          <p:nvPr/>
        </p:nvPicPr>
        <p:blipFill>
          <a:blip r:embed="rId8">
            <a:alphaModFix/>
          </a:blip>
          <a:stretch>
            <a:fillRect/>
          </a:stretch>
        </p:blipFill>
        <p:spPr>
          <a:xfrm>
            <a:off x="8139350" y="4790950"/>
            <a:ext cx="460492" cy="189600"/>
          </a:xfrm>
          <a:prstGeom prst="rect">
            <a:avLst/>
          </a:prstGeom>
          <a:noFill/>
          <a:ln>
            <a:noFill/>
          </a:ln>
        </p:spPr>
      </p:pic>
      <p:pic>
        <p:nvPicPr>
          <p:cNvPr id="240" name="Google Shape;240;p24"/>
          <p:cNvPicPr preferRelativeResize="0"/>
          <p:nvPr/>
        </p:nvPicPr>
        <p:blipFill>
          <a:blip r:embed="rId9">
            <a:alphaModFix/>
          </a:blip>
          <a:stretch>
            <a:fillRect/>
          </a:stretch>
        </p:blipFill>
        <p:spPr>
          <a:xfrm>
            <a:off x="5660926" y="4303075"/>
            <a:ext cx="3443323" cy="335762"/>
          </a:xfrm>
          <a:prstGeom prst="rect">
            <a:avLst/>
          </a:prstGeom>
          <a:noFill/>
          <a:ln>
            <a:noFill/>
          </a:ln>
        </p:spPr>
      </p:pic>
      <p:cxnSp>
        <p:nvCxnSpPr>
          <p:cNvPr id="241" name="Google Shape;241;p24"/>
          <p:cNvCxnSpPr/>
          <p:nvPr/>
        </p:nvCxnSpPr>
        <p:spPr>
          <a:xfrm>
            <a:off x="-5302" y="2636674"/>
            <a:ext cx="4110300" cy="0"/>
          </a:xfrm>
          <a:prstGeom prst="straightConnector1">
            <a:avLst/>
          </a:prstGeom>
          <a:noFill/>
          <a:ln w="9525" cap="flat" cmpd="sng">
            <a:solidFill>
              <a:schemeClr val="dk1"/>
            </a:solidFill>
            <a:prstDash val="solid"/>
            <a:round/>
            <a:headEnd type="none" w="med" len="med"/>
            <a:tailEnd type="none" w="med" len="med"/>
          </a:ln>
        </p:spPr>
      </p:cxnSp>
      <p:cxnSp>
        <p:nvCxnSpPr>
          <p:cNvPr id="242" name="Google Shape;242;p24"/>
          <p:cNvCxnSpPr/>
          <p:nvPr/>
        </p:nvCxnSpPr>
        <p:spPr>
          <a:xfrm>
            <a:off x="4098124" y="2644624"/>
            <a:ext cx="0" cy="2488200"/>
          </a:xfrm>
          <a:prstGeom prst="straightConnector1">
            <a:avLst/>
          </a:prstGeom>
          <a:noFill/>
          <a:ln w="9525" cap="flat" cmpd="sng">
            <a:solidFill>
              <a:schemeClr val="dk1"/>
            </a:solidFill>
            <a:prstDash val="solid"/>
            <a:round/>
            <a:headEnd type="none" w="med" len="med"/>
            <a:tailEnd type="none" w="med" len="med"/>
          </a:ln>
        </p:spPr>
      </p:cxnSp>
      <p:sp>
        <p:nvSpPr>
          <p:cNvPr id="243" name="Google Shape;243;p24"/>
          <p:cNvSpPr txBox="1"/>
          <p:nvPr/>
        </p:nvSpPr>
        <p:spPr>
          <a:xfrm>
            <a:off x="-23852" y="2636674"/>
            <a:ext cx="3362700" cy="23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Continuation from bottom right:</a:t>
            </a:r>
            <a:endParaRPr sz="1800">
              <a:solidFill>
                <a:schemeClr val="dk1"/>
              </a:solidFill>
            </a:endParaRPr>
          </a:p>
        </p:txBody>
      </p:sp>
      <p:pic>
        <p:nvPicPr>
          <p:cNvPr id="244" name="Google Shape;244;p24"/>
          <p:cNvPicPr preferRelativeResize="0"/>
          <p:nvPr/>
        </p:nvPicPr>
        <p:blipFill>
          <a:blip r:embed="rId10">
            <a:alphaModFix/>
          </a:blip>
          <a:stretch>
            <a:fillRect/>
          </a:stretch>
        </p:blipFill>
        <p:spPr>
          <a:xfrm>
            <a:off x="193550" y="3225068"/>
            <a:ext cx="3362699" cy="382125"/>
          </a:xfrm>
          <a:prstGeom prst="rect">
            <a:avLst/>
          </a:prstGeom>
          <a:noFill/>
          <a:ln>
            <a:noFill/>
          </a:ln>
        </p:spPr>
      </p:pic>
      <p:pic>
        <p:nvPicPr>
          <p:cNvPr id="245" name="Google Shape;245;p24"/>
          <p:cNvPicPr preferRelativeResize="0"/>
          <p:nvPr/>
        </p:nvPicPr>
        <p:blipFill>
          <a:blip r:embed="rId11">
            <a:alphaModFix/>
          </a:blip>
          <a:stretch>
            <a:fillRect/>
          </a:stretch>
        </p:blipFill>
        <p:spPr>
          <a:xfrm>
            <a:off x="1155374" y="3833500"/>
            <a:ext cx="856943" cy="198000"/>
          </a:xfrm>
          <a:prstGeom prst="rect">
            <a:avLst/>
          </a:prstGeom>
          <a:noFill/>
          <a:ln>
            <a:noFill/>
          </a:ln>
        </p:spPr>
      </p:pic>
      <p:sp>
        <p:nvSpPr>
          <p:cNvPr id="246" name="Google Shape;246;p24"/>
          <p:cNvSpPr/>
          <p:nvPr/>
        </p:nvSpPr>
        <p:spPr>
          <a:xfrm rot="-5400000">
            <a:off x="1218850" y="3129550"/>
            <a:ext cx="198000" cy="11535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7" name="Google Shape;247;p24"/>
          <p:cNvPicPr preferRelativeResize="0"/>
          <p:nvPr/>
        </p:nvPicPr>
        <p:blipFill>
          <a:blip r:embed="rId12">
            <a:alphaModFix/>
          </a:blip>
          <a:stretch>
            <a:fillRect/>
          </a:stretch>
        </p:blipFill>
        <p:spPr>
          <a:xfrm>
            <a:off x="931475" y="4021813"/>
            <a:ext cx="146100" cy="159382"/>
          </a:xfrm>
          <a:prstGeom prst="rect">
            <a:avLst/>
          </a:prstGeom>
          <a:noFill/>
          <a:ln>
            <a:noFill/>
          </a:ln>
        </p:spPr>
      </p:pic>
      <p:pic>
        <p:nvPicPr>
          <p:cNvPr id="248" name="Google Shape;248;p24"/>
          <p:cNvPicPr preferRelativeResize="0"/>
          <p:nvPr/>
        </p:nvPicPr>
        <p:blipFill>
          <a:blip r:embed="rId13">
            <a:alphaModFix/>
          </a:blip>
          <a:stretch>
            <a:fillRect/>
          </a:stretch>
        </p:blipFill>
        <p:spPr>
          <a:xfrm>
            <a:off x="1419300" y="4019962"/>
            <a:ext cx="460500" cy="196184"/>
          </a:xfrm>
          <a:prstGeom prst="rect">
            <a:avLst/>
          </a:prstGeom>
          <a:noFill/>
          <a:ln>
            <a:noFill/>
          </a:ln>
        </p:spPr>
      </p:pic>
      <p:sp>
        <p:nvSpPr>
          <p:cNvPr id="249" name="Google Shape;249;p24"/>
          <p:cNvSpPr txBox="1"/>
          <p:nvPr/>
        </p:nvSpPr>
        <p:spPr>
          <a:xfrm>
            <a:off x="2651675" y="-6800"/>
            <a:ext cx="39954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Verifying the Linear Flow Solution </a:t>
            </a:r>
            <a:endParaRPr sz="1800" b="1">
              <a:solidFill>
                <a:schemeClr val="dk1"/>
              </a:solidFill>
            </a:endParaRPr>
          </a:p>
        </p:txBody>
      </p:sp>
      <p:sp>
        <p:nvSpPr>
          <p:cNvPr id="250" name="Google Shape;25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pic>
        <p:nvPicPr>
          <p:cNvPr id="251" name="Google Shape;251;p24"/>
          <p:cNvPicPr preferRelativeResize="0"/>
          <p:nvPr/>
        </p:nvPicPr>
        <p:blipFill>
          <a:blip r:embed="rId14">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5"/>
          <p:cNvSpPr txBox="1"/>
          <p:nvPr/>
        </p:nvSpPr>
        <p:spPr>
          <a:xfrm>
            <a:off x="3448925" y="0"/>
            <a:ext cx="33174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Euler Simulation of an ODE </a:t>
            </a:r>
            <a:endParaRPr sz="1800" b="1">
              <a:solidFill>
                <a:schemeClr val="dk1"/>
              </a:solidFill>
            </a:endParaRPr>
          </a:p>
        </p:txBody>
      </p:sp>
      <p:sp>
        <p:nvSpPr>
          <p:cNvPr id="257" name="Google Shape;257;p25"/>
          <p:cNvSpPr txBox="1"/>
          <p:nvPr/>
        </p:nvSpPr>
        <p:spPr>
          <a:xfrm>
            <a:off x="527350" y="765825"/>
            <a:ext cx="8403000" cy="69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use the so called “Euler Update” method to simulate the ODE as follows:</a:t>
            </a:r>
            <a:endParaRPr sz="1800">
              <a:solidFill>
                <a:schemeClr val="dk1"/>
              </a:solidFill>
            </a:endParaRPr>
          </a:p>
        </p:txBody>
      </p:sp>
      <p:sp>
        <p:nvSpPr>
          <p:cNvPr id="258" name="Google Shape;258;p25"/>
          <p:cNvSpPr/>
          <p:nvPr/>
        </p:nvSpPr>
        <p:spPr>
          <a:xfrm>
            <a:off x="4731223" y="3265926"/>
            <a:ext cx="502500" cy="118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9" name="Google Shape;259;p25"/>
          <p:cNvSpPr txBox="1"/>
          <p:nvPr/>
        </p:nvSpPr>
        <p:spPr>
          <a:xfrm>
            <a:off x="5336825" y="2969838"/>
            <a:ext cx="3148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take a small step in the direction of the vector field</a:t>
            </a:r>
            <a:endParaRPr sz="1800">
              <a:solidFill>
                <a:schemeClr val="dk1"/>
              </a:solidFill>
            </a:endParaRPr>
          </a:p>
        </p:txBody>
      </p:sp>
      <p:sp>
        <p:nvSpPr>
          <p:cNvPr id="260" name="Google Shape;260;p25"/>
          <p:cNvSpPr/>
          <p:nvPr/>
        </p:nvSpPr>
        <p:spPr>
          <a:xfrm>
            <a:off x="4768023" y="4364351"/>
            <a:ext cx="502500" cy="118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1" name="Google Shape;261;p25"/>
          <p:cNvSpPr txBox="1"/>
          <p:nvPr/>
        </p:nvSpPr>
        <p:spPr>
          <a:xfrm>
            <a:off x="5336850" y="4104413"/>
            <a:ext cx="3148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Return the full trajectory from time          to time  </a:t>
            </a:r>
            <a:endParaRPr sz="1800">
              <a:solidFill>
                <a:schemeClr val="dk1"/>
              </a:solidFill>
            </a:endParaRPr>
          </a:p>
        </p:txBody>
      </p:sp>
      <p:pic>
        <p:nvPicPr>
          <p:cNvPr id="262" name="Google Shape;262;p25"/>
          <p:cNvPicPr preferRelativeResize="0"/>
          <p:nvPr/>
        </p:nvPicPr>
        <p:blipFill>
          <a:blip r:embed="rId3">
            <a:alphaModFix/>
          </a:blip>
          <a:stretch>
            <a:fillRect/>
          </a:stretch>
        </p:blipFill>
        <p:spPr>
          <a:xfrm>
            <a:off x="5896251" y="4497575"/>
            <a:ext cx="556821" cy="236800"/>
          </a:xfrm>
          <a:prstGeom prst="rect">
            <a:avLst/>
          </a:prstGeom>
          <a:noFill/>
          <a:ln>
            <a:noFill/>
          </a:ln>
        </p:spPr>
      </p:pic>
      <p:pic>
        <p:nvPicPr>
          <p:cNvPr id="263" name="Google Shape;263;p25"/>
          <p:cNvPicPr preferRelativeResize="0"/>
          <p:nvPr/>
        </p:nvPicPr>
        <p:blipFill>
          <a:blip r:embed="rId4">
            <a:alphaModFix/>
          </a:blip>
          <a:stretch>
            <a:fillRect/>
          </a:stretch>
        </p:blipFill>
        <p:spPr>
          <a:xfrm>
            <a:off x="7244072" y="4479963"/>
            <a:ext cx="572297" cy="236813"/>
          </a:xfrm>
          <a:prstGeom prst="rect">
            <a:avLst/>
          </a:prstGeom>
          <a:noFill/>
          <a:ln>
            <a:noFill/>
          </a:ln>
        </p:spPr>
      </p:pic>
      <p:pic>
        <p:nvPicPr>
          <p:cNvPr id="264" name="Google Shape;264;p25"/>
          <p:cNvPicPr preferRelativeResize="0"/>
          <p:nvPr/>
        </p:nvPicPr>
        <p:blipFill>
          <a:blip r:embed="rId5">
            <a:alphaModFix/>
          </a:blip>
          <a:stretch>
            <a:fillRect/>
          </a:stretch>
        </p:blipFill>
        <p:spPr>
          <a:xfrm>
            <a:off x="645150" y="1304225"/>
            <a:ext cx="4056553" cy="3373275"/>
          </a:xfrm>
          <a:prstGeom prst="rect">
            <a:avLst/>
          </a:prstGeom>
          <a:noFill/>
          <a:ln>
            <a:noFill/>
          </a:ln>
        </p:spPr>
      </p:pic>
      <p:sp>
        <p:nvSpPr>
          <p:cNvPr id="265" name="Google Shape;26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6"/>
          <p:cNvSpPr txBox="1"/>
          <p:nvPr/>
        </p:nvSpPr>
        <p:spPr>
          <a:xfrm>
            <a:off x="1887730" y="0"/>
            <a:ext cx="54501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Neural Network as a Parameterized Vector Field </a:t>
            </a:r>
            <a:endParaRPr sz="1800" b="1">
              <a:solidFill>
                <a:schemeClr val="dk1"/>
              </a:solidFill>
            </a:endParaRPr>
          </a:p>
        </p:txBody>
      </p:sp>
      <p:pic>
        <p:nvPicPr>
          <p:cNvPr id="271" name="Google Shape;271;p26"/>
          <p:cNvPicPr preferRelativeResize="0"/>
          <p:nvPr/>
        </p:nvPicPr>
        <p:blipFill>
          <a:blip r:embed="rId3">
            <a:alphaModFix/>
          </a:blip>
          <a:stretch>
            <a:fillRect/>
          </a:stretch>
        </p:blipFill>
        <p:spPr>
          <a:xfrm>
            <a:off x="5724504" y="1222300"/>
            <a:ext cx="1109496" cy="429300"/>
          </a:xfrm>
          <a:prstGeom prst="rect">
            <a:avLst/>
          </a:prstGeom>
          <a:noFill/>
          <a:ln>
            <a:noFill/>
          </a:ln>
        </p:spPr>
      </p:pic>
      <p:pic>
        <p:nvPicPr>
          <p:cNvPr id="272" name="Google Shape;272;p26"/>
          <p:cNvPicPr preferRelativeResize="0"/>
          <p:nvPr/>
        </p:nvPicPr>
        <p:blipFill>
          <a:blip r:embed="rId4">
            <a:alphaModFix/>
          </a:blip>
          <a:stretch>
            <a:fillRect/>
          </a:stretch>
        </p:blipFill>
        <p:spPr>
          <a:xfrm>
            <a:off x="2306775" y="1222300"/>
            <a:ext cx="901524" cy="429300"/>
          </a:xfrm>
          <a:prstGeom prst="rect">
            <a:avLst/>
          </a:prstGeom>
          <a:noFill/>
          <a:ln>
            <a:noFill/>
          </a:ln>
        </p:spPr>
      </p:pic>
      <p:sp>
        <p:nvSpPr>
          <p:cNvPr id="273" name="Google Shape;273;p26"/>
          <p:cNvSpPr/>
          <p:nvPr/>
        </p:nvSpPr>
        <p:spPr>
          <a:xfrm>
            <a:off x="3461250" y="1222300"/>
            <a:ext cx="1899000" cy="4293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ODE</a:t>
            </a:r>
            <a:endParaRPr/>
          </a:p>
        </p:txBody>
      </p:sp>
      <p:sp>
        <p:nvSpPr>
          <p:cNvPr id="274" name="Google Shape;274;p26"/>
          <p:cNvSpPr txBox="1"/>
          <p:nvPr/>
        </p:nvSpPr>
        <p:spPr>
          <a:xfrm>
            <a:off x="185500" y="2334575"/>
            <a:ext cx="8649300" cy="78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However, we model         using a neural network      , where     are the parameters / weights of the neural network: </a:t>
            </a:r>
            <a:endParaRPr sz="1800">
              <a:solidFill>
                <a:schemeClr val="dk1"/>
              </a:solidFill>
            </a:endParaRPr>
          </a:p>
        </p:txBody>
      </p:sp>
      <p:pic>
        <p:nvPicPr>
          <p:cNvPr id="275" name="Google Shape;275;p26"/>
          <p:cNvPicPr preferRelativeResize="0"/>
          <p:nvPr/>
        </p:nvPicPr>
        <p:blipFill>
          <a:blip r:embed="rId5">
            <a:alphaModFix/>
          </a:blip>
          <a:stretch>
            <a:fillRect/>
          </a:stretch>
        </p:blipFill>
        <p:spPr>
          <a:xfrm>
            <a:off x="5224350" y="2379925"/>
            <a:ext cx="247400" cy="300700"/>
          </a:xfrm>
          <a:prstGeom prst="rect">
            <a:avLst/>
          </a:prstGeom>
          <a:noFill/>
          <a:ln>
            <a:noFill/>
          </a:ln>
        </p:spPr>
      </p:pic>
      <p:pic>
        <p:nvPicPr>
          <p:cNvPr id="276" name="Google Shape;276;p26"/>
          <p:cNvPicPr preferRelativeResize="0"/>
          <p:nvPr/>
        </p:nvPicPr>
        <p:blipFill>
          <a:blip r:embed="rId6">
            <a:alphaModFix/>
          </a:blip>
          <a:stretch>
            <a:fillRect/>
          </a:stretch>
        </p:blipFill>
        <p:spPr>
          <a:xfrm>
            <a:off x="2338578" y="2462875"/>
            <a:ext cx="448325" cy="217750"/>
          </a:xfrm>
          <a:prstGeom prst="rect">
            <a:avLst/>
          </a:prstGeom>
          <a:noFill/>
          <a:ln>
            <a:noFill/>
          </a:ln>
        </p:spPr>
      </p:pic>
      <p:pic>
        <p:nvPicPr>
          <p:cNvPr id="277" name="Google Shape;277;p26"/>
          <p:cNvPicPr preferRelativeResize="0"/>
          <p:nvPr/>
        </p:nvPicPr>
        <p:blipFill>
          <a:blip r:embed="rId7">
            <a:alphaModFix/>
          </a:blip>
          <a:stretch>
            <a:fillRect/>
          </a:stretch>
        </p:blipFill>
        <p:spPr>
          <a:xfrm>
            <a:off x="6364646" y="2462875"/>
            <a:ext cx="123255" cy="217750"/>
          </a:xfrm>
          <a:prstGeom prst="rect">
            <a:avLst/>
          </a:prstGeom>
          <a:noFill/>
          <a:ln>
            <a:noFill/>
          </a:ln>
        </p:spPr>
      </p:pic>
      <p:sp>
        <p:nvSpPr>
          <p:cNvPr id="278" name="Google Shape;278;p26"/>
          <p:cNvSpPr txBox="1"/>
          <p:nvPr/>
        </p:nvSpPr>
        <p:spPr>
          <a:xfrm>
            <a:off x="46338" y="4174400"/>
            <a:ext cx="8728800" cy="36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1"/>
                </a:solidFill>
              </a:rPr>
              <a:t>Hence, a neural network for our intents and purposes is literally just a </a:t>
            </a:r>
            <a:endParaRPr sz="1800">
              <a:solidFill>
                <a:schemeClr val="dk1"/>
              </a:solidFill>
            </a:endParaRPr>
          </a:p>
          <a:p>
            <a:pPr marL="0" lvl="0" indent="0" algn="ctr" rtl="0">
              <a:spcBef>
                <a:spcPts val="0"/>
              </a:spcBef>
              <a:spcAft>
                <a:spcPts val="0"/>
              </a:spcAft>
              <a:buNone/>
            </a:pPr>
            <a:r>
              <a:rPr lang="en" sz="1800">
                <a:solidFill>
                  <a:schemeClr val="dk1"/>
                </a:solidFill>
              </a:rPr>
              <a:t>parameterized vector field.</a:t>
            </a:r>
            <a:endParaRPr sz="1800">
              <a:solidFill>
                <a:schemeClr val="dk1"/>
              </a:solidFill>
            </a:endParaRPr>
          </a:p>
        </p:txBody>
      </p:sp>
      <p:pic>
        <p:nvPicPr>
          <p:cNvPr id="279" name="Google Shape;279;p26"/>
          <p:cNvPicPr preferRelativeResize="0"/>
          <p:nvPr/>
        </p:nvPicPr>
        <p:blipFill>
          <a:blip r:embed="rId8">
            <a:alphaModFix/>
          </a:blip>
          <a:stretch>
            <a:fillRect/>
          </a:stretch>
        </p:blipFill>
        <p:spPr>
          <a:xfrm>
            <a:off x="1788044" y="3276265"/>
            <a:ext cx="5657783" cy="567325"/>
          </a:xfrm>
          <a:prstGeom prst="rect">
            <a:avLst/>
          </a:prstGeom>
          <a:noFill/>
          <a:ln>
            <a:noFill/>
          </a:ln>
        </p:spPr>
      </p:pic>
      <p:sp>
        <p:nvSpPr>
          <p:cNvPr id="280" name="Google Shape;280;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7"/>
          <p:cNvSpPr txBox="1"/>
          <p:nvPr/>
        </p:nvSpPr>
        <p:spPr>
          <a:xfrm>
            <a:off x="333625" y="806475"/>
            <a:ext cx="8241900" cy="42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Intuitively, the neural network gives you the velocity vector, i.e. the change you need to do at a specific time and place:</a:t>
            </a:r>
            <a:endParaRPr sz="1800">
              <a:solidFill>
                <a:schemeClr val="dk1"/>
              </a:solidFill>
            </a:endParaRPr>
          </a:p>
        </p:txBody>
      </p:sp>
      <p:sp>
        <p:nvSpPr>
          <p:cNvPr id="286" name="Google Shape;286;p27"/>
          <p:cNvSpPr txBox="1"/>
          <p:nvPr/>
        </p:nvSpPr>
        <p:spPr>
          <a:xfrm>
            <a:off x="367775" y="2860400"/>
            <a:ext cx="7545600" cy="42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where </a:t>
            </a:r>
            <a:r>
              <a:rPr lang="en" sz="1800" i="1">
                <a:solidFill>
                  <a:schemeClr val="dk1"/>
                </a:solidFill>
              </a:rPr>
              <a:t>h</a:t>
            </a:r>
            <a:r>
              <a:rPr lang="en" sz="1800">
                <a:solidFill>
                  <a:schemeClr val="dk1"/>
                </a:solidFill>
              </a:rPr>
              <a:t> is the small step in the direction of the vector field.</a:t>
            </a:r>
            <a:endParaRPr sz="1800">
              <a:solidFill>
                <a:schemeClr val="dk1"/>
              </a:solidFill>
            </a:endParaRPr>
          </a:p>
        </p:txBody>
      </p:sp>
      <p:sp>
        <p:nvSpPr>
          <p:cNvPr id="287" name="Google Shape;287;p27"/>
          <p:cNvSpPr txBox="1"/>
          <p:nvPr/>
        </p:nvSpPr>
        <p:spPr>
          <a:xfrm>
            <a:off x="3300003" y="0"/>
            <a:ext cx="2544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Vector Field vs. Flow </a:t>
            </a:r>
            <a:endParaRPr sz="1800" b="1">
              <a:solidFill>
                <a:schemeClr val="dk1"/>
              </a:solidFill>
            </a:endParaRPr>
          </a:p>
        </p:txBody>
      </p:sp>
      <p:sp>
        <p:nvSpPr>
          <p:cNvPr id="288" name="Google Shape;288;p27"/>
          <p:cNvSpPr txBox="1"/>
          <p:nvPr/>
        </p:nvSpPr>
        <p:spPr>
          <a:xfrm>
            <a:off x="367775" y="3711075"/>
            <a:ext cx="8198400" cy="53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Note → the neural net itself is the </a:t>
            </a:r>
            <a:r>
              <a:rPr lang="en" sz="1800" b="1" u="sng">
                <a:solidFill>
                  <a:schemeClr val="dk1"/>
                </a:solidFill>
              </a:rPr>
              <a:t>Vector Field</a:t>
            </a:r>
            <a:r>
              <a:rPr lang="en" sz="1800">
                <a:solidFill>
                  <a:schemeClr val="dk1"/>
                </a:solidFill>
              </a:rPr>
              <a:t>. The </a:t>
            </a:r>
            <a:r>
              <a:rPr lang="en" sz="1800" b="1" u="sng">
                <a:solidFill>
                  <a:schemeClr val="dk1"/>
                </a:solidFill>
              </a:rPr>
              <a:t>Flow</a:t>
            </a:r>
            <a:r>
              <a:rPr lang="en" sz="1800" u="sng">
                <a:solidFill>
                  <a:schemeClr val="dk1"/>
                </a:solidFill>
              </a:rPr>
              <a:t> </a:t>
            </a:r>
            <a:r>
              <a:rPr lang="en" sz="1800">
                <a:solidFill>
                  <a:schemeClr val="dk1"/>
                </a:solidFill>
              </a:rPr>
              <a:t>on the other hand is the map that we implicitly get by simulating the ODE.</a:t>
            </a:r>
            <a:endParaRPr sz="1800">
              <a:solidFill>
                <a:schemeClr val="dk1"/>
              </a:solidFill>
            </a:endParaRPr>
          </a:p>
        </p:txBody>
      </p:sp>
      <p:pic>
        <p:nvPicPr>
          <p:cNvPr id="289" name="Google Shape;289;p27"/>
          <p:cNvPicPr preferRelativeResize="0"/>
          <p:nvPr/>
        </p:nvPicPr>
        <p:blipFill>
          <a:blip r:embed="rId3">
            <a:alphaModFix/>
          </a:blip>
          <a:stretch>
            <a:fillRect/>
          </a:stretch>
        </p:blipFill>
        <p:spPr>
          <a:xfrm>
            <a:off x="2157475" y="1890400"/>
            <a:ext cx="4903001" cy="619550"/>
          </a:xfrm>
          <a:prstGeom prst="rect">
            <a:avLst/>
          </a:prstGeom>
          <a:noFill/>
          <a:ln>
            <a:noFill/>
          </a:ln>
        </p:spPr>
      </p:pic>
      <p:sp>
        <p:nvSpPr>
          <p:cNvPr id="290" name="Google Shape;29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8"/>
          <p:cNvSpPr txBox="1"/>
          <p:nvPr/>
        </p:nvSpPr>
        <p:spPr>
          <a:xfrm>
            <a:off x="201400" y="744625"/>
            <a:ext cx="40227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make the initial condition random:</a:t>
            </a:r>
            <a:endParaRPr sz="1800">
              <a:solidFill>
                <a:schemeClr val="dk1"/>
              </a:solidFill>
            </a:endParaRPr>
          </a:p>
        </p:txBody>
      </p:sp>
      <p:sp>
        <p:nvSpPr>
          <p:cNvPr id="296" name="Google Shape;296;p28"/>
          <p:cNvSpPr txBox="1"/>
          <p:nvPr/>
        </p:nvSpPr>
        <p:spPr>
          <a:xfrm>
            <a:off x="201400" y="2092750"/>
            <a:ext cx="24579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Follow the vector field:</a:t>
            </a:r>
            <a:endParaRPr sz="1800">
              <a:solidFill>
                <a:schemeClr val="dk1"/>
              </a:solidFill>
            </a:endParaRPr>
          </a:p>
        </p:txBody>
      </p:sp>
      <p:sp>
        <p:nvSpPr>
          <p:cNvPr id="297" name="Google Shape;297;p28"/>
          <p:cNvSpPr txBox="1"/>
          <p:nvPr/>
        </p:nvSpPr>
        <p:spPr>
          <a:xfrm>
            <a:off x="201400" y="3440875"/>
            <a:ext cx="30858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Until we reach our final goal:</a:t>
            </a:r>
            <a:endParaRPr sz="1800">
              <a:solidFill>
                <a:schemeClr val="dk1"/>
              </a:solidFill>
            </a:endParaRPr>
          </a:p>
        </p:txBody>
      </p:sp>
      <p:pic>
        <p:nvPicPr>
          <p:cNvPr id="298" name="Google Shape;298;p28"/>
          <p:cNvPicPr preferRelativeResize="0"/>
          <p:nvPr/>
        </p:nvPicPr>
        <p:blipFill>
          <a:blip r:embed="rId3">
            <a:alphaModFix/>
          </a:blip>
          <a:stretch>
            <a:fillRect/>
          </a:stretch>
        </p:blipFill>
        <p:spPr>
          <a:xfrm>
            <a:off x="3444800" y="1931950"/>
            <a:ext cx="3498050" cy="826425"/>
          </a:xfrm>
          <a:prstGeom prst="rect">
            <a:avLst/>
          </a:prstGeom>
          <a:noFill/>
          <a:ln>
            <a:noFill/>
          </a:ln>
        </p:spPr>
      </p:pic>
      <p:pic>
        <p:nvPicPr>
          <p:cNvPr id="299" name="Google Shape;299;p28"/>
          <p:cNvPicPr preferRelativeResize="0"/>
          <p:nvPr/>
        </p:nvPicPr>
        <p:blipFill>
          <a:blip r:embed="rId4">
            <a:alphaModFix/>
          </a:blip>
          <a:stretch>
            <a:fillRect/>
          </a:stretch>
        </p:blipFill>
        <p:spPr>
          <a:xfrm>
            <a:off x="4224100" y="744625"/>
            <a:ext cx="4502519" cy="548550"/>
          </a:xfrm>
          <a:prstGeom prst="rect">
            <a:avLst/>
          </a:prstGeom>
          <a:noFill/>
          <a:ln>
            <a:noFill/>
          </a:ln>
        </p:spPr>
      </p:pic>
      <p:pic>
        <p:nvPicPr>
          <p:cNvPr id="300" name="Google Shape;300;p28"/>
          <p:cNvPicPr preferRelativeResize="0"/>
          <p:nvPr/>
        </p:nvPicPr>
        <p:blipFill>
          <a:blip r:embed="rId5">
            <a:alphaModFix/>
          </a:blip>
          <a:stretch>
            <a:fillRect/>
          </a:stretch>
        </p:blipFill>
        <p:spPr>
          <a:xfrm>
            <a:off x="3444800" y="3397185"/>
            <a:ext cx="2932199" cy="620075"/>
          </a:xfrm>
          <a:prstGeom prst="rect">
            <a:avLst/>
          </a:prstGeom>
          <a:noFill/>
          <a:ln>
            <a:noFill/>
          </a:ln>
        </p:spPr>
      </p:pic>
      <p:sp>
        <p:nvSpPr>
          <p:cNvPr id="301" name="Google Shape;301;p28"/>
          <p:cNvSpPr txBox="1"/>
          <p:nvPr/>
        </p:nvSpPr>
        <p:spPr>
          <a:xfrm>
            <a:off x="1460475" y="4512825"/>
            <a:ext cx="7353600" cy="4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Such that the end point has the data distribution we want to model.</a:t>
            </a:r>
            <a:endParaRPr sz="1800">
              <a:solidFill>
                <a:schemeClr val="dk1"/>
              </a:solidFill>
            </a:endParaRPr>
          </a:p>
        </p:txBody>
      </p:sp>
      <p:sp>
        <p:nvSpPr>
          <p:cNvPr id="302" name="Google Shape;302;p28"/>
          <p:cNvSpPr/>
          <p:nvPr/>
        </p:nvSpPr>
        <p:spPr>
          <a:xfrm>
            <a:off x="4859950" y="4131225"/>
            <a:ext cx="183000" cy="3498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28"/>
          <p:cNvSpPr txBox="1"/>
          <p:nvPr/>
        </p:nvSpPr>
        <p:spPr>
          <a:xfrm>
            <a:off x="2041075" y="0"/>
            <a:ext cx="5478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From Random Initialization to Data Distribution </a:t>
            </a:r>
            <a:endParaRPr sz="1800" b="1">
              <a:solidFill>
                <a:schemeClr val="dk1"/>
              </a:solidFill>
            </a:endParaRPr>
          </a:p>
        </p:txBody>
      </p:sp>
      <p:sp>
        <p:nvSpPr>
          <p:cNvPr id="304" name="Google Shape;304;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p:nvPr/>
        </p:nvSpPr>
        <p:spPr>
          <a:xfrm>
            <a:off x="2908225" y="1977600"/>
            <a:ext cx="36480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Diffusion Models</a:t>
            </a:r>
            <a:endParaRPr sz="3300" b="1">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0"/>
          <p:cNvSpPr txBox="1"/>
          <p:nvPr/>
        </p:nvSpPr>
        <p:spPr>
          <a:xfrm>
            <a:off x="301451" y="762950"/>
            <a:ext cx="6219900" cy="51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A stochastic process is a collection of random variables </a:t>
            </a:r>
            <a:r>
              <a:rPr lang="en" sz="1700" i="1">
                <a:solidFill>
                  <a:schemeClr val="dk1"/>
                </a:solidFill>
              </a:rPr>
              <a:t>{</a:t>
            </a:r>
            <a:r>
              <a:rPr lang="en" sz="1700">
                <a:solidFill>
                  <a:schemeClr val="dk1"/>
                </a:solidFill>
              </a:rPr>
              <a:t> </a:t>
            </a:r>
            <a:r>
              <a:rPr lang="en" sz="1700" i="1">
                <a:solidFill>
                  <a:schemeClr val="dk1"/>
                </a:solidFill>
              </a:rPr>
              <a:t>X</a:t>
            </a:r>
            <a:r>
              <a:rPr lang="en" sz="1700" i="1" baseline="-25000">
                <a:solidFill>
                  <a:schemeClr val="dk1"/>
                </a:solidFill>
              </a:rPr>
              <a:t>t </a:t>
            </a:r>
            <a:r>
              <a:rPr lang="en" sz="1700" i="1">
                <a:solidFill>
                  <a:schemeClr val="dk1"/>
                </a:solidFill>
              </a:rPr>
              <a:t>}</a:t>
            </a:r>
            <a:r>
              <a:rPr lang="en" sz="1700">
                <a:solidFill>
                  <a:schemeClr val="dk1"/>
                </a:solidFill>
              </a:rPr>
              <a:t> indexed by time. One realization is a trajectory or sample path. </a:t>
            </a:r>
            <a:endParaRPr sz="1700">
              <a:solidFill>
                <a:schemeClr val="dk1"/>
              </a:solidFill>
            </a:endParaRPr>
          </a:p>
        </p:txBody>
      </p:sp>
      <p:grpSp>
        <p:nvGrpSpPr>
          <p:cNvPr id="315" name="Google Shape;315;p30"/>
          <p:cNvGrpSpPr/>
          <p:nvPr/>
        </p:nvGrpSpPr>
        <p:grpSpPr>
          <a:xfrm>
            <a:off x="6625950" y="1031275"/>
            <a:ext cx="1566525" cy="1618800"/>
            <a:chOff x="6225600" y="1406975"/>
            <a:chExt cx="1566525" cy="1618800"/>
          </a:xfrm>
        </p:grpSpPr>
        <p:cxnSp>
          <p:nvCxnSpPr>
            <p:cNvPr id="316" name="Google Shape;316;p30"/>
            <p:cNvCxnSpPr/>
            <p:nvPr/>
          </p:nvCxnSpPr>
          <p:spPr>
            <a:xfrm rot="10800000">
              <a:off x="6225600" y="1406975"/>
              <a:ext cx="0" cy="1618800"/>
            </a:xfrm>
            <a:prstGeom prst="straightConnector1">
              <a:avLst/>
            </a:prstGeom>
            <a:noFill/>
            <a:ln w="9525" cap="flat" cmpd="sng">
              <a:solidFill>
                <a:schemeClr val="dk1"/>
              </a:solidFill>
              <a:prstDash val="solid"/>
              <a:round/>
              <a:headEnd type="none" w="med" len="med"/>
              <a:tailEnd type="triangle" w="med" len="med"/>
            </a:ln>
          </p:spPr>
        </p:cxnSp>
        <p:cxnSp>
          <p:nvCxnSpPr>
            <p:cNvPr id="317" name="Google Shape;317;p30"/>
            <p:cNvCxnSpPr/>
            <p:nvPr/>
          </p:nvCxnSpPr>
          <p:spPr>
            <a:xfrm>
              <a:off x="6225600" y="3025775"/>
              <a:ext cx="1514400" cy="0"/>
            </a:xfrm>
            <a:prstGeom prst="straightConnector1">
              <a:avLst/>
            </a:prstGeom>
            <a:noFill/>
            <a:ln w="9525" cap="flat" cmpd="sng">
              <a:solidFill>
                <a:schemeClr val="dk1"/>
              </a:solidFill>
              <a:prstDash val="solid"/>
              <a:round/>
              <a:headEnd type="none" w="med" len="med"/>
              <a:tailEnd type="triangle" w="med" len="med"/>
            </a:ln>
          </p:spPr>
        </p:cxnSp>
        <p:sp>
          <p:nvSpPr>
            <p:cNvPr id="318" name="Google Shape;318;p30"/>
            <p:cNvSpPr/>
            <p:nvPr/>
          </p:nvSpPr>
          <p:spPr>
            <a:xfrm>
              <a:off x="6242997" y="1467922"/>
              <a:ext cx="1018200" cy="1540350"/>
            </a:xfrm>
            <a:custGeom>
              <a:avLst/>
              <a:gdLst/>
              <a:ahLst/>
              <a:cxnLst/>
              <a:rect l="l" t="t" r="r" b="b"/>
              <a:pathLst>
                <a:path w="40728" h="61614" extrusionOk="0">
                  <a:moveTo>
                    <a:pt x="0" y="61614"/>
                  </a:moveTo>
                  <a:cubicBezTo>
                    <a:pt x="870" y="60048"/>
                    <a:pt x="3644" y="55837"/>
                    <a:pt x="5221" y="52218"/>
                  </a:cubicBezTo>
                  <a:cubicBezTo>
                    <a:pt x="6799" y="48599"/>
                    <a:pt x="6654" y="42994"/>
                    <a:pt x="9465" y="39900"/>
                  </a:cubicBezTo>
                  <a:cubicBezTo>
                    <a:pt x="12276" y="36807"/>
                    <a:pt x="19217" y="37276"/>
                    <a:pt x="22085" y="33657"/>
                  </a:cubicBezTo>
                  <a:cubicBezTo>
                    <a:pt x="24953" y="30038"/>
                    <a:pt x="24380" y="22981"/>
                    <a:pt x="26674" y="18186"/>
                  </a:cubicBezTo>
                  <a:cubicBezTo>
                    <a:pt x="28969" y="13391"/>
                    <a:pt x="33510" y="7917"/>
                    <a:pt x="35852" y="4886"/>
                  </a:cubicBezTo>
                  <a:cubicBezTo>
                    <a:pt x="38194" y="1855"/>
                    <a:pt x="39915" y="814"/>
                    <a:pt x="40728" y="0"/>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319" name="Google Shape;319;p30"/>
            <p:cNvSpPr/>
            <p:nvPr/>
          </p:nvSpPr>
          <p:spPr>
            <a:xfrm>
              <a:off x="6225600" y="1598475"/>
              <a:ext cx="1348975" cy="1427300"/>
            </a:xfrm>
            <a:custGeom>
              <a:avLst/>
              <a:gdLst/>
              <a:ahLst/>
              <a:cxnLst/>
              <a:rect l="l" t="t" r="r" b="b"/>
              <a:pathLst>
                <a:path w="53959" h="57092" extrusionOk="0">
                  <a:moveTo>
                    <a:pt x="0" y="57092"/>
                  </a:moveTo>
                  <a:cubicBezTo>
                    <a:pt x="2437" y="54655"/>
                    <a:pt x="9689" y="45546"/>
                    <a:pt x="14621" y="42471"/>
                  </a:cubicBezTo>
                  <a:cubicBezTo>
                    <a:pt x="19553" y="39396"/>
                    <a:pt x="25471" y="40847"/>
                    <a:pt x="29590" y="38642"/>
                  </a:cubicBezTo>
                  <a:cubicBezTo>
                    <a:pt x="33710" y="36437"/>
                    <a:pt x="37249" y="33595"/>
                    <a:pt x="39338" y="29243"/>
                  </a:cubicBezTo>
                  <a:cubicBezTo>
                    <a:pt x="41427" y="24892"/>
                    <a:pt x="40382" y="15840"/>
                    <a:pt x="42122" y="12533"/>
                  </a:cubicBezTo>
                  <a:cubicBezTo>
                    <a:pt x="43863" y="9226"/>
                    <a:pt x="47808" y="11489"/>
                    <a:pt x="49781" y="9400"/>
                  </a:cubicBezTo>
                  <a:cubicBezTo>
                    <a:pt x="51754" y="7311"/>
                    <a:pt x="53263" y="1567"/>
                    <a:pt x="53959" y="0"/>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320" name="Google Shape;320;p30"/>
            <p:cNvSpPr/>
            <p:nvPr/>
          </p:nvSpPr>
          <p:spPr>
            <a:xfrm>
              <a:off x="6234300" y="1737700"/>
              <a:ext cx="1557825" cy="1279350"/>
            </a:xfrm>
            <a:custGeom>
              <a:avLst/>
              <a:gdLst/>
              <a:ahLst/>
              <a:cxnLst/>
              <a:rect l="l" t="t" r="r" b="b"/>
              <a:pathLst>
                <a:path w="62313" h="51174" extrusionOk="0">
                  <a:moveTo>
                    <a:pt x="0" y="51174"/>
                  </a:moveTo>
                  <a:cubicBezTo>
                    <a:pt x="1915" y="49956"/>
                    <a:pt x="6789" y="45082"/>
                    <a:pt x="11488" y="43864"/>
                  </a:cubicBezTo>
                  <a:cubicBezTo>
                    <a:pt x="16188" y="42646"/>
                    <a:pt x="24020" y="45663"/>
                    <a:pt x="28197" y="43864"/>
                  </a:cubicBezTo>
                  <a:cubicBezTo>
                    <a:pt x="32374" y="42065"/>
                    <a:pt x="32781" y="36205"/>
                    <a:pt x="36552" y="33072"/>
                  </a:cubicBezTo>
                  <a:cubicBezTo>
                    <a:pt x="40323" y="29939"/>
                    <a:pt x="47982" y="27908"/>
                    <a:pt x="50825" y="25065"/>
                  </a:cubicBezTo>
                  <a:cubicBezTo>
                    <a:pt x="53668" y="22222"/>
                    <a:pt x="51927" y="18857"/>
                    <a:pt x="53610" y="16014"/>
                  </a:cubicBezTo>
                  <a:cubicBezTo>
                    <a:pt x="55293" y="13171"/>
                    <a:pt x="59471" y="10676"/>
                    <a:pt x="60921" y="8007"/>
                  </a:cubicBezTo>
                  <a:cubicBezTo>
                    <a:pt x="62372" y="5338"/>
                    <a:pt x="62081" y="1335"/>
                    <a:pt x="62313" y="0"/>
                  </a:cubicBezTo>
                </a:path>
              </a:pathLst>
            </a:custGeom>
            <a:noFill/>
            <a:ln w="9525" cap="flat" cmpd="sng">
              <a:solidFill>
                <a:schemeClr val="dk2"/>
              </a:solidFill>
              <a:prstDash val="solid"/>
              <a:round/>
              <a:headEnd type="none" w="med" len="med"/>
              <a:tailEnd type="none" w="med" len="med"/>
            </a:ln>
          </p:spPr>
          <p:txBody>
            <a:bodyPr/>
            <a:lstStyle/>
            <a:p>
              <a:endParaRPr lang="en-US"/>
            </a:p>
          </p:txBody>
        </p:sp>
      </p:grpSp>
      <p:sp>
        <p:nvSpPr>
          <p:cNvPr id="321" name="Google Shape;321;p30"/>
          <p:cNvSpPr txBox="1"/>
          <p:nvPr/>
        </p:nvSpPr>
        <p:spPr>
          <a:xfrm>
            <a:off x="6433763" y="2707525"/>
            <a:ext cx="1950900" cy="91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rPr>
              <a:t>The collection of these trajectories is the stochastic process, i.e. different realizations produce different sample paths. </a:t>
            </a:r>
            <a:endParaRPr sz="1100">
              <a:solidFill>
                <a:schemeClr val="dk1"/>
              </a:solidFill>
            </a:endParaRPr>
          </a:p>
        </p:txBody>
      </p:sp>
      <p:sp>
        <p:nvSpPr>
          <p:cNvPr id="322" name="Google Shape;322;p30"/>
          <p:cNvSpPr txBox="1"/>
          <p:nvPr/>
        </p:nvSpPr>
        <p:spPr>
          <a:xfrm>
            <a:off x="3637978" y="0"/>
            <a:ext cx="23787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Stochastic Process</a:t>
            </a:r>
            <a:endParaRPr sz="1800" b="1">
              <a:solidFill>
                <a:schemeClr val="dk1"/>
              </a:solidFill>
            </a:endParaRPr>
          </a:p>
        </p:txBody>
      </p:sp>
      <p:pic>
        <p:nvPicPr>
          <p:cNvPr id="323" name="Google Shape;323;p30"/>
          <p:cNvPicPr preferRelativeResize="0"/>
          <p:nvPr/>
        </p:nvPicPr>
        <p:blipFill>
          <a:blip r:embed="rId3">
            <a:alphaModFix/>
          </a:blip>
          <a:stretch>
            <a:fillRect/>
          </a:stretch>
        </p:blipFill>
        <p:spPr>
          <a:xfrm>
            <a:off x="2009419" y="3186263"/>
            <a:ext cx="2378701" cy="497237"/>
          </a:xfrm>
          <a:prstGeom prst="rect">
            <a:avLst/>
          </a:prstGeom>
          <a:noFill/>
          <a:ln>
            <a:noFill/>
          </a:ln>
        </p:spPr>
      </p:pic>
      <p:sp>
        <p:nvSpPr>
          <p:cNvPr id="324" name="Google Shape;324;p30"/>
          <p:cNvSpPr/>
          <p:nvPr/>
        </p:nvSpPr>
        <p:spPr>
          <a:xfrm>
            <a:off x="2905365" y="2579247"/>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 name="Google Shape;325;p30"/>
          <p:cNvSpPr/>
          <p:nvPr/>
        </p:nvSpPr>
        <p:spPr>
          <a:xfrm>
            <a:off x="4040739" y="2579234"/>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 name="Google Shape;326;p30"/>
          <p:cNvSpPr txBox="1"/>
          <p:nvPr/>
        </p:nvSpPr>
        <p:spPr>
          <a:xfrm>
            <a:off x="222615" y="4191975"/>
            <a:ext cx="8883600" cy="3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i="1">
                <a:solidFill>
                  <a:schemeClr val="dk1"/>
                </a:solidFill>
              </a:rPr>
              <a:t>Hence, we have a trajectory that maps time </a:t>
            </a:r>
            <a:r>
              <a:rPr lang="en" sz="1600" b="1" i="1">
                <a:solidFill>
                  <a:schemeClr val="dk1"/>
                </a:solidFill>
              </a:rPr>
              <a:t>t</a:t>
            </a:r>
            <a:r>
              <a:rPr lang="en" sz="1600" i="1">
                <a:solidFill>
                  <a:schemeClr val="dk1"/>
                </a:solidFill>
              </a:rPr>
              <a:t> to vector </a:t>
            </a:r>
            <a:r>
              <a:rPr lang="en" sz="1600" b="1" i="1">
                <a:solidFill>
                  <a:schemeClr val="dk1"/>
                </a:solidFill>
              </a:rPr>
              <a:t>X</a:t>
            </a:r>
            <a:r>
              <a:rPr lang="en" sz="1600" b="1" i="1" baseline="-25000">
                <a:solidFill>
                  <a:schemeClr val="dk1"/>
                </a:solidFill>
              </a:rPr>
              <a:t>t </a:t>
            </a:r>
            <a:r>
              <a:rPr lang="en" sz="1600" i="1">
                <a:solidFill>
                  <a:schemeClr val="dk1"/>
                </a:solidFill>
              </a:rPr>
              <a:t>as previously seen in the Flow case, however this time we add the aspect of stochasticity as seen in the plot above. </a:t>
            </a:r>
            <a:endParaRPr sz="1600" i="1">
              <a:solidFill>
                <a:schemeClr val="dk1"/>
              </a:solidFill>
            </a:endParaRPr>
          </a:p>
        </p:txBody>
      </p:sp>
      <p:sp>
        <p:nvSpPr>
          <p:cNvPr id="327" name="Google Shape;327;p30"/>
          <p:cNvSpPr txBox="1"/>
          <p:nvPr/>
        </p:nvSpPr>
        <p:spPr>
          <a:xfrm>
            <a:off x="446750" y="3861250"/>
            <a:ext cx="5735400" cy="23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endParaRPr>
          </a:p>
        </p:txBody>
      </p:sp>
      <p:pic>
        <p:nvPicPr>
          <p:cNvPr id="328" name="Google Shape;328;p30"/>
          <p:cNvPicPr preferRelativeResize="0"/>
          <p:nvPr/>
        </p:nvPicPr>
        <p:blipFill>
          <a:blip r:embed="rId4">
            <a:alphaModFix/>
          </a:blip>
          <a:stretch>
            <a:fillRect/>
          </a:stretch>
        </p:blipFill>
        <p:spPr>
          <a:xfrm>
            <a:off x="1854525" y="1888475"/>
            <a:ext cx="2577111" cy="513600"/>
          </a:xfrm>
          <a:prstGeom prst="rect">
            <a:avLst/>
          </a:prstGeom>
          <a:noFill/>
          <a:ln>
            <a:noFill/>
          </a:ln>
        </p:spPr>
      </p:pic>
      <p:sp>
        <p:nvSpPr>
          <p:cNvPr id="329" name="Google Shape;329;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1"/>
          <p:cNvSpPr txBox="1"/>
          <p:nvPr/>
        </p:nvSpPr>
        <p:spPr>
          <a:xfrm>
            <a:off x="3183900" y="0"/>
            <a:ext cx="34977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Drift and Diffusion Coefficient </a:t>
            </a:r>
            <a:endParaRPr sz="1800" b="1">
              <a:solidFill>
                <a:schemeClr val="dk1"/>
              </a:solidFill>
            </a:endParaRPr>
          </a:p>
        </p:txBody>
      </p:sp>
      <p:pic>
        <p:nvPicPr>
          <p:cNvPr id="335" name="Google Shape;335;p31"/>
          <p:cNvPicPr preferRelativeResize="0"/>
          <p:nvPr/>
        </p:nvPicPr>
        <p:blipFill>
          <a:blip r:embed="rId3">
            <a:alphaModFix/>
          </a:blip>
          <a:stretch>
            <a:fillRect/>
          </a:stretch>
        </p:blipFill>
        <p:spPr>
          <a:xfrm>
            <a:off x="2288163" y="1251600"/>
            <a:ext cx="4323875" cy="695000"/>
          </a:xfrm>
          <a:prstGeom prst="rect">
            <a:avLst/>
          </a:prstGeom>
          <a:noFill/>
          <a:ln>
            <a:noFill/>
          </a:ln>
        </p:spPr>
      </p:pic>
      <p:sp>
        <p:nvSpPr>
          <p:cNvPr id="336" name="Google Shape;336;p31"/>
          <p:cNvSpPr txBox="1"/>
          <p:nvPr/>
        </p:nvSpPr>
        <p:spPr>
          <a:xfrm>
            <a:off x="533775" y="667225"/>
            <a:ext cx="8365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vector field </a:t>
            </a:r>
            <a:r>
              <a:rPr lang="en" sz="1800" i="1">
                <a:solidFill>
                  <a:schemeClr val="dk1"/>
                </a:solidFill>
              </a:rPr>
              <a:t>u</a:t>
            </a:r>
            <a:r>
              <a:rPr lang="en" sz="1800">
                <a:solidFill>
                  <a:schemeClr val="dk1"/>
                </a:solidFill>
              </a:rPr>
              <a:t> is similar to what it was before and can be thought of as deterministic </a:t>
            </a:r>
            <a:r>
              <a:rPr lang="en" sz="1800" b="1" i="1">
                <a:solidFill>
                  <a:schemeClr val="dk1"/>
                </a:solidFill>
              </a:rPr>
              <a:t>drift</a:t>
            </a:r>
            <a:r>
              <a:rPr lang="en" sz="1800">
                <a:solidFill>
                  <a:schemeClr val="dk1"/>
                </a:solidFill>
              </a:rPr>
              <a:t>:</a:t>
            </a:r>
            <a:endParaRPr sz="1800">
              <a:solidFill>
                <a:schemeClr val="dk1"/>
              </a:solidFill>
            </a:endParaRPr>
          </a:p>
        </p:txBody>
      </p:sp>
      <p:sp>
        <p:nvSpPr>
          <p:cNvPr id="337" name="Google Shape;337;p31"/>
          <p:cNvSpPr txBox="1"/>
          <p:nvPr/>
        </p:nvSpPr>
        <p:spPr>
          <a:xfrm>
            <a:off x="569475" y="2194649"/>
            <a:ext cx="7641300" cy="47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but additionally we now add a so called </a:t>
            </a:r>
            <a:r>
              <a:rPr lang="en" sz="1800" b="1" i="1">
                <a:solidFill>
                  <a:schemeClr val="dk1"/>
                </a:solidFill>
              </a:rPr>
              <a:t>diffusion coefficient       </a:t>
            </a:r>
            <a:r>
              <a:rPr lang="en" sz="1800">
                <a:solidFill>
                  <a:schemeClr val="dk1"/>
                </a:solidFill>
              </a:rPr>
              <a:t>that adds non-determinism and controls the stochasticity:</a:t>
            </a:r>
            <a:endParaRPr sz="1800">
              <a:solidFill>
                <a:schemeClr val="dk1"/>
              </a:solidFill>
            </a:endParaRPr>
          </a:p>
        </p:txBody>
      </p:sp>
      <p:pic>
        <p:nvPicPr>
          <p:cNvPr id="338" name="Google Shape;338;p31"/>
          <p:cNvPicPr preferRelativeResize="0"/>
          <p:nvPr/>
        </p:nvPicPr>
        <p:blipFill>
          <a:blip r:embed="rId4">
            <a:alphaModFix/>
          </a:blip>
          <a:stretch>
            <a:fillRect/>
          </a:stretch>
        </p:blipFill>
        <p:spPr>
          <a:xfrm>
            <a:off x="3092675" y="3037150"/>
            <a:ext cx="3247425" cy="557475"/>
          </a:xfrm>
          <a:prstGeom prst="rect">
            <a:avLst/>
          </a:prstGeom>
          <a:noFill/>
          <a:ln>
            <a:noFill/>
          </a:ln>
        </p:spPr>
      </p:pic>
      <p:pic>
        <p:nvPicPr>
          <p:cNvPr id="339" name="Google Shape;339;p31"/>
          <p:cNvPicPr preferRelativeResize="0"/>
          <p:nvPr/>
        </p:nvPicPr>
        <p:blipFill>
          <a:blip r:embed="rId5">
            <a:alphaModFix/>
          </a:blip>
          <a:stretch>
            <a:fillRect/>
          </a:stretch>
        </p:blipFill>
        <p:spPr>
          <a:xfrm>
            <a:off x="4050224" y="4139574"/>
            <a:ext cx="2005175" cy="617575"/>
          </a:xfrm>
          <a:prstGeom prst="rect">
            <a:avLst/>
          </a:prstGeom>
          <a:noFill/>
          <a:ln>
            <a:noFill/>
          </a:ln>
        </p:spPr>
      </p:pic>
      <p:sp>
        <p:nvSpPr>
          <p:cNvPr id="340" name="Google Shape;340;p31"/>
          <p:cNvSpPr/>
          <p:nvPr/>
        </p:nvSpPr>
        <p:spPr>
          <a:xfrm>
            <a:off x="4243075" y="3664319"/>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 name="Google Shape;341;p31"/>
          <p:cNvSpPr/>
          <p:nvPr/>
        </p:nvSpPr>
        <p:spPr>
          <a:xfrm>
            <a:off x="5671600" y="3664319"/>
            <a:ext cx="127200" cy="429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2" name="Google Shape;342;p31"/>
          <p:cNvPicPr preferRelativeResize="0"/>
          <p:nvPr/>
        </p:nvPicPr>
        <p:blipFill>
          <a:blip r:embed="rId6">
            <a:alphaModFix/>
          </a:blip>
          <a:stretch>
            <a:fillRect/>
          </a:stretch>
        </p:blipFill>
        <p:spPr>
          <a:xfrm>
            <a:off x="6900002" y="2252324"/>
            <a:ext cx="343925" cy="324150"/>
          </a:xfrm>
          <a:prstGeom prst="rect">
            <a:avLst/>
          </a:prstGeom>
          <a:noFill/>
          <a:ln>
            <a:noFill/>
          </a:ln>
        </p:spPr>
      </p:pic>
      <p:sp>
        <p:nvSpPr>
          <p:cNvPr id="343" name="Google Shape;343;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2"/>
          <p:cNvSpPr txBox="1"/>
          <p:nvPr/>
        </p:nvSpPr>
        <p:spPr>
          <a:xfrm>
            <a:off x="2490925" y="0"/>
            <a:ext cx="4618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Stochastic Differential Equation (SDE)</a:t>
            </a:r>
            <a:endParaRPr sz="1800" b="1">
              <a:solidFill>
                <a:schemeClr val="dk1"/>
              </a:solidFill>
            </a:endParaRPr>
          </a:p>
        </p:txBody>
      </p:sp>
      <p:sp>
        <p:nvSpPr>
          <p:cNvPr id="349" name="Google Shape;349;p32"/>
          <p:cNvSpPr txBox="1"/>
          <p:nvPr/>
        </p:nvSpPr>
        <p:spPr>
          <a:xfrm>
            <a:off x="980475" y="1380600"/>
            <a:ext cx="2408700" cy="5007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AutoNum type="arabicParenR"/>
            </a:pPr>
            <a:r>
              <a:rPr lang="en" sz="2000">
                <a:solidFill>
                  <a:schemeClr val="dk1"/>
                </a:solidFill>
              </a:rPr>
              <a:t>Initial condition:</a:t>
            </a:r>
            <a:endParaRPr sz="2000">
              <a:solidFill>
                <a:schemeClr val="dk1"/>
              </a:solidFill>
            </a:endParaRPr>
          </a:p>
        </p:txBody>
      </p:sp>
      <p:pic>
        <p:nvPicPr>
          <p:cNvPr id="350" name="Google Shape;350;p32"/>
          <p:cNvPicPr preferRelativeResize="0"/>
          <p:nvPr/>
        </p:nvPicPr>
        <p:blipFill>
          <a:blip r:embed="rId3">
            <a:alphaModFix/>
          </a:blip>
          <a:stretch>
            <a:fillRect/>
          </a:stretch>
        </p:blipFill>
        <p:spPr>
          <a:xfrm>
            <a:off x="3352675" y="1380600"/>
            <a:ext cx="1453724" cy="429300"/>
          </a:xfrm>
          <a:prstGeom prst="rect">
            <a:avLst/>
          </a:prstGeom>
          <a:noFill/>
          <a:ln>
            <a:noFill/>
          </a:ln>
        </p:spPr>
      </p:pic>
      <p:pic>
        <p:nvPicPr>
          <p:cNvPr id="351" name="Google Shape;351;p32"/>
          <p:cNvPicPr preferRelativeResize="0"/>
          <p:nvPr/>
        </p:nvPicPr>
        <p:blipFill>
          <a:blip r:embed="rId4">
            <a:alphaModFix/>
          </a:blip>
          <a:stretch>
            <a:fillRect/>
          </a:stretch>
        </p:blipFill>
        <p:spPr>
          <a:xfrm>
            <a:off x="3356131" y="2798386"/>
            <a:ext cx="4866845" cy="500700"/>
          </a:xfrm>
          <a:prstGeom prst="rect">
            <a:avLst/>
          </a:prstGeom>
          <a:noFill/>
          <a:ln>
            <a:noFill/>
          </a:ln>
        </p:spPr>
      </p:pic>
      <p:sp>
        <p:nvSpPr>
          <p:cNvPr id="352" name="Google Shape;352;p32"/>
          <p:cNvSpPr txBox="1"/>
          <p:nvPr/>
        </p:nvSpPr>
        <p:spPr>
          <a:xfrm>
            <a:off x="1052025" y="2798375"/>
            <a:ext cx="2472300" cy="50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rPr>
              <a:t>2)   Evolution SDE:</a:t>
            </a:r>
            <a:endParaRPr sz="2000">
              <a:solidFill>
                <a:schemeClr val="dk1"/>
              </a:solidFill>
            </a:endParaRPr>
          </a:p>
        </p:txBody>
      </p:sp>
      <p:sp>
        <p:nvSpPr>
          <p:cNvPr id="353" name="Google Shape;353;p32"/>
          <p:cNvSpPr/>
          <p:nvPr/>
        </p:nvSpPr>
        <p:spPr>
          <a:xfrm rot="-5400000">
            <a:off x="5500005" y="2521436"/>
            <a:ext cx="119100" cy="17808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32"/>
          <p:cNvSpPr/>
          <p:nvPr/>
        </p:nvSpPr>
        <p:spPr>
          <a:xfrm rot="-5400000">
            <a:off x="7547581" y="2744786"/>
            <a:ext cx="111300" cy="13341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55;p32"/>
          <p:cNvSpPr txBox="1"/>
          <p:nvPr/>
        </p:nvSpPr>
        <p:spPr>
          <a:xfrm>
            <a:off x="5049006" y="3471386"/>
            <a:ext cx="1287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ODE part</a:t>
            </a:r>
            <a:endParaRPr sz="1800">
              <a:solidFill>
                <a:schemeClr val="dk1"/>
              </a:solidFill>
            </a:endParaRPr>
          </a:p>
        </p:txBody>
      </p:sp>
      <p:sp>
        <p:nvSpPr>
          <p:cNvPr id="356" name="Google Shape;356;p32"/>
          <p:cNvSpPr txBox="1"/>
          <p:nvPr/>
        </p:nvSpPr>
        <p:spPr>
          <a:xfrm>
            <a:off x="6489659" y="3487286"/>
            <a:ext cx="2853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Added stochastic noise</a:t>
            </a:r>
            <a:endParaRPr sz="1800">
              <a:solidFill>
                <a:schemeClr val="dk1"/>
              </a:solidFill>
            </a:endParaRPr>
          </a:p>
        </p:txBody>
      </p:sp>
      <p:sp>
        <p:nvSpPr>
          <p:cNvPr id="357" name="Google Shape;357;p32"/>
          <p:cNvSpPr/>
          <p:nvPr/>
        </p:nvSpPr>
        <p:spPr>
          <a:xfrm>
            <a:off x="6934855" y="2795662"/>
            <a:ext cx="1334100" cy="500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58;p32"/>
          <p:cNvSpPr txBox="1"/>
          <p:nvPr/>
        </p:nvSpPr>
        <p:spPr>
          <a:xfrm>
            <a:off x="6313706" y="2183386"/>
            <a:ext cx="2576400" cy="270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Brownian Motion /</a:t>
            </a:r>
            <a:endParaRPr sz="1100">
              <a:solidFill>
                <a:srgbClr val="FF0000"/>
              </a:solidFill>
            </a:endParaRPr>
          </a:p>
          <a:p>
            <a:pPr marL="0" lvl="0" indent="0" algn="ctr" rtl="0">
              <a:spcBef>
                <a:spcPts val="0"/>
              </a:spcBef>
              <a:spcAft>
                <a:spcPts val="0"/>
              </a:spcAft>
              <a:buNone/>
            </a:pPr>
            <a:r>
              <a:rPr lang="en" sz="1100">
                <a:solidFill>
                  <a:srgbClr val="FF0000"/>
                </a:solidFill>
              </a:rPr>
              <a:t>Wiener Process, hence the</a:t>
            </a:r>
            <a:endParaRPr sz="1100">
              <a:solidFill>
                <a:srgbClr val="FF0000"/>
              </a:solidFill>
            </a:endParaRPr>
          </a:p>
          <a:p>
            <a:pPr marL="0" lvl="0" indent="0" algn="ctr" rtl="0">
              <a:spcBef>
                <a:spcPts val="0"/>
              </a:spcBef>
              <a:spcAft>
                <a:spcPts val="0"/>
              </a:spcAft>
              <a:buNone/>
            </a:pPr>
            <a:r>
              <a:rPr lang="en" sz="1100">
                <a:solidFill>
                  <a:srgbClr val="FF0000"/>
                </a:solidFill>
              </a:rPr>
              <a:t> </a:t>
            </a:r>
            <a:r>
              <a:rPr lang="en" sz="1100" i="1">
                <a:solidFill>
                  <a:srgbClr val="FF0000"/>
                </a:solidFill>
              </a:rPr>
              <a:t>W</a:t>
            </a:r>
            <a:r>
              <a:rPr lang="en" sz="1100">
                <a:solidFill>
                  <a:srgbClr val="FF0000"/>
                </a:solidFill>
              </a:rPr>
              <a:t> notation</a:t>
            </a:r>
            <a:endParaRPr sz="1100">
              <a:solidFill>
                <a:srgbClr val="FF0000"/>
              </a:solidFill>
            </a:endParaRPr>
          </a:p>
        </p:txBody>
      </p:sp>
      <p:sp>
        <p:nvSpPr>
          <p:cNvPr id="359" name="Google Shape;359;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3"/>
          <p:cNvSpPr txBox="1"/>
          <p:nvPr/>
        </p:nvSpPr>
        <p:spPr>
          <a:xfrm>
            <a:off x="3374694" y="0"/>
            <a:ext cx="21690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Brownian Motion</a:t>
            </a:r>
            <a:endParaRPr sz="1800" b="1">
              <a:solidFill>
                <a:schemeClr val="dk1"/>
              </a:solidFill>
            </a:endParaRPr>
          </a:p>
        </p:txBody>
      </p:sp>
      <p:sp>
        <p:nvSpPr>
          <p:cNvPr id="365" name="Google Shape;365;p33"/>
          <p:cNvSpPr txBox="1"/>
          <p:nvPr/>
        </p:nvSpPr>
        <p:spPr>
          <a:xfrm>
            <a:off x="130500" y="625375"/>
            <a:ext cx="8696400" cy="70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Brownian motion is a stochastic process denoted as </a:t>
            </a:r>
            <a:r>
              <a:rPr lang="en" sz="1800" i="1">
                <a:solidFill>
                  <a:schemeClr val="dk1"/>
                </a:solidFill>
              </a:rPr>
              <a:t>W</a:t>
            </a:r>
            <a:r>
              <a:rPr lang="en" sz="1800">
                <a:solidFill>
                  <a:schemeClr val="dk1"/>
                </a:solidFill>
              </a:rPr>
              <a:t>:                           ,                           </a:t>
            </a:r>
            <a:endParaRPr sz="1800">
              <a:solidFill>
                <a:schemeClr val="dk1"/>
              </a:solidFill>
            </a:endParaRPr>
          </a:p>
          <a:p>
            <a:pPr marL="0" lvl="0" indent="0" algn="l" rtl="0">
              <a:spcBef>
                <a:spcPts val="0"/>
              </a:spcBef>
              <a:spcAft>
                <a:spcPts val="0"/>
              </a:spcAft>
              <a:buNone/>
            </a:pPr>
            <a:r>
              <a:rPr lang="en" sz="1800">
                <a:solidFill>
                  <a:schemeClr val="dk1"/>
                </a:solidFill>
              </a:rPr>
              <a:t>such that:</a:t>
            </a:r>
            <a:endParaRPr sz="1800">
              <a:solidFill>
                <a:schemeClr val="dk1"/>
              </a:solidFill>
            </a:endParaRPr>
          </a:p>
        </p:txBody>
      </p:sp>
      <p:pic>
        <p:nvPicPr>
          <p:cNvPr id="366" name="Google Shape;366;p33"/>
          <p:cNvPicPr preferRelativeResize="0"/>
          <p:nvPr/>
        </p:nvPicPr>
        <p:blipFill>
          <a:blip r:embed="rId3">
            <a:alphaModFix/>
          </a:blip>
          <a:stretch>
            <a:fillRect/>
          </a:stretch>
        </p:blipFill>
        <p:spPr>
          <a:xfrm>
            <a:off x="5908024" y="720750"/>
            <a:ext cx="1607175" cy="317125"/>
          </a:xfrm>
          <a:prstGeom prst="rect">
            <a:avLst/>
          </a:prstGeom>
          <a:noFill/>
          <a:ln>
            <a:noFill/>
          </a:ln>
        </p:spPr>
      </p:pic>
      <p:sp>
        <p:nvSpPr>
          <p:cNvPr id="367" name="Google Shape;367;p33"/>
          <p:cNvSpPr txBox="1"/>
          <p:nvPr/>
        </p:nvSpPr>
        <p:spPr>
          <a:xfrm>
            <a:off x="113953" y="1380602"/>
            <a:ext cx="508800" cy="429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endParaRPr sz="1800">
              <a:solidFill>
                <a:schemeClr val="dk1"/>
              </a:solidFill>
            </a:endParaRPr>
          </a:p>
        </p:txBody>
      </p:sp>
      <p:pic>
        <p:nvPicPr>
          <p:cNvPr id="368" name="Google Shape;368;p33"/>
          <p:cNvPicPr preferRelativeResize="0"/>
          <p:nvPr/>
        </p:nvPicPr>
        <p:blipFill>
          <a:blip r:embed="rId4">
            <a:alphaModFix/>
          </a:blip>
          <a:stretch>
            <a:fillRect/>
          </a:stretch>
        </p:blipFill>
        <p:spPr>
          <a:xfrm>
            <a:off x="2021732" y="1436675"/>
            <a:ext cx="974042" cy="317125"/>
          </a:xfrm>
          <a:prstGeom prst="rect">
            <a:avLst/>
          </a:prstGeom>
          <a:noFill/>
          <a:ln>
            <a:noFill/>
          </a:ln>
        </p:spPr>
      </p:pic>
      <p:sp>
        <p:nvSpPr>
          <p:cNvPr id="369" name="Google Shape;369;p33"/>
          <p:cNvSpPr txBox="1"/>
          <p:nvPr/>
        </p:nvSpPr>
        <p:spPr>
          <a:xfrm>
            <a:off x="145753" y="2327980"/>
            <a:ext cx="5088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a:t>
            </a:r>
            <a:endParaRPr sz="1800">
              <a:solidFill>
                <a:schemeClr val="dk1"/>
              </a:solidFill>
            </a:endParaRPr>
          </a:p>
        </p:txBody>
      </p:sp>
      <p:sp>
        <p:nvSpPr>
          <p:cNvPr id="370" name="Google Shape;370;p33"/>
          <p:cNvSpPr txBox="1"/>
          <p:nvPr/>
        </p:nvSpPr>
        <p:spPr>
          <a:xfrm>
            <a:off x="590953" y="2308180"/>
            <a:ext cx="6916200" cy="4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It has Gaussian increments:                                       , where  </a:t>
            </a:r>
            <a:endParaRPr sz="1800">
              <a:solidFill>
                <a:schemeClr val="dk1"/>
              </a:solidFill>
            </a:endParaRPr>
          </a:p>
        </p:txBody>
      </p:sp>
      <p:sp>
        <p:nvSpPr>
          <p:cNvPr id="371" name="Google Shape;371;p33"/>
          <p:cNvSpPr txBox="1"/>
          <p:nvPr/>
        </p:nvSpPr>
        <p:spPr>
          <a:xfrm>
            <a:off x="622753" y="1380602"/>
            <a:ext cx="1995300" cy="36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At time zero:</a:t>
            </a:r>
            <a:endParaRPr sz="1800">
              <a:solidFill>
                <a:schemeClr val="dk1"/>
              </a:solidFill>
            </a:endParaRPr>
          </a:p>
        </p:txBody>
      </p:sp>
      <p:sp>
        <p:nvSpPr>
          <p:cNvPr id="372" name="Google Shape;372;p33"/>
          <p:cNvSpPr txBox="1"/>
          <p:nvPr/>
        </p:nvSpPr>
        <p:spPr>
          <a:xfrm>
            <a:off x="590953" y="2681755"/>
            <a:ext cx="7345500" cy="31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i.e., the variance increases linearly in time.</a:t>
            </a:r>
            <a:endParaRPr sz="1800">
              <a:solidFill>
                <a:schemeClr val="dk1"/>
              </a:solidFill>
            </a:endParaRPr>
          </a:p>
        </p:txBody>
      </p:sp>
      <p:sp>
        <p:nvSpPr>
          <p:cNvPr id="373" name="Google Shape;373;p33"/>
          <p:cNvSpPr txBox="1"/>
          <p:nvPr/>
        </p:nvSpPr>
        <p:spPr>
          <a:xfrm>
            <a:off x="186853" y="3601305"/>
            <a:ext cx="4359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3)</a:t>
            </a:r>
            <a:endParaRPr sz="1800">
              <a:solidFill>
                <a:schemeClr val="dk1"/>
              </a:solidFill>
            </a:endParaRPr>
          </a:p>
        </p:txBody>
      </p:sp>
      <p:sp>
        <p:nvSpPr>
          <p:cNvPr id="374" name="Google Shape;374;p33"/>
          <p:cNvSpPr txBox="1"/>
          <p:nvPr/>
        </p:nvSpPr>
        <p:spPr>
          <a:xfrm>
            <a:off x="590953" y="3601305"/>
            <a:ext cx="8593800" cy="31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It has independent increments, i.e.:                                           are stochastically independent random variables (                            ).</a:t>
            </a:r>
            <a:endParaRPr sz="1800">
              <a:solidFill>
                <a:schemeClr val="dk1"/>
              </a:solidFill>
            </a:endParaRPr>
          </a:p>
        </p:txBody>
      </p:sp>
      <p:sp>
        <p:nvSpPr>
          <p:cNvPr id="375" name="Google Shape;375;p33"/>
          <p:cNvSpPr txBox="1"/>
          <p:nvPr/>
        </p:nvSpPr>
        <p:spPr>
          <a:xfrm>
            <a:off x="241153" y="4504875"/>
            <a:ext cx="8506200" cy="36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chemeClr val="dk1"/>
                </a:solidFill>
              </a:rPr>
              <a:t>Side note: Brownian motion is a </a:t>
            </a:r>
            <a:r>
              <a:rPr lang="en" sz="1800" b="1" i="1" u="sng">
                <a:solidFill>
                  <a:schemeClr val="dk1"/>
                </a:solidFill>
              </a:rPr>
              <a:t>Gaussian Process</a:t>
            </a:r>
            <a:r>
              <a:rPr lang="en" sz="1800" i="1">
                <a:solidFill>
                  <a:schemeClr val="dk1"/>
                </a:solidFill>
              </a:rPr>
              <a:t> with a specific type of kernel.</a:t>
            </a:r>
            <a:endParaRPr sz="1800" i="1">
              <a:solidFill>
                <a:schemeClr val="dk1"/>
              </a:solidFill>
            </a:endParaRPr>
          </a:p>
        </p:txBody>
      </p:sp>
      <p:pic>
        <p:nvPicPr>
          <p:cNvPr id="376" name="Google Shape;376;p33"/>
          <p:cNvPicPr preferRelativeResize="0"/>
          <p:nvPr/>
        </p:nvPicPr>
        <p:blipFill>
          <a:blip r:embed="rId5">
            <a:alphaModFix/>
          </a:blip>
          <a:stretch>
            <a:fillRect/>
          </a:stretch>
        </p:blipFill>
        <p:spPr>
          <a:xfrm>
            <a:off x="7626400" y="641273"/>
            <a:ext cx="1144985" cy="364800"/>
          </a:xfrm>
          <a:prstGeom prst="rect">
            <a:avLst/>
          </a:prstGeom>
          <a:noFill/>
          <a:ln>
            <a:noFill/>
          </a:ln>
        </p:spPr>
      </p:pic>
      <p:pic>
        <p:nvPicPr>
          <p:cNvPr id="377" name="Google Shape;377;p33"/>
          <p:cNvPicPr preferRelativeResize="0"/>
          <p:nvPr/>
        </p:nvPicPr>
        <p:blipFill>
          <a:blip r:embed="rId6">
            <a:alphaModFix/>
          </a:blip>
          <a:stretch>
            <a:fillRect/>
          </a:stretch>
        </p:blipFill>
        <p:spPr>
          <a:xfrm>
            <a:off x="4279672" y="3700566"/>
            <a:ext cx="2582801" cy="242525"/>
          </a:xfrm>
          <a:prstGeom prst="rect">
            <a:avLst/>
          </a:prstGeom>
          <a:noFill/>
          <a:ln>
            <a:noFill/>
          </a:ln>
        </p:spPr>
      </p:pic>
      <p:pic>
        <p:nvPicPr>
          <p:cNvPr id="378" name="Google Shape;378;p33"/>
          <p:cNvPicPr preferRelativeResize="0"/>
          <p:nvPr/>
        </p:nvPicPr>
        <p:blipFill>
          <a:blip r:embed="rId7">
            <a:alphaModFix/>
          </a:blip>
          <a:stretch>
            <a:fillRect/>
          </a:stretch>
        </p:blipFill>
        <p:spPr>
          <a:xfrm>
            <a:off x="3943257" y="4030600"/>
            <a:ext cx="1691053" cy="183325"/>
          </a:xfrm>
          <a:prstGeom prst="rect">
            <a:avLst/>
          </a:prstGeom>
          <a:noFill/>
          <a:ln>
            <a:noFill/>
          </a:ln>
        </p:spPr>
      </p:pic>
      <p:pic>
        <p:nvPicPr>
          <p:cNvPr id="379" name="Google Shape;379;p33"/>
          <p:cNvPicPr preferRelativeResize="0"/>
          <p:nvPr/>
        </p:nvPicPr>
        <p:blipFill>
          <a:blip r:embed="rId8">
            <a:alphaModFix/>
          </a:blip>
          <a:stretch>
            <a:fillRect/>
          </a:stretch>
        </p:blipFill>
        <p:spPr>
          <a:xfrm>
            <a:off x="3568313" y="2422963"/>
            <a:ext cx="2372225" cy="222539"/>
          </a:xfrm>
          <a:prstGeom prst="rect">
            <a:avLst/>
          </a:prstGeom>
          <a:noFill/>
          <a:ln>
            <a:noFill/>
          </a:ln>
        </p:spPr>
      </p:pic>
      <p:pic>
        <p:nvPicPr>
          <p:cNvPr id="380" name="Google Shape;380;p33"/>
          <p:cNvPicPr preferRelativeResize="0"/>
          <p:nvPr/>
        </p:nvPicPr>
        <p:blipFill>
          <a:blip r:embed="rId9">
            <a:alphaModFix/>
          </a:blip>
          <a:stretch>
            <a:fillRect/>
          </a:stretch>
        </p:blipFill>
        <p:spPr>
          <a:xfrm>
            <a:off x="6820531" y="2421363"/>
            <a:ext cx="1031520" cy="242525"/>
          </a:xfrm>
          <a:prstGeom prst="rect">
            <a:avLst/>
          </a:prstGeom>
          <a:noFill/>
          <a:ln>
            <a:noFill/>
          </a:ln>
        </p:spPr>
      </p:pic>
      <p:sp>
        <p:nvSpPr>
          <p:cNvPr id="381" name="Google Shape;381;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4"/>
          <p:cNvSpPr txBox="1"/>
          <p:nvPr/>
        </p:nvSpPr>
        <p:spPr>
          <a:xfrm>
            <a:off x="293475" y="555200"/>
            <a:ext cx="8949000" cy="5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Note that the Brownian motion is </a:t>
            </a:r>
            <a:r>
              <a:rPr lang="en" sz="1500" b="1">
                <a:solidFill>
                  <a:schemeClr val="dk1"/>
                </a:solidFill>
              </a:rPr>
              <a:t>continuous</a:t>
            </a:r>
            <a:r>
              <a:rPr lang="en" sz="1500">
                <a:solidFill>
                  <a:schemeClr val="dk1"/>
                </a:solidFill>
              </a:rPr>
              <a:t>, </a:t>
            </a:r>
            <a:r>
              <a:rPr lang="en" sz="1500" b="1">
                <a:solidFill>
                  <a:schemeClr val="dk1"/>
                </a:solidFill>
              </a:rPr>
              <a:t>but </a:t>
            </a:r>
            <a:r>
              <a:rPr lang="en" sz="1500">
                <a:solidFill>
                  <a:schemeClr val="dk1"/>
                </a:solidFill>
              </a:rPr>
              <a:t>almost surely </a:t>
            </a:r>
            <a:r>
              <a:rPr lang="en" sz="1500" b="1">
                <a:solidFill>
                  <a:schemeClr val="dk1"/>
                </a:solidFill>
              </a:rPr>
              <a:t>nowhere differentiable</a:t>
            </a:r>
            <a:r>
              <a:rPr lang="en" sz="1500">
                <a:solidFill>
                  <a:schemeClr val="dk1"/>
                </a:solidFill>
              </a:rPr>
              <a:t>.</a:t>
            </a:r>
            <a:endParaRPr sz="1500">
              <a:solidFill>
                <a:schemeClr val="dk1"/>
              </a:solidFill>
            </a:endParaRPr>
          </a:p>
          <a:p>
            <a:pPr marL="0" lvl="0" indent="0" algn="l" rtl="0">
              <a:spcBef>
                <a:spcPts val="0"/>
              </a:spcBef>
              <a:spcAft>
                <a:spcPts val="0"/>
              </a:spcAft>
              <a:buNone/>
            </a:pPr>
            <a:r>
              <a:rPr lang="en" sz="1500">
                <a:solidFill>
                  <a:schemeClr val="dk1"/>
                </a:solidFill>
              </a:rPr>
              <a:t>Hence, we need to describe the differential equations in a form that </a:t>
            </a:r>
            <a:r>
              <a:rPr lang="en" sz="1500" b="1" i="1">
                <a:solidFill>
                  <a:schemeClr val="dk1"/>
                </a:solidFill>
              </a:rPr>
              <a:t>does not require derivatives.</a:t>
            </a:r>
            <a:endParaRPr sz="1500" b="1" i="1">
              <a:solidFill>
                <a:schemeClr val="dk1"/>
              </a:solidFill>
            </a:endParaRPr>
          </a:p>
        </p:txBody>
      </p:sp>
      <p:sp>
        <p:nvSpPr>
          <p:cNvPr id="387" name="Google Shape;387;p34"/>
          <p:cNvSpPr txBox="1"/>
          <p:nvPr/>
        </p:nvSpPr>
        <p:spPr>
          <a:xfrm>
            <a:off x="2808975" y="0"/>
            <a:ext cx="32673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Why SDEs Use Increments </a:t>
            </a:r>
            <a:endParaRPr sz="1800" b="1">
              <a:solidFill>
                <a:schemeClr val="dk1"/>
              </a:solidFill>
            </a:endParaRPr>
          </a:p>
        </p:txBody>
      </p:sp>
      <p:pic>
        <p:nvPicPr>
          <p:cNvPr id="388" name="Google Shape;388;p34"/>
          <p:cNvPicPr preferRelativeResize="0"/>
          <p:nvPr/>
        </p:nvPicPr>
        <p:blipFill>
          <a:blip r:embed="rId3">
            <a:alphaModFix/>
          </a:blip>
          <a:stretch>
            <a:fillRect/>
          </a:stretch>
        </p:blipFill>
        <p:spPr>
          <a:xfrm>
            <a:off x="5276726" y="1498575"/>
            <a:ext cx="3060600" cy="728725"/>
          </a:xfrm>
          <a:prstGeom prst="rect">
            <a:avLst/>
          </a:prstGeom>
          <a:noFill/>
          <a:ln>
            <a:noFill/>
          </a:ln>
        </p:spPr>
      </p:pic>
      <p:sp>
        <p:nvSpPr>
          <p:cNvPr id="389" name="Google Shape;389;p34"/>
          <p:cNvSpPr txBox="1"/>
          <p:nvPr/>
        </p:nvSpPr>
        <p:spPr>
          <a:xfrm>
            <a:off x="293474" y="1642960"/>
            <a:ext cx="5302500" cy="39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For simplicity, let’s consider the ODE case again:</a:t>
            </a:r>
            <a:endParaRPr sz="1600">
              <a:solidFill>
                <a:schemeClr val="dk1"/>
              </a:solidFill>
            </a:endParaRPr>
          </a:p>
        </p:txBody>
      </p:sp>
      <p:sp>
        <p:nvSpPr>
          <p:cNvPr id="390" name="Google Shape;390;p34"/>
          <p:cNvSpPr txBox="1"/>
          <p:nvPr/>
        </p:nvSpPr>
        <p:spPr>
          <a:xfrm>
            <a:off x="309674" y="2712235"/>
            <a:ext cx="39114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Mathematically this is equivalent to:</a:t>
            </a:r>
            <a:endParaRPr sz="1600">
              <a:solidFill>
                <a:schemeClr val="dk1"/>
              </a:solidFill>
            </a:endParaRPr>
          </a:p>
        </p:txBody>
      </p:sp>
      <p:pic>
        <p:nvPicPr>
          <p:cNvPr id="391" name="Google Shape;391;p34"/>
          <p:cNvPicPr preferRelativeResize="0"/>
          <p:nvPr/>
        </p:nvPicPr>
        <p:blipFill>
          <a:blip r:embed="rId4">
            <a:alphaModFix/>
          </a:blip>
          <a:stretch>
            <a:fillRect/>
          </a:stretch>
        </p:blipFill>
        <p:spPr>
          <a:xfrm>
            <a:off x="5215716" y="2571738"/>
            <a:ext cx="3857441" cy="810800"/>
          </a:xfrm>
          <a:prstGeom prst="rect">
            <a:avLst/>
          </a:prstGeom>
          <a:noFill/>
          <a:ln>
            <a:noFill/>
          </a:ln>
        </p:spPr>
      </p:pic>
      <p:cxnSp>
        <p:nvCxnSpPr>
          <p:cNvPr id="392" name="Google Shape;392;p34"/>
          <p:cNvCxnSpPr/>
          <p:nvPr/>
        </p:nvCxnSpPr>
        <p:spPr>
          <a:xfrm rot="10800000">
            <a:off x="1107437" y="3392052"/>
            <a:ext cx="3900" cy="1381800"/>
          </a:xfrm>
          <a:prstGeom prst="straightConnector1">
            <a:avLst/>
          </a:prstGeom>
          <a:noFill/>
          <a:ln w="9525" cap="flat" cmpd="sng">
            <a:solidFill>
              <a:schemeClr val="dk1"/>
            </a:solidFill>
            <a:prstDash val="solid"/>
            <a:round/>
            <a:headEnd type="none" w="med" len="med"/>
            <a:tailEnd type="triangle" w="med" len="med"/>
          </a:ln>
        </p:spPr>
      </p:cxnSp>
      <p:cxnSp>
        <p:nvCxnSpPr>
          <p:cNvPr id="393" name="Google Shape;393;p34"/>
          <p:cNvCxnSpPr/>
          <p:nvPr/>
        </p:nvCxnSpPr>
        <p:spPr>
          <a:xfrm>
            <a:off x="1111337" y="4773852"/>
            <a:ext cx="1888200" cy="0"/>
          </a:xfrm>
          <a:prstGeom prst="straightConnector1">
            <a:avLst/>
          </a:prstGeom>
          <a:noFill/>
          <a:ln w="9525" cap="flat" cmpd="sng">
            <a:solidFill>
              <a:schemeClr val="dk1"/>
            </a:solidFill>
            <a:prstDash val="solid"/>
            <a:round/>
            <a:headEnd type="none" w="med" len="med"/>
            <a:tailEnd type="triangle" w="med" len="med"/>
          </a:ln>
        </p:spPr>
      </p:cxnSp>
      <p:sp>
        <p:nvSpPr>
          <p:cNvPr id="394" name="Google Shape;394;p34"/>
          <p:cNvSpPr/>
          <p:nvPr/>
        </p:nvSpPr>
        <p:spPr>
          <a:xfrm>
            <a:off x="1119287" y="3533677"/>
            <a:ext cx="1248100" cy="1240150"/>
          </a:xfrm>
          <a:custGeom>
            <a:avLst/>
            <a:gdLst/>
            <a:ahLst/>
            <a:cxnLst/>
            <a:rect l="l" t="t" r="r" b="b"/>
            <a:pathLst>
              <a:path w="49924" h="49606" extrusionOk="0">
                <a:moveTo>
                  <a:pt x="0" y="49606"/>
                </a:moveTo>
                <a:cubicBezTo>
                  <a:pt x="3498" y="48334"/>
                  <a:pt x="15263" y="44784"/>
                  <a:pt x="20987" y="41975"/>
                </a:cubicBezTo>
                <a:cubicBezTo>
                  <a:pt x="26711" y="39166"/>
                  <a:pt x="30474" y="36622"/>
                  <a:pt x="34343" y="32753"/>
                </a:cubicBezTo>
                <a:cubicBezTo>
                  <a:pt x="38212" y="28884"/>
                  <a:pt x="41762" y="23478"/>
                  <a:pt x="44200" y="18761"/>
                </a:cubicBezTo>
                <a:cubicBezTo>
                  <a:pt x="46638" y="14044"/>
                  <a:pt x="48016" y="7579"/>
                  <a:pt x="48970" y="4452"/>
                </a:cubicBezTo>
                <a:cubicBezTo>
                  <a:pt x="49924" y="1325"/>
                  <a:pt x="49765" y="742"/>
                  <a:pt x="49924" y="0"/>
                </a:cubicBezTo>
              </a:path>
            </a:pathLst>
          </a:custGeom>
          <a:noFill/>
          <a:ln w="9525" cap="flat" cmpd="sng">
            <a:solidFill>
              <a:schemeClr val="dk2"/>
            </a:solidFill>
            <a:prstDash val="solid"/>
            <a:round/>
            <a:headEnd type="none" w="med" len="med"/>
            <a:tailEnd type="none" w="med" len="med"/>
          </a:ln>
        </p:spPr>
        <p:txBody>
          <a:bodyPr/>
          <a:lstStyle/>
          <a:p>
            <a:endParaRPr lang="en-US"/>
          </a:p>
        </p:txBody>
      </p:sp>
      <p:cxnSp>
        <p:nvCxnSpPr>
          <p:cNvPr id="395" name="Google Shape;395;p34"/>
          <p:cNvCxnSpPr/>
          <p:nvPr/>
        </p:nvCxnSpPr>
        <p:spPr>
          <a:xfrm>
            <a:off x="1643987" y="4583077"/>
            <a:ext cx="516600" cy="0"/>
          </a:xfrm>
          <a:prstGeom prst="straightConnector1">
            <a:avLst/>
          </a:prstGeom>
          <a:noFill/>
          <a:ln w="9525" cap="flat" cmpd="sng">
            <a:solidFill>
              <a:schemeClr val="accent1"/>
            </a:solidFill>
            <a:prstDash val="solid"/>
            <a:round/>
            <a:headEnd type="none" w="med" len="med"/>
            <a:tailEnd type="none" w="med" len="med"/>
          </a:ln>
        </p:spPr>
      </p:cxnSp>
      <p:cxnSp>
        <p:nvCxnSpPr>
          <p:cNvPr id="396" name="Google Shape;396;p34"/>
          <p:cNvCxnSpPr/>
          <p:nvPr/>
        </p:nvCxnSpPr>
        <p:spPr>
          <a:xfrm>
            <a:off x="2160687" y="4114002"/>
            <a:ext cx="0" cy="469200"/>
          </a:xfrm>
          <a:prstGeom prst="straightConnector1">
            <a:avLst/>
          </a:prstGeom>
          <a:noFill/>
          <a:ln w="9525" cap="flat" cmpd="sng">
            <a:solidFill>
              <a:schemeClr val="accent1"/>
            </a:solidFill>
            <a:prstDash val="solid"/>
            <a:round/>
            <a:headEnd type="none" w="med" len="med"/>
            <a:tailEnd type="none" w="med" len="med"/>
          </a:ln>
        </p:spPr>
      </p:cxnSp>
      <p:pic>
        <p:nvPicPr>
          <p:cNvPr id="397" name="Google Shape;397;p34"/>
          <p:cNvPicPr preferRelativeResize="0"/>
          <p:nvPr/>
        </p:nvPicPr>
        <p:blipFill>
          <a:blip r:embed="rId5">
            <a:alphaModFix/>
          </a:blip>
          <a:stretch>
            <a:fillRect/>
          </a:stretch>
        </p:blipFill>
        <p:spPr>
          <a:xfrm>
            <a:off x="1604226" y="4807023"/>
            <a:ext cx="104450" cy="174900"/>
          </a:xfrm>
          <a:prstGeom prst="rect">
            <a:avLst/>
          </a:prstGeom>
          <a:noFill/>
          <a:ln>
            <a:noFill/>
          </a:ln>
        </p:spPr>
      </p:pic>
      <p:pic>
        <p:nvPicPr>
          <p:cNvPr id="398" name="Google Shape;398;p34"/>
          <p:cNvPicPr preferRelativeResize="0"/>
          <p:nvPr/>
        </p:nvPicPr>
        <p:blipFill>
          <a:blip r:embed="rId6">
            <a:alphaModFix/>
          </a:blip>
          <a:stretch>
            <a:fillRect/>
          </a:stretch>
        </p:blipFill>
        <p:spPr>
          <a:xfrm>
            <a:off x="1921351" y="4791123"/>
            <a:ext cx="516600" cy="209595"/>
          </a:xfrm>
          <a:prstGeom prst="rect">
            <a:avLst/>
          </a:prstGeom>
          <a:noFill/>
          <a:ln>
            <a:noFill/>
          </a:ln>
        </p:spPr>
      </p:pic>
      <p:cxnSp>
        <p:nvCxnSpPr>
          <p:cNvPr id="399" name="Google Shape;399;p34"/>
          <p:cNvCxnSpPr/>
          <p:nvPr/>
        </p:nvCxnSpPr>
        <p:spPr>
          <a:xfrm>
            <a:off x="1659876" y="4591148"/>
            <a:ext cx="0" cy="174900"/>
          </a:xfrm>
          <a:prstGeom prst="straightConnector1">
            <a:avLst/>
          </a:prstGeom>
          <a:noFill/>
          <a:ln w="9525" cap="flat" cmpd="sng">
            <a:solidFill>
              <a:schemeClr val="dk2"/>
            </a:solidFill>
            <a:prstDash val="dot"/>
            <a:round/>
            <a:headEnd type="none" w="med" len="med"/>
            <a:tailEnd type="none" w="med" len="med"/>
          </a:ln>
        </p:spPr>
      </p:cxnSp>
      <p:cxnSp>
        <p:nvCxnSpPr>
          <p:cNvPr id="400" name="Google Shape;400;p34"/>
          <p:cNvCxnSpPr/>
          <p:nvPr/>
        </p:nvCxnSpPr>
        <p:spPr>
          <a:xfrm>
            <a:off x="2160676" y="4590973"/>
            <a:ext cx="0" cy="174900"/>
          </a:xfrm>
          <a:prstGeom prst="straightConnector1">
            <a:avLst/>
          </a:prstGeom>
          <a:noFill/>
          <a:ln w="9525" cap="flat" cmpd="sng">
            <a:solidFill>
              <a:schemeClr val="dk2"/>
            </a:solidFill>
            <a:prstDash val="dot"/>
            <a:round/>
            <a:headEnd type="none" w="med" len="med"/>
            <a:tailEnd type="none" w="med" len="med"/>
          </a:ln>
        </p:spPr>
      </p:cxnSp>
      <p:pic>
        <p:nvPicPr>
          <p:cNvPr id="401" name="Google Shape;401;p34"/>
          <p:cNvPicPr preferRelativeResize="0"/>
          <p:nvPr/>
        </p:nvPicPr>
        <p:blipFill>
          <a:blip r:embed="rId7">
            <a:alphaModFix/>
          </a:blip>
          <a:stretch>
            <a:fillRect/>
          </a:stretch>
        </p:blipFill>
        <p:spPr>
          <a:xfrm>
            <a:off x="828829" y="4460448"/>
            <a:ext cx="242796" cy="209600"/>
          </a:xfrm>
          <a:prstGeom prst="rect">
            <a:avLst/>
          </a:prstGeom>
          <a:noFill/>
          <a:ln>
            <a:noFill/>
          </a:ln>
        </p:spPr>
      </p:pic>
      <p:pic>
        <p:nvPicPr>
          <p:cNvPr id="402" name="Google Shape;402;p34"/>
          <p:cNvPicPr preferRelativeResize="0"/>
          <p:nvPr/>
        </p:nvPicPr>
        <p:blipFill>
          <a:blip r:embed="rId8">
            <a:alphaModFix/>
          </a:blip>
          <a:stretch>
            <a:fillRect/>
          </a:stretch>
        </p:blipFill>
        <p:spPr>
          <a:xfrm>
            <a:off x="640950" y="3978151"/>
            <a:ext cx="431284" cy="209600"/>
          </a:xfrm>
          <a:prstGeom prst="rect">
            <a:avLst/>
          </a:prstGeom>
          <a:noFill/>
          <a:ln>
            <a:noFill/>
          </a:ln>
        </p:spPr>
      </p:pic>
      <p:cxnSp>
        <p:nvCxnSpPr>
          <p:cNvPr id="403" name="Google Shape;403;p34"/>
          <p:cNvCxnSpPr/>
          <p:nvPr/>
        </p:nvCxnSpPr>
        <p:spPr>
          <a:xfrm>
            <a:off x="1131227" y="4112898"/>
            <a:ext cx="1005600" cy="0"/>
          </a:xfrm>
          <a:prstGeom prst="straightConnector1">
            <a:avLst/>
          </a:prstGeom>
          <a:noFill/>
          <a:ln w="9525" cap="flat" cmpd="sng">
            <a:solidFill>
              <a:schemeClr val="dk2"/>
            </a:solidFill>
            <a:prstDash val="dot"/>
            <a:round/>
            <a:headEnd type="none" w="med" len="med"/>
            <a:tailEnd type="none" w="med" len="med"/>
          </a:ln>
        </p:spPr>
      </p:cxnSp>
      <p:cxnSp>
        <p:nvCxnSpPr>
          <p:cNvPr id="404" name="Google Shape;404;p34"/>
          <p:cNvCxnSpPr/>
          <p:nvPr/>
        </p:nvCxnSpPr>
        <p:spPr>
          <a:xfrm>
            <a:off x="1131227" y="4582610"/>
            <a:ext cx="516600" cy="0"/>
          </a:xfrm>
          <a:prstGeom prst="straightConnector1">
            <a:avLst/>
          </a:prstGeom>
          <a:noFill/>
          <a:ln w="9525" cap="flat" cmpd="sng">
            <a:solidFill>
              <a:schemeClr val="dk2"/>
            </a:solidFill>
            <a:prstDash val="dot"/>
            <a:round/>
            <a:headEnd type="none" w="med" len="med"/>
            <a:tailEnd type="none" w="med" len="med"/>
          </a:ln>
        </p:spPr>
      </p:cxnSp>
      <p:sp>
        <p:nvSpPr>
          <p:cNvPr id="405" name="Google Shape;405;p34"/>
          <p:cNvSpPr txBox="1"/>
          <p:nvPr/>
        </p:nvSpPr>
        <p:spPr>
          <a:xfrm>
            <a:off x="2505802" y="4716697"/>
            <a:ext cx="707700" cy="2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i="1">
                <a:solidFill>
                  <a:schemeClr val="dk1"/>
                </a:solidFill>
              </a:rPr>
              <a:t>Time t</a:t>
            </a:r>
            <a:endParaRPr sz="1100" i="1">
              <a:solidFill>
                <a:schemeClr val="dk1"/>
              </a:solidFill>
            </a:endParaRPr>
          </a:p>
        </p:txBody>
      </p:sp>
      <p:sp>
        <p:nvSpPr>
          <p:cNvPr id="406" name="Google Shape;406;p34"/>
          <p:cNvSpPr txBox="1"/>
          <p:nvPr/>
        </p:nvSpPr>
        <p:spPr>
          <a:xfrm>
            <a:off x="304776" y="3258973"/>
            <a:ext cx="814500" cy="24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i="1">
                <a:solidFill>
                  <a:schemeClr val="dk1"/>
                </a:solidFill>
              </a:rPr>
              <a:t>Position X</a:t>
            </a:r>
            <a:endParaRPr sz="1100" i="1">
              <a:solidFill>
                <a:schemeClr val="dk1"/>
              </a:solidFill>
            </a:endParaRPr>
          </a:p>
        </p:txBody>
      </p:sp>
      <p:cxnSp>
        <p:nvCxnSpPr>
          <p:cNvPr id="407" name="Google Shape;407;p34"/>
          <p:cNvCxnSpPr/>
          <p:nvPr/>
        </p:nvCxnSpPr>
        <p:spPr>
          <a:xfrm flipH="1">
            <a:off x="1035792" y="4219500"/>
            <a:ext cx="1367400" cy="675600"/>
          </a:xfrm>
          <a:prstGeom prst="straightConnector1">
            <a:avLst/>
          </a:prstGeom>
          <a:noFill/>
          <a:ln w="9525" cap="flat" cmpd="sng">
            <a:solidFill>
              <a:srgbClr val="FF0000"/>
            </a:solidFill>
            <a:prstDash val="solid"/>
            <a:round/>
            <a:headEnd type="none" w="med" len="med"/>
            <a:tailEnd type="none" w="med" len="med"/>
          </a:ln>
        </p:spPr>
      </p:cxnSp>
      <p:sp>
        <p:nvSpPr>
          <p:cNvPr id="408" name="Google Shape;408;p34"/>
          <p:cNvSpPr/>
          <p:nvPr/>
        </p:nvSpPr>
        <p:spPr>
          <a:xfrm>
            <a:off x="1631966" y="4554700"/>
            <a:ext cx="55800" cy="558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 name="Google Shape;409;p34"/>
          <p:cNvSpPr/>
          <p:nvPr/>
        </p:nvSpPr>
        <p:spPr>
          <a:xfrm rot="-5400000" flipH="1">
            <a:off x="4329616" y="2173000"/>
            <a:ext cx="1227000" cy="3680700"/>
          </a:xfrm>
          <a:prstGeom prst="bentUpArrow">
            <a:avLst>
              <a:gd name="adj1" fmla="val 8350"/>
              <a:gd name="adj2" fmla="val 11654"/>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 name="Google Shape;410;p34"/>
          <p:cNvSpPr txBox="1"/>
          <p:nvPr/>
        </p:nvSpPr>
        <p:spPr>
          <a:xfrm>
            <a:off x="3450816" y="4033000"/>
            <a:ext cx="3267300" cy="24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i.e., take the tangent at time </a:t>
            </a:r>
            <a:r>
              <a:rPr lang="en" sz="1800" i="1">
                <a:solidFill>
                  <a:schemeClr val="dk1"/>
                </a:solidFill>
              </a:rPr>
              <a:t>t</a:t>
            </a:r>
            <a:endParaRPr sz="1800" i="1">
              <a:solidFill>
                <a:schemeClr val="dk1"/>
              </a:solidFill>
            </a:endParaRPr>
          </a:p>
        </p:txBody>
      </p:sp>
      <p:sp>
        <p:nvSpPr>
          <p:cNvPr id="411" name="Google Shape;411;p34"/>
          <p:cNvSpPr/>
          <p:nvPr/>
        </p:nvSpPr>
        <p:spPr>
          <a:xfrm>
            <a:off x="5569001" y="2355197"/>
            <a:ext cx="104400" cy="325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 name="Google Shape;412;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5"/>
          <p:cNvSpPr txBox="1"/>
          <p:nvPr/>
        </p:nvSpPr>
        <p:spPr>
          <a:xfrm>
            <a:off x="2598700" y="0"/>
            <a:ext cx="3847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Finite-Difference Form of an ODE </a:t>
            </a:r>
            <a:endParaRPr sz="1800" b="1">
              <a:solidFill>
                <a:schemeClr val="dk1"/>
              </a:solidFill>
            </a:endParaRPr>
          </a:p>
        </p:txBody>
      </p:sp>
      <p:sp>
        <p:nvSpPr>
          <p:cNvPr id="418" name="Google Shape;418;p35"/>
          <p:cNvSpPr txBox="1"/>
          <p:nvPr/>
        </p:nvSpPr>
        <p:spPr>
          <a:xfrm>
            <a:off x="215625" y="588238"/>
            <a:ext cx="8760600" cy="100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For a finite step size </a:t>
            </a:r>
            <a:r>
              <a:rPr lang="en" sz="1800" i="1">
                <a:solidFill>
                  <a:schemeClr val="dk1"/>
                </a:solidFill>
              </a:rPr>
              <a:t>h</a:t>
            </a:r>
            <a:r>
              <a:rPr lang="en" sz="1800">
                <a:solidFill>
                  <a:schemeClr val="dk1"/>
                </a:solidFill>
              </a:rPr>
              <a:t>, we can write the finite-difference approximation with a remainder term </a:t>
            </a:r>
            <a:r>
              <a:rPr lang="en" sz="1800" i="1">
                <a:solidFill>
                  <a:schemeClr val="dk1"/>
                </a:solidFill>
              </a:rPr>
              <a:t>R</a:t>
            </a:r>
            <a:r>
              <a:rPr lang="en" sz="1800" i="1" baseline="-25000">
                <a:solidFill>
                  <a:schemeClr val="dk1"/>
                </a:solidFill>
              </a:rPr>
              <a:t>t</a:t>
            </a:r>
            <a:r>
              <a:rPr lang="en" sz="1800" i="1">
                <a:solidFill>
                  <a:schemeClr val="dk1"/>
                </a:solidFill>
              </a:rPr>
              <a:t>(h)</a:t>
            </a:r>
            <a:r>
              <a:rPr lang="en" sz="1800">
                <a:solidFill>
                  <a:schemeClr val="dk1"/>
                </a:solidFill>
              </a:rPr>
              <a:t>, where </a:t>
            </a:r>
            <a:r>
              <a:rPr lang="en" sz="1800" i="1">
                <a:solidFill>
                  <a:schemeClr val="dk1"/>
                </a:solidFill>
              </a:rPr>
              <a:t>R</a:t>
            </a:r>
            <a:r>
              <a:rPr lang="en" sz="1800" i="1" baseline="-25000">
                <a:solidFill>
                  <a:schemeClr val="dk1"/>
                </a:solidFill>
              </a:rPr>
              <a:t>t</a:t>
            </a:r>
            <a:r>
              <a:rPr lang="en" sz="1800" i="1">
                <a:solidFill>
                  <a:schemeClr val="dk1"/>
                </a:solidFill>
              </a:rPr>
              <a:t>(h)</a:t>
            </a:r>
            <a:r>
              <a:rPr lang="en" sz="1800">
                <a:solidFill>
                  <a:schemeClr val="dk1"/>
                </a:solidFill>
              </a:rPr>
              <a:t> → 0 as </a:t>
            </a:r>
            <a:r>
              <a:rPr lang="en" sz="1800" i="1">
                <a:solidFill>
                  <a:schemeClr val="dk1"/>
                </a:solidFill>
              </a:rPr>
              <a:t>h</a:t>
            </a:r>
            <a:r>
              <a:rPr lang="en" sz="1800">
                <a:solidFill>
                  <a:schemeClr val="dk1"/>
                </a:solidFill>
              </a:rPr>
              <a:t> → 0. Hence, removing previous </a:t>
            </a:r>
            <a:r>
              <a:rPr lang="en" sz="1800" b="1" i="1">
                <a:solidFill>
                  <a:schemeClr val="dk1"/>
                </a:solidFill>
              </a:rPr>
              <a:t>lim</a:t>
            </a:r>
            <a:r>
              <a:rPr lang="en" sz="1800">
                <a:solidFill>
                  <a:schemeClr val="dk1"/>
                </a:solidFill>
              </a:rPr>
              <a:t>, we get the following equivalent equation: </a:t>
            </a:r>
            <a:endParaRPr sz="1800">
              <a:solidFill>
                <a:schemeClr val="dk1"/>
              </a:solidFill>
            </a:endParaRPr>
          </a:p>
        </p:txBody>
      </p:sp>
      <p:pic>
        <p:nvPicPr>
          <p:cNvPr id="419" name="Google Shape;419;p35"/>
          <p:cNvPicPr preferRelativeResize="0"/>
          <p:nvPr/>
        </p:nvPicPr>
        <p:blipFill>
          <a:blip r:embed="rId3">
            <a:alphaModFix/>
          </a:blip>
          <a:stretch>
            <a:fillRect/>
          </a:stretch>
        </p:blipFill>
        <p:spPr>
          <a:xfrm>
            <a:off x="1612963" y="1750075"/>
            <a:ext cx="5075572" cy="767075"/>
          </a:xfrm>
          <a:prstGeom prst="rect">
            <a:avLst/>
          </a:prstGeom>
          <a:noFill/>
          <a:ln>
            <a:noFill/>
          </a:ln>
        </p:spPr>
      </p:pic>
      <p:sp>
        <p:nvSpPr>
          <p:cNvPr id="420" name="Google Shape;420;p35"/>
          <p:cNvSpPr/>
          <p:nvPr/>
        </p:nvSpPr>
        <p:spPr>
          <a:xfrm rot="-5400000">
            <a:off x="6132323" y="1945038"/>
            <a:ext cx="94800" cy="11448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 name="Google Shape;421;p35"/>
          <p:cNvSpPr txBox="1"/>
          <p:nvPr/>
        </p:nvSpPr>
        <p:spPr>
          <a:xfrm>
            <a:off x="5575526" y="2462088"/>
            <a:ext cx="13356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error term</a:t>
            </a:r>
            <a:endParaRPr sz="1800">
              <a:solidFill>
                <a:schemeClr val="dk1"/>
              </a:solidFill>
            </a:endParaRPr>
          </a:p>
        </p:txBody>
      </p:sp>
      <p:sp>
        <p:nvSpPr>
          <p:cNvPr id="422" name="Google Shape;422;p35"/>
          <p:cNvSpPr txBox="1"/>
          <p:nvPr/>
        </p:nvSpPr>
        <p:spPr>
          <a:xfrm>
            <a:off x="215613" y="3099700"/>
            <a:ext cx="3545700" cy="2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Multiply both sides by </a:t>
            </a:r>
            <a:r>
              <a:rPr lang="en" sz="1800" i="1">
                <a:solidFill>
                  <a:schemeClr val="dk1"/>
                </a:solidFill>
              </a:rPr>
              <a:t>h →</a:t>
            </a:r>
            <a:endParaRPr sz="1800" i="1">
              <a:solidFill>
                <a:schemeClr val="dk1"/>
              </a:solidFill>
            </a:endParaRPr>
          </a:p>
        </p:txBody>
      </p:sp>
      <p:pic>
        <p:nvPicPr>
          <p:cNvPr id="423" name="Google Shape;423;p35"/>
          <p:cNvPicPr preferRelativeResize="0"/>
          <p:nvPr/>
        </p:nvPicPr>
        <p:blipFill>
          <a:blip r:embed="rId4">
            <a:alphaModFix/>
          </a:blip>
          <a:stretch>
            <a:fillRect/>
          </a:stretch>
        </p:blipFill>
        <p:spPr>
          <a:xfrm>
            <a:off x="3259088" y="3180550"/>
            <a:ext cx="4826800" cy="379875"/>
          </a:xfrm>
          <a:prstGeom prst="rect">
            <a:avLst/>
          </a:prstGeom>
          <a:noFill/>
          <a:ln>
            <a:noFill/>
          </a:ln>
        </p:spPr>
      </p:pic>
      <p:sp>
        <p:nvSpPr>
          <p:cNvPr id="424" name="Google Shape;424;p35"/>
          <p:cNvSpPr txBox="1"/>
          <p:nvPr/>
        </p:nvSpPr>
        <p:spPr>
          <a:xfrm>
            <a:off x="215625" y="4138550"/>
            <a:ext cx="2706300" cy="2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Add       to both sides </a:t>
            </a:r>
            <a:r>
              <a:rPr lang="en" sz="1800" i="1">
                <a:solidFill>
                  <a:schemeClr val="dk1"/>
                </a:solidFill>
              </a:rPr>
              <a:t>→</a:t>
            </a:r>
            <a:endParaRPr sz="1800" i="1">
              <a:solidFill>
                <a:schemeClr val="dk1"/>
              </a:solidFill>
            </a:endParaRPr>
          </a:p>
        </p:txBody>
      </p:sp>
      <p:pic>
        <p:nvPicPr>
          <p:cNvPr id="425" name="Google Shape;425;p35"/>
          <p:cNvPicPr preferRelativeResize="0"/>
          <p:nvPr/>
        </p:nvPicPr>
        <p:blipFill>
          <a:blip r:embed="rId5">
            <a:alphaModFix/>
          </a:blip>
          <a:stretch>
            <a:fillRect/>
          </a:stretch>
        </p:blipFill>
        <p:spPr>
          <a:xfrm>
            <a:off x="807375" y="4256125"/>
            <a:ext cx="268120" cy="222600"/>
          </a:xfrm>
          <a:prstGeom prst="rect">
            <a:avLst/>
          </a:prstGeom>
          <a:noFill/>
          <a:ln>
            <a:noFill/>
          </a:ln>
        </p:spPr>
      </p:pic>
      <p:pic>
        <p:nvPicPr>
          <p:cNvPr id="426" name="Google Shape;426;p35"/>
          <p:cNvPicPr preferRelativeResize="0"/>
          <p:nvPr/>
        </p:nvPicPr>
        <p:blipFill>
          <a:blip r:embed="rId6">
            <a:alphaModFix/>
          </a:blip>
          <a:stretch>
            <a:fillRect/>
          </a:stretch>
        </p:blipFill>
        <p:spPr>
          <a:xfrm>
            <a:off x="3260850" y="4256125"/>
            <a:ext cx="4826774" cy="383600"/>
          </a:xfrm>
          <a:prstGeom prst="rect">
            <a:avLst/>
          </a:prstGeom>
          <a:noFill/>
          <a:ln>
            <a:noFill/>
          </a:ln>
        </p:spPr>
      </p:pic>
      <p:pic>
        <p:nvPicPr>
          <p:cNvPr id="427" name="Google Shape;427;p35"/>
          <p:cNvPicPr preferRelativeResize="0"/>
          <p:nvPr/>
        </p:nvPicPr>
        <p:blipFill>
          <a:blip r:embed="rId7">
            <a:alphaModFix/>
          </a:blip>
          <a:stretch>
            <a:fillRect/>
          </a:stretch>
        </p:blipFill>
        <p:spPr>
          <a:xfrm>
            <a:off x="8208300" y="4172625"/>
            <a:ext cx="512570" cy="467100"/>
          </a:xfrm>
          <a:prstGeom prst="rect">
            <a:avLst/>
          </a:prstGeom>
          <a:noFill/>
          <a:ln>
            <a:noFill/>
          </a:ln>
        </p:spPr>
      </p:pic>
      <p:sp>
        <p:nvSpPr>
          <p:cNvPr id="428" name="Google Shape;428;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pic>
        <p:nvPicPr>
          <p:cNvPr id="429" name="Google Shape;429;p35"/>
          <p:cNvPicPr preferRelativeResize="0"/>
          <p:nvPr/>
        </p:nvPicPr>
        <p:blipFill>
          <a:blip r:embed="rId8">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6"/>
          <p:cNvSpPr txBox="1"/>
          <p:nvPr/>
        </p:nvSpPr>
        <p:spPr>
          <a:xfrm>
            <a:off x="2242550" y="0"/>
            <a:ext cx="49839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From ODE Increments to SDE Increments </a:t>
            </a:r>
            <a:endParaRPr sz="1800" b="1">
              <a:solidFill>
                <a:schemeClr val="dk1"/>
              </a:solidFill>
            </a:endParaRPr>
          </a:p>
        </p:txBody>
      </p:sp>
      <p:sp>
        <p:nvSpPr>
          <p:cNvPr id="435" name="Google Shape;435;p36"/>
          <p:cNvSpPr txBox="1"/>
          <p:nvPr/>
        </p:nvSpPr>
        <p:spPr>
          <a:xfrm>
            <a:off x="223000" y="633325"/>
            <a:ext cx="85572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Transitioning to the SDE case, the        equation will be similar here, but we would have to add the stochastic increment coming from the brownian / diffusion noise.</a:t>
            </a:r>
            <a:endParaRPr sz="1800">
              <a:solidFill>
                <a:schemeClr val="dk1"/>
              </a:solidFill>
            </a:endParaRPr>
          </a:p>
        </p:txBody>
      </p:sp>
      <p:pic>
        <p:nvPicPr>
          <p:cNvPr id="436" name="Google Shape;436;p36"/>
          <p:cNvPicPr preferRelativeResize="0"/>
          <p:nvPr/>
        </p:nvPicPr>
        <p:blipFill>
          <a:blip r:embed="rId3">
            <a:alphaModFix/>
          </a:blip>
          <a:stretch>
            <a:fillRect/>
          </a:stretch>
        </p:blipFill>
        <p:spPr>
          <a:xfrm>
            <a:off x="2642656" y="1499936"/>
            <a:ext cx="4866845" cy="500700"/>
          </a:xfrm>
          <a:prstGeom prst="rect">
            <a:avLst/>
          </a:prstGeom>
          <a:noFill/>
          <a:ln>
            <a:noFill/>
          </a:ln>
        </p:spPr>
      </p:pic>
      <p:pic>
        <p:nvPicPr>
          <p:cNvPr id="437" name="Google Shape;437;p36"/>
          <p:cNvPicPr preferRelativeResize="0"/>
          <p:nvPr/>
        </p:nvPicPr>
        <p:blipFill>
          <a:blip r:embed="rId4">
            <a:alphaModFix/>
          </a:blip>
          <a:stretch>
            <a:fillRect/>
          </a:stretch>
        </p:blipFill>
        <p:spPr>
          <a:xfrm>
            <a:off x="3845501" y="665125"/>
            <a:ext cx="401300" cy="365700"/>
          </a:xfrm>
          <a:prstGeom prst="rect">
            <a:avLst/>
          </a:prstGeom>
          <a:noFill/>
          <a:ln>
            <a:noFill/>
          </a:ln>
        </p:spPr>
      </p:pic>
      <p:sp>
        <p:nvSpPr>
          <p:cNvPr id="438" name="Google Shape;438;p36"/>
          <p:cNvSpPr/>
          <p:nvPr/>
        </p:nvSpPr>
        <p:spPr>
          <a:xfrm rot="-5400000" flipH="1">
            <a:off x="5872500" y="2001279"/>
            <a:ext cx="119100" cy="19464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 name="Google Shape;439;p36"/>
          <p:cNvSpPr/>
          <p:nvPr/>
        </p:nvSpPr>
        <p:spPr>
          <a:xfrm>
            <a:off x="7052375" y="2074216"/>
            <a:ext cx="103200" cy="576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40" name="Google Shape;440;p36"/>
          <p:cNvPicPr preferRelativeResize="0"/>
          <p:nvPr/>
        </p:nvPicPr>
        <p:blipFill>
          <a:blip r:embed="rId4">
            <a:alphaModFix/>
          </a:blip>
          <a:stretch>
            <a:fillRect/>
          </a:stretch>
        </p:blipFill>
        <p:spPr>
          <a:xfrm>
            <a:off x="3856372" y="3351998"/>
            <a:ext cx="401300" cy="365695"/>
          </a:xfrm>
          <a:prstGeom prst="rect">
            <a:avLst/>
          </a:prstGeom>
          <a:noFill/>
          <a:ln>
            <a:noFill/>
          </a:ln>
        </p:spPr>
      </p:pic>
      <p:pic>
        <p:nvPicPr>
          <p:cNvPr id="441" name="Google Shape;441;p36"/>
          <p:cNvPicPr preferRelativeResize="0"/>
          <p:nvPr/>
        </p:nvPicPr>
        <p:blipFill>
          <a:blip r:embed="rId5">
            <a:alphaModFix/>
          </a:blip>
          <a:stretch>
            <a:fillRect/>
          </a:stretch>
        </p:blipFill>
        <p:spPr>
          <a:xfrm>
            <a:off x="352450" y="2724088"/>
            <a:ext cx="8332149" cy="429300"/>
          </a:xfrm>
          <a:prstGeom prst="rect">
            <a:avLst/>
          </a:prstGeom>
          <a:noFill/>
          <a:ln>
            <a:noFill/>
          </a:ln>
        </p:spPr>
      </p:pic>
      <p:sp>
        <p:nvSpPr>
          <p:cNvPr id="442" name="Google Shape;442;p36"/>
          <p:cNvSpPr/>
          <p:nvPr/>
        </p:nvSpPr>
        <p:spPr>
          <a:xfrm rot="-5400000">
            <a:off x="3605975" y="1348750"/>
            <a:ext cx="135300" cy="39192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 name="Google Shape;443;p36"/>
          <p:cNvSpPr txBox="1"/>
          <p:nvPr/>
        </p:nvSpPr>
        <p:spPr>
          <a:xfrm>
            <a:off x="2844175" y="3312400"/>
            <a:ext cx="10917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same as</a:t>
            </a:r>
            <a:endParaRPr sz="1800">
              <a:solidFill>
                <a:schemeClr val="dk1"/>
              </a:solidFill>
            </a:endParaRPr>
          </a:p>
        </p:txBody>
      </p:sp>
      <p:sp>
        <p:nvSpPr>
          <p:cNvPr id="444" name="Google Shape;444;p36"/>
          <p:cNvSpPr/>
          <p:nvPr/>
        </p:nvSpPr>
        <p:spPr>
          <a:xfrm>
            <a:off x="6682625" y="1491900"/>
            <a:ext cx="842700" cy="500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 name="Google Shape;445;p36"/>
          <p:cNvSpPr/>
          <p:nvPr/>
        </p:nvSpPr>
        <p:spPr>
          <a:xfrm>
            <a:off x="6501150" y="2724125"/>
            <a:ext cx="2183400" cy="429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Google Shape;446;p36"/>
          <p:cNvSpPr txBox="1"/>
          <p:nvPr/>
        </p:nvSpPr>
        <p:spPr>
          <a:xfrm>
            <a:off x="153225" y="3829125"/>
            <a:ext cx="8990700" cy="36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Because the Brownian increment is stochastic, convergence is commonly measured in mean square:                                                 </a:t>
            </a:r>
            <a:endParaRPr sz="1500">
              <a:solidFill>
                <a:schemeClr val="dk1"/>
              </a:solidFill>
            </a:endParaRPr>
          </a:p>
          <a:p>
            <a:pPr marL="0" lvl="0" indent="0" algn="l" rtl="0">
              <a:spcBef>
                <a:spcPts val="0"/>
              </a:spcBef>
              <a:spcAft>
                <a:spcPts val="0"/>
              </a:spcAft>
              <a:buNone/>
            </a:pPr>
            <a:r>
              <a:rPr lang="en" sz="1500">
                <a:solidFill>
                  <a:schemeClr val="dk1"/>
                </a:solidFill>
              </a:rPr>
              <a:t>                                       instead of simply:                       , as we had in the ODE case.</a:t>
            </a:r>
            <a:endParaRPr sz="1500">
              <a:solidFill>
                <a:schemeClr val="dk1"/>
              </a:solidFill>
            </a:endParaRPr>
          </a:p>
        </p:txBody>
      </p:sp>
      <p:pic>
        <p:nvPicPr>
          <p:cNvPr id="447" name="Google Shape;447;p36"/>
          <p:cNvPicPr preferRelativeResize="0"/>
          <p:nvPr/>
        </p:nvPicPr>
        <p:blipFill>
          <a:blip r:embed="rId6">
            <a:alphaModFix/>
          </a:blip>
          <a:stretch>
            <a:fillRect/>
          </a:stretch>
        </p:blipFill>
        <p:spPr>
          <a:xfrm>
            <a:off x="223000" y="4128975"/>
            <a:ext cx="2019551" cy="365700"/>
          </a:xfrm>
          <a:prstGeom prst="rect">
            <a:avLst/>
          </a:prstGeom>
          <a:noFill/>
          <a:ln>
            <a:noFill/>
          </a:ln>
        </p:spPr>
      </p:pic>
      <p:pic>
        <p:nvPicPr>
          <p:cNvPr id="448" name="Google Shape;448;p36"/>
          <p:cNvPicPr preferRelativeResize="0"/>
          <p:nvPr/>
        </p:nvPicPr>
        <p:blipFill>
          <a:blip r:embed="rId7">
            <a:alphaModFix/>
          </a:blip>
          <a:stretch>
            <a:fillRect/>
          </a:stretch>
        </p:blipFill>
        <p:spPr>
          <a:xfrm>
            <a:off x="3856364" y="4160251"/>
            <a:ext cx="1091700" cy="303142"/>
          </a:xfrm>
          <a:prstGeom prst="rect">
            <a:avLst/>
          </a:prstGeom>
          <a:noFill/>
          <a:ln>
            <a:noFill/>
          </a:ln>
        </p:spPr>
      </p:pic>
      <p:sp>
        <p:nvSpPr>
          <p:cNvPr id="449" name="Google Shape;449;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pic>
        <p:nvPicPr>
          <p:cNvPr id="450" name="Google Shape;450;p36"/>
          <p:cNvPicPr preferRelativeResize="0"/>
          <p:nvPr/>
        </p:nvPicPr>
        <p:blipFill>
          <a:blip r:embed="rId8">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7"/>
          <p:cNvSpPr txBox="1"/>
          <p:nvPr/>
        </p:nvSpPr>
        <p:spPr>
          <a:xfrm>
            <a:off x="53963" y="3474643"/>
            <a:ext cx="7985100" cy="37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So, if                         , then </a:t>
            </a:r>
            <a:endParaRPr sz="1800">
              <a:solidFill>
                <a:schemeClr val="dk1"/>
              </a:solidFill>
            </a:endParaRPr>
          </a:p>
        </p:txBody>
      </p:sp>
      <p:pic>
        <p:nvPicPr>
          <p:cNvPr id="456" name="Google Shape;456;p37"/>
          <p:cNvPicPr preferRelativeResize="0"/>
          <p:nvPr/>
        </p:nvPicPr>
        <p:blipFill>
          <a:blip r:embed="rId3">
            <a:alphaModFix/>
          </a:blip>
          <a:stretch>
            <a:fillRect/>
          </a:stretch>
        </p:blipFill>
        <p:spPr>
          <a:xfrm>
            <a:off x="1757250" y="785525"/>
            <a:ext cx="5089250" cy="517300"/>
          </a:xfrm>
          <a:prstGeom prst="rect">
            <a:avLst/>
          </a:prstGeom>
          <a:noFill/>
          <a:ln>
            <a:noFill/>
          </a:ln>
        </p:spPr>
      </p:pic>
      <p:sp>
        <p:nvSpPr>
          <p:cNvPr id="457" name="Google Shape;457;p37"/>
          <p:cNvSpPr txBox="1"/>
          <p:nvPr/>
        </p:nvSpPr>
        <p:spPr>
          <a:xfrm>
            <a:off x="844150" y="1447970"/>
            <a:ext cx="6831900" cy="49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To sample from this        is to sample from this</a:t>
            </a:r>
            <a:endParaRPr sz="1800">
              <a:solidFill>
                <a:schemeClr val="dk1"/>
              </a:solidFill>
            </a:endParaRPr>
          </a:p>
        </p:txBody>
      </p:sp>
      <p:sp>
        <p:nvSpPr>
          <p:cNvPr id="458" name="Google Shape;458;p37"/>
          <p:cNvSpPr/>
          <p:nvPr/>
        </p:nvSpPr>
        <p:spPr>
          <a:xfrm>
            <a:off x="3023275" y="1320400"/>
            <a:ext cx="284700" cy="4074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 name="Google Shape;459;p37"/>
          <p:cNvSpPr/>
          <p:nvPr/>
        </p:nvSpPr>
        <p:spPr>
          <a:xfrm>
            <a:off x="5698350" y="1335225"/>
            <a:ext cx="284700" cy="4074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 name="Google Shape;460;p37"/>
          <p:cNvSpPr txBox="1"/>
          <p:nvPr/>
        </p:nvSpPr>
        <p:spPr>
          <a:xfrm>
            <a:off x="62893" y="1979131"/>
            <a:ext cx="7028100" cy="40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However, we make use of a trick in statistics where sampling from </a:t>
            </a:r>
            <a:endParaRPr sz="1800">
              <a:solidFill>
                <a:schemeClr val="dk1"/>
              </a:solidFill>
            </a:endParaRPr>
          </a:p>
        </p:txBody>
      </p:sp>
      <p:pic>
        <p:nvPicPr>
          <p:cNvPr id="461" name="Google Shape;461;p37"/>
          <p:cNvPicPr preferRelativeResize="0"/>
          <p:nvPr/>
        </p:nvPicPr>
        <p:blipFill>
          <a:blip r:embed="rId4">
            <a:alphaModFix/>
          </a:blip>
          <a:stretch>
            <a:fillRect/>
          </a:stretch>
        </p:blipFill>
        <p:spPr>
          <a:xfrm>
            <a:off x="6880243" y="2014768"/>
            <a:ext cx="1413225" cy="336175"/>
          </a:xfrm>
          <a:prstGeom prst="rect">
            <a:avLst/>
          </a:prstGeom>
          <a:noFill/>
          <a:ln>
            <a:noFill/>
          </a:ln>
        </p:spPr>
      </p:pic>
      <p:sp>
        <p:nvSpPr>
          <p:cNvPr id="462" name="Google Shape;462;p37"/>
          <p:cNvSpPr txBox="1"/>
          <p:nvPr/>
        </p:nvSpPr>
        <p:spPr>
          <a:xfrm>
            <a:off x="62900" y="2449050"/>
            <a:ext cx="7191000" cy="29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is equivalent to sampling from a </a:t>
            </a:r>
            <a:r>
              <a:rPr lang="en" sz="1800" b="1" i="1">
                <a:solidFill>
                  <a:schemeClr val="dk1"/>
                </a:solidFill>
              </a:rPr>
              <a:t>Standard Normal Distribution</a:t>
            </a:r>
            <a:r>
              <a:rPr lang="en" sz="1800">
                <a:solidFill>
                  <a:schemeClr val="dk1"/>
                </a:solidFill>
              </a:rPr>
              <a:t>, i.e.  </a:t>
            </a:r>
            <a:endParaRPr sz="1800">
              <a:solidFill>
                <a:schemeClr val="dk1"/>
              </a:solidFill>
            </a:endParaRPr>
          </a:p>
        </p:txBody>
      </p:sp>
      <p:pic>
        <p:nvPicPr>
          <p:cNvPr id="463" name="Google Shape;463;p37"/>
          <p:cNvPicPr preferRelativeResize="0"/>
          <p:nvPr/>
        </p:nvPicPr>
        <p:blipFill>
          <a:blip r:embed="rId5">
            <a:alphaModFix/>
          </a:blip>
          <a:stretch>
            <a:fillRect/>
          </a:stretch>
        </p:blipFill>
        <p:spPr>
          <a:xfrm>
            <a:off x="7056643" y="2492039"/>
            <a:ext cx="1468875" cy="336175"/>
          </a:xfrm>
          <a:prstGeom prst="rect">
            <a:avLst/>
          </a:prstGeom>
          <a:noFill/>
          <a:ln>
            <a:noFill/>
          </a:ln>
        </p:spPr>
      </p:pic>
      <p:sp>
        <p:nvSpPr>
          <p:cNvPr id="464" name="Google Shape;464;p37"/>
          <p:cNvSpPr txBox="1"/>
          <p:nvPr/>
        </p:nvSpPr>
        <p:spPr>
          <a:xfrm>
            <a:off x="62893" y="2969301"/>
            <a:ext cx="89397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and then scaling epsilon to               will ensure we’re following                                                                 </a:t>
            </a:r>
            <a:endParaRPr sz="1800">
              <a:solidFill>
                <a:schemeClr val="dk1"/>
              </a:solidFill>
            </a:endParaRPr>
          </a:p>
        </p:txBody>
      </p:sp>
      <p:pic>
        <p:nvPicPr>
          <p:cNvPr id="465" name="Google Shape;465;p37"/>
          <p:cNvPicPr preferRelativeResize="0"/>
          <p:nvPr/>
        </p:nvPicPr>
        <p:blipFill>
          <a:blip r:embed="rId6">
            <a:alphaModFix/>
          </a:blip>
          <a:stretch>
            <a:fillRect/>
          </a:stretch>
        </p:blipFill>
        <p:spPr>
          <a:xfrm>
            <a:off x="2920242" y="2969313"/>
            <a:ext cx="799050" cy="374250"/>
          </a:xfrm>
          <a:prstGeom prst="rect">
            <a:avLst/>
          </a:prstGeom>
          <a:noFill/>
          <a:ln>
            <a:noFill/>
          </a:ln>
        </p:spPr>
      </p:pic>
      <p:pic>
        <p:nvPicPr>
          <p:cNvPr id="466" name="Google Shape;466;p37"/>
          <p:cNvPicPr preferRelativeResize="0"/>
          <p:nvPr/>
        </p:nvPicPr>
        <p:blipFill>
          <a:blip r:embed="rId4">
            <a:alphaModFix/>
          </a:blip>
          <a:stretch>
            <a:fillRect/>
          </a:stretch>
        </p:blipFill>
        <p:spPr>
          <a:xfrm>
            <a:off x="6549618" y="3036713"/>
            <a:ext cx="1413225" cy="336175"/>
          </a:xfrm>
          <a:prstGeom prst="rect">
            <a:avLst/>
          </a:prstGeom>
          <a:noFill/>
          <a:ln>
            <a:noFill/>
          </a:ln>
        </p:spPr>
      </p:pic>
      <p:sp>
        <p:nvSpPr>
          <p:cNvPr id="467" name="Google Shape;467;p37"/>
          <p:cNvSpPr txBox="1"/>
          <p:nvPr/>
        </p:nvSpPr>
        <p:spPr>
          <a:xfrm>
            <a:off x="3121450" y="0"/>
            <a:ext cx="29694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Reparameterization Trick</a:t>
            </a:r>
            <a:endParaRPr sz="1800" b="1">
              <a:solidFill>
                <a:schemeClr val="dk1"/>
              </a:solidFill>
            </a:endParaRPr>
          </a:p>
        </p:txBody>
      </p:sp>
      <p:sp>
        <p:nvSpPr>
          <p:cNvPr id="468" name="Google Shape;468;p37"/>
          <p:cNvSpPr txBox="1"/>
          <p:nvPr/>
        </p:nvSpPr>
        <p:spPr>
          <a:xfrm>
            <a:off x="39330" y="4483471"/>
            <a:ext cx="9009600" cy="29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i="1">
                <a:solidFill>
                  <a:schemeClr val="dk1"/>
                </a:solidFill>
              </a:rPr>
              <a:t>This is called the </a:t>
            </a:r>
            <a:r>
              <a:rPr lang="en" sz="1500" i="1" u="sng">
                <a:solidFill>
                  <a:schemeClr val="dk1"/>
                </a:solidFill>
              </a:rPr>
              <a:t>reparameterization trick</a:t>
            </a:r>
            <a:r>
              <a:rPr lang="en" sz="1500" i="1">
                <a:solidFill>
                  <a:schemeClr val="dk1"/>
                </a:solidFill>
              </a:rPr>
              <a:t> and is also famously used in Variational Autoencoders / VAEs</a:t>
            </a:r>
            <a:endParaRPr sz="1500" i="1">
              <a:solidFill>
                <a:schemeClr val="dk1"/>
              </a:solidFill>
            </a:endParaRPr>
          </a:p>
        </p:txBody>
      </p:sp>
      <p:pic>
        <p:nvPicPr>
          <p:cNvPr id="469" name="Google Shape;469;p37"/>
          <p:cNvPicPr preferRelativeResize="0"/>
          <p:nvPr/>
        </p:nvPicPr>
        <p:blipFill>
          <a:blip r:embed="rId5">
            <a:alphaModFix/>
          </a:blip>
          <a:stretch>
            <a:fillRect/>
          </a:stretch>
        </p:blipFill>
        <p:spPr>
          <a:xfrm>
            <a:off x="755243" y="3510268"/>
            <a:ext cx="1468875" cy="336175"/>
          </a:xfrm>
          <a:prstGeom prst="rect">
            <a:avLst/>
          </a:prstGeom>
          <a:noFill/>
          <a:ln>
            <a:noFill/>
          </a:ln>
        </p:spPr>
      </p:pic>
      <p:pic>
        <p:nvPicPr>
          <p:cNvPr id="470" name="Google Shape;470;p37"/>
          <p:cNvPicPr preferRelativeResize="0"/>
          <p:nvPr/>
        </p:nvPicPr>
        <p:blipFill>
          <a:blip r:embed="rId7">
            <a:alphaModFix/>
          </a:blip>
          <a:stretch>
            <a:fillRect/>
          </a:stretch>
        </p:blipFill>
        <p:spPr>
          <a:xfrm>
            <a:off x="2895676" y="3491869"/>
            <a:ext cx="2510092" cy="407400"/>
          </a:xfrm>
          <a:prstGeom prst="rect">
            <a:avLst/>
          </a:prstGeom>
          <a:noFill/>
          <a:ln>
            <a:noFill/>
          </a:ln>
        </p:spPr>
      </p:pic>
      <p:sp>
        <p:nvSpPr>
          <p:cNvPr id="471" name="Google Shape;471;p37"/>
          <p:cNvSpPr txBox="1"/>
          <p:nvPr/>
        </p:nvSpPr>
        <p:spPr>
          <a:xfrm>
            <a:off x="58176" y="4008067"/>
            <a:ext cx="7931100" cy="20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More generally, if we want     to follow                     , we can set it to </a:t>
            </a:r>
            <a:endParaRPr sz="1800">
              <a:solidFill>
                <a:schemeClr val="dk1"/>
              </a:solidFill>
            </a:endParaRPr>
          </a:p>
        </p:txBody>
      </p:sp>
      <p:pic>
        <p:nvPicPr>
          <p:cNvPr id="472" name="Google Shape;472;p37"/>
          <p:cNvPicPr preferRelativeResize="0"/>
          <p:nvPr/>
        </p:nvPicPr>
        <p:blipFill>
          <a:blip r:embed="rId8">
            <a:alphaModFix/>
          </a:blip>
          <a:stretch>
            <a:fillRect/>
          </a:stretch>
        </p:blipFill>
        <p:spPr>
          <a:xfrm>
            <a:off x="2861500" y="4096697"/>
            <a:ext cx="225550" cy="212122"/>
          </a:xfrm>
          <a:prstGeom prst="rect">
            <a:avLst/>
          </a:prstGeom>
          <a:noFill/>
          <a:ln>
            <a:noFill/>
          </a:ln>
        </p:spPr>
      </p:pic>
      <p:sp>
        <p:nvSpPr>
          <p:cNvPr id="473" name="Google Shape;473;p37"/>
          <p:cNvSpPr/>
          <p:nvPr/>
        </p:nvSpPr>
        <p:spPr>
          <a:xfrm>
            <a:off x="117775" y="3504275"/>
            <a:ext cx="5310300" cy="40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74" name="Google Shape;474;p37"/>
          <p:cNvPicPr preferRelativeResize="0"/>
          <p:nvPr/>
        </p:nvPicPr>
        <p:blipFill>
          <a:blip r:embed="rId9">
            <a:alphaModFix/>
          </a:blip>
          <a:stretch>
            <a:fillRect/>
          </a:stretch>
        </p:blipFill>
        <p:spPr>
          <a:xfrm>
            <a:off x="4012184" y="4046796"/>
            <a:ext cx="1289507" cy="299400"/>
          </a:xfrm>
          <a:prstGeom prst="rect">
            <a:avLst/>
          </a:prstGeom>
          <a:noFill/>
          <a:ln>
            <a:noFill/>
          </a:ln>
        </p:spPr>
      </p:pic>
      <p:pic>
        <p:nvPicPr>
          <p:cNvPr id="475" name="Google Shape;475;p37"/>
          <p:cNvPicPr preferRelativeResize="0"/>
          <p:nvPr/>
        </p:nvPicPr>
        <p:blipFill>
          <a:blip r:embed="rId10">
            <a:alphaModFix/>
          </a:blip>
          <a:stretch>
            <a:fillRect/>
          </a:stretch>
        </p:blipFill>
        <p:spPr>
          <a:xfrm>
            <a:off x="6946061" y="4076821"/>
            <a:ext cx="1690046" cy="239350"/>
          </a:xfrm>
          <a:prstGeom prst="rect">
            <a:avLst/>
          </a:prstGeom>
          <a:noFill/>
          <a:ln>
            <a:noFill/>
          </a:ln>
        </p:spPr>
      </p:pic>
      <p:sp>
        <p:nvSpPr>
          <p:cNvPr id="476" name="Google Shape;476;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8"/>
          <p:cNvSpPr txBox="1"/>
          <p:nvPr/>
        </p:nvSpPr>
        <p:spPr>
          <a:xfrm>
            <a:off x="2445315" y="0"/>
            <a:ext cx="4432500" cy="31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Euler–Maruyama Simulation of an SDE </a:t>
            </a:r>
            <a:endParaRPr sz="1800" b="1">
              <a:solidFill>
                <a:schemeClr val="dk1"/>
              </a:solidFill>
            </a:endParaRPr>
          </a:p>
        </p:txBody>
      </p:sp>
      <p:pic>
        <p:nvPicPr>
          <p:cNvPr id="482" name="Google Shape;482;p38"/>
          <p:cNvPicPr preferRelativeResize="0"/>
          <p:nvPr/>
        </p:nvPicPr>
        <p:blipFill>
          <a:blip r:embed="rId3">
            <a:alphaModFix/>
          </a:blip>
          <a:stretch>
            <a:fillRect/>
          </a:stretch>
        </p:blipFill>
        <p:spPr>
          <a:xfrm>
            <a:off x="186750" y="400150"/>
            <a:ext cx="6961014" cy="4561500"/>
          </a:xfrm>
          <a:prstGeom prst="rect">
            <a:avLst/>
          </a:prstGeom>
          <a:noFill/>
          <a:ln>
            <a:noFill/>
          </a:ln>
        </p:spPr>
      </p:pic>
      <p:sp>
        <p:nvSpPr>
          <p:cNvPr id="483" name="Google Shape;483;p38"/>
          <p:cNvSpPr/>
          <p:nvPr/>
        </p:nvSpPr>
        <p:spPr>
          <a:xfrm>
            <a:off x="4863751" y="2998750"/>
            <a:ext cx="682200" cy="40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 name="Google Shape;484;p38"/>
          <p:cNvSpPr txBox="1"/>
          <p:nvPr/>
        </p:nvSpPr>
        <p:spPr>
          <a:xfrm>
            <a:off x="5747175" y="2537400"/>
            <a:ext cx="3538500" cy="176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chemeClr val="dk1"/>
                </a:solidFill>
              </a:rPr>
              <a:t>Add additional noise with variance    , using our reparameterization trick, and moreover → scale it by the diffusion coefficient      as we’ve seen in the SDE equation. </a:t>
            </a:r>
            <a:endParaRPr sz="1800" i="1">
              <a:solidFill>
                <a:schemeClr val="dk1"/>
              </a:solidFill>
            </a:endParaRPr>
          </a:p>
        </p:txBody>
      </p:sp>
      <p:pic>
        <p:nvPicPr>
          <p:cNvPr id="485" name="Google Shape;485;p38"/>
          <p:cNvPicPr preferRelativeResize="0"/>
          <p:nvPr/>
        </p:nvPicPr>
        <p:blipFill>
          <a:blip r:embed="rId4">
            <a:alphaModFix/>
          </a:blip>
          <a:stretch>
            <a:fillRect/>
          </a:stretch>
        </p:blipFill>
        <p:spPr>
          <a:xfrm>
            <a:off x="7840085" y="3747300"/>
            <a:ext cx="275089" cy="230725"/>
          </a:xfrm>
          <a:prstGeom prst="rect">
            <a:avLst/>
          </a:prstGeom>
          <a:noFill/>
          <a:ln>
            <a:noFill/>
          </a:ln>
        </p:spPr>
      </p:pic>
      <p:pic>
        <p:nvPicPr>
          <p:cNvPr id="486" name="Google Shape;486;p38"/>
          <p:cNvPicPr preferRelativeResize="0"/>
          <p:nvPr/>
        </p:nvPicPr>
        <p:blipFill>
          <a:blip r:embed="rId5">
            <a:alphaModFix/>
          </a:blip>
          <a:stretch>
            <a:fillRect/>
          </a:stretch>
        </p:blipFill>
        <p:spPr>
          <a:xfrm>
            <a:off x="6755750" y="2897775"/>
            <a:ext cx="156725" cy="230718"/>
          </a:xfrm>
          <a:prstGeom prst="rect">
            <a:avLst/>
          </a:prstGeom>
          <a:noFill/>
          <a:ln>
            <a:noFill/>
          </a:ln>
        </p:spPr>
      </p:pic>
      <p:sp>
        <p:nvSpPr>
          <p:cNvPr id="487" name="Google Shape;487;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39"/>
          <p:cNvSpPr txBox="1"/>
          <p:nvPr/>
        </p:nvSpPr>
        <p:spPr>
          <a:xfrm>
            <a:off x="3106858" y="0"/>
            <a:ext cx="3115500" cy="42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Diffusion Model as an SDE </a:t>
            </a:r>
            <a:endParaRPr sz="1800" b="1">
              <a:solidFill>
                <a:schemeClr val="dk1"/>
              </a:solidFill>
            </a:endParaRPr>
          </a:p>
        </p:txBody>
      </p:sp>
      <p:sp>
        <p:nvSpPr>
          <p:cNvPr id="493" name="Google Shape;493;p39"/>
          <p:cNvSpPr txBox="1"/>
          <p:nvPr/>
        </p:nvSpPr>
        <p:spPr>
          <a:xfrm>
            <a:off x="692025" y="840600"/>
            <a:ext cx="8289600" cy="51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 diffusion model converts           to            via an SDE (instead of an ODE, like in the case of flow models) </a:t>
            </a:r>
            <a:endParaRPr sz="1800">
              <a:solidFill>
                <a:schemeClr val="dk1"/>
              </a:solidFill>
            </a:endParaRPr>
          </a:p>
        </p:txBody>
      </p:sp>
      <p:pic>
        <p:nvPicPr>
          <p:cNvPr id="494" name="Google Shape;494;p39"/>
          <p:cNvPicPr preferRelativeResize="0"/>
          <p:nvPr/>
        </p:nvPicPr>
        <p:blipFill>
          <a:blip r:embed="rId3">
            <a:alphaModFix/>
          </a:blip>
          <a:stretch>
            <a:fillRect/>
          </a:stretch>
        </p:blipFill>
        <p:spPr>
          <a:xfrm>
            <a:off x="3522725" y="909600"/>
            <a:ext cx="590950" cy="324750"/>
          </a:xfrm>
          <a:prstGeom prst="rect">
            <a:avLst/>
          </a:prstGeom>
          <a:noFill/>
          <a:ln>
            <a:noFill/>
          </a:ln>
        </p:spPr>
      </p:pic>
      <p:pic>
        <p:nvPicPr>
          <p:cNvPr id="495" name="Google Shape;495;p39"/>
          <p:cNvPicPr preferRelativeResize="0"/>
          <p:nvPr/>
        </p:nvPicPr>
        <p:blipFill>
          <a:blip r:embed="rId4">
            <a:alphaModFix/>
          </a:blip>
          <a:stretch>
            <a:fillRect/>
          </a:stretch>
        </p:blipFill>
        <p:spPr>
          <a:xfrm>
            <a:off x="4421900" y="933375"/>
            <a:ext cx="621300" cy="277200"/>
          </a:xfrm>
          <a:prstGeom prst="rect">
            <a:avLst/>
          </a:prstGeom>
          <a:noFill/>
          <a:ln>
            <a:noFill/>
          </a:ln>
        </p:spPr>
      </p:pic>
      <p:pic>
        <p:nvPicPr>
          <p:cNvPr id="496" name="Google Shape;496;p39"/>
          <p:cNvPicPr preferRelativeResize="0"/>
          <p:nvPr/>
        </p:nvPicPr>
        <p:blipFill>
          <a:blip r:embed="rId5">
            <a:alphaModFix/>
          </a:blip>
          <a:stretch>
            <a:fillRect/>
          </a:stretch>
        </p:blipFill>
        <p:spPr>
          <a:xfrm>
            <a:off x="5726116" y="1914288"/>
            <a:ext cx="1109496" cy="429300"/>
          </a:xfrm>
          <a:prstGeom prst="rect">
            <a:avLst/>
          </a:prstGeom>
          <a:noFill/>
          <a:ln>
            <a:noFill/>
          </a:ln>
        </p:spPr>
      </p:pic>
      <p:pic>
        <p:nvPicPr>
          <p:cNvPr id="497" name="Google Shape;497;p39"/>
          <p:cNvPicPr preferRelativeResize="0"/>
          <p:nvPr/>
        </p:nvPicPr>
        <p:blipFill>
          <a:blip r:embed="rId6">
            <a:alphaModFix/>
          </a:blip>
          <a:stretch>
            <a:fillRect/>
          </a:stretch>
        </p:blipFill>
        <p:spPr>
          <a:xfrm>
            <a:off x="2308388" y="1914288"/>
            <a:ext cx="901524" cy="429300"/>
          </a:xfrm>
          <a:prstGeom prst="rect">
            <a:avLst/>
          </a:prstGeom>
          <a:noFill/>
          <a:ln>
            <a:noFill/>
          </a:ln>
        </p:spPr>
      </p:pic>
      <p:sp>
        <p:nvSpPr>
          <p:cNvPr id="498" name="Google Shape;498;p39"/>
          <p:cNvSpPr/>
          <p:nvPr/>
        </p:nvSpPr>
        <p:spPr>
          <a:xfrm>
            <a:off x="3462863" y="1914288"/>
            <a:ext cx="1899000" cy="4293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SDE</a:t>
            </a:r>
            <a:endParaRPr/>
          </a:p>
        </p:txBody>
      </p:sp>
      <p:sp>
        <p:nvSpPr>
          <p:cNvPr id="499" name="Google Shape;499;p39"/>
          <p:cNvSpPr txBox="1"/>
          <p:nvPr/>
        </p:nvSpPr>
        <p:spPr>
          <a:xfrm>
            <a:off x="692025" y="2959475"/>
            <a:ext cx="7739700" cy="5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As before, we will have a neural network acting like the vector field:</a:t>
            </a:r>
            <a:endParaRPr sz="1800">
              <a:solidFill>
                <a:schemeClr val="dk1"/>
              </a:solidFill>
            </a:endParaRPr>
          </a:p>
        </p:txBody>
      </p:sp>
      <p:sp>
        <p:nvSpPr>
          <p:cNvPr id="500" name="Google Shape;500;p39"/>
          <p:cNvSpPr txBox="1"/>
          <p:nvPr/>
        </p:nvSpPr>
        <p:spPr>
          <a:xfrm>
            <a:off x="692025" y="4284600"/>
            <a:ext cx="7759500" cy="35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Unlike in the flow case, here we introduce the diffusion coefficient </a:t>
            </a:r>
            <a:endParaRPr sz="1800">
              <a:solidFill>
                <a:schemeClr val="dk1"/>
              </a:solidFill>
            </a:endParaRPr>
          </a:p>
        </p:txBody>
      </p:sp>
      <p:pic>
        <p:nvPicPr>
          <p:cNvPr id="501" name="Google Shape;501;p39"/>
          <p:cNvPicPr preferRelativeResize="0"/>
          <p:nvPr/>
        </p:nvPicPr>
        <p:blipFill>
          <a:blip r:embed="rId7">
            <a:alphaModFix/>
          </a:blip>
          <a:stretch>
            <a:fillRect/>
          </a:stretch>
        </p:blipFill>
        <p:spPr>
          <a:xfrm>
            <a:off x="7457285" y="4412075"/>
            <a:ext cx="275089" cy="230725"/>
          </a:xfrm>
          <a:prstGeom prst="rect">
            <a:avLst/>
          </a:prstGeom>
          <a:noFill/>
          <a:ln>
            <a:noFill/>
          </a:ln>
        </p:spPr>
      </p:pic>
      <p:pic>
        <p:nvPicPr>
          <p:cNvPr id="502" name="Google Shape;502;p39"/>
          <p:cNvPicPr preferRelativeResize="0"/>
          <p:nvPr/>
        </p:nvPicPr>
        <p:blipFill>
          <a:blip r:embed="rId8">
            <a:alphaModFix/>
          </a:blip>
          <a:stretch>
            <a:fillRect/>
          </a:stretch>
        </p:blipFill>
        <p:spPr>
          <a:xfrm>
            <a:off x="1732981" y="3524902"/>
            <a:ext cx="5657783" cy="567325"/>
          </a:xfrm>
          <a:prstGeom prst="rect">
            <a:avLst/>
          </a:prstGeom>
          <a:noFill/>
          <a:ln>
            <a:noFill/>
          </a:ln>
        </p:spPr>
      </p:pic>
      <p:sp>
        <p:nvSpPr>
          <p:cNvPr id="503" name="Google Shape;503;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0"/>
          <p:cNvSpPr txBox="1"/>
          <p:nvPr/>
        </p:nvSpPr>
        <p:spPr>
          <a:xfrm>
            <a:off x="2667375" y="0"/>
            <a:ext cx="37374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Role of the Diffusion Coefficient </a:t>
            </a:r>
            <a:endParaRPr sz="1800" b="1">
              <a:solidFill>
                <a:schemeClr val="dk1"/>
              </a:solidFill>
            </a:endParaRPr>
          </a:p>
        </p:txBody>
      </p:sp>
      <p:sp>
        <p:nvSpPr>
          <p:cNvPr id="509" name="Google Shape;509;p40"/>
          <p:cNvSpPr txBox="1"/>
          <p:nvPr/>
        </p:nvSpPr>
        <p:spPr>
          <a:xfrm>
            <a:off x="383696" y="623300"/>
            <a:ext cx="8197500" cy="76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Most of the time      is prescribed rather than learned. It may be constant           or follow a time-dependent schedule. </a:t>
            </a:r>
            <a:endParaRPr sz="1800">
              <a:solidFill>
                <a:schemeClr val="dk1"/>
              </a:solidFill>
            </a:endParaRPr>
          </a:p>
        </p:txBody>
      </p:sp>
      <p:pic>
        <p:nvPicPr>
          <p:cNvPr id="510" name="Google Shape;510;p40"/>
          <p:cNvPicPr preferRelativeResize="0"/>
          <p:nvPr/>
        </p:nvPicPr>
        <p:blipFill>
          <a:blip r:embed="rId3">
            <a:alphaModFix/>
          </a:blip>
          <a:stretch>
            <a:fillRect/>
          </a:stretch>
        </p:blipFill>
        <p:spPr>
          <a:xfrm>
            <a:off x="2167407" y="743650"/>
            <a:ext cx="275089" cy="230725"/>
          </a:xfrm>
          <a:prstGeom prst="rect">
            <a:avLst/>
          </a:prstGeom>
          <a:noFill/>
          <a:ln>
            <a:noFill/>
          </a:ln>
        </p:spPr>
      </p:pic>
      <p:pic>
        <p:nvPicPr>
          <p:cNvPr id="511" name="Google Shape;511;p40"/>
          <p:cNvPicPr preferRelativeResize="0"/>
          <p:nvPr/>
        </p:nvPicPr>
        <p:blipFill>
          <a:blip r:embed="rId4">
            <a:alphaModFix/>
          </a:blip>
          <a:stretch>
            <a:fillRect/>
          </a:stretch>
        </p:blipFill>
        <p:spPr>
          <a:xfrm>
            <a:off x="7836458" y="720413"/>
            <a:ext cx="912849" cy="277200"/>
          </a:xfrm>
          <a:prstGeom prst="rect">
            <a:avLst/>
          </a:prstGeom>
          <a:noFill/>
          <a:ln>
            <a:noFill/>
          </a:ln>
        </p:spPr>
      </p:pic>
      <p:pic>
        <p:nvPicPr>
          <p:cNvPr id="512" name="Google Shape;512;p40"/>
          <p:cNvPicPr preferRelativeResize="0"/>
          <p:nvPr/>
        </p:nvPicPr>
        <p:blipFill>
          <a:blip r:embed="rId5">
            <a:alphaModFix/>
          </a:blip>
          <a:stretch>
            <a:fillRect/>
          </a:stretch>
        </p:blipFill>
        <p:spPr>
          <a:xfrm>
            <a:off x="2373771" y="2849673"/>
            <a:ext cx="5884351" cy="721200"/>
          </a:xfrm>
          <a:prstGeom prst="rect">
            <a:avLst/>
          </a:prstGeom>
          <a:noFill/>
          <a:ln>
            <a:noFill/>
          </a:ln>
        </p:spPr>
      </p:pic>
      <p:sp>
        <p:nvSpPr>
          <p:cNvPr id="513" name="Google Shape;513;p40"/>
          <p:cNvSpPr txBox="1"/>
          <p:nvPr/>
        </p:nvSpPr>
        <p:spPr>
          <a:xfrm>
            <a:off x="344421" y="1888721"/>
            <a:ext cx="5526300" cy="34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As before, we initialize the model with </a:t>
            </a:r>
            <a:endParaRPr sz="1800">
              <a:solidFill>
                <a:schemeClr val="dk1"/>
              </a:solidFill>
            </a:endParaRPr>
          </a:p>
        </p:txBody>
      </p:sp>
      <p:pic>
        <p:nvPicPr>
          <p:cNvPr id="514" name="Google Shape;514;p40"/>
          <p:cNvPicPr preferRelativeResize="0"/>
          <p:nvPr/>
        </p:nvPicPr>
        <p:blipFill>
          <a:blip r:embed="rId6">
            <a:alphaModFix/>
          </a:blip>
          <a:stretch>
            <a:fillRect/>
          </a:stretch>
        </p:blipFill>
        <p:spPr>
          <a:xfrm>
            <a:off x="4619471" y="1930413"/>
            <a:ext cx="1491800" cy="374816"/>
          </a:xfrm>
          <a:prstGeom prst="rect">
            <a:avLst/>
          </a:prstGeom>
          <a:noFill/>
          <a:ln>
            <a:noFill/>
          </a:ln>
        </p:spPr>
      </p:pic>
      <p:sp>
        <p:nvSpPr>
          <p:cNvPr id="515" name="Google Shape;515;p40"/>
          <p:cNvSpPr txBox="1"/>
          <p:nvPr/>
        </p:nvSpPr>
        <p:spPr>
          <a:xfrm>
            <a:off x="344421" y="3042925"/>
            <a:ext cx="2208600" cy="39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And then follow</a:t>
            </a:r>
            <a:endParaRPr sz="1800">
              <a:solidFill>
                <a:schemeClr val="dk1"/>
              </a:solidFill>
            </a:endParaRPr>
          </a:p>
        </p:txBody>
      </p:sp>
      <p:sp>
        <p:nvSpPr>
          <p:cNvPr id="516" name="Google Shape;516;p40"/>
          <p:cNvSpPr txBox="1"/>
          <p:nvPr/>
        </p:nvSpPr>
        <p:spPr>
          <a:xfrm>
            <a:off x="344421" y="4288830"/>
            <a:ext cx="3553500" cy="49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3. Until we reach our goal → </a:t>
            </a:r>
            <a:endParaRPr sz="1800">
              <a:solidFill>
                <a:schemeClr val="dk1"/>
              </a:solidFill>
            </a:endParaRPr>
          </a:p>
        </p:txBody>
      </p:sp>
      <p:pic>
        <p:nvPicPr>
          <p:cNvPr id="517" name="Google Shape;517;p40"/>
          <p:cNvPicPr preferRelativeResize="0"/>
          <p:nvPr/>
        </p:nvPicPr>
        <p:blipFill>
          <a:blip r:embed="rId7">
            <a:alphaModFix/>
          </a:blip>
          <a:stretch>
            <a:fillRect/>
          </a:stretch>
        </p:blipFill>
        <p:spPr>
          <a:xfrm>
            <a:off x="3402009" y="4318680"/>
            <a:ext cx="1825823" cy="431100"/>
          </a:xfrm>
          <a:prstGeom prst="rect">
            <a:avLst/>
          </a:prstGeom>
          <a:noFill/>
          <a:ln>
            <a:noFill/>
          </a:ln>
        </p:spPr>
      </p:pic>
      <p:sp>
        <p:nvSpPr>
          <p:cNvPr id="518" name="Google Shape;518;p40"/>
          <p:cNvSpPr/>
          <p:nvPr/>
        </p:nvSpPr>
        <p:spPr>
          <a:xfrm>
            <a:off x="6965212" y="2881560"/>
            <a:ext cx="152100" cy="1767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 name="Google Shape;519;p40"/>
          <p:cNvSpPr txBox="1"/>
          <p:nvPr/>
        </p:nvSpPr>
        <p:spPr>
          <a:xfrm>
            <a:off x="5659625" y="2419213"/>
            <a:ext cx="2763300" cy="27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i="1">
                <a:solidFill>
                  <a:srgbClr val="FF0000"/>
                </a:solidFill>
              </a:rPr>
              <a:t>Note that if sigma is zero, we cancel this term completely and thus revert to the ODE / flow model case</a:t>
            </a:r>
            <a:endParaRPr sz="800" i="1">
              <a:solidFill>
                <a:srgbClr val="FF0000"/>
              </a:solidFill>
            </a:endParaRPr>
          </a:p>
        </p:txBody>
      </p:sp>
      <p:sp>
        <p:nvSpPr>
          <p:cNvPr id="520" name="Google Shape;520;p40"/>
          <p:cNvSpPr/>
          <p:nvPr/>
        </p:nvSpPr>
        <p:spPr>
          <a:xfrm>
            <a:off x="6975028" y="3538988"/>
            <a:ext cx="152100" cy="1767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 name="Google Shape;521;p40"/>
          <p:cNvSpPr txBox="1"/>
          <p:nvPr/>
        </p:nvSpPr>
        <p:spPr>
          <a:xfrm>
            <a:off x="5581100" y="3744500"/>
            <a:ext cx="3000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i="1">
                <a:solidFill>
                  <a:srgbClr val="0000FF"/>
                </a:solidFill>
              </a:rPr>
              <a:t>If sigma is on the larger side, then we will explore more. But if it’s too large, we might run into numerical instability issues.</a:t>
            </a:r>
            <a:endParaRPr sz="800" i="1">
              <a:solidFill>
                <a:srgbClr val="0000FF"/>
              </a:solidFill>
            </a:endParaRPr>
          </a:p>
        </p:txBody>
      </p:sp>
      <p:sp>
        <p:nvSpPr>
          <p:cNvPr id="522" name="Google Shape;52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41"/>
          <p:cNvSpPr txBox="1"/>
          <p:nvPr/>
        </p:nvSpPr>
        <p:spPr>
          <a:xfrm>
            <a:off x="2459235" y="0"/>
            <a:ext cx="4613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Brownian Motion and Markov Processes </a:t>
            </a:r>
            <a:endParaRPr sz="1800" b="1">
              <a:solidFill>
                <a:schemeClr val="dk1"/>
              </a:solidFill>
            </a:endParaRPr>
          </a:p>
        </p:txBody>
      </p:sp>
      <p:sp>
        <p:nvSpPr>
          <p:cNvPr id="528" name="Google Shape;528;p41"/>
          <p:cNvSpPr txBox="1"/>
          <p:nvPr/>
        </p:nvSpPr>
        <p:spPr>
          <a:xfrm>
            <a:off x="289575" y="858875"/>
            <a:ext cx="8643000" cy="33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If you come from a Gaussian Process machine learning background, the Brownian motion can be viewed as a </a:t>
            </a:r>
            <a:r>
              <a:rPr lang="en" sz="1800" i="1">
                <a:solidFill>
                  <a:schemeClr val="dk1"/>
                </a:solidFill>
              </a:rPr>
              <a:t>Gaussian Process</a:t>
            </a:r>
            <a:r>
              <a:rPr lang="en" sz="1800">
                <a:solidFill>
                  <a:schemeClr val="dk1"/>
                </a:solidFill>
              </a:rPr>
              <a:t> (GP), as mentioned in an earlier slide. We just use a specific type of </a:t>
            </a:r>
            <a:r>
              <a:rPr lang="en" sz="1800" i="1">
                <a:solidFill>
                  <a:schemeClr val="dk1"/>
                </a:solidFill>
              </a:rPr>
              <a:t>kernel </a:t>
            </a:r>
            <a:r>
              <a:rPr lang="en" sz="1800">
                <a:solidFill>
                  <a:schemeClr val="dk1"/>
                </a:solidFill>
              </a:rPr>
              <a:t>function, namely the </a:t>
            </a:r>
            <a:r>
              <a:rPr lang="en" sz="1800" i="1" u="sng">
                <a:solidFill>
                  <a:schemeClr val="dk1"/>
                </a:solidFill>
              </a:rPr>
              <a:t>Wiener Kernel</a:t>
            </a:r>
            <a:r>
              <a:rPr lang="en" sz="1800" i="1">
                <a:solidFill>
                  <a:schemeClr val="dk1"/>
                </a:solidFill>
              </a:rPr>
              <a:t>:</a:t>
            </a:r>
            <a:endParaRPr sz="1800" i="1">
              <a:solidFill>
                <a:schemeClr val="dk1"/>
              </a:solidFill>
            </a:endParaRPr>
          </a:p>
          <a:p>
            <a:pPr marL="0" lvl="0" indent="0" algn="l" rtl="0">
              <a:spcBef>
                <a:spcPts val="0"/>
              </a:spcBef>
              <a:spcAft>
                <a:spcPts val="0"/>
              </a:spcAft>
              <a:buNone/>
            </a:pPr>
            <a:endParaRPr sz="1800">
              <a:solidFill>
                <a:schemeClr val="dk1"/>
              </a:solidFill>
            </a:endParaRPr>
          </a:p>
        </p:txBody>
      </p:sp>
      <p:sp>
        <p:nvSpPr>
          <p:cNvPr id="529" name="Google Shape;529;p41"/>
          <p:cNvSpPr txBox="1"/>
          <p:nvPr/>
        </p:nvSpPr>
        <p:spPr>
          <a:xfrm>
            <a:off x="311850" y="2493200"/>
            <a:ext cx="8520300" cy="111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Similar to what </a:t>
            </a:r>
            <a:r>
              <a:rPr lang="en" sz="1800" i="1">
                <a:solidFill>
                  <a:schemeClr val="dk1"/>
                </a:solidFill>
              </a:rPr>
              <a:t>Gaussian distributions</a:t>
            </a:r>
            <a:r>
              <a:rPr lang="en" sz="1800">
                <a:solidFill>
                  <a:schemeClr val="dk1"/>
                </a:solidFill>
              </a:rPr>
              <a:t> are for continuous functions, the </a:t>
            </a:r>
            <a:r>
              <a:rPr lang="en" sz="1800" i="1">
                <a:solidFill>
                  <a:schemeClr val="dk1"/>
                </a:solidFill>
              </a:rPr>
              <a:t>Brownian motion</a:t>
            </a:r>
            <a:r>
              <a:rPr lang="en" sz="1800">
                <a:solidFill>
                  <a:schemeClr val="dk1"/>
                </a:solidFill>
              </a:rPr>
              <a:t> would be something equivalent, but for </a:t>
            </a:r>
            <a:r>
              <a:rPr lang="en" sz="1800" i="1">
                <a:solidFill>
                  <a:schemeClr val="dk1"/>
                </a:solidFill>
              </a:rPr>
              <a:t>stochastic processes</a:t>
            </a:r>
            <a:r>
              <a:rPr lang="en" sz="1800">
                <a:solidFill>
                  <a:schemeClr val="dk1"/>
                </a:solidFill>
              </a:rPr>
              <a:t> that are well behaved, i.e. they may not have derivatives, but they are still continuous.</a:t>
            </a:r>
            <a:endParaRPr sz="1800">
              <a:solidFill>
                <a:schemeClr val="dk1"/>
              </a:solidFill>
            </a:endParaRPr>
          </a:p>
        </p:txBody>
      </p:sp>
      <p:sp>
        <p:nvSpPr>
          <p:cNvPr id="530" name="Google Shape;530;p41"/>
          <p:cNvSpPr txBox="1"/>
          <p:nvPr/>
        </p:nvSpPr>
        <p:spPr>
          <a:xfrm>
            <a:off x="289575" y="3926350"/>
            <a:ext cx="8854500" cy="76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All of this theory generally relates to </a:t>
            </a:r>
            <a:r>
              <a:rPr lang="en" sz="1800" i="1">
                <a:solidFill>
                  <a:schemeClr val="dk1"/>
                </a:solidFill>
              </a:rPr>
              <a:t>Markov Processes</a:t>
            </a:r>
            <a:r>
              <a:rPr lang="en" sz="1800">
                <a:solidFill>
                  <a:schemeClr val="dk1"/>
                </a:solidFill>
              </a:rPr>
              <a:t>, which is something more general, where we can also deal with “</a:t>
            </a:r>
            <a:r>
              <a:rPr lang="en" sz="1800" i="1">
                <a:solidFill>
                  <a:schemeClr val="dk1"/>
                </a:solidFill>
              </a:rPr>
              <a:t>jump processes</a:t>
            </a:r>
            <a:r>
              <a:rPr lang="en" sz="1800">
                <a:solidFill>
                  <a:schemeClr val="dk1"/>
                </a:solidFill>
              </a:rPr>
              <a:t>”, i.e. having </a:t>
            </a:r>
            <a:r>
              <a:rPr lang="en" sz="1800" i="1">
                <a:solidFill>
                  <a:schemeClr val="dk1"/>
                </a:solidFill>
              </a:rPr>
              <a:t>jump discontinuities</a:t>
            </a:r>
            <a:r>
              <a:rPr lang="en" sz="1800">
                <a:solidFill>
                  <a:schemeClr val="dk1"/>
                </a:solidFill>
              </a:rPr>
              <a:t>, which Brownian motion does not consider.</a:t>
            </a:r>
            <a:endParaRPr sz="1800">
              <a:solidFill>
                <a:schemeClr val="dk1"/>
              </a:solidFill>
            </a:endParaRPr>
          </a:p>
        </p:txBody>
      </p:sp>
      <p:pic>
        <p:nvPicPr>
          <p:cNvPr id="531" name="Google Shape;531;p41"/>
          <p:cNvPicPr preferRelativeResize="0"/>
          <p:nvPr/>
        </p:nvPicPr>
        <p:blipFill>
          <a:blip r:embed="rId3">
            <a:alphaModFix/>
          </a:blip>
          <a:stretch>
            <a:fillRect/>
          </a:stretch>
        </p:blipFill>
        <p:spPr>
          <a:xfrm>
            <a:off x="3458136" y="1995300"/>
            <a:ext cx="2382288" cy="365125"/>
          </a:xfrm>
          <a:prstGeom prst="rect">
            <a:avLst/>
          </a:prstGeom>
          <a:noFill/>
          <a:ln>
            <a:noFill/>
          </a:ln>
        </p:spPr>
      </p:pic>
      <p:sp>
        <p:nvSpPr>
          <p:cNvPr id="532" name="Google Shape;532;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29</a:t>
            </a:fld>
            <a:endParaRPr/>
          </a:p>
        </p:txBody>
      </p:sp>
      <p:pic>
        <p:nvPicPr>
          <p:cNvPr id="533" name="Google Shape;533;p41"/>
          <p:cNvPicPr preferRelativeResize="0"/>
          <p:nvPr/>
        </p:nvPicPr>
        <p:blipFill>
          <a:blip r:embed="rId4">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2"/>
          <p:cNvSpPr txBox="1"/>
          <p:nvPr/>
        </p:nvSpPr>
        <p:spPr>
          <a:xfrm>
            <a:off x="3438375" y="1679325"/>
            <a:ext cx="2736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Chapter 2</a:t>
            </a:r>
            <a:endParaRPr sz="3300" b="1">
              <a:solidFill>
                <a:schemeClr val="dk1"/>
              </a:solidFill>
            </a:endParaRPr>
          </a:p>
          <a:p>
            <a:pPr marL="0" lvl="0" indent="0" algn="l" rtl="0">
              <a:spcBef>
                <a:spcPts val="0"/>
              </a:spcBef>
              <a:spcAft>
                <a:spcPts val="0"/>
              </a:spcAft>
              <a:buNone/>
            </a:pPr>
            <a:endParaRPr sz="3300" b="1">
              <a:solidFill>
                <a:schemeClr val="dk1"/>
              </a:solidFill>
            </a:endParaRPr>
          </a:p>
        </p:txBody>
      </p:sp>
      <p:sp>
        <p:nvSpPr>
          <p:cNvPr id="539" name="Google Shape;539;p42"/>
          <p:cNvSpPr txBox="1"/>
          <p:nvPr/>
        </p:nvSpPr>
        <p:spPr>
          <a:xfrm>
            <a:off x="1256600" y="2326425"/>
            <a:ext cx="67878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chemeClr val="dk1"/>
                </a:solidFill>
              </a:rPr>
              <a:t>From Conditional to Marginal: </a:t>
            </a:r>
            <a:endParaRPr sz="2000" b="1">
              <a:solidFill>
                <a:schemeClr val="dk1"/>
              </a:solidFill>
            </a:endParaRPr>
          </a:p>
          <a:p>
            <a:pPr marL="0" lvl="0" indent="0" algn="ctr" rtl="0">
              <a:spcBef>
                <a:spcPts val="0"/>
              </a:spcBef>
              <a:spcAft>
                <a:spcPts val="0"/>
              </a:spcAft>
              <a:buNone/>
            </a:pPr>
            <a:r>
              <a:rPr lang="en" sz="2000" b="1">
                <a:solidFill>
                  <a:schemeClr val="dk1"/>
                </a:solidFill>
              </a:rPr>
              <a:t>Single Data Points to the Full Distribution </a:t>
            </a:r>
            <a:endParaRPr sz="20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43"/>
          <p:cNvSpPr txBox="1"/>
          <p:nvPr/>
        </p:nvSpPr>
        <p:spPr>
          <a:xfrm>
            <a:off x="1844007" y="1725790"/>
            <a:ext cx="5550900" cy="43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300" b="1">
                <a:solidFill>
                  <a:schemeClr val="dk1"/>
                </a:solidFill>
              </a:rPr>
              <a:t>Conditional and Marginal Vector Fields</a:t>
            </a:r>
            <a:endParaRPr sz="3300" b="1">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4"/>
          <p:cNvSpPr txBox="1"/>
          <p:nvPr/>
        </p:nvSpPr>
        <p:spPr>
          <a:xfrm>
            <a:off x="1077150" y="1098153"/>
            <a:ext cx="6989700" cy="47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Typically, we train the model by minimizing a </a:t>
            </a:r>
            <a:r>
              <a:rPr lang="en" sz="1800" b="1">
                <a:solidFill>
                  <a:schemeClr val="dk1"/>
                </a:solidFill>
              </a:rPr>
              <a:t>squared-error loss</a:t>
            </a:r>
            <a:r>
              <a:rPr lang="en" sz="1800">
                <a:solidFill>
                  <a:schemeClr val="dk1"/>
                </a:solidFill>
              </a:rPr>
              <a:t>:</a:t>
            </a:r>
            <a:endParaRPr sz="1800">
              <a:solidFill>
                <a:schemeClr val="dk1"/>
              </a:solidFill>
            </a:endParaRPr>
          </a:p>
        </p:txBody>
      </p:sp>
      <p:sp>
        <p:nvSpPr>
          <p:cNvPr id="550" name="Google Shape;550;p44"/>
          <p:cNvSpPr txBox="1"/>
          <p:nvPr/>
        </p:nvSpPr>
        <p:spPr>
          <a:xfrm>
            <a:off x="1213475" y="3798750"/>
            <a:ext cx="6303300" cy="40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 regression or classification, the training target is the label.</a:t>
            </a:r>
            <a:endParaRPr sz="1800">
              <a:solidFill>
                <a:schemeClr val="dk1"/>
              </a:solidFill>
            </a:endParaRPr>
          </a:p>
          <a:p>
            <a:pPr marL="0" lvl="0" indent="0" algn="l" rtl="0">
              <a:spcBef>
                <a:spcPts val="0"/>
              </a:spcBef>
              <a:spcAft>
                <a:spcPts val="0"/>
              </a:spcAft>
              <a:buNone/>
            </a:pPr>
            <a:endParaRPr sz="1800">
              <a:solidFill>
                <a:schemeClr val="dk1"/>
              </a:solidFill>
            </a:endParaRPr>
          </a:p>
        </p:txBody>
      </p:sp>
      <p:sp>
        <p:nvSpPr>
          <p:cNvPr id="551" name="Google Shape;551;p44"/>
          <p:cNvSpPr txBox="1"/>
          <p:nvPr/>
        </p:nvSpPr>
        <p:spPr>
          <a:xfrm>
            <a:off x="3029200" y="0"/>
            <a:ext cx="3395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Missing Training Target </a:t>
            </a:r>
            <a:endParaRPr sz="1800" b="1">
              <a:solidFill>
                <a:schemeClr val="dk1"/>
              </a:solidFill>
            </a:endParaRPr>
          </a:p>
        </p:txBody>
      </p:sp>
      <p:sp>
        <p:nvSpPr>
          <p:cNvPr id="552" name="Google Shape;552;p44"/>
          <p:cNvSpPr txBox="1"/>
          <p:nvPr/>
        </p:nvSpPr>
        <p:spPr>
          <a:xfrm>
            <a:off x="700625" y="4404050"/>
            <a:ext cx="8244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Here however we have no label =&gt; we have to derive a training target.</a:t>
            </a:r>
            <a:endParaRPr sz="1800">
              <a:solidFill>
                <a:schemeClr val="dk1"/>
              </a:solidFill>
            </a:endParaRPr>
          </a:p>
        </p:txBody>
      </p:sp>
      <p:pic>
        <p:nvPicPr>
          <p:cNvPr id="553" name="Google Shape;553;p44"/>
          <p:cNvPicPr preferRelativeResize="0"/>
          <p:nvPr/>
        </p:nvPicPr>
        <p:blipFill>
          <a:blip r:embed="rId3">
            <a:alphaModFix/>
          </a:blip>
          <a:stretch>
            <a:fillRect/>
          </a:stretch>
        </p:blipFill>
        <p:spPr>
          <a:xfrm>
            <a:off x="1343050" y="2071532"/>
            <a:ext cx="6457901" cy="1000418"/>
          </a:xfrm>
          <a:prstGeom prst="rect">
            <a:avLst/>
          </a:prstGeom>
          <a:noFill/>
          <a:ln>
            <a:noFill/>
          </a:ln>
        </p:spPr>
      </p:pic>
      <p:sp>
        <p:nvSpPr>
          <p:cNvPr id="554" name="Google Shape;554;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45"/>
          <p:cNvSpPr txBox="1"/>
          <p:nvPr/>
        </p:nvSpPr>
        <p:spPr>
          <a:xfrm>
            <a:off x="597664" y="812994"/>
            <a:ext cx="29034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Marginal Vector Field</a:t>
            </a:r>
            <a:endParaRPr sz="1800">
              <a:solidFill>
                <a:schemeClr val="dk1"/>
              </a:solidFill>
            </a:endParaRPr>
          </a:p>
        </p:txBody>
      </p:sp>
      <p:sp>
        <p:nvSpPr>
          <p:cNvPr id="560" name="Google Shape;560;p45"/>
          <p:cNvSpPr txBox="1"/>
          <p:nvPr/>
        </p:nvSpPr>
        <p:spPr>
          <a:xfrm>
            <a:off x="597664" y="1836191"/>
            <a:ext cx="29034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Marginal Score Function</a:t>
            </a:r>
            <a:endParaRPr sz="1800">
              <a:solidFill>
                <a:schemeClr val="dk1"/>
              </a:solidFill>
            </a:endParaRPr>
          </a:p>
        </p:txBody>
      </p:sp>
      <p:sp>
        <p:nvSpPr>
          <p:cNvPr id="561" name="Google Shape;561;p45"/>
          <p:cNvSpPr txBox="1"/>
          <p:nvPr/>
        </p:nvSpPr>
        <p:spPr>
          <a:xfrm>
            <a:off x="5124832" y="854894"/>
            <a:ext cx="17601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Flow Matching</a:t>
            </a:r>
            <a:endParaRPr sz="1800">
              <a:solidFill>
                <a:schemeClr val="dk1"/>
              </a:solidFill>
            </a:endParaRPr>
          </a:p>
        </p:txBody>
      </p:sp>
      <p:sp>
        <p:nvSpPr>
          <p:cNvPr id="562" name="Google Shape;562;p45"/>
          <p:cNvSpPr txBox="1"/>
          <p:nvPr/>
        </p:nvSpPr>
        <p:spPr>
          <a:xfrm>
            <a:off x="5124832" y="1836191"/>
            <a:ext cx="20421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Score Matching</a:t>
            </a:r>
            <a:endParaRPr sz="1800">
              <a:solidFill>
                <a:schemeClr val="dk1"/>
              </a:solidFill>
            </a:endParaRPr>
          </a:p>
        </p:txBody>
      </p:sp>
      <p:sp>
        <p:nvSpPr>
          <p:cNvPr id="563" name="Google Shape;563;p45"/>
          <p:cNvSpPr/>
          <p:nvPr/>
        </p:nvSpPr>
        <p:spPr>
          <a:xfrm>
            <a:off x="3561050" y="907991"/>
            <a:ext cx="1125600" cy="296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4" name="Google Shape;564;p45"/>
          <p:cNvSpPr/>
          <p:nvPr/>
        </p:nvSpPr>
        <p:spPr>
          <a:xfrm>
            <a:off x="3561062" y="1932801"/>
            <a:ext cx="1125600" cy="296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5" name="Google Shape;565;p45"/>
          <p:cNvSpPr txBox="1"/>
          <p:nvPr/>
        </p:nvSpPr>
        <p:spPr>
          <a:xfrm>
            <a:off x="597664" y="2878469"/>
            <a:ext cx="2537100" cy="3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Conditional </a:t>
            </a:r>
            <a:r>
              <a:rPr lang="en" sz="1800" i="1">
                <a:solidFill>
                  <a:schemeClr val="dk1"/>
                </a:solidFill>
              </a:rPr>
              <a:t>&lt; term &gt;</a:t>
            </a:r>
            <a:endParaRPr sz="1800" i="1">
              <a:solidFill>
                <a:schemeClr val="dk1"/>
              </a:solidFill>
            </a:endParaRPr>
          </a:p>
        </p:txBody>
      </p:sp>
      <p:sp>
        <p:nvSpPr>
          <p:cNvPr id="566" name="Google Shape;566;p45"/>
          <p:cNvSpPr txBox="1"/>
          <p:nvPr/>
        </p:nvSpPr>
        <p:spPr>
          <a:xfrm>
            <a:off x="597666" y="3826175"/>
            <a:ext cx="2581200" cy="3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Marginal </a:t>
            </a:r>
            <a:r>
              <a:rPr lang="en" sz="1800" i="1">
                <a:solidFill>
                  <a:schemeClr val="dk1"/>
                </a:solidFill>
              </a:rPr>
              <a:t>&lt; term &gt;</a:t>
            </a:r>
            <a:r>
              <a:rPr lang="en" sz="1800">
                <a:solidFill>
                  <a:schemeClr val="dk1"/>
                </a:solidFill>
              </a:rPr>
              <a:t> </a:t>
            </a:r>
            <a:endParaRPr sz="1800">
              <a:solidFill>
                <a:schemeClr val="dk1"/>
              </a:solidFill>
            </a:endParaRPr>
          </a:p>
        </p:txBody>
      </p:sp>
      <p:sp>
        <p:nvSpPr>
          <p:cNvPr id="567" name="Google Shape;567;p45"/>
          <p:cNvSpPr/>
          <p:nvPr/>
        </p:nvSpPr>
        <p:spPr>
          <a:xfrm>
            <a:off x="3561050" y="2941766"/>
            <a:ext cx="1125600" cy="296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8" name="Google Shape;568;p45"/>
          <p:cNvSpPr/>
          <p:nvPr/>
        </p:nvSpPr>
        <p:spPr>
          <a:xfrm>
            <a:off x="3561050" y="3929916"/>
            <a:ext cx="1125600" cy="296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9" name="Google Shape;569;p45"/>
          <p:cNvSpPr txBox="1"/>
          <p:nvPr/>
        </p:nvSpPr>
        <p:spPr>
          <a:xfrm>
            <a:off x="5145130" y="2868969"/>
            <a:ext cx="25371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Per single data point</a:t>
            </a:r>
            <a:endParaRPr sz="1800">
              <a:solidFill>
                <a:schemeClr val="dk1"/>
              </a:solidFill>
            </a:endParaRPr>
          </a:p>
        </p:txBody>
      </p:sp>
      <p:sp>
        <p:nvSpPr>
          <p:cNvPr id="570" name="Google Shape;570;p45"/>
          <p:cNvSpPr txBox="1"/>
          <p:nvPr/>
        </p:nvSpPr>
        <p:spPr>
          <a:xfrm>
            <a:off x="5156499" y="3852342"/>
            <a:ext cx="3761400" cy="29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Across a distribution of data points</a:t>
            </a:r>
            <a:endParaRPr sz="1800">
              <a:solidFill>
                <a:schemeClr val="dk1"/>
              </a:solidFill>
            </a:endParaRPr>
          </a:p>
        </p:txBody>
      </p:sp>
      <p:sp>
        <p:nvSpPr>
          <p:cNvPr id="571" name="Google Shape;571;p45"/>
          <p:cNvSpPr txBox="1"/>
          <p:nvPr/>
        </p:nvSpPr>
        <p:spPr>
          <a:xfrm>
            <a:off x="3322149" y="0"/>
            <a:ext cx="16062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Terminology</a:t>
            </a:r>
            <a:endParaRPr sz="1800" b="1">
              <a:solidFill>
                <a:schemeClr val="dk1"/>
              </a:solidFill>
            </a:endParaRPr>
          </a:p>
        </p:txBody>
      </p:sp>
      <p:sp>
        <p:nvSpPr>
          <p:cNvPr id="572" name="Google Shape;572;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46"/>
          <p:cNvSpPr txBox="1"/>
          <p:nvPr/>
        </p:nvSpPr>
        <p:spPr>
          <a:xfrm>
            <a:off x="731254" y="835750"/>
            <a:ext cx="33948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Conditional Probability Path</a:t>
            </a:r>
            <a:endParaRPr sz="1800" b="1">
              <a:solidFill>
                <a:schemeClr val="dk1"/>
              </a:solidFill>
            </a:endParaRPr>
          </a:p>
        </p:txBody>
      </p:sp>
      <p:sp>
        <p:nvSpPr>
          <p:cNvPr id="578" name="Google Shape;578;p46"/>
          <p:cNvSpPr txBox="1"/>
          <p:nvPr/>
        </p:nvSpPr>
        <p:spPr>
          <a:xfrm>
            <a:off x="5117354" y="799675"/>
            <a:ext cx="30399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Marginal Probability Path</a:t>
            </a:r>
            <a:endParaRPr sz="1800" b="1">
              <a:solidFill>
                <a:schemeClr val="dk1"/>
              </a:solidFill>
            </a:endParaRPr>
          </a:p>
        </p:txBody>
      </p:sp>
      <p:sp>
        <p:nvSpPr>
          <p:cNvPr id="579" name="Google Shape;579;p46"/>
          <p:cNvSpPr txBox="1"/>
          <p:nvPr/>
        </p:nvSpPr>
        <p:spPr>
          <a:xfrm>
            <a:off x="774904" y="2223775"/>
            <a:ext cx="29511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Conditional Vector Field</a:t>
            </a:r>
            <a:endParaRPr sz="1800" b="1">
              <a:solidFill>
                <a:schemeClr val="dk1"/>
              </a:solidFill>
            </a:endParaRPr>
          </a:p>
        </p:txBody>
      </p:sp>
      <p:sp>
        <p:nvSpPr>
          <p:cNvPr id="580" name="Google Shape;580;p46"/>
          <p:cNvSpPr txBox="1"/>
          <p:nvPr/>
        </p:nvSpPr>
        <p:spPr>
          <a:xfrm>
            <a:off x="5270683" y="2217626"/>
            <a:ext cx="27450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Marginal Vector Field</a:t>
            </a:r>
            <a:endParaRPr sz="1800" b="1">
              <a:solidFill>
                <a:schemeClr val="dk1"/>
              </a:solidFill>
            </a:endParaRPr>
          </a:p>
        </p:txBody>
      </p:sp>
      <p:sp>
        <p:nvSpPr>
          <p:cNvPr id="581" name="Google Shape;581;p46"/>
          <p:cNvSpPr txBox="1"/>
          <p:nvPr/>
        </p:nvSpPr>
        <p:spPr>
          <a:xfrm>
            <a:off x="774904" y="3659325"/>
            <a:ext cx="31770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Conditional Score Function</a:t>
            </a:r>
            <a:endParaRPr sz="1800" b="1">
              <a:solidFill>
                <a:schemeClr val="dk1"/>
              </a:solidFill>
            </a:endParaRPr>
          </a:p>
        </p:txBody>
      </p:sp>
      <p:sp>
        <p:nvSpPr>
          <p:cNvPr id="582" name="Google Shape;582;p46"/>
          <p:cNvSpPr txBox="1"/>
          <p:nvPr/>
        </p:nvSpPr>
        <p:spPr>
          <a:xfrm>
            <a:off x="5117354" y="3593375"/>
            <a:ext cx="2973300" cy="45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Marginal Score Function</a:t>
            </a:r>
            <a:endParaRPr sz="1800" b="1">
              <a:solidFill>
                <a:schemeClr val="dk1"/>
              </a:solidFill>
            </a:endParaRPr>
          </a:p>
        </p:txBody>
      </p:sp>
      <p:sp>
        <p:nvSpPr>
          <p:cNvPr id="583" name="Google Shape;583;p46"/>
          <p:cNvSpPr txBox="1"/>
          <p:nvPr/>
        </p:nvSpPr>
        <p:spPr>
          <a:xfrm>
            <a:off x="2940900" y="-17225"/>
            <a:ext cx="32622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6 Objects to Remember</a:t>
            </a:r>
            <a:endParaRPr sz="1800" b="1">
              <a:solidFill>
                <a:schemeClr val="dk1"/>
              </a:solidFill>
            </a:endParaRPr>
          </a:p>
        </p:txBody>
      </p:sp>
      <p:pic>
        <p:nvPicPr>
          <p:cNvPr id="584" name="Google Shape;584;p46"/>
          <p:cNvPicPr preferRelativeResize="0"/>
          <p:nvPr/>
        </p:nvPicPr>
        <p:blipFill>
          <a:blip r:embed="rId3">
            <a:alphaModFix/>
          </a:blip>
          <a:stretch>
            <a:fillRect/>
          </a:stretch>
        </p:blipFill>
        <p:spPr>
          <a:xfrm>
            <a:off x="840158" y="1413625"/>
            <a:ext cx="2951099" cy="345772"/>
          </a:xfrm>
          <a:prstGeom prst="rect">
            <a:avLst/>
          </a:prstGeom>
          <a:noFill/>
          <a:ln>
            <a:noFill/>
          </a:ln>
        </p:spPr>
      </p:pic>
      <p:pic>
        <p:nvPicPr>
          <p:cNvPr id="585" name="Google Shape;585;p46"/>
          <p:cNvPicPr preferRelativeResize="0"/>
          <p:nvPr/>
        </p:nvPicPr>
        <p:blipFill>
          <a:blip r:embed="rId4">
            <a:alphaModFix/>
          </a:blip>
          <a:stretch>
            <a:fillRect/>
          </a:stretch>
        </p:blipFill>
        <p:spPr>
          <a:xfrm>
            <a:off x="299051" y="2714452"/>
            <a:ext cx="3826994" cy="456600"/>
          </a:xfrm>
          <a:prstGeom prst="rect">
            <a:avLst/>
          </a:prstGeom>
          <a:noFill/>
          <a:ln>
            <a:noFill/>
          </a:ln>
        </p:spPr>
      </p:pic>
      <p:pic>
        <p:nvPicPr>
          <p:cNvPr id="586" name="Google Shape;586;p46"/>
          <p:cNvPicPr preferRelativeResize="0"/>
          <p:nvPr/>
        </p:nvPicPr>
        <p:blipFill>
          <a:blip r:embed="rId5">
            <a:alphaModFix/>
          </a:blip>
          <a:stretch>
            <a:fillRect/>
          </a:stretch>
        </p:blipFill>
        <p:spPr>
          <a:xfrm>
            <a:off x="633842" y="4263173"/>
            <a:ext cx="3262200" cy="532159"/>
          </a:xfrm>
          <a:prstGeom prst="rect">
            <a:avLst/>
          </a:prstGeom>
          <a:noFill/>
          <a:ln>
            <a:noFill/>
          </a:ln>
        </p:spPr>
      </p:pic>
      <p:pic>
        <p:nvPicPr>
          <p:cNvPr id="587" name="Google Shape;587;p46"/>
          <p:cNvPicPr preferRelativeResize="0"/>
          <p:nvPr/>
        </p:nvPicPr>
        <p:blipFill>
          <a:blip r:embed="rId6">
            <a:alphaModFix/>
          </a:blip>
          <a:stretch>
            <a:fillRect/>
          </a:stretch>
        </p:blipFill>
        <p:spPr>
          <a:xfrm>
            <a:off x="4822107" y="1415203"/>
            <a:ext cx="3772627" cy="375650"/>
          </a:xfrm>
          <a:prstGeom prst="rect">
            <a:avLst/>
          </a:prstGeom>
          <a:noFill/>
          <a:ln>
            <a:noFill/>
          </a:ln>
        </p:spPr>
      </p:pic>
      <p:pic>
        <p:nvPicPr>
          <p:cNvPr id="588" name="Google Shape;588;p46"/>
          <p:cNvPicPr preferRelativeResize="0"/>
          <p:nvPr/>
        </p:nvPicPr>
        <p:blipFill>
          <a:blip r:embed="rId7">
            <a:alphaModFix/>
          </a:blip>
          <a:stretch>
            <a:fillRect/>
          </a:stretch>
        </p:blipFill>
        <p:spPr>
          <a:xfrm>
            <a:off x="4653978" y="2772712"/>
            <a:ext cx="4128447" cy="375650"/>
          </a:xfrm>
          <a:prstGeom prst="rect">
            <a:avLst/>
          </a:prstGeom>
          <a:noFill/>
          <a:ln>
            <a:noFill/>
          </a:ln>
        </p:spPr>
      </p:pic>
      <p:pic>
        <p:nvPicPr>
          <p:cNvPr id="589" name="Google Shape;589;p46"/>
          <p:cNvPicPr preferRelativeResize="0"/>
          <p:nvPr/>
        </p:nvPicPr>
        <p:blipFill>
          <a:blip r:embed="rId8">
            <a:alphaModFix/>
          </a:blip>
          <a:stretch>
            <a:fillRect/>
          </a:stretch>
        </p:blipFill>
        <p:spPr>
          <a:xfrm>
            <a:off x="4463225" y="4192993"/>
            <a:ext cx="4509954" cy="532150"/>
          </a:xfrm>
          <a:prstGeom prst="rect">
            <a:avLst/>
          </a:prstGeom>
          <a:noFill/>
          <a:ln>
            <a:noFill/>
          </a:ln>
        </p:spPr>
      </p:pic>
      <p:cxnSp>
        <p:nvCxnSpPr>
          <p:cNvPr id="590" name="Google Shape;590;p46"/>
          <p:cNvCxnSpPr/>
          <p:nvPr/>
        </p:nvCxnSpPr>
        <p:spPr>
          <a:xfrm>
            <a:off x="4327859" y="713086"/>
            <a:ext cx="0" cy="4428300"/>
          </a:xfrm>
          <a:prstGeom prst="straightConnector1">
            <a:avLst/>
          </a:prstGeom>
          <a:noFill/>
          <a:ln w="28575" cap="flat" cmpd="sng">
            <a:solidFill>
              <a:schemeClr val="dk1"/>
            </a:solidFill>
            <a:prstDash val="solid"/>
            <a:round/>
            <a:headEnd type="none" w="med" len="med"/>
            <a:tailEnd type="none" w="med" len="med"/>
          </a:ln>
        </p:spPr>
      </p:cxnSp>
      <p:cxnSp>
        <p:nvCxnSpPr>
          <p:cNvPr id="591" name="Google Shape;591;p46"/>
          <p:cNvCxnSpPr/>
          <p:nvPr/>
        </p:nvCxnSpPr>
        <p:spPr>
          <a:xfrm rot="10800000">
            <a:off x="5986" y="2119150"/>
            <a:ext cx="9144000" cy="0"/>
          </a:xfrm>
          <a:prstGeom prst="straightConnector1">
            <a:avLst/>
          </a:prstGeom>
          <a:noFill/>
          <a:ln w="9525" cap="flat" cmpd="sng">
            <a:solidFill>
              <a:schemeClr val="dk2"/>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592" name="Google Shape;592;p46"/>
          <p:cNvCxnSpPr/>
          <p:nvPr/>
        </p:nvCxnSpPr>
        <p:spPr>
          <a:xfrm rot="10800000">
            <a:off x="-7837" y="722725"/>
            <a:ext cx="9157800" cy="0"/>
          </a:xfrm>
          <a:prstGeom prst="straightConnector1">
            <a:avLst/>
          </a:prstGeom>
          <a:noFill/>
          <a:ln w="28575" cap="flat" cmpd="sng">
            <a:solidFill>
              <a:schemeClr val="dk1"/>
            </a:solidFill>
            <a:prstDash val="solid"/>
            <a:round/>
            <a:headEnd type="none" w="med" len="med"/>
            <a:tailEnd type="none" w="med" len="med"/>
          </a:ln>
        </p:spPr>
      </p:cxnSp>
      <p:sp>
        <p:nvSpPr>
          <p:cNvPr id="593" name="Google Shape;593;p46"/>
          <p:cNvSpPr txBox="1"/>
          <p:nvPr/>
        </p:nvSpPr>
        <p:spPr>
          <a:xfrm>
            <a:off x="1659182" y="475812"/>
            <a:ext cx="1715100" cy="26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i="1">
                <a:solidFill>
                  <a:srgbClr val="FF0000"/>
                </a:solidFill>
              </a:rPr>
              <a:t>Tractable</a:t>
            </a:r>
            <a:endParaRPr sz="1000" i="1">
              <a:solidFill>
                <a:srgbClr val="FF0000"/>
              </a:solidFill>
            </a:endParaRPr>
          </a:p>
        </p:txBody>
      </p:sp>
      <p:sp>
        <p:nvSpPr>
          <p:cNvPr id="594" name="Google Shape;594;p46"/>
          <p:cNvSpPr txBox="1"/>
          <p:nvPr/>
        </p:nvSpPr>
        <p:spPr>
          <a:xfrm>
            <a:off x="4274990" y="461873"/>
            <a:ext cx="5003400" cy="456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i="1">
                <a:solidFill>
                  <a:srgbClr val="FF0000"/>
                </a:solidFill>
              </a:rPr>
              <a:t>Intractable integral over entire data distribution =&gt; p</a:t>
            </a:r>
            <a:r>
              <a:rPr lang="en" sz="1000" i="1" baseline="-25000">
                <a:solidFill>
                  <a:srgbClr val="FF0000"/>
                </a:solidFill>
              </a:rPr>
              <a:t>t</a:t>
            </a:r>
            <a:r>
              <a:rPr lang="en" sz="1000" i="1">
                <a:solidFill>
                  <a:srgbClr val="FF0000"/>
                </a:solidFill>
              </a:rPr>
              <a:t>(x) can’t be evaluated explicitly</a:t>
            </a:r>
            <a:endParaRPr sz="1000" i="1">
              <a:solidFill>
                <a:srgbClr val="FF0000"/>
              </a:solidFill>
            </a:endParaRPr>
          </a:p>
        </p:txBody>
      </p:sp>
      <p:cxnSp>
        <p:nvCxnSpPr>
          <p:cNvPr id="595" name="Google Shape;595;p46"/>
          <p:cNvCxnSpPr/>
          <p:nvPr/>
        </p:nvCxnSpPr>
        <p:spPr>
          <a:xfrm rot="10800000">
            <a:off x="5986" y="3507050"/>
            <a:ext cx="9144000" cy="0"/>
          </a:xfrm>
          <a:prstGeom prst="straightConnector1">
            <a:avLst/>
          </a:prstGeom>
          <a:noFill/>
          <a:ln w="9525" cap="flat" cmpd="sng">
            <a:solidFill>
              <a:schemeClr val="dk2"/>
            </a:solidFill>
            <a:prstDash val="solid"/>
            <a:round/>
            <a:headEnd type="none" w="med" len="med"/>
            <a:tailEnd type="none" w="med" len="med"/>
          </a:ln>
          <a:effectLst>
            <a:outerShdw blurRad="57150" dist="19050" dir="5400000" algn="bl" rotWithShape="0">
              <a:srgbClr val="000000">
                <a:alpha val="50000"/>
              </a:srgbClr>
            </a:outerShdw>
          </a:effectLst>
        </p:spPr>
      </p:cxnSp>
      <p:sp>
        <p:nvSpPr>
          <p:cNvPr id="596" name="Google Shape;596;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47"/>
          <p:cNvSpPr txBox="1"/>
          <p:nvPr/>
        </p:nvSpPr>
        <p:spPr>
          <a:xfrm>
            <a:off x="1595025" y="0"/>
            <a:ext cx="59520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Conditional Setup: Noise to a Single Data Point </a:t>
            </a:r>
            <a:endParaRPr sz="1800" b="1">
              <a:solidFill>
                <a:schemeClr val="dk1"/>
              </a:solidFill>
            </a:endParaRPr>
          </a:p>
        </p:txBody>
      </p:sp>
      <p:sp>
        <p:nvSpPr>
          <p:cNvPr id="602" name="Google Shape;602;p47"/>
          <p:cNvSpPr txBox="1"/>
          <p:nvPr/>
        </p:nvSpPr>
        <p:spPr>
          <a:xfrm>
            <a:off x="254263" y="3073025"/>
            <a:ext cx="3178800" cy="41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Scattered / Blurry Gaussian</a:t>
            </a:r>
            <a:endParaRPr sz="1800">
              <a:solidFill>
                <a:schemeClr val="dk1"/>
              </a:solidFill>
            </a:endParaRPr>
          </a:p>
        </p:txBody>
      </p:sp>
      <p:sp>
        <p:nvSpPr>
          <p:cNvPr id="603" name="Google Shape;603;p47"/>
          <p:cNvSpPr txBox="1"/>
          <p:nvPr/>
        </p:nvSpPr>
        <p:spPr>
          <a:xfrm>
            <a:off x="5966925" y="3060775"/>
            <a:ext cx="3012300" cy="41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Focused dot / data point =&gt; </a:t>
            </a:r>
            <a:endParaRPr sz="1800">
              <a:solidFill>
                <a:schemeClr val="dk1"/>
              </a:solidFill>
            </a:endParaRPr>
          </a:p>
          <a:p>
            <a:pPr marL="0" lvl="0" indent="0" algn="l" rtl="0">
              <a:spcBef>
                <a:spcPts val="0"/>
              </a:spcBef>
              <a:spcAft>
                <a:spcPts val="0"/>
              </a:spcAft>
              <a:buNone/>
            </a:pPr>
            <a:r>
              <a:rPr lang="en" sz="1800">
                <a:solidFill>
                  <a:schemeClr val="dk1"/>
                </a:solidFill>
              </a:rPr>
              <a:t>can be viewed as a Dirac Distribution</a:t>
            </a:r>
            <a:endParaRPr sz="1800">
              <a:solidFill>
                <a:schemeClr val="dk1"/>
              </a:solidFill>
            </a:endParaRPr>
          </a:p>
        </p:txBody>
      </p:sp>
      <p:pic>
        <p:nvPicPr>
          <p:cNvPr id="604" name="Google Shape;604;p47"/>
          <p:cNvPicPr preferRelativeResize="0"/>
          <p:nvPr/>
        </p:nvPicPr>
        <p:blipFill>
          <a:blip r:embed="rId3">
            <a:alphaModFix/>
          </a:blip>
          <a:stretch>
            <a:fillRect/>
          </a:stretch>
        </p:blipFill>
        <p:spPr>
          <a:xfrm>
            <a:off x="945625" y="3608775"/>
            <a:ext cx="1540184" cy="277200"/>
          </a:xfrm>
          <a:prstGeom prst="rect">
            <a:avLst/>
          </a:prstGeom>
          <a:noFill/>
          <a:ln>
            <a:noFill/>
          </a:ln>
        </p:spPr>
      </p:pic>
      <p:pic>
        <p:nvPicPr>
          <p:cNvPr id="605" name="Google Shape;605;p47"/>
          <p:cNvPicPr preferRelativeResize="0"/>
          <p:nvPr/>
        </p:nvPicPr>
        <p:blipFill>
          <a:blip r:embed="rId4">
            <a:alphaModFix/>
          </a:blip>
          <a:stretch>
            <a:fillRect/>
          </a:stretch>
        </p:blipFill>
        <p:spPr>
          <a:xfrm>
            <a:off x="7302525" y="3701225"/>
            <a:ext cx="1408789" cy="277200"/>
          </a:xfrm>
          <a:prstGeom prst="rect">
            <a:avLst/>
          </a:prstGeom>
          <a:noFill/>
          <a:ln>
            <a:noFill/>
          </a:ln>
        </p:spPr>
      </p:pic>
      <p:grpSp>
        <p:nvGrpSpPr>
          <p:cNvPr id="606" name="Google Shape;606;p47"/>
          <p:cNvGrpSpPr/>
          <p:nvPr/>
        </p:nvGrpSpPr>
        <p:grpSpPr>
          <a:xfrm>
            <a:off x="630319" y="1456677"/>
            <a:ext cx="7695583" cy="1490700"/>
            <a:chOff x="630319" y="1456677"/>
            <a:chExt cx="7695583" cy="1490700"/>
          </a:xfrm>
        </p:grpSpPr>
        <p:sp>
          <p:nvSpPr>
            <p:cNvPr id="607" name="Google Shape;607;p47"/>
            <p:cNvSpPr/>
            <p:nvPr/>
          </p:nvSpPr>
          <p:spPr>
            <a:xfrm>
              <a:off x="630319" y="1456677"/>
              <a:ext cx="1490700" cy="14907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8" name="Google Shape;608;p47"/>
            <p:cNvSpPr/>
            <p:nvPr/>
          </p:nvSpPr>
          <p:spPr>
            <a:xfrm>
              <a:off x="802369" y="1628727"/>
              <a:ext cx="1146600" cy="11466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9" name="Google Shape;609;p47"/>
            <p:cNvSpPr/>
            <p:nvPr/>
          </p:nvSpPr>
          <p:spPr>
            <a:xfrm>
              <a:off x="945619" y="1771977"/>
              <a:ext cx="860100" cy="8601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0" name="Google Shape;610;p47"/>
            <p:cNvSpPr/>
            <p:nvPr/>
          </p:nvSpPr>
          <p:spPr>
            <a:xfrm>
              <a:off x="1071319" y="1897677"/>
              <a:ext cx="608700" cy="6087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1" name="Google Shape;611;p47"/>
            <p:cNvSpPr/>
            <p:nvPr/>
          </p:nvSpPr>
          <p:spPr>
            <a:xfrm>
              <a:off x="8212501" y="2145327"/>
              <a:ext cx="113400" cy="1134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2" name="Google Shape;612;p47"/>
            <p:cNvSpPr/>
            <p:nvPr/>
          </p:nvSpPr>
          <p:spPr>
            <a:xfrm>
              <a:off x="1170619" y="1996977"/>
              <a:ext cx="410100" cy="4101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3" name="Google Shape;613;p47"/>
            <p:cNvSpPr/>
            <p:nvPr/>
          </p:nvSpPr>
          <p:spPr>
            <a:xfrm>
              <a:off x="2318378" y="2145325"/>
              <a:ext cx="5377800" cy="113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614" name="Google Shape;614;p47"/>
            <p:cNvCxnSpPr>
              <a:stCxn id="607" idx="0"/>
              <a:endCxn id="611" idx="0"/>
            </p:cNvCxnSpPr>
            <p:nvPr/>
          </p:nvCxnSpPr>
          <p:spPr>
            <a:xfrm>
              <a:off x="1375669" y="1456677"/>
              <a:ext cx="6893400" cy="688800"/>
            </a:xfrm>
            <a:prstGeom prst="straightConnector1">
              <a:avLst/>
            </a:prstGeom>
            <a:noFill/>
            <a:ln w="9525" cap="flat" cmpd="sng">
              <a:solidFill>
                <a:schemeClr val="dk2"/>
              </a:solidFill>
              <a:prstDash val="dash"/>
              <a:round/>
              <a:headEnd type="none" w="med" len="med"/>
              <a:tailEnd type="none" w="med" len="med"/>
            </a:ln>
          </p:spPr>
        </p:cxnSp>
        <p:cxnSp>
          <p:nvCxnSpPr>
            <p:cNvPr id="615" name="Google Shape;615;p47"/>
            <p:cNvCxnSpPr>
              <a:stCxn id="607" idx="4"/>
              <a:endCxn id="611" idx="4"/>
            </p:cNvCxnSpPr>
            <p:nvPr/>
          </p:nvCxnSpPr>
          <p:spPr>
            <a:xfrm rot="10800000" flipH="1">
              <a:off x="1375669" y="2258877"/>
              <a:ext cx="6893400" cy="688500"/>
            </a:xfrm>
            <a:prstGeom prst="straightConnector1">
              <a:avLst/>
            </a:prstGeom>
            <a:noFill/>
            <a:ln w="9525" cap="flat" cmpd="sng">
              <a:solidFill>
                <a:schemeClr val="dk2"/>
              </a:solidFill>
              <a:prstDash val="dash"/>
              <a:round/>
              <a:headEnd type="none" w="med" len="med"/>
              <a:tailEnd type="none" w="med" len="med"/>
            </a:ln>
          </p:spPr>
        </p:cxnSp>
        <p:pic>
          <p:nvPicPr>
            <p:cNvPr id="616" name="Google Shape;616;p47"/>
            <p:cNvPicPr preferRelativeResize="0"/>
            <p:nvPr/>
          </p:nvPicPr>
          <p:blipFill>
            <a:blip r:embed="rId5">
              <a:alphaModFix/>
            </a:blip>
            <a:stretch>
              <a:fillRect/>
            </a:stretch>
          </p:blipFill>
          <p:spPr>
            <a:xfrm>
              <a:off x="3393016" y="1808727"/>
              <a:ext cx="968750" cy="330850"/>
            </a:xfrm>
            <a:prstGeom prst="rect">
              <a:avLst/>
            </a:prstGeom>
            <a:noFill/>
            <a:ln>
              <a:noFill/>
            </a:ln>
          </p:spPr>
        </p:pic>
        <p:sp>
          <p:nvSpPr>
            <p:cNvPr id="617" name="Google Shape;617;p47"/>
            <p:cNvSpPr txBox="1"/>
            <p:nvPr/>
          </p:nvSpPr>
          <p:spPr>
            <a:xfrm>
              <a:off x="2220815" y="2149985"/>
              <a:ext cx="5081700" cy="13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Probability distribution over      . We can draw samples from it. </a:t>
              </a:r>
              <a:endParaRPr sz="1200">
                <a:solidFill>
                  <a:schemeClr val="dk1"/>
                </a:solidFill>
              </a:endParaRPr>
            </a:p>
          </p:txBody>
        </p:sp>
        <p:pic>
          <p:nvPicPr>
            <p:cNvPr id="618" name="Google Shape;618;p47"/>
            <p:cNvPicPr preferRelativeResize="0"/>
            <p:nvPr/>
          </p:nvPicPr>
          <p:blipFill>
            <a:blip r:embed="rId6">
              <a:alphaModFix/>
            </a:blip>
            <a:stretch>
              <a:fillRect/>
            </a:stretch>
          </p:blipFill>
          <p:spPr>
            <a:xfrm>
              <a:off x="4189726" y="2264477"/>
              <a:ext cx="172047" cy="132900"/>
            </a:xfrm>
            <a:prstGeom prst="rect">
              <a:avLst/>
            </a:prstGeom>
            <a:noFill/>
            <a:ln>
              <a:noFill/>
            </a:ln>
          </p:spPr>
        </p:pic>
      </p:grpSp>
      <p:sp>
        <p:nvSpPr>
          <p:cNvPr id="619" name="Google Shape;619;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48"/>
          <p:cNvSpPr txBox="1"/>
          <p:nvPr/>
        </p:nvSpPr>
        <p:spPr>
          <a:xfrm>
            <a:off x="163843" y="3825978"/>
            <a:ext cx="25218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and </a:t>
            </a:r>
            <a:endParaRPr sz="1800">
              <a:solidFill>
                <a:schemeClr val="dk1"/>
              </a:solidFill>
            </a:endParaRPr>
          </a:p>
        </p:txBody>
      </p:sp>
      <p:sp>
        <p:nvSpPr>
          <p:cNvPr id="625" name="Google Shape;625;p48"/>
          <p:cNvSpPr txBox="1"/>
          <p:nvPr/>
        </p:nvSpPr>
        <p:spPr>
          <a:xfrm>
            <a:off x="152465" y="3457743"/>
            <a:ext cx="2521800" cy="277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r>
              <a:rPr lang="en" sz="1800">
                <a:solidFill>
                  <a:schemeClr val="dk1"/>
                </a:solidFill>
              </a:rPr>
              <a:t>         and </a:t>
            </a:r>
            <a:endParaRPr sz="1800">
              <a:solidFill>
                <a:schemeClr val="dk1"/>
              </a:solidFill>
            </a:endParaRPr>
          </a:p>
        </p:txBody>
      </p:sp>
      <p:sp>
        <p:nvSpPr>
          <p:cNvPr id="626" name="Google Shape;626;p48"/>
          <p:cNvSpPr txBox="1"/>
          <p:nvPr/>
        </p:nvSpPr>
        <p:spPr>
          <a:xfrm>
            <a:off x="2393350" y="0"/>
            <a:ext cx="43833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Gaussian Conditional Probability Path</a:t>
            </a:r>
            <a:endParaRPr sz="1800" b="1">
              <a:solidFill>
                <a:schemeClr val="dk1"/>
              </a:solidFill>
            </a:endParaRPr>
          </a:p>
        </p:txBody>
      </p:sp>
      <p:pic>
        <p:nvPicPr>
          <p:cNvPr id="627" name="Google Shape;627;p48"/>
          <p:cNvPicPr preferRelativeResize="0"/>
          <p:nvPr/>
        </p:nvPicPr>
        <p:blipFill>
          <a:blip r:embed="rId3">
            <a:alphaModFix/>
          </a:blip>
          <a:stretch>
            <a:fillRect/>
          </a:stretch>
        </p:blipFill>
        <p:spPr>
          <a:xfrm>
            <a:off x="277200" y="1054182"/>
            <a:ext cx="5087776" cy="596125"/>
          </a:xfrm>
          <a:prstGeom prst="rect">
            <a:avLst/>
          </a:prstGeom>
          <a:noFill/>
          <a:ln>
            <a:noFill/>
          </a:ln>
        </p:spPr>
      </p:pic>
      <p:cxnSp>
        <p:nvCxnSpPr>
          <p:cNvPr id="628" name="Google Shape;628;p48"/>
          <p:cNvCxnSpPr/>
          <p:nvPr/>
        </p:nvCxnSpPr>
        <p:spPr>
          <a:xfrm rot="10800000">
            <a:off x="6255375" y="1054175"/>
            <a:ext cx="0" cy="1786800"/>
          </a:xfrm>
          <a:prstGeom prst="straightConnector1">
            <a:avLst/>
          </a:prstGeom>
          <a:noFill/>
          <a:ln w="9525" cap="flat" cmpd="sng">
            <a:solidFill>
              <a:schemeClr val="dk1"/>
            </a:solidFill>
            <a:prstDash val="solid"/>
            <a:round/>
            <a:headEnd type="none" w="med" len="med"/>
            <a:tailEnd type="triangle" w="med" len="med"/>
          </a:ln>
        </p:spPr>
      </p:cxnSp>
      <p:cxnSp>
        <p:nvCxnSpPr>
          <p:cNvPr id="629" name="Google Shape;629;p48"/>
          <p:cNvCxnSpPr/>
          <p:nvPr/>
        </p:nvCxnSpPr>
        <p:spPr>
          <a:xfrm>
            <a:off x="6255375" y="2840975"/>
            <a:ext cx="2270700" cy="0"/>
          </a:xfrm>
          <a:prstGeom prst="straightConnector1">
            <a:avLst/>
          </a:prstGeom>
          <a:noFill/>
          <a:ln w="9525" cap="flat" cmpd="sng">
            <a:solidFill>
              <a:schemeClr val="dk1"/>
            </a:solidFill>
            <a:prstDash val="solid"/>
            <a:round/>
            <a:headEnd type="none" w="med" len="med"/>
            <a:tailEnd type="triangle" w="med" len="med"/>
          </a:ln>
        </p:spPr>
      </p:cxnSp>
      <p:cxnSp>
        <p:nvCxnSpPr>
          <p:cNvPr id="630" name="Google Shape;630;p48"/>
          <p:cNvCxnSpPr/>
          <p:nvPr/>
        </p:nvCxnSpPr>
        <p:spPr>
          <a:xfrm rot="10800000" flipH="1">
            <a:off x="6255353" y="1815553"/>
            <a:ext cx="1776000" cy="1025400"/>
          </a:xfrm>
          <a:prstGeom prst="straightConnector1">
            <a:avLst/>
          </a:prstGeom>
          <a:noFill/>
          <a:ln w="19050" cap="flat" cmpd="sng">
            <a:solidFill>
              <a:srgbClr val="FF0000"/>
            </a:solidFill>
            <a:prstDash val="solid"/>
            <a:round/>
            <a:headEnd type="none" w="med" len="med"/>
            <a:tailEnd type="none" w="med" len="med"/>
          </a:ln>
        </p:spPr>
      </p:cxnSp>
      <p:cxnSp>
        <p:nvCxnSpPr>
          <p:cNvPr id="631" name="Google Shape;631;p48"/>
          <p:cNvCxnSpPr/>
          <p:nvPr/>
        </p:nvCxnSpPr>
        <p:spPr>
          <a:xfrm>
            <a:off x="6255375" y="1833975"/>
            <a:ext cx="1771500" cy="1007100"/>
          </a:xfrm>
          <a:prstGeom prst="straightConnector1">
            <a:avLst/>
          </a:prstGeom>
          <a:noFill/>
          <a:ln w="19050" cap="flat" cmpd="sng">
            <a:solidFill>
              <a:schemeClr val="dk1"/>
            </a:solidFill>
            <a:prstDash val="solid"/>
            <a:round/>
            <a:headEnd type="none" w="med" len="med"/>
            <a:tailEnd type="none" w="med" len="med"/>
          </a:ln>
        </p:spPr>
      </p:cxnSp>
      <p:sp>
        <p:nvSpPr>
          <p:cNvPr id="632" name="Google Shape;632;p48"/>
          <p:cNvSpPr txBox="1"/>
          <p:nvPr/>
        </p:nvSpPr>
        <p:spPr>
          <a:xfrm>
            <a:off x="181573" y="2615825"/>
            <a:ext cx="4639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Where       and      are called noise schedulers, which are just functions that have the following properties:</a:t>
            </a:r>
            <a:endParaRPr sz="1700">
              <a:solidFill>
                <a:schemeClr val="dk1"/>
              </a:solidFill>
            </a:endParaRPr>
          </a:p>
        </p:txBody>
      </p:sp>
      <p:pic>
        <p:nvPicPr>
          <p:cNvPr id="633" name="Google Shape;633;p48"/>
          <p:cNvPicPr preferRelativeResize="0"/>
          <p:nvPr/>
        </p:nvPicPr>
        <p:blipFill>
          <a:blip r:embed="rId4">
            <a:alphaModFix/>
          </a:blip>
          <a:stretch>
            <a:fillRect/>
          </a:stretch>
        </p:blipFill>
        <p:spPr>
          <a:xfrm>
            <a:off x="963073" y="2751935"/>
            <a:ext cx="293450" cy="209950"/>
          </a:xfrm>
          <a:prstGeom prst="rect">
            <a:avLst/>
          </a:prstGeom>
          <a:noFill/>
          <a:ln>
            <a:noFill/>
          </a:ln>
        </p:spPr>
      </p:pic>
      <p:pic>
        <p:nvPicPr>
          <p:cNvPr id="634" name="Google Shape;634;p48"/>
          <p:cNvPicPr preferRelativeResize="0"/>
          <p:nvPr/>
        </p:nvPicPr>
        <p:blipFill>
          <a:blip r:embed="rId5">
            <a:alphaModFix/>
          </a:blip>
          <a:stretch>
            <a:fillRect/>
          </a:stretch>
        </p:blipFill>
        <p:spPr>
          <a:xfrm>
            <a:off x="1715857" y="2706957"/>
            <a:ext cx="236371" cy="277200"/>
          </a:xfrm>
          <a:prstGeom prst="rect">
            <a:avLst/>
          </a:prstGeom>
          <a:noFill/>
          <a:ln>
            <a:noFill/>
          </a:ln>
        </p:spPr>
      </p:pic>
      <p:pic>
        <p:nvPicPr>
          <p:cNvPr id="635" name="Google Shape;635;p48"/>
          <p:cNvPicPr preferRelativeResize="0"/>
          <p:nvPr/>
        </p:nvPicPr>
        <p:blipFill>
          <a:blip r:embed="rId6">
            <a:alphaModFix/>
          </a:blip>
          <a:stretch>
            <a:fillRect/>
          </a:stretch>
        </p:blipFill>
        <p:spPr>
          <a:xfrm>
            <a:off x="7980977" y="1535900"/>
            <a:ext cx="730073" cy="231950"/>
          </a:xfrm>
          <a:prstGeom prst="rect">
            <a:avLst/>
          </a:prstGeom>
          <a:noFill/>
          <a:ln>
            <a:noFill/>
          </a:ln>
        </p:spPr>
      </p:pic>
      <p:pic>
        <p:nvPicPr>
          <p:cNvPr id="636" name="Google Shape;636;p48"/>
          <p:cNvPicPr preferRelativeResize="0"/>
          <p:nvPr/>
        </p:nvPicPr>
        <p:blipFill>
          <a:blip r:embed="rId7">
            <a:alphaModFix/>
          </a:blip>
          <a:stretch>
            <a:fillRect/>
          </a:stretch>
        </p:blipFill>
        <p:spPr>
          <a:xfrm>
            <a:off x="6208125" y="2897248"/>
            <a:ext cx="638300" cy="209962"/>
          </a:xfrm>
          <a:prstGeom prst="rect">
            <a:avLst/>
          </a:prstGeom>
          <a:noFill/>
          <a:ln>
            <a:noFill/>
          </a:ln>
        </p:spPr>
      </p:pic>
      <p:pic>
        <p:nvPicPr>
          <p:cNvPr id="637" name="Google Shape;637;p48"/>
          <p:cNvPicPr preferRelativeResize="0"/>
          <p:nvPr/>
        </p:nvPicPr>
        <p:blipFill>
          <a:blip r:embed="rId8">
            <a:alphaModFix/>
          </a:blip>
          <a:stretch>
            <a:fillRect/>
          </a:stretch>
        </p:blipFill>
        <p:spPr>
          <a:xfrm>
            <a:off x="8480075" y="2929387"/>
            <a:ext cx="102850" cy="145700"/>
          </a:xfrm>
          <a:prstGeom prst="rect">
            <a:avLst/>
          </a:prstGeom>
          <a:noFill/>
          <a:ln>
            <a:noFill/>
          </a:ln>
        </p:spPr>
      </p:pic>
      <p:pic>
        <p:nvPicPr>
          <p:cNvPr id="638" name="Google Shape;638;p48"/>
          <p:cNvPicPr preferRelativeResize="0"/>
          <p:nvPr/>
        </p:nvPicPr>
        <p:blipFill>
          <a:blip r:embed="rId9">
            <a:alphaModFix/>
          </a:blip>
          <a:stretch>
            <a:fillRect/>
          </a:stretch>
        </p:blipFill>
        <p:spPr>
          <a:xfrm>
            <a:off x="8026875" y="2520625"/>
            <a:ext cx="638300" cy="231950"/>
          </a:xfrm>
          <a:prstGeom prst="rect">
            <a:avLst/>
          </a:prstGeom>
          <a:noFill/>
          <a:ln>
            <a:noFill/>
          </a:ln>
        </p:spPr>
      </p:pic>
      <p:pic>
        <p:nvPicPr>
          <p:cNvPr id="639" name="Google Shape;639;p48"/>
          <p:cNvPicPr preferRelativeResize="0"/>
          <p:nvPr/>
        </p:nvPicPr>
        <p:blipFill>
          <a:blip r:embed="rId10">
            <a:alphaModFix/>
          </a:blip>
          <a:stretch>
            <a:fillRect/>
          </a:stretch>
        </p:blipFill>
        <p:spPr>
          <a:xfrm>
            <a:off x="6277259" y="1530032"/>
            <a:ext cx="638300" cy="229218"/>
          </a:xfrm>
          <a:prstGeom prst="rect">
            <a:avLst/>
          </a:prstGeom>
          <a:noFill/>
          <a:ln>
            <a:noFill/>
          </a:ln>
        </p:spPr>
      </p:pic>
      <p:sp>
        <p:nvSpPr>
          <p:cNvPr id="640" name="Google Shape;640;p48"/>
          <p:cNvSpPr txBox="1"/>
          <p:nvPr/>
        </p:nvSpPr>
        <p:spPr>
          <a:xfrm>
            <a:off x="6169490" y="3236788"/>
            <a:ext cx="2635200" cy="45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Most common example:</a:t>
            </a:r>
            <a:endParaRPr sz="1800">
              <a:solidFill>
                <a:schemeClr val="dk1"/>
              </a:solidFill>
            </a:endParaRPr>
          </a:p>
        </p:txBody>
      </p:sp>
      <p:pic>
        <p:nvPicPr>
          <p:cNvPr id="641" name="Google Shape;641;p48"/>
          <p:cNvPicPr preferRelativeResize="0"/>
          <p:nvPr/>
        </p:nvPicPr>
        <p:blipFill>
          <a:blip r:embed="rId7">
            <a:alphaModFix/>
          </a:blip>
          <a:stretch>
            <a:fillRect/>
          </a:stretch>
        </p:blipFill>
        <p:spPr>
          <a:xfrm>
            <a:off x="561429" y="3584263"/>
            <a:ext cx="638300" cy="209962"/>
          </a:xfrm>
          <a:prstGeom prst="rect">
            <a:avLst/>
          </a:prstGeom>
          <a:noFill/>
          <a:ln>
            <a:noFill/>
          </a:ln>
        </p:spPr>
      </p:pic>
      <p:pic>
        <p:nvPicPr>
          <p:cNvPr id="642" name="Google Shape;642;p48"/>
          <p:cNvPicPr preferRelativeResize="0"/>
          <p:nvPr/>
        </p:nvPicPr>
        <p:blipFill>
          <a:blip r:embed="rId6">
            <a:alphaModFix/>
          </a:blip>
          <a:stretch>
            <a:fillRect/>
          </a:stretch>
        </p:blipFill>
        <p:spPr>
          <a:xfrm>
            <a:off x="1738578" y="3587841"/>
            <a:ext cx="638300" cy="202799"/>
          </a:xfrm>
          <a:prstGeom prst="rect">
            <a:avLst/>
          </a:prstGeom>
          <a:noFill/>
          <a:ln>
            <a:noFill/>
          </a:ln>
        </p:spPr>
      </p:pic>
      <p:pic>
        <p:nvPicPr>
          <p:cNvPr id="643" name="Google Shape;643;p48"/>
          <p:cNvPicPr preferRelativeResize="0"/>
          <p:nvPr/>
        </p:nvPicPr>
        <p:blipFill>
          <a:blip r:embed="rId10">
            <a:alphaModFix/>
          </a:blip>
          <a:stretch>
            <a:fillRect/>
          </a:stretch>
        </p:blipFill>
        <p:spPr>
          <a:xfrm>
            <a:off x="561432" y="3972174"/>
            <a:ext cx="638300" cy="229218"/>
          </a:xfrm>
          <a:prstGeom prst="rect">
            <a:avLst/>
          </a:prstGeom>
          <a:noFill/>
          <a:ln>
            <a:noFill/>
          </a:ln>
        </p:spPr>
      </p:pic>
      <p:pic>
        <p:nvPicPr>
          <p:cNvPr id="644" name="Google Shape;644;p48"/>
          <p:cNvPicPr preferRelativeResize="0"/>
          <p:nvPr/>
        </p:nvPicPr>
        <p:blipFill>
          <a:blip r:embed="rId9">
            <a:alphaModFix/>
          </a:blip>
          <a:stretch>
            <a:fillRect/>
          </a:stretch>
        </p:blipFill>
        <p:spPr>
          <a:xfrm>
            <a:off x="1742803" y="3948083"/>
            <a:ext cx="638300" cy="231950"/>
          </a:xfrm>
          <a:prstGeom prst="rect">
            <a:avLst/>
          </a:prstGeom>
          <a:noFill/>
          <a:ln>
            <a:noFill/>
          </a:ln>
        </p:spPr>
      </p:pic>
      <p:pic>
        <p:nvPicPr>
          <p:cNvPr id="645" name="Google Shape;645;p48"/>
          <p:cNvPicPr preferRelativeResize="0"/>
          <p:nvPr/>
        </p:nvPicPr>
        <p:blipFill>
          <a:blip r:embed="rId11">
            <a:alphaModFix/>
          </a:blip>
          <a:stretch>
            <a:fillRect/>
          </a:stretch>
        </p:blipFill>
        <p:spPr>
          <a:xfrm>
            <a:off x="6566490" y="3640625"/>
            <a:ext cx="722312" cy="231950"/>
          </a:xfrm>
          <a:prstGeom prst="rect">
            <a:avLst/>
          </a:prstGeom>
          <a:noFill/>
          <a:ln>
            <a:noFill/>
          </a:ln>
        </p:spPr>
      </p:pic>
      <p:sp>
        <p:nvSpPr>
          <p:cNvPr id="646" name="Google Shape;646;p48"/>
          <p:cNvSpPr txBox="1"/>
          <p:nvPr/>
        </p:nvSpPr>
        <p:spPr>
          <a:xfrm>
            <a:off x="6185397" y="3855799"/>
            <a:ext cx="454500" cy="2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t>
            </a:r>
            <a:endParaRPr sz="1800">
              <a:solidFill>
                <a:schemeClr val="dk1"/>
              </a:solidFill>
            </a:endParaRPr>
          </a:p>
        </p:txBody>
      </p:sp>
      <p:pic>
        <p:nvPicPr>
          <p:cNvPr id="647" name="Google Shape;647;p48"/>
          <p:cNvPicPr preferRelativeResize="0"/>
          <p:nvPr/>
        </p:nvPicPr>
        <p:blipFill>
          <a:blip r:embed="rId12">
            <a:alphaModFix/>
          </a:blip>
          <a:stretch>
            <a:fillRect/>
          </a:stretch>
        </p:blipFill>
        <p:spPr>
          <a:xfrm>
            <a:off x="6574047" y="3955673"/>
            <a:ext cx="1170407" cy="277200"/>
          </a:xfrm>
          <a:prstGeom prst="rect">
            <a:avLst/>
          </a:prstGeom>
          <a:noFill/>
          <a:ln>
            <a:noFill/>
          </a:ln>
        </p:spPr>
      </p:pic>
      <p:sp>
        <p:nvSpPr>
          <p:cNvPr id="648" name="Google Shape;648;p48"/>
          <p:cNvSpPr txBox="1"/>
          <p:nvPr/>
        </p:nvSpPr>
        <p:spPr>
          <a:xfrm>
            <a:off x="6169490" y="3535087"/>
            <a:ext cx="454500" cy="2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a:t>
            </a:r>
            <a:endParaRPr sz="1800">
              <a:solidFill>
                <a:schemeClr val="dk1"/>
              </a:solidFill>
            </a:endParaRPr>
          </a:p>
        </p:txBody>
      </p:sp>
      <p:sp>
        <p:nvSpPr>
          <p:cNvPr id="649" name="Google Shape;649;p48"/>
          <p:cNvSpPr/>
          <p:nvPr/>
        </p:nvSpPr>
        <p:spPr>
          <a:xfrm>
            <a:off x="3835938" y="3640625"/>
            <a:ext cx="874500" cy="452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e.g.</a:t>
            </a:r>
            <a:endParaRPr/>
          </a:p>
        </p:txBody>
      </p:sp>
      <p:sp>
        <p:nvSpPr>
          <p:cNvPr id="650" name="Google Shape;650;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49"/>
          <p:cNvSpPr txBox="1"/>
          <p:nvPr/>
        </p:nvSpPr>
        <p:spPr>
          <a:xfrm>
            <a:off x="2222290" y="0"/>
            <a:ext cx="51576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Gaussian Path from Noise to a Data Point </a:t>
            </a:r>
            <a:endParaRPr sz="1800" b="1">
              <a:solidFill>
                <a:schemeClr val="dk1"/>
              </a:solidFill>
            </a:endParaRPr>
          </a:p>
        </p:txBody>
      </p:sp>
      <p:pic>
        <p:nvPicPr>
          <p:cNvPr id="656" name="Google Shape;656;p49"/>
          <p:cNvPicPr preferRelativeResize="0"/>
          <p:nvPr/>
        </p:nvPicPr>
        <p:blipFill>
          <a:blip r:embed="rId3">
            <a:alphaModFix/>
          </a:blip>
          <a:stretch>
            <a:fillRect/>
          </a:stretch>
        </p:blipFill>
        <p:spPr>
          <a:xfrm>
            <a:off x="616316" y="805771"/>
            <a:ext cx="638300" cy="209962"/>
          </a:xfrm>
          <a:prstGeom prst="rect">
            <a:avLst/>
          </a:prstGeom>
          <a:noFill/>
          <a:ln>
            <a:noFill/>
          </a:ln>
        </p:spPr>
      </p:pic>
      <p:pic>
        <p:nvPicPr>
          <p:cNvPr id="657" name="Google Shape;657;p49"/>
          <p:cNvPicPr preferRelativeResize="0"/>
          <p:nvPr/>
        </p:nvPicPr>
        <p:blipFill>
          <a:blip r:embed="rId4">
            <a:alphaModFix/>
          </a:blip>
          <a:stretch>
            <a:fillRect/>
          </a:stretch>
        </p:blipFill>
        <p:spPr>
          <a:xfrm>
            <a:off x="1343294" y="796144"/>
            <a:ext cx="638300" cy="229218"/>
          </a:xfrm>
          <a:prstGeom prst="rect">
            <a:avLst/>
          </a:prstGeom>
          <a:noFill/>
          <a:ln>
            <a:noFill/>
          </a:ln>
        </p:spPr>
      </p:pic>
      <p:pic>
        <p:nvPicPr>
          <p:cNvPr id="658" name="Google Shape;658;p49"/>
          <p:cNvPicPr preferRelativeResize="0"/>
          <p:nvPr/>
        </p:nvPicPr>
        <p:blipFill>
          <a:blip r:embed="rId5">
            <a:alphaModFix/>
          </a:blip>
          <a:stretch>
            <a:fillRect/>
          </a:stretch>
        </p:blipFill>
        <p:spPr>
          <a:xfrm>
            <a:off x="7313472" y="789604"/>
            <a:ext cx="638300" cy="202799"/>
          </a:xfrm>
          <a:prstGeom prst="rect">
            <a:avLst/>
          </a:prstGeom>
          <a:noFill/>
          <a:ln>
            <a:noFill/>
          </a:ln>
        </p:spPr>
      </p:pic>
      <p:pic>
        <p:nvPicPr>
          <p:cNvPr id="659" name="Google Shape;659;p49"/>
          <p:cNvPicPr preferRelativeResize="0"/>
          <p:nvPr/>
        </p:nvPicPr>
        <p:blipFill>
          <a:blip r:embed="rId6">
            <a:alphaModFix/>
          </a:blip>
          <a:stretch>
            <a:fillRect/>
          </a:stretch>
        </p:blipFill>
        <p:spPr>
          <a:xfrm>
            <a:off x="8056047" y="775046"/>
            <a:ext cx="638300" cy="231950"/>
          </a:xfrm>
          <a:prstGeom prst="rect">
            <a:avLst/>
          </a:prstGeom>
          <a:noFill/>
          <a:ln>
            <a:noFill/>
          </a:ln>
        </p:spPr>
      </p:pic>
      <p:sp>
        <p:nvSpPr>
          <p:cNvPr id="660" name="Google Shape;660;p49"/>
          <p:cNvSpPr/>
          <p:nvPr/>
        </p:nvSpPr>
        <p:spPr>
          <a:xfrm>
            <a:off x="7888604" y="4068836"/>
            <a:ext cx="113400" cy="1134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61" name="Google Shape;661;p49"/>
          <p:cNvGrpSpPr/>
          <p:nvPr/>
        </p:nvGrpSpPr>
        <p:grpSpPr>
          <a:xfrm>
            <a:off x="764367" y="3695475"/>
            <a:ext cx="1009200" cy="1009200"/>
            <a:chOff x="734750" y="3695475"/>
            <a:chExt cx="1009200" cy="1009200"/>
          </a:xfrm>
        </p:grpSpPr>
        <p:sp>
          <p:nvSpPr>
            <p:cNvPr id="662" name="Google Shape;662;p49"/>
            <p:cNvSpPr/>
            <p:nvPr/>
          </p:nvSpPr>
          <p:spPr>
            <a:xfrm>
              <a:off x="734750" y="3695475"/>
              <a:ext cx="1009200" cy="10092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sp>
          <p:nvSpPr>
            <p:cNvPr id="663" name="Google Shape;663;p49"/>
            <p:cNvSpPr/>
            <p:nvPr/>
          </p:nvSpPr>
          <p:spPr>
            <a:xfrm>
              <a:off x="851227" y="3811953"/>
              <a:ext cx="776100" cy="7761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sp>
          <p:nvSpPr>
            <p:cNvPr id="664" name="Google Shape;664;p49"/>
            <p:cNvSpPr/>
            <p:nvPr/>
          </p:nvSpPr>
          <p:spPr>
            <a:xfrm>
              <a:off x="948207" y="3908933"/>
              <a:ext cx="582300" cy="5823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sp>
          <p:nvSpPr>
            <p:cNvPr id="665" name="Google Shape;665;p49"/>
            <p:cNvSpPr/>
            <p:nvPr/>
          </p:nvSpPr>
          <p:spPr>
            <a:xfrm>
              <a:off x="1033306" y="3994031"/>
              <a:ext cx="412200" cy="4122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sp>
          <p:nvSpPr>
            <p:cNvPr id="666" name="Google Shape;666;p49"/>
            <p:cNvSpPr/>
            <p:nvPr/>
          </p:nvSpPr>
          <p:spPr>
            <a:xfrm>
              <a:off x="1100532" y="4061257"/>
              <a:ext cx="277500" cy="277500"/>
            </a:xfrm>
            <a:prstGeom prst="ellipse">
              <a:avLst/>
            </a:prstGeom>
            <a:solidFill>
              <a:schemeClr val="lt2"/>
            </a:solidFill>
            <a:ln w="6450" cap="flat" cmpd="sng">
              <a:solidFill>
                <a:schemeClr val="dk2"/>
              </a:solidFill>
              <a:prstDash val="dot"/>
              <a:round/>
              <a:headEnd type="none" w="sm" len="sm"/>
              <a:tailEnd type="none" w="sm" len="sm"/>
            </a:ln>
          </p:spPr>
          <p:txBody>
            <a:bodyPr spcFirstLastPara="1" wrap="square" lIns="61900" tIns="61900" rIns="61900" bIns="61900" anchor="ctr" anchorCtr="0">
              <a:noAutofit/>
            </a:bodyPr>
            <a:lstStyle/>
            <a:p>
              <a:pPr marL="0" lvl="0" indent="0" algn="ctr" rtl="0">
                <a:spcBef>
                  <a:spcPts val="0"/>
                </a:spcBef>
                <a:spcAft>
                  <a:spcPts val="0"/>
                </a:spcAft>
                <a:buNone/>
              </a:pPr>
              <a:endParaRPr sz="948"/>
            </a:p>
          </p:txBody>
        </p:sp>
      </p:grpSp>
      <p:sp>
        <p:nvSpPr>
          <p:cNvPr id="667" name="Google Shape;667;p49"/>
          <p:cNvSpPr/>
          <p:nvPr/>
        </p:nvSpPr>
        <p:spPr>
          <a:xfrm>
            <a:off x="1862900" y="4068825"/>
            <a:ext cx="5812200" cy="113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8" name="Google Shape;668;p49"/>
          <p:cNvSpPr txBox="1"/>
          <p:nvPr/>
        </p:nvSpPr>
        <p:spPr>
          <a:xfrm>
            <a:off x="2888411" y="3725092"/>
            <a:ext cx="4655100" cy="23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Variance goes down, step by step</a:t>
            </a:r>
            <a:endParaRPr sz="1800">
              <a:solidFill>
                <a:schemeClr val="dk1"/>
              </a:solidFill>
            </a:endParaRPr>
          </a:p>
        </p:txBody>
      </p:sp>
      <p:pic>
        <p:nvPicPr>
          <p:cNvPr id="669" name="Google Shape;669;p49"/>
          <p:cNvPicPr preferRelativeResize="0"/>
          <p:nvPr/>
        </p:nvPicPr>
        <p:blipFill>
          <a:blip r:embed="rId7">
            <a:alphaModFix/>
          </a:blip>
          <a:stretch>
            <a:fillRect/>
          </a:stretch>
        </p:blipFill>
        <p:spPr>
          <a:xfrm>
            <a:off x="3930546" y="1591917"/>
            <a:ext cx="1490701" cy="311995"/>
          </a:xfrm>
          <a:prstGeom prst="rect">
            <a:avLst/>
          </a:prstGeom>
          <a:noFill/>
          <a:ln>
            <a:noFill/>
          </a:ln>
        </p:spPr>
      </p:pic>
      <p:pic>
        <p:nvPicPr>
          <p:cNvPr id="670" name="Google Shape;670;p49"/>
          <p:cNvPicPr preferRelativeResize="0"/>
          <p:nvPr/>
        </p:nvPicPr>
        <p:blipFill>
          <a:blip r:embed="rId8">
            <a:alphaModFix/>
          </a:blip>
          <a:stretch>
            <a:fillRect/>
          </a:stretch>
        </p:blipFill>
        <p:spPr>
          <a:xfrm>
            <a:off x="431662" y="1556858"/>
            <a:ext cx="1887575" cy="322858"/>
          </a:xfrm>
          <a:prstGeom prst="rect">
            <a:avLst/>
          </a:prstGeom>
          <a:noFill/>
          <a:ln>
            <a:noFill/>
          </a:ln>
        </p:spPr>
      </p:pic>
      <p:pic>
        <p:nvPicPr>
          <p:cNvPr id="671" name="Google Shape;671;p49"/>
          <p:cNvPicPr preferRelativeResize="0"/>
          <p:nvPr/>
        </p:nvPicPr>
        <p:blipFill>
          <a:blip r:embed="rId9">
            <a:alphaModFix/>
          </a:blip>
          <a:stretch>
            <a:fillRect/>
          </a:stretch>
        </p:blipFill>
        <p:spPr>
          <a:xfrm>
            <a:off x="596537" y="2539733"/>
            <a:ext cx="1009197" cy="322850"/>
          </a:xfrm>
          <a:prstGeom prst="rect">
            <a:avLst/>
          </a:prstGeom>
          <a:noFill/>
          <a:ln>
            <a:noFill/>
          </a:ln>
        </p:spPr>
      </p:pic>
      <p:pic>
        <p:nvPicPr>
          <p:cNvPr id="672" name="Google Shape;672;p49"/>
          <p:cNvPicPr preferRelativeResize="0"/>
          <p:nvPr/>
        </p:nvPicPr>
        <p:blipFill>
          <a:blip r:embed="rId10">
            <a:alphaModFix/>
          </a:blip>
          <a:stretch>
            <a:fillRect/>
          </a:stretch>
        </p:blipFill>
        <p:spPr>
          <a:xfrm>
            <a:off x="7112149" y="1562393"/>
            <a:ext cx="1887561" cy="311975"/>
          </a:xfrm>
          <a:prstGeom prst="rect">
            <a:avLst/>
          </a:prstGeom>
          <a:noFill/>
          <a:ln>
            <a:noFill/>
          </a:ln>
        </p:spPr>
      </p:pic>
      <p:pic>
        <p:nvPicPr>
          <p:cNvPr id="673" name="Google Shape;673;p49"/>
          <p:cNvPicPr preferRelativeResize="0"/>
          <p:nvPr/>
        </p:nvPicPr>
        <p:blipFill>
          <a:blip r:embed="rId11">
            <a:alphaModFix/>
          </a:blip>
          <a:stretch>
            <a:fillRect/>
          </a:stretch>
        </p:blipFill>
        <p:spPr>
          <a:xfrm>
            <a:off x="7484269" y="2564927"/>
            <a:ext cx="924868" cy="311975"/>
          </a:xfrm>
          <a:prstGeom prst="rect">
            <a:avLst/>
          </a:prstGeom>
          <a:noFill/>
          <a:ln>
            <a:noFill/>
          </a:ln>
        </p:spPr>
      </p:pic>
      <p:sp>
        <p:nvSpPr>
          <p:cNvPr id="674" name="Google Shape;674;p49"/>
          <p:cNvSpPr/>
          <p:nvPr/>
        </p:nvSpPr>
        <p:spPr>
          <a:xfrm>
            <a:off x="2886936" y="1642900"/>
            <a:ext cx="365400" cy="210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5" name="Google Shape;675;p49"/>
          <p:cNvSpPr/>
          <p:nvPr/>
        </p:nvSpPr>
        <p:spPr>
          <a:xfrm rot="10800000">
            <a:off x="6059967" y="1642913"/>
            <a:ext cx="365400" cy="210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76" name="Google Shape;676;p49"/>
          <p:cNvPicPr preferRelativeResize="0"/>
          <p:nvPr/>
        </p:nvPicPr>
        <p:blipFill>
          <a:blip r:embed="rId12">
            <a:alphaModFix/>
          </a:blip>
          <a:stretch>
            <a:fillRect/>
          </a:stretch>
        </p:blipFill>
        <p:spPr>
          <a:xfrm>
            <a:off x="454907" y="4701857"/>
            <a:ext cx="438922" cy="210000"/>
          </a:xfrm>
          <a:prstGeom prst="rect">
            <a:avLst/>
          </a:prstGeom>
          <a:noFill/>
          <a:ln>
            <a:noFill/>
          </a:ln>
        </p:spPr>
      </p:pic>
      <p:sp>
        <p:nvSpPr>
          <p:cNvPr id="677" name="Google Shape;677;p49"/>
          <p:cNvSpPr txBox="1"/>
          <p:nvPr/>
        </p:nvSpPr>
        <p:spPr>
          <a:xfrm>
            <a:off x="825415" y="4635562"/>
            <a:ext cx="1490700" cy="20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is a Gaussian</a:t>
            </a:r>
            <a:endParaRPr sz="1300">
              <a:solidFill>
                <a:schemeClr val="dk1"/>
              </a:solidFill>
            </a:endParaRPr>
          </a:p>
        </p:txBody>
      </p:sp>
      <p:pic>
        <p:nvPicPr>
          <p:cNvPr id="678" name="Google Shape;678;p49"/>
          <p:cNvPicPr preferRelativeResize="0"/>
          <p:nvPr/>
        </p:nvPicPr>
        <p:blipFill>
          <a:blip r:embed="rId13">
            <a:alphaModFix/>
          </a:blip>
          <a:stretch>
            <a:fillRect/>
          </a:stretch>
        </p:blipFill>
        <p:spPr>
          <a:xfrm>
            <a:off x="7451515" y="4233492"/>
            <a:ext cx="1009200" cy="236910"/>
          </a:xfrm>
          <a:prstGeom prst="rect">
            <a:avLst/>
          </a:prstGeom>
          <a:noFill/>
          <a:ln>
            <a:noFill/>
          </a:ln>
        </p:spPr>
      </p:pic>
      <p:cxnSp>
        <p:nvCxnSpPr>
          <p:cNvPr id="679" name="Google Shape;679;p49"/>
          <p:cNvCxnSpPr/>
          <p:nvPr/>
        </p:nvCxnSpPr>
        <p:spPr>
          <a:xfrm>
            <a:off x="2136650" y="887100"/>
            <a:ext cx="4975500" cy="9900"/>
          </a:xfrm>
          <a:prstGeom prst="straightConnector1">
            <a:avLst/>
          </a:prstGeom>
          <a:noFill/>
          <a:ln w="9525" cap="flat" cmpd="sng">
            <a:solidFill>
              <a:schemeClr val="dk1"/>
            </a:solidFill>
            <a:prstDash val="solid"/>
            <a:round/>
            <a:headEnd type="none" w="med" len="med"/>
            <a:tailEnd type="triangle" w="med" len="med"/>
          </a:ln>
        </p:spPr>
      </p:cxnSp>
      <p:cxnSp>
        <p:nvCxnSpPr>
          <p:cNvPr id="680" name="Google Shape;680;p49"/>
          <p:cNvCxnSpPr/>
          <p:nvPr/>
        </p:nvCxnSpPr>
        <p:spPr>
          <a:xfrm flipH="1">
            <a:off x="1254612" y="1026733"/>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1" name="Google Shape;681;p49"/>
          <p:cNvCxnSpPr/>
          <p:nvPr/>
        </p:nvCxnSpPr>
        <p:spPr>
          <a:xfrm flipH="1">
            <a:off x="1254612" y="1989670"/>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2" name="Google Shape;682;p49"/>
          <p:cNvCxnSpPr/>
          <p:nvPr/>
        </p:nvCxnSpPr>
        <p:spPr>
          <a:xfrm flipH="1">
            <a:off x="1250412" y="3044170"/>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3" name="Google Shape;683;p49"/>
          <p:cNvCxnSpPr/>
          <p:nvPr/>
        </p:nvCxnSpPr>
        <p:spPr>
          <a:xfrm flipH="1">
            <a:off x="7954509" y="987243"/>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4" name="Google Shape;684;p49"/>
          <p:cNvCxnSpPr/>
          <p:nvPr/>
        </p:nvCxnSpPr>
        <p:spPr>
          <a:xfrm flipH="1">
            <a:off x="7954509" y="2009433"/>
            <a:ext cx="4200" cy="440100"/>
          </a:xfrm>
          <a:prstGeom prst="straightConnector1">
            <a:avLst/>
          </a:prstGeom>
          <a:noFill/>
          <a:ln w="9525" cap="flat" cmpd="sng">
            <a:solidFill>
              <a:schemeClr val="dk1"/>
            </a:solidFill>
            <a:prstDash val="solid"/>
            <a:round/>
            <a:headEnd type="none" w="med" len="med"/>
            <a:tailEnd type="triangle" w="med" len="med"/>
          </a:ln>
        </p:spPr>
      </p:cxnSp>
      <p:cxnSp>
        <p:nvCxnSpPr>
          <p:cNvPr id="685" name="Google Shape;685;p49"/>
          <p:cNvCxnSpPr/>
          <p:nvPr/>
        </p:nvCxnSpPr>
        <p:spPr>
          <a:xfrm flipH="1">
            <a:off x="7944597" y="3061208"/>
            <a:ext cx="4200" cy="440100"/>
          </a:xfrm>
          <a:prstGeom prst="straightConnector1">
            <a:avLst/>
          </a:prstGeom>
          <a:noFill/>
          <a:ln w="9525" cap="flat" cmpd="sng">
            <a:solidFill>
              <a:schemeClr val="dk1"/>
            </a:solidFill>
            <a:prstDash val="solid"/>
            <a:round/>
            <a:headEnd type="none" w="med" len="med"/>
            <a:tailEnd type="triangle" w="med" len="med"/>
          </a:ln>
        </p:spPr>
      </p:cxnSp>
      <p:pic>
        <p:nvPicPr>
          <p:cNvPr id="686" name="Google Shape;686;p49"/>
          <p:cNvPicPr preferRelativeResize="0"/>
          <p:nvPr/>
        </p:nvPicPr>
        <p:blipFill>
          <a:blip r:embed="rId14">
            <a:alphaModFix/>
          </a:blip>
          <a:stretch>
            <a:fillRect/>
          </a:stretch>
        </p:blipFill>
        <p:spPr>
          <a:xfrm>
            <a:off x="1862900" y="3841155"/>
            <a:ext cx="638300" cy="227660"/>
          </a:xfrm>
          <a:prstGeom prst="rect">
            <a:avLst/>
          </a:prstGeom>
          <a:noFill/>
          <a:ln>
            <a:noFill/>
          </a:ln>
        </p:spPr>
      </p:pic>
      <p:pic>
        <p:nvPicPr>
          <p:cNvPr id="687" name="Google Shape;687;p49"/>
          <p:cNvPicPr preferRelativeResize="0"/>
          <p:nvPr/>
        </p:nvPicPr>
        <p:blipFill>
          <a:blip r:embed="rId15">
            <a:alphaModFix/>
          </a:blip>
          <a:stretch>
            <a:fillRect/>
          </a:stretch>
        </p:blipFill>
        <p:spPr>
          <a:xfrm>
            <a:off x="6985514" y="3853578"/>
            <a:ext cx="594061" cy="202800"/>
          </a:xfrm>
          <a:prstGeom prst="rect">
            <a:avLst/>
          </a:prstGeom>
          <a:noFill/>
          <a:ln>
            <a:noFill/>
          </a:ln>
        </p:spPr>
      </p:pic>
      <p:pic>
        <p:nvPicPr>
          <p:cNvPr id="688" name="Google Shape;688;p49"/>
          <p:cNvPicPr preferRelativeResize="0"/>
          <p:nvPr/>
        </p:nvPicPr>
        <p:blipFill>
          <a:blip r:embed="rId16">
            <a:alphaModFix/>
          </a:blip>
          <a:stretch>
            <a:fillRect/>
          </a:stretch>
        </p:blipFill>
        <p:spPr>
          <a:xfrm>
            <a:off x="4128166" y="4294052"/>
            <a:ext cx="968750" cy="330850"/>
          </a:xfrm>
          <a:prstGeom prst="rect">
            <a:avLst/>
          </a:prstGeom>
          <a:noFill/>
          <a:ln>
            <a:noFill/>
          </a:ln>
        </p:spPr>
      </p:pic>
      <p:sp>
        <p:nvSpPr>
          <p:cNvPr id="689" name="Google Shape;689;p49"/>
          <p:cNvSpPr txBox="1"/>
          <p:nvPr/>
        </p:nvSpPr>
        <p:spPr>
          <a:xfrm>
            <a:off x="7112150" y="4521675"/>
            <a:ext cx="1887600" cy="21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rgbClr val="FF0000"/>
                </a:solidFill>
              </a:rPr>
              <a:t>Here we assume the dataset is a single point, hence the dirac function</a:t>
            </a:r>
            <a:endParaRPr sz="800">
              <a:solidFill>
                <a:srgbClr val="FF0000"/>
              </a:solidFill>
            </a:endParaRPr>
          </a:p>
        </p:txBody>
      </p:sp>
      <p:sp>
        <p:nvSpPr>
          <p:cNvPr id="690" name="Google Shape;690;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50"/>
          <p:cNvSpPr txBox="1"/>
          <p:nvPr/>
        </p:nvSpPr>
        <p:spPr>
          <a:xfrm>
            <a:off x="3163425" y="0"/>
            <a:ext cx="30408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 Probability Path</a:t>
            </a:r>
            <a:endParaRPr sz="1800" b="1">
              <a:solidFill>
                <a:schemeClr val="dk1"/>
              </a:solidFill>
            </a:endParaRPr>
          </a:p>
        </p:txBody>
      </p:sp>
      <p:sp>
        <p:nvSpPr>
          <p:cNvPr id="696" name="Google Shape;696;p50"/>
          <p:cNvSpPr txBox="1"/>
          <p:nvPr/>
        </p:nvSpPr>
        <p:spPr>
          <a:xfrm>
            <a:off x="192086" y="650000"/>
            <a:ext cx="5108400" cy="5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Marginalizing </a:t>
            </a:r>
            <a:r>
              <a:rPr lang="en" sz="1800">
                <a:solidFill>
                  <a:schemeClr val="dk1"/>
                </a:solidFill>
              </a:rPr>
              <a:t>means </a:t>
            </a:r>
            <a:r>
              <a:rPr lang="en" sz="1800" b="1">
                <a:solidFill>
                  <a:schemeClr val="dk1"/>
                </a:solidFill>
              </a:rPr>
              <a:t>integrating </a:t>
            </a:r>
            <a:r>
              <a:rPr lang="en" sz="1800">
                <a:solidFill>
                  <a:schemeClr val="dk1"/>
                </a:solidFill>
              </a:rPr>
              <a:t>over     :</a:t>
            </a:r>
            <a:endParaRPr sz="1800">
              <a:solidFill>
                <a:schemeClr val="dk1"/>
              </a:solidFill>
            </a:endParaRPr>
          </a:p>
        </p:txBody>
      </p:sp>
      <p:pic>
        <p:nvPicPr>
          <p:cNvPr id="697" name="Google Shape;697;p50"/>
          <p:cNvPicPr preferRelativeResize="0"/>
          <p:nvPr/>
        </p:nvPicPr>
        <p:blipFill>
          <a:blip r:embed="rId3">
            <a:alphaModFix/>
          </a:blip>
          <a:stretch>
            <a:fillRect/>
          </a:stretch>
        </p:blipFill>
        <p:spPr>
          <a:xfrm>
            <a:off x="283039" y="2066493"/>
            <a:ext cx="5828174" cy="580315"/>
          </a:xfrm>
          <a:prstGeom prst="rect">
            <a:avLst/>
          </a:prstGeom>
          <a:noFill/>
          <a:ln>
            <a:noFill/>
          </a:ln>
        </p:spPr>
      </p:pic>
      <p:pic>
        <p:nvPicPr>
          <p:cNvPr id="698" name="Google Shape;698;p50"/>
          <p:cNvPicPr preferRelativeResize="0"/>
          <p:nvPr/>
        </p:nvPicPr>
        <p:blipFill>
          <a:blip r:embed="rId4">
            <a:alphaModFix/>
          </a:blip>
          <a:stretch>
            <a:fillRect/>
          </a:stretch>
        </p:blipFill>
        <p:spPr>
          <a:xfrm>
            <a:off x="4322373" y="772379"/>
            <a:ext cx="179200" cy="198200"/>
          </a:xfrm>
          <a:prstGeom prst="rect">
            <a:avLst/>
          </a:prstGeom>
          <a:noFill/>
          <a:ln>
            <a:noFill/>
          </a:ln>
        </p:spPr>
      </p:pic>
      <p:sp>
        <p:nvSpPr>
          <p:cNvPr id="699" name="Google Shape;699;p50"/>
          <p:cNvSpPr txBox="1"/>
          <p:nvPr/>
        </p:nvSpPr>
        <p:spPr>
          <a:xfrm>
            <a:off x="1692090" y="2930711"/>
            <a:ext cx="35694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Conditional </a:t>
            </a:r>
            <a:r>
              <a:rPr lang="en" sz="1800">
                <a:solidFill>
                  <a:schemeClr val="dk1"/>
                </a:solidFill>
              </a:rPr>
              <a:t>Probability Path</a:t>
            </a:r>
            <a:endParaRPr sz="1800">
              <a:solidFill>
                <a:schemeClr val="dk1"/>
              </a:solidFill>
            </a:endParaRPr>
          </a:p>
        </p:txBody>
      </p:sp>
      <p:sp>
        <p:nvSpPr>
          <p:cNvPr id="700" name="Google Shape;700;p50"/>
          <p:cNvSpPr txBox="1"/>
          <p:nvPr/>
        </p:nvSpPr>
        <p:spPr>
          <a:xfrm>
            <a:off x="3175903" y="1433700"/>
            <a:ext cx="3353400" cy="357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chemeClr val="dk1"/>
                </a:solidFill>
              </a:rPr>
              <a:t>Density of z</a:t>
            </a:r>
            <a:r>
              <a:rPr lang="en" sz="1300">
                <a:solidFill>
                  <a:schemeClr val="dk1"/>
                </a:solidFill>
              </a:rPr>
              <a:t> under the data distribution</a:t>
            </a:r>
            <a:endParaRPr sz="1300">
              <a:solidFill>
                <a:schemeClr val="dk1"/>
              </a:solidFill>
            </a:endParaRPr>
          </a:p>
        </p:txBody>
      </p:sp>
      <p:sp>
        <p:nvSpPr>
          <p:cNvPr id="701" name="Google Shape;701;p50"/>
          <p:cNvSpPr/>
          <p:nvPr/>
        </p:nvSpPr>
        <p:spPr>
          <a:xfrm>
            <a:off x="5615763" y="2109111"/>
            <a:ext cx="495600" cy="461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2" name="Google Shape;702;p50"/>
          <p:cNvSpPr/>
          <p:nvPr/>
        </p:nvSpPr>
        <p:spPr>
          <a:xfrm rot="-5400000">
            <a:off x="6241561" y="2245511"/>
            <a:ext cx="179100" cy="222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3" name="Google Shape;703;p50"/>
          <p:cNvSpPr txBox="1"/>
          <p:nvPr/>
        </p:nvSpPr>
        <p:spPr>
          <a:xfrm>
            <a:off x="6474812" y="2076511"/>
            <a:ext cx="1218000" cy="8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We </a:t>
            </a:r>
            <a:r>
              <a:rPr lang="en" sz="1200" b="1">
                <a:solidFill>
                  <a:schemeClr val="dk1"/>
                </a:solidFill>
              </a:rPr>
              <a:t>integrate over</a:t>
            </a:r>
            <a:r>
              <a:rPr lang="en" sz="1000" b="1">
                <a:solidFill>
                  <a:schemeClr val="dk1"/>
                </a:solidFill>
              </a:rPr>
              <a:t> </a:t>
            </a:r>
            <a:endParaRPr sz="1000" b="1">
              <a:solidFill>
                <a:schemeClr val="dk1"/>
              </a:solidFill>
            </a:endParaRPr>
          </a:p>
        </p:txBody>
      </p:sp>
      <p:pic>
        <p:nvPicPr>
          <p:cNvPr id="704" name="Google Shape;704;p50"/>
          <p:cNvPicPr preferRelativeResize="0"/>
          <p:nvPr/>
        </p:nvPicPr>
        <p:blipFill>
          <a:blip r:embed="rId4">
            <a:alphaModFix/>
          </a:blip>
          <a:stretch>
            <a:fillRect/>
          </a:stretch>
        </p:blipFill>
        <p:spPr>
          <a:xfrm>
            <a:off x="6929021" y="2333612"/>
            <a:ext cx="179100" cy="198089"/>
          </a:xfrm>
          <a:prstGeom prst="rect">
            <a:avLst/>
          </a:prstGeom>
          <a:noFill/>
          <a:ln>
            <a:noFill/>
          </a:ln>
        </p:spPr>
      </p:pic>
      <p:sp>
        <p:nvSpPr>
          <p:cNvPr id="705" name="Google Shape;705;p50"/>
          <p:cNvSpPr/>
          <p:nvPr/>
        </p:nvSpPr>
        <p:spPr>
          <a:xfrm rot="-5400000">
            <a:off x="3074940" y="1949961"/>
            <a:ext cx="179100" cy="1677600"/>
          </a:xfrm>
          <a:prstGeom prst="leftBrace">
            <a:avLst>
              <a:gd name="adj1" fmla="val 50000"/>
              <a:gd name="adj2" fmla="val 50000"/>
            </a:avLst>
          </a:prstGeom>
          <a:no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6" name="Google Shape;706;p50"/>
          <p:cNvSpPr/>
          <p:nvPr/>
        </p:nvSpPr>
        <p:spPr>
          <a:xfrm rot="5400000">
            <a:off x="4696863" y="1244761"/>
            <a:ext cx="163200" cy="1435200"/>
          </a:xfrm>
          <a:prstGeom prst="leftBrace">
            <a:avLst>
              <a:gd name="adj1" fmla="val 50000"/>
              <a:gd name="adj2" fmla="val 50000"/>
            </a:avLst>
          </a:prstGeom>
          <a:no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7" name="Google Shape;707;p50"/>
          <p:cNvSpPr/>
          <p:nvPr/>
        </p:nvSpPr>
        <p:spPr>
          <a:xfrm>
            <a:off x="7729464" y="4475641"/>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708" name="Google Shape;708;p50"/>
          <p:cNvSpPr/>
          <p:nvPr/>
        </p:nvSpPr>
        <p:spPr>
          <a:xfrm>
            <a:off x="7729464" y="3442591"/>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cxnSp>
        <p:nvCxnSpPr>
          <p:cNvPr id="709" name="Google Shape;709;p50"/>
          <p:cNvCxnSpPr>
            <a:stCxn id="708" idx="4"/>
            <a:endCxn id="707" idx="0"/>
          </p:cNvCxnSpPr>
          <p:nvPr/>
        </p:nvCxnSpPr>
        <p:spPr>
          <a:xfrm>
            <a:off x="7960314" y="3904291"/>
            <a:ext cx="0" cy="571500"/>
          </a:xfrm>
          <a:prstGeom prst="straightConnector1">
            <a:avLst/>
          </a:prstGeom>
          <a:noFill/>
          <a:ln w="9525" cap="flat" cmpd="sng">
            <a:solidFill>
              <a:schemeClr val="dk2"/>
            </a:solidFill>
            <a:prstDash val="solid"/>
            <a:round/>
            <a:headEnd type="none" w="med" len="med"/>
            <a:tailEnd type="triangle" w="med" len="med"/>
          </a:ln>
        </p:spPr>
      </p:cxnSp>
      <p:sp>
        <p:nvSpPr>
          <p:cNvPr id="710" name="Google Shape;710;p50"/>
          <p:cNvSpPr txBox="1"/>
          <p:nvPr/>
        </p:nvSpPr>
        <p:spPr>
          <a:xfrm>
            <a:off x="8069907" y="3695341"/>
            <a:ext cx="1076400" cy="98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chemeClr val="dk1"/>
                </a:solidFill>
              </a:rPr>
              <a:t>Marginalize latent variable z (which in our case happens to be the data point) to obtain x</a:t>
            </a:r>
            <a:endParaRPr sz="900">
              <a:solidFill>
                <a:schemeClr val="dk1"/>
              </a:solidFill>
            </a:endParaRPr>
          </a:p>
        </p:txBody>
      </p:sp>
      <p:sp>
        <p:nvSpPr>
          <p:cNvPr id="711" name="Google Shape;711;p50"/>
          <p:cNvSpPr txBox="1"/>
          <p:nvPr/>
        </p:nvSpPr>
        <p:spPr>
          <a:xfrm>
            <a:off x="127964" y="3983915"/>
            <a:ext cx="7235100" cy="35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Every conditional path induces a marginal path. From a data distribution                  and a conditional path              we get a marginal path          .</a:t>
            </a:r>
            <a:endParaRPr sz="1600">
              <a:solidFill>
                <a:schemeClr val="dk1"/>
              </a:solidFill>
            </a:endParaRPr>
          </a:p>
        </p:txBody>
      </p:sp>
      <p:pic>
        <p:nvPicPr>
          <p:cNvPr id="712" name="Google Shape;712;p50"/>
          <p:cNvPicPr preferRelativeResize="0"/>
          <p:nvPr/>
        </p:nvPicPr>
        <p:blipFill>
          <a:blip r:embed="rId5">
            <a:alphaModFix/>
          </a:blip>
          <a:stretch>
            <a:fillRect/>
          </a:stretch>
        </p:blipFill>
        <p:spPr>
          <a:xfrm>
            <a:off x="5102326" y="4320391"/>
            <a:ext cx="495600" cy="249499"/>
          </a:xfrm>
          <a:prstGeom prst="rect">
            <a:avLst/>
          </a:prstGeom>
          <a:noFill/>
          <a:ln>
            <a:noFill/>
          </a:ln>
        </p:spPr>
      </p:pic>
      <p:pic>
        <p:nvPicPr>
          <p:cNvPr id="713" name="Google Shape;713;p50"/>
          <p:cNvPicPr preferRelativeResize="0"/>
          <p:nvPr/>
        </p:nvPicPr>
        <p:blipFill>
          <a:blip r:embed="rId6">
            <a:alphaModFix/>
          </a:blip>
          <a:stretch>
            <a:fillRect/>
          </a:stretch>
        </p:blipFill>
        <p:spPr>
          <a:xfrm>
            <a:off x="6729689" y="4094357"/>
            <a:ext cx="580659" cy="198200"/>
          </a:xfrm>
          <a:prstGeom prst="rect">
            <a:avLst/>
          </a:prstGeom>
          <a:noFill/>
          <a:ln>
            <a:noFill/>
          </a:ln>
        </p:spPr>
      </p:pic>
      <p:pic>
        <p:nvPicPr>
          <p:cNvPr id="714" name="Google Shape;714;p50"/>
          <p:cNvPicPr preferRelativeResize="0"/>
          <p:nvPr/>
        </p:nvPicPr>
        <p:blipFill>
          <a:blip r:embed="rId7">
            <a:alphaModFix/>
          </a:blip>
          <a:stretch>
            <a:fillRect/>
          </a:stretch>
        </p:blipFill>
        <p:spPr>
          <a:xfrm>
            <a:off x="2289053" y="4346039"/>
            <a:ext cx="652676" cy="198200"/>
          </a:xfrm>
          <a:prstGeom prst="rect">
            <a:avLst/>
          </a:prstGeom>
          <a:noFill/>
          <a:ln>
            <a:noFill/>
          </a:ln>
        </p:spPr>
      </p:pic>
      <p:sp>
        <p:nvSpPr>
          <p:cNvPr id="715" name="Google Shape;715;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51"/>
          <p:cNvSpPr txBox="1"/>
          <p:nvPr/>
        </p:nvSpPr>
        <p:spPr>
          <a:xfrm>
            <a:off x="1513463" y="0"/>
            <a:ext cx="6329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A Conditional Vector Field Generates a Conditional Path </a:t>
            </a:r>
            <a:endParaRPr sz="1800" b="1">
              <a:solidFill>
                <a:schemeClr val="dk1"/>
              </a:solidFill>
            </a:endParaRPr>
          </a:p>
        </p:txBody>
      </p:sp>
      <p:sp>
        <p:nvSpPr>
          <p:cNvPr id="721" name="Google Shape;721;p51"/>
          <p:cNvSpPr txBox="1"/>
          <p:nvPr/>
        </p:nvSpPr>
        <p:spPr>
          <a:xfrm>
            <a:off x="553675" y="1016625"/>
            <a:ext cx="7959300" cy="99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denote the conditional vector field by: </a:t>
            </a:r>
            <a:endParaRPr sz="1800">
              <a:solidFill>
                <a:schemeClr val="dk1"/>
              </a:solidFill>
            </a:endParaRPr>
          </a:p>
        </p:txBody>
      </p:sp>
      <p:pic>
        <p:nvPicPr>
          <p:cNvPr id="722" name="Google Shape;722;p51"/>
          <p:cNvPicPr preferRelativeResize="0"/>
          <p:nvPr/>
        </p:nvPicPr>
        <p:blipFill>
          <a:blip r:embed="rId3">
            <a:alphaModFix/>
          </a:blip>
          <a:stretch>
            <a:fillRect/>
          </a:stretch>
        </p:blipFill>
        <p:spPr>
          <a:xfrm>
            <a:off x="5031500" y="950925"/>
            <a:ext cx="1861150" cy="457875"/>
          </a:xfrm>
          <a:prstGeom prst="rect">
            <a:avLst/>
          </a:prstGeom>
          <a:noFill/>
          <a:ln>
            <a:noFill/>
          </a:ln>
        </p:spPr>
      </p:pic>
      <p:sp>
        <p:nvSpPr>
          <p:cNvPr id="723" name="Google Shape;723;p51"/>
          <p:cNvSpPr txBox="1"/>
          <p:nvPr/>
        </p:nvSpPr>
        <p:spPr>
          <a:xfrm>
            <a:off x="663450" y="3928875"/>
            <a:ext cx="7817100" cy="76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If we sample                   and we simulate the ODE</a:t>
            </a:r>
            <a:endParaRPr sz="1800">
              <a:solidFill>
                <a:schemeClr val="dk1"/>
              </a:solidFill>
            </a:endParaRPr>
          </a:p>
          <a:p>
            <a:pPr marL="0" lvl="0" indent="0" algn="l" rtl="0">
              <a:spcBef>
                <a:spcPts val="0"/>
              </a:spcBef>
              <a:spcAft>
                <a:spcPts val="0"/>
              </a:spcAft>
              <a:buNone/>
            </a:pPr>
            <a:r>
              <a:rPr lang="en" sz="1800">
                <a:solidFill>
                  <a:schemeClr val="dk1"/>
                </a:solidFill>
              </a:rPr>
              <a:t>=&gt; the distribution of         for any time between 0 and 1 is given by the </a:t>
            </a:r>
            <a:r>
              <a:rPr lang="en" sz="1800" b="1">
                <a:solidFill>
                  <a:schemeClr val="dk1"/>
                </a:solidFill>
              </a:rPr>
              <a:t>conditional path</a:t>
            </a:r>
            <a:r>
              <a:rPr lang="en" sz="1800">
                <a:solidFill>
                  <a:schemeClr val="dk1"/>
                </a:solidFill>
              </a:rPr>
              <a:t>: </a:t>
            </a:r>
            <a:endParaRPr sz="1800">
              <a:solidFill>
                <a:schemeClr val="dk1"/>
              </a:solidFill>
            </a:endParaRPr>
          </a:p>
        </p:txBody>
      </p:sp>
      <p:cxnSp>
        <p:nvCxnSpPr>
          <p:cNvPr id="724" name="Google Shape;724;p51"/>
          <p:cNvCxnSpPr/>
          <p:nvPr/>
        </p:nvCxnSpPr>
        <p:spPr>
          <a:xfrm>
            <a:off x="1900295" y="2571750"/>
            <a:ext cx="5901000" cy="0"/>
          </a:xfrm>
          <a:prstGeom prst="straightConnector1">
            <a:avLst/>
          </a:prstGeom>
          <a:noFill/>
          <a:ln w="9525" cap="flat" cmpd="sng">
            <a:solidFill>
              <a:schemeClr val="dk1"/>
            </a:solidFill>
            <a:prstDash val="solid"/>
            <a:round/>
            <a:headEnd type="none" w="med" len="med"/>
            <a:tailEnd type="triangle" w="med" len="med"/>
          </a:ln>
        </p:spPr>
      </p:cxnSp>
      <p:pic>
        <p:nvPicPr>
          <p:cNvPr id="725" name="Google Shape;725;p51"/>
          <p:cNvPicPr preferRelativeResize="0"/>
          <p:nvPr/>
        </p:nvPicPr>
        <p:blipFill>
          <a:blip r:embed="rId4">
            <a:alphaModFix/>
          </a:blip>
          <a:stretch>
            <a:fillRect/>
          </a:stretch>
        </p:blipFill>
        <p:spPr>
          <a:xfrm>
            <a:off x="7258345" y="2029975"/>
            <a:ext cx="499150" cy="524750"/>
          </a:xfrm>
          <a:prstGeom prst="rect">
            <a:avLst/>
          </a:prstGeom>
          <a:noFill/>
          <a:ln>
            <a:noFill/>
          </a:ln>
        </p:spPr>
      </p:pic>
      <p:pic>
        <p:nvPicPr>
          <p:cNvPr id="726" name="Google Shape;726;p51"/>
          <p:cNvPicPr preferRelativeResize="0"/>
          <p:nvPr/>
        </p:nvPicPr>
        <p:blipFill>
          <a:blip r:embed="rId5">
            <a:alphaModFix/>
          </a:blip>
          <a:stretch>
            <a:fillRect/>
          </a:stretch>
        </p:blipFill>
        <p:spPr>
          <a:xfrm>
            <a:off x="1900297" y="2029963"/>
            <a:ext cx="1054498" cy="524750"/>
          </a:xfrm>
          <a:prstGeom prst="rect">
            <a:avLst/>
          </a:prstGeom>
          <a:noFill/>
          <a:ln>
            <a:noFill/>
          </a:ln>
        </p:spPr>
      </p:pic>
      <p:sp>
        <p:nvSpPr>
          <p:cNvPr id="727" name="Google Shape;727;p51"/>
          <p:cNvSpPr/>
          <p:nvPr/>
        </p:nvSpPr>
        <p:spPr>
          <a:xfrm>
            <a:off x="1933145" y="2658875"/>
            <a:ext cx="5901000" cy="383100"/>
          </a:xfrm>
          <a:prstGeom prst="curvedUp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8" name="Google Shape;728;p51"/>
          <p:cNvSpPr/>
          <p:nvPr/>
        </p:nvSpPr>
        <p:spPr>
          <a:xfrm>
            <a:off x="4172045" y="2877850"/>
            <a:ext cx="1357500" cy="277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ODE</a:t>
            </a:r>
            <a:endParaRPr/>
          </a:p>
        </p:txBody>
      </p:sp>
      <p:pic>
        <p:nvPicPr>
          <p:cNvPr id="729" name="Google Shape;729;p51"/>
          <p:cNvPicPr preferRelativeResize="0"/>
          <p:nvPr/>
        </p:nvPicPr>
        <p:blipFill>
          <a:blip r:embed="rId6">
            <a:alphaModFix/>
          </a:blip>
          <a:stretch>
            <a:fillRect/>
          </a:stretch>
        </p:blipFill>
        <p:spPr>
          <a:xfrm>
            <a:off x="2124277" y="4027400"/>
            <a:ext cx="929674" cy="229075"/>
          </a:xfrm>
          <a:prstGeom prst="rect">
            <a:avLst/>
          </a:prstGeom>
          <a:noFill/>
          <a:ln>
            <a:noFill/>
          </a:ln>
        </p:spPr>
      </p:pic>
      <p:pic>
        <p:nvPicPr>
          <p:cNvPr id="730" name="Google Shape;730;p51"/>
          <p:cNvPicPr preferRelativeResize="0"/>
          <p:nvPr/>
        </p:nvPicPr>
        <p:blipFill>
          <a:blip r:embed="rId7">
            <a:alphaModFix/>
          </a:blip>
          <a:stretch>
            <a:fillRect/>
          </a:stretch>
        </p:blipFill>
        <p:spPr>
          <a:xfrm>
            <a:off x="2954809" y="4302438"/>
            <a:ext cx="290166" cy="229075"/>
          </a:xfrm>
          <a:prstGeom prst="rect">
            <a:avLst/>
          </a:prstGeom>
          <a:noFill/>
          <a:ln>
            <a:noFill/>
          </a:ln>
        </p:spPr>
      </p:pic>
      <p:pic>
        <p:nvPicPr>
          <p:cNvPr id="731" name="Google Shape;731;p51"/>
          <p:cNvPicPr preferRelativeResize="0"/>
          <p:nvPr/>
        </p:nvPicPr>
        <p:blipFill>
          <a:blip r:embed="rId8">
            <a:alphaModFix/>
          </a:blip>
          <a:stretch>
            <a:fillRect/>
          </a:stretch>
        </p:blipFill>
        <p:spPr>
          <a:xfrm>
            <a:off x="5959997" y="3950376"/>
            <a:ext cx="2520552" cy="383100"/>
          </a:xfrm>
          <a:prstGeom prst="rect">
            <a:avLst/>
          </a:prstGeom>
          <a:noFill/>
          <a:ln>
            <a:noFill/>
          </a:ln>
        </p:spPr>
      </p:pic>
      <p:pic>
        <p:nvPicPr>
          <p:cNvPr id="732" name="Google Shape;732;p51"/>
          <p:cNvPicPr preferRelativeResize="0"/>
          <p:nvPr/>
        </p:nvPicPr>
        <p:blipFill>
          <a:blip r:embed="rId9">
            <a:alphaModFix/>
          </a:blip>
          <a:stretch>
            <a:fillRect/>
          </a:stretch>
        </p:blipFill>
        <p:spPr>
          <a:xfrm>
            <a:off x="2660928" y="4577465"/>
            <a:ext cx="1425600" cy="277200"/>
          </a:xfrm>
          <a:prstGeom prst="rect">
            <a:avLst/>
          </a:prstGeom>
          <a:noFill/>
          <a:ln>
            <a:noFill/>
          </a:ln>
        </p:spPr>
      </p:pic>
      <p:sp>
        <p:nvSpPr>
          <p:cNvPr id="733" name="Google Shape;733;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52"/>
          <p:cNvSpPr/>
          <p:nvPr/>
        </p:nvSpPr>
        <p:spPr>
          <a:xfrm>
            <a:off x="3860050" y="3206275"/>
            <a:ext cx="5135400" cy="16008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9" name="Google Shape;739;p52"/>
          <p:cNvSpPr txBox="1"/>
          <p:nvPr/>
        </p:nvSpPr>
        <p:spPr>
          <a:xfrm>
            <a:off x="2791175" y="0"/>
            <a:ext cx="4046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Gaussian Vector Field</a:t>
            </a:r>
            <a:endParaRPr sz="1800" b="1">
              <a:solidFill>
                <a:schemeClr val="dk1"/>
              </a:solidFill>
            </a:endParaRPr>
          </a:p>
        </p:txBody>
      </p:sp>
      <p:pic>
        <p:nvPicPr>
          <p:cNvPr id="740" name="Google Shape;740;p52"/>
          <p:cNvPicPr preferRelativeResize="0"/>
          <p:nvPr/>
        </p:nvPicPr>
        <p:blipFill>
          <a:blip r:embed="rId3">
            <a:alphaModFix/>
          </a:blip>
          <a:stretch>
            <a:fillRect/>
          </a:stretch>
        </p:blipFill>
        <p:spPr>
          <a:xfrm>
            <a:off x="207150" y="1119350"/>
            <a:ext cx="8839199" cy="1054711"/>
          </a:xfrm>
          <a:prstGeom prst="rect">
            <a:avLst/>
          </a:prstGeom>
          <a:noFill/>
          <a:ln>
            <a:noFill/>
          </a:ln>
        </p:spPr>
      </p:pic>
      <p:pic>
        <p:nvPicPr>
          <p:cNvPr id="741" name="Google Shape;741;p52"/>
          <p:cNvPicPr preferRelativeResize="0"/>
          <p:nvPr/>
        </p:nvPicPr>
        <p:blipFill>
          <a:blip r:embed="rId4">
            <a:alphaModFix/>
          </a:blip>
          <a:stretch>
            <a:fillRect/>
          </a:stretch>
        </p:blipFill>
        <p:spPr>
          <a:xfrm>
            <a:off x="305697" y="2758920"/>
            <a:ext cx="1256950" cy="430252"/>
          </a:xfrm>
          <a:prstGeom prst="rect">
            <a:avLst/>
          </a:prstGeom>
          <a:noFill/>
          <a:ln>
            <a:noFill/>
          </a:ln>
        </p:spPr>
      </p:pic>
      <p:pic>
        <p:nvPicPr>
          <p:cNvPr id="742" name="Google Shape;742;p52"/>
          <p:cNvPicPr preferRelativeResize="0"/>
          <p:nvPr/>
        </p:nvPicPr>
        <p:blipFill>
          <a:blip r:embed="rId5">
            <a:alphaModFix/>
          </a:blip>
          <a:stretch>
            <a:fillRect/>
          </a:stretch>
        </p:blipFill>
        <p:spPr>
          <a:xfrm>
            <a:off x="305697" y="3346239"/>
            <a:ext cx="1220078" cy="430250"/>
          </a:xfrm>
          <a:prstGeom prst="rect">
            <a:avLst/>
          </a:prstGeom>
          <a:noFill/>
          <a:ln>
            <a:noFill/>
          </a:ln>
        </p:spPr>
      </p:pic>
      <p:sp>
        <p:nvSpPr>
          <p:cNvPr id="743" name="Google Shape;743;p52"/>
          <p:cNvSpPr/>
          <p:nvPr/>
        </p:nvSpPr>
        <p:spPr>
          <a:xfrm rot="-5400000">
            <a:off x="5480300" y="929124"/>
            <a:ext cx="131400" cy="2802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4" name="Google Shape;744;p52"/>
          <p:cNvSpPr txBox="1"/>
          <p:nvPr/>
        </p:nvSpPr>
        <p:spPr>
          <a:xfrm>
            <a:off x="5090250" y="2407500"/>
            <a:ext cx="16095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Scalar </a:t>
            </a:r>
            <a:r>
              <a:rPr lang="en" sz="1800" i="1">
                <a:solidFill>
                  <a:schemeClr val="dk1"/>
                </a:solidFill>
              </a:rPr>
              <a:t>s</a:t>
            </a:r>
            <a:r>
              <a:rPr lang="en" sz="1800" i="1" baseline="-25000">
                <a:solidFill>
                  <a:schemeClr val="dk1"/>
                </a:solidFill>
              </a:rPr>
              <a:t>1</a:t>
            </a:r>
            <a:endParaRPr sz="1800" i="1" baseline="-25000">
              <a:solidFill>
                <a:schemeClr val="dk1"/>
              </a:solidFill>
            </a:endParaRPr>
          </a:p>
          <a:p>
            <a:pPr marL="0" lvl="0" indent="0" algn="l" rtl="0">
              <a:spcBef>
                <a:spcPts val="0"/>
              </a:spcBef>
              <a:spcAft>
                <a:spcPts val="0"/>
              </a:spcAft>
              <a:buNone/>
            </a:pPr>
            <a:endParaRPr sz="1800">
              <a:solidFill>
                <a:schemeClr val="dk1"/>
              </a:solidFill>
            </a:endParaRPr>
          </a:p>
        </p:txBody>
      </p:sp>
      <p:sp>
        <p:nvSpPr>
          <p:cNvPr id="745" name="Google Shape;745;p52"/>
          <p:cNvSpPr/>
          <p:nvPr/>
        </p:nvSpPr>
        <p:spPr>
          <a:xfrm rot="-5400000">
            <a:off x="8320997" y="2105578"/>
            <a:ext cx="87600" cy="449700"/>
          </a:xfrm>
          <a:prstGeom prst="leftBrace">
            <a:avLst>
              <a:gd name="adj1" fmla="val 50000"/>
              <a:gd name="adj2" fmla="val 48888"/>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6" name="Google Shape;746;p52"/>
          <p:cNvSpPr txBox="1"/>
          <p:nvPr/>
        </p:nvSpPr>
        <p:spPr>
          <a:xfrm>
            <a:off x="7877550" y="2407500"/>
            <a:ext cx="11178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Scalar </a:t>
            </a:r>
            <a:r>
              <a:rPr lang="en" sz="1800" i="1">
                <a:solidFill>
                  <a:schemeClr val="dk1"/>
                </a:solidFill>
              </a:rPr>
              <a:t>s</a:t>
            </a:r>
            <a:r>
              <a:rPr lang="en" sz="1800" i="1" baseline="-25000">
                <a:solidFill>
                  <a:schemeClr val="dk1"/>
                </a:solidFill>
              </a:rPr>
              <a:t>2</a:t>
            </a:r>
            <a:endParaRPr sz="1800" i="1" baseline="-25000">
              <a:solidFill>
                <a:schemeClr val="dk1"/>
              </a:solidFill>
            </a:endParaRPr>
          </a:p>
          <a:p>
            <a:pPr marL="0" lvl="0" indent="0" algn="l" rtl="0">
              <a:spcBef>
                <a:spcPts val="0"/>
              </a:spcBef>
              <a:spcAft>
                <a:spcPts val="0"/>
              </a:spcAft>
              <a:buNone/>
            </a:pPr>
            <a:endParaRPr sz="1800">
              <a:solidFill>
                <a:schemeClr val="dk1"/>
              </a:solidFill>
            </a:endParaRPr>
          </a:p>
        </p:txBody>
      </p:sp>
      <p:sp>
        <p:nvSpPr>
          <p:cNvPr id="747" name="Google Shape;747;p52"/>
          <p:cNvSpPr txBox="1"/>
          <p:nvPr/>
        </p:nvSpPr>
        <p:spPr>
          <a:xfrm>
            <a:off x="3860050" y="3228175"/>
            <a:ext cx="5186100" cy="166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Since we pick        and       , at the end of the day we have just a scalar combination of </a:t>
            </a:r>
            <a:r>
              <a:rPr lang="en" sz="1800" i="1">
                <a:solidFill>
                  <a:schemeClr val="dk1"/>
                </a:solidFill>
              </a:rPr>
              <a:t>z</a:t>
            </a:r>
            <a:r>
              <a:rPr lang="en" sz="1800">
                <a:solidFill>
                  <a:schemeClr val="dk1"/>
                </a:solidFill>
              </a:rPr>
              <a:t> and </a:t>
            </a:r>
            <a:r>
              <a:rPr lang="en" sz="1800" i="1">
                <a:solidFill>
                  <a:schemeClr val="dk1"/>
                </a:solidFill>
              </a:rPr>
              <a:t>x: </a:t>
            </a:r>
            <a:endParaRPr sz="1800" i="1">
              <a:solidFill>
                <a:schemeClr val="dk1"/>
              </a:solidFill>
            </a:endParaRPr>
          </a:p>
        </p:txBody>
      </p:sp>
      <p:sp>
        <p:nvSpPr>
          <p:cNvPr id="748" name="Google Shape;748;p52"/>
          <p:cNvSpPr txBox="1"/>
          <p:nvPr/>
        </p:nvSpPr>
        <p:spPr>
          <a:xfrm>
            <a:off x="207162" y="2264725"/>
            <a:ext cx="1072800" cy="19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Where:</a:t>
            </a:r>
            <a:endParaRPr sz="1800">
              <a:solidFill>
                <a:schemeClr val="dk1"/>
              </a:solidFill>
            </a:endParaRPr>
          </a:p>
        </p:txBody>
      </p:sp>
      <p:pic>
        <p:nvPicPr>
          <p:cNvPr id="749" name="Google Shape;749;p52"/>
          <p:cNvPicPr preferRelativeResize="0"/>
          <p:nvPr/>
        </p:nvPicPr>
        <p:blipFill>
          <a:blip r:embed="rId6">
            <a:alphaModFix/>
          </a:blip>
          <a:stretch>
            <a:fillRect/>
          </a:stretch>
        </p:blipFill>
        <p:spPr>
          <a:xfrm>
            <a:off x="4243213" y="4112219"/>
            <a:ext cx="4292623" cy="518646"/>
          </a:xfrm>
          <a:prstGeom prst="rect">
            <a:avLst/>
          </a:prstGeom>
          <a:noFill/>
          <a:ln>
            <a:noFill/>
          </a:ln>
        </p:spPr>
      </p:pic>
      <p:pic>
        <p:nvPicPr>
          <p:cNvPr id="750" name="Google Shape;750;p52"/>
          <p:cNvPicPr preferRelativeResize="0"/>
          <p:nvPr/>
        </p:nvPicPr>
        <p:blipFill>
          <a:blip r:embed="rId7">
            <a:alphaModFix/>
          </a:blip>
          <a:stretch>
            <a:fillRect/>
          </a:stretch>
        </p:blipFill>
        <p:spPr>
          <a:xfrm>
            <a:off x="5454300" y="3359046"/>
            <a:ext cx="290500" cy="206804"/>
          </a:xfrm>
          <a:prstGeom prst="rect">
            <a:avLst/>
          </a:prstGeom>
          <a:noFill/>
          <a:ln>
            <a:noFill/>
          </a:ln>
        </p:spPr>
      </p:pic>
      <p:pic>
        <p:nvPicPr>
          <p:cNvPr id="751" name="Google Shape;751;p52"/>
          <p:cNvPicPr preferRelativeResize="0"/>
          <p:nvPr/>
        </p:nvPicPr>
        <p:blipFill>
          <a:blip r:embed="rId8">
            <a:alphaModFix/>
          </a:blip>
          <a:stretch>
            <a:fillRect/>
          </a:stretch>
        </p:blipFill>
        <p:spPr>
          <a:xfrm>
            <a:off x="6308325" y="3285975"/>
            <a:ext cx="290492" cy="328500"/>
          </a:xfrm>
          <a:prstGeom prst="rect">
            <a:avLst/>
          </a:prstGeom>
          <a:noFill/>
          <a:ln>
            <a:noFill/>
          </a:ln>
        </p:spPr>
      </p:pic>
      <p:sp>
        <p:nvSpPr>
          <p:cNvPr id="752" name="Google Shape;752;p52"/>
          <p:cNvSpPr/>
          <p:nvPr/>
        </p:nvSpPr>
        <p:spPr>
          <a:xfrm rot="10799077">
            <a:off x="6389175" y="2553500"/>
            <a:ext cx="1117800" cy="575100"/>
          </a:xfrm>
          <a:prstGeom prst="leftRightUpArrow">
            <a:avLst>
              <a:gd name="adj1" fmla="val 11207"/>
              <a:gd name="adj2" fmla="val 11315"/>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3" name="Google Shape;753;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53"/>
          <p:cNvSpPr txBox="1"/>
          <p:nvPr/>
        </p:nvSpPr>
        <p:spPr>
          <a:xfrm>
            <a:off x="1511400" y="0"/>
            <a:ext cx="67326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Gaussian Vector Field Generates the Probability Path </a:t>
            </a:r>
            <a:endParaRPr sz="1800" b="1">
              <a:solidFill>
                <a:schemeClr val="dk1"/>
              </a:solidFill>
            </a:endParaRPr>
          </a:p>
        </p:txBody>
      </p:sp>
      <p:pic>
        <p:nvPicPr>
          <p:cNvPr id="759" name="Google Shape;759;p53"/>
          <p:cNvPicPr preferRelativeResize="0"/>
          <p:nvPr/>
        </p:nvPicPr>
        <p:blipFill>
          <a:blip r:embed="rId3">
            <a:alphaModFix/>
          </a:blip>
          <a:stretch>
            <a:fillRect/>
          </a:stretch>
        </p:blipFill>
        <p:spPr>
          <a:xfrm>
            <a:off x="2171275" y="1241250"/>
            <a:ext cx="4588570" cy="547500"/>
          </a:xfrm>
          <a:prstGeom prst="rect">
            <a:avLst/>
          </a:prstGeom>
          <a:noFill/>
          <a:ln>
            <a:noFill/>
          </a:ln>
        </p:spPr>
      </p:pic>
      <p:pic>
        <p:nvPicPr>
          <p:cNvPr id="760" name="Google Shape;760;p53"/>
          <p:cNvPicPr preferRelativeResize="0"/>
          <p:nvPr/>
        </p:nvPicPr>
        <p:blipFill>
          <a:blip r:embed="rId4">
            <a:alphaModFix/>
          </a:blip>
          <a:stretch>
            <a:fillRect/>
          </a:stretch>
        </p:blipFill>
        <p:spPr>
          <a:xfrm>
            <a:off x="2171275" y="2648375"/>
            <a:ext cx="3418601" cy="400575"/>
          </a:xfrm>
          <a:prstGeom prst="rect">
            <a:avLst/>
          </a:prstGeom>
          <a:noFill/>
          <a:ln>
            <a:noFill/>
          </a:ln>
        </p:spPr>
      </p:pic>
      <p:sp>
        <p:nvSpPr>
          <p:cNvPr id="761" name="Google Shape;761;p53"/>
          <p:cNvSpPr txBox="1"/>
          <p:nvPr/>
        </p:nvSpPr>
        <p:spPr>
          <a:xfrm>
            <a:off x="44850" y="578700"/>
            <a:ext cx="9054300" cy="54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So, if we simulate an ODE where we use the </a:t>
            </a:r>
            <a:r>
              <a:rPr lang="en" b="1">
                <a:solidFill>
                  <a:schemeClr val="dk1"/>
                </a:solidFill>
              </a:rPr>
              <a:t>Gaussian </a:t>
            </a:r>
            <a:r>
              <a:rPr lang="en">
                <a:solidFill>
                  <a:schemeClr val="dk1"/>
                </a:solidFill>
              </a:rPr>
              <a:t>Vector Field (i.e. the black arrows in the figure):</a:t>
            </a:r>
            <a:endParaRPr>
              <a:solidFill>
                <a:schemeClr val="dk1"/>
              </a:solidFill>
            </a:endParaRPr>
          </a:p>
        </p:txBody>
      </p:sp>
      <p:sp>
        <p:nvSpPr>
          <p:cNvPr id="762" name="Google Shape;762;p53"/>
          <p:cNvSpPr txBox="1"/>
          <p:nvPr/>
        </p:nvSpPr>
        <p:spPr>
          <a:xfrm>
            <a:off x="44838" y="1997750"/>
            <a:ext cx="8134500" cy="54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solidFill>
                  <a:schemeClr val="dk1"/>
                </a:solidFill>
              </a:rPr>
              <a:t>we end up following the </a:t>
            </a:r>
            <a:r>
              <a:rPr lang="en" b="1">
                <a:solidFill>
                  <a:schemeClr val="dk1"/>
                </a:solidFill>
              </a:rPr>
              <a:t>Gaussian </a:t>
            </a:r>
            <a:r>
              <a:rPr lang="en">
                <a:solidFill>
                  <a:schemeClr val="dk1"/>
                </a:solidFill>
              </a:rPr>
              <a:t>Probability Path (the concentric circles in the figure):</a:t>
            </a:r>
            <a:endParaRPr>
              <a:solidFill>
                <a:schemeClr val="dk1"/>
              </a:solidFill>
            </a:endParaRPr>
          </a:p>
        </p:txBody>
      </p:sp>
      <p:grpSp>
        <p:nvGrpSpPr>
          <p:cNvPr id="763" name="Google Shape;763;p53"/>
          <p:cNvGrpSpPr/>
          <p:nvPr/>
        </p:nvGrpSpPr>
        <p:grpSpPr>
          <a:xfrm>
            <a:off x="827399" y="3416801"/>
            <a:ext cx="7695583" cy="1490700"/>
            <a:chOff x="597474" y="3208401"/>
            <a:chExt cx="7695583" cy="1490700"/>
          </a:xfrm>
        </p:grpSpPr>
        <p:sp>
          <p:nvSpPr>
            <p:cNvPr id="764" name="Google Shape;764;p53"/>
            <p:cNvSpPr/>
            <p:nvPr/>
          </p:nvSpPr>
          <p:spPr>
            <a:xfrm>
              <a:off x="8179656" y="3897051"/>
              <a:ext cx="113400" cy="1134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65" name="Google Shape;765;p53"/>
            <p:cNvGrpSpPr/>
            <p:nvPr/>
          </p:nvGrpSpPr>
          <p:grpSpPr>
            <a:xfrm>
              <a:off x="597474" y="3208401"/>
              <a:ext cx="1490700" cy="1490700"/>
              <a:chOff x="597474" y="3208401"/>
              <a:chExt cx="1490700" cy="1490700"/>
            </a:xfrm>
          </p:grpSpPr>
          <p:sp>
            <p:nvSpPr>
              <p:cNvPr id="766" name="Google Shape;766;p53"/>
              <p:cNvSpPr/>
              <p:nvPr/>
            </p:nvSpPr>
            <p:spPr>
              <a:xfrm>
                <a:off x="597474" y="3208401"/>
                <a:ext cx="1490700" cy="14907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7" name="Google Shape;767;p53"/>
              <p:cNvSpPr/>
              <p:nvPr/>
            </p:nvSpPr>
            <p:spPr>
              <a:xfrm>
                <a:off x="769524" y="3380451"/>
                <a:ext cx="1146600" cy="11466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8" name="Google Shape;768;p53"/>
              <p:cNvSpPr/>
              <p:nvPr/>
            </p:nvSpPr>
            <p:spPr>
              <a:xfrm>
                <a:off x="912774" y="3523701"/>
                <a:ext cx="860100" cy="8601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9" name="Google Shape;769;p53"/>
              <p:cNvSpPr/>
              <p:nvPr/>
            </p:nvSpPr>
            <p:spPr>
              <a:xfrm>
                <a:off x="1038474" y="3649401"/>
                <a:ext cx="608700" cy="6087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0" name="Google Shape;770;p53"/>
              <p:cNvSpPr/>
              <p:nvPr/>
            </p:nvSpPr>
            <p:spPr>
              <a:xfrm>
                <a:off x="1137774" y="3748701"/>
                <a:ext cx="410100" cy="410100"/>
              </a:xfrm>
              <a:prstGeom prst="ellipse">
                <a:avLst/>
              </a:prstGeom>
              <a:solidFill>
                <a:schemeClr val="lt2"/>
              </a:solid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771" name="Google Shape;771;p53"/>
            <p:cNvCxnSpPr>
              <a:stCxn id="766" idx="0"/>
              <a:endCxn id="764" idx="0"/>
            </p:cNvCxnSpPr>
            <p:nvPr/>
          </p:nvCxnSpPr>
          <p:spPr>
            <a:xfrm>
              <a:off x="1342824" y="3208401"/>
              <a:ext cx="6893400" cy="688800"/>
            </a:xfrm>
            <a:prstGeom prst="straightConnector1">
              <a:avLst/>
            </a:prstGeom>
            <a:noFill/>
            <a:ln w="9525" cap="flat" cmpd="sng">
              <a:solidFill>
                <a:schemeClr val="dk2"/>
              </a:solidFill>
              <a:prstDash val="dash"/>
              <a:round/>
              <a:headEnd type="none" w="med" len="med"/>
              <a:tailEnd type="none" w="med" len="med"/>
            </a:ln>
          </p:spPr>
        </p:cxnSp>
        <p:cxnSp>
          <p:nvCxnSpPr>
            <p:cNvPr id="772" name="Google Shape;772;p53"/>
            <p:cNvCxnSpPr>
              <a:stCxn id="766" idx="4"/>
              <a:endCxn id="764" idx="4"/>
            </p:cNvCxnSpPr>
            <p:nvPr/>
          </p:nvCxnSpPr>
          <p:spPr>
            <a:xfrm rot="10800000" flipH="1">
              <a:off x="1342824" y="4010601"/>
              <a:ext cx="6893400" cy="688500"/>
            </a:xfrm>
            <a:prstGeom prst="straightConnector1">
              <a:avLst/>
            </a:prstGeom>
            <a:noFill/>
            <a:ln w="9525" cap="flat" cmpd="sng">
              <a:solidFill>
                <a:schemeClr val="dk2"/>
              </a:solidFill>
              <a:prstDash val="dash"/>
              <a:round/>
              <a:headEnd type="none" w="med" len="med"/>
              <a:tailEnd type="none" w="med" len="med"/>
            </a:ln>
          </p:spPr>
        </p:cxnSp>
        <p:grpSp>
          <p:nvGrpSpPr>
            <p:cNvPr id="773" name="Google Shape;773;p53"/>
            <p:cNvGrpSpPr/>
            <p:nvPr/>
          </p:nvGrpSpPr>
          <p:grpSpPr>
            <a:xfrm>
              <a:off x="2687697" y="3416792"/>
              <a:ext cx="1073751" cy="1073751"/>
              <a:chOff x="597474" y="3208401"/>
              <a:chExt cx="1490700" cy="1490700"/>
            </a:xfrm>
          </p:grpSpPr>
          <p:sp>
            <p:nvSpPr>
              <p:cNvPr id="774" name="Google Shape;774;p53"/>
              <p:cNvSpPr/>
              <p:nvPr/>
            </p:nvSpPr>
            <p:spPr>
              <a:xfrm>
                <a:off x="597474" y="3208401"/>
                <a:ext cx="1490700" cy="14907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sp>
            <p:nvSpPr>
              <p:cNvPr id="775" name="Google Shape;775;p53"/>
              <p:cNvSpPr/>
              <p:nvPr/>
            </p:nvSpPr>
            <p:spPr>
              <a:xfrm>
                <a:off x="769524" y="3380451"/>
                <a:ext cx="1146600" cy="11466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sp>
            <p:nvSpPr>
              <p:cNvPr id="776" name="Google Shape;776;p53"/>
              <p:cNvSpPr/>
              <p:nvPr/>
            </p:nvSpPr>
            <p:spPr>
              <a:xfrm>
                <a:off x="912774" y="3523701"/>
                <a:ext cx="860100" cy="8601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sp>
            <p:nvSpPr>
              <p:cNvPr id="777" name="Google Shape;777;p53"/>
              <p:cNvSpPr/>
              <p:nvPr/>
            </p:nvSpPr>
            <p:spPr>
              <a:xfrm>
                <a:off x="1038474" y="3649401"/>
                <a:ext cx="608700" cy="6087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sp>
            <p:nvSpPr>
              <p:cNvPr id="778" name="Google Shape;778;p53"/>
              <p:cNvSpPr/>
              <p:nvPr/>
            </p:nvSpPr>
            <p:spPr>
              <a:xfrm>
                <a:off x="1137774" y="3748701"/>
                <a:ext cx="410100" cy="410100"/>
              </a:xfrm>
              <a:prstGeom prst="ellipse">
                <a:avLst/>
              </a:prstGeom>
              <a:solidFill>
                <a:schemeClr val="lt2"/>
              </a:solidFill>
              <a:ln w="6850" cap="flat" cmpd="sng">
                <a:solidFill>
                  <a:schemeClr val="dk2"/>
                </a:solidFill>
                <a:prstDash val="dot"/>
                <a:round/>
                <a:headEnd type="none" w="sm" len="sm"/>
                <a:tailEnd type="none" w="sm" len="sm"/>
              </a:ln>
            </p:spPr>
            <p:txBody>
              <a:bodyPr spcFirstLastPara="1" wrap="square" lIns="65850" tIns="65850" rIns="65850" bIns="65850" anchor="ctr" anchorCtr="0">
                <a:noAutofit/>
              </a:bodyPr>
              <a:lstStyle/>
              <a:p>
                <a:pPr marL="0" lvl="0" indent="0" algn="ctr" rtl="0">
                  <a:spcBef>
                    <a:spcPts val="0"/>
                  </a:spcBef>
                  <a:spcAft>
                    <a:spcPts val="0"/>
                  </a:spcAft>
                  <a:buNone/>
                </a:pPr>
                <a:endParaRPr sz="1008"/>
              </a:p>
            </p:txBody>
          </p:sp>
        </p:grpSp>
        <p:grpSp>
          <p:nvGrpSpPr>
            <p:cNvPr id="779" name="Google Shape;779;p53"/>
            <p:cNvGrpSpPr/>
            <p:nvPr/>
          </p:nvGrpSpPr>
          <p:grpSpPr>
            <a:xfrm>
              <a:off x="4473411" y="3556406"/>
              <a:ext cx="777102" cy="777251"/>
              <a:chOff x="597474" y="3208401"/>
              <a:chExt cx="1490700" cy="1490700"/>
            </a:xfrm>
          </p:grpSpPr>
          <p:sp>
            <p:nvSpPr>
              <p:cNvPr id="780" name="Google Shape;780;p53"/>
              <p:cNvSpPr/>
              <p:nvPr/>
            </p:nvSpPr>
            <p:spPr>
              <a:xfrm>
                <a:off x="597474" y="3208401"/>
                <a:ext cx="1490700" cy="14907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sp>
            <p:nvSpPr>
              <p:cNvPr id="781" name="Google Shape;781;p53"/>
              <p:cNvSpPr/>
              <p:nvPr/>
            </p:nvSpPr>
            <p:spPr>
              <a:xfrm>
                <a:off x="769524" y="3380451"/>
                <a:ext cx="1146600" cy="11466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sp>
            <p:nvSpPr>
              <p:cNvPr id="782" name="Google Shape;782;p53"/>
              <p:cNvSpPr/>
              <p:nvPr/>
            </p:nvSpPr>
            <p:spPr>
              <a:xfrm>
                <a:off x="912774" y="3523701"/>
                <a:ext cx="860100" cy="8601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sp>
            <p:nvSpPr>
              <p:cNvPr id="783" name="Google Shape;783;p53"/>
              <p:cNvSpPr/>
              <p:nvPr/>
            </p:nvSpPr>
            <p:spPr>
              <a:xfrm>
                <a:off x="1038474" y="3649401"/>
                <a:ext cx="608700" cy="6087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sp>
            <p:nvSpPr>
              <p:cNvPr id="784" name="Google Shape;784;p53"/>
              <p:cNvSpPr/>
              <p:nvPr/>
            </p:nvSpPr>
            <p:spPr>
              <a:xfrm>
                <a:off x="1137774" y="3748701"/>
                <a:ext cx="410100" cy="410100"/>
              </a:xfrm>
              <a:prstGeom prst="ellipse">
                <a:avLst/>
              </a:prstGeom>
              <a:solidFill>
                <a:schemeClr val="lt2"/>
              </a:solidFill>
              <a:ln w="4925" cap="flat" cmpd="sng">
                <a:solidFill>
                  <a:schemeClr val="dk2"/>
                </a:solidFill>
                <a:prstDash val="dot"/>
                <a:round/>
                <a:headEnd type="none" w="sm" len="sm"/>
                <a:tailEnd type="none" w="sm" len="sm"/>
              </a:ln>
            </p:spPr>
            <p:txBody>
              <a:bodyPr spcFirstLastPara="1" wrap="square" lIns="47650" tIns="47650" rIns="47650" bIns="47650" anchor="ctr" anchorCtr="0">
                <a:noAutofit/>
              </a:bodyPr>
              <a:lstStyle/>
              <a:p>
                <a:pPr marL="0" lvl="0" indent="0" algn="ctr" rtl="0">
                  <a:spcBef>
                    <a:spcPts val="0"/>
                  </a:spcBef>
                  <a:spcAft>
                    <a:spcPts val="0"/>
                  </a:spcAft>
                  <a:buNone/>
                </a:pPr>
                <a:endParaRPr sz="730"/>
              </a:p>
            </p:txBody>
          </p:sp>
        </p:grpSp>
        <p:grpSp>
          <p:nvGrpSpPr>
            <p:cNvPr id="785" name="Google Shape;785;p53"/>
            <p:cNvGrpSpPr/>
            <p:nvPr/>
          </p:nvGrpSpPr>
          <p:grpSpPr>
            <a:xfrm>
              <a:off x="6158653" y="3711205"/>
              <a:ext cx="484925" cy="484925"/>
              <a:chOff x="597474" y="3208401"/>
              <a:chExt cx="1490700" cy="1490700"/>
            </a:xfrm>
          </p:grpSpPr>
          <p:sp>
            <p:nvSpPr>
              <p:cNvPr id="786" name="Google Shape;786;p53"/>
              <p:cNvSpPr/>
              <p:nvPr/>
            </p:nvSpPr>
            <p:spPr>
              <a:xfrm>
                <a:off x="597474" y="3208401"/>
                <a:ext cx="1490700" cy="14907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sp>
            <p:nvSpPr>
              <p:cNvPr id="787" name="Google Shape;787;p53"/>
              <p:cNvSpPr/>
              <p:nvPr/>
            </p:nvSpPr>
            <p:spPr>
              <a:xfrm>
                <a:off x="769524" y="3380451"/>
                <a:ext cx="1146600" cy="11466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sp>
            <p:nvSpPr>
              <p:cNvPr id="788" name="Google Shape;788;p53"/>
              <p:cNvSpPr/>
              <p:nvPr/>
            </p:nvSpPr>
            <p:spPr>
              <a:xfrm>
                <a:off x="912774" y="3523701"/>
                <a:ext cx="860100" cy="8601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sp>
            <p:nvSpPr>
              <p:cNvPr id="789" name="Google Shape;789;p53"/>
              <p:cNvSpPr/>
              <p:nvPr/>
            </p:nvSpPr>
            <p:spPr>
              <a:xfrm>
                <a:off x="1038474" y="3649401"/>
                <a:ext cx="608700" cy="6087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sp>
            <p:nvSpPr>
              <p:cNvPr id="790" name="Google Shape;790;p53"/>
              <p:cNvSpPr/>
              <p:nvPr/>
            </p:nvSpPr>
            <p:spPr>
              <a:xfrm>
                <a:off x="1137774" y="3748701"/>
                <a:ext cx="410100" cy="410100"/>
              </a:xfrm>
              <a:prstGeom prst="ellipse">
                <a:avLst/>
              </a:prstGeom>
              <a:solidFill>
                <a:schemeClr val="lt2"/>
              </a:solidFill>
              <a:ln w="3075" cap="flat" cmpd="sng">
                <a:solidFill>
                  <a:schemeClr val="dk2"/>
                </a:solidFill>
                <a:prstDash val="dot"/>
                <a:round/>
                <a:headEnd type="none" w="sm" len="sm"/>
                <a:tailEnd type="none" w="sm" len="sm"/>
              </a:ln>
            </p:spPr>
            <p:txBody>
              <a:bodyPr spcFirstLastPara="1" wrap="square" lIns="29750" tIns="29750" rIns="29750" bIns="29750" anchor="ctr" anchorCtr="0">
                <a:noAutofit/>
              </a:bodyPr>
              <a:lstStyle/>
              <a:p>
                <a:pPr marL="0" lvl="0" indent="0" algn="ctr" rtl="0">
                  <a:spcBef>
                    <a:spcPts val="0"/>
                  </a:spcBef>
                  <a:spcAft>
                    <a:spcPts val="0"/>
                  </a:spcAft>
                  <a:buNone/>
                </a:pPr>
                <a:endParaRPr sz="455"/>
              </a:p>
            </p:txBody>
          </p:sp>
        </p:grpSp>
        <p:cxnSp>
          <p:nvCxnSpPr>
            <p:cNvPr id="791" name="Google Shape;791;p53"/>
            <p:cNvCxnSpPr/>
            <p:nvPr/>
          </p:nvCxnSpPr>
          <p:spPr>
            <a:xfrm>
              <a:off x="2206850" y="3403360"/>
              <a:ext cx="219000" cy="21900"/>
            </a:xfrm>
            <a:prstGeom prst="straightConnector1">
              <a:avLst/>
            </a:prstGeom>
            <a:noFill/>
            <a:ln w="9525" cap="flat" cmpd="sng">
              <a:solidFill>
                <a:schemeClr val="dk1"/>
              </a:solidFill>
              <a:prstDash val="solid"/>
              <a:round/>
              <a:headEnd type="none" w="med" len="med"/>
              <a:tailEnd type="triangle" w="med" len="med"/>
            </a:ln>
          </p:spPr>
        </p:cxnSp>
        <p:cxnSp>
          <p:nvCxnSpPr>
            <p:cNvPr id="792" name="Google Shape;792;p53"/>
            <p:cNvCxnSpPr/>
            <p:nvPr/>
          </p:nvCxnSpPr>
          <p:spPr>
            <a:xfrm>
              <a:off x="4007925" y="3549185"/>
              <a:ext cx="219000" cy="21900"/>
            </a:xfrm>
            <a:prstGeom prst="straightConnector1">
              <a:avLst/>
            </a:prstGeom>
            <a:noFill/>
            <a:ln w="9525" cap="flat" cmpd="sng">
              <a:solidFill>
                <a:schemeClr val="dk1"/>
              </a:solidFill>
              <a:prstDash val="solid"/>
              <a:round/>
              <a:headEnd type="none" w="med" len="med"/>
              <a:tailEnd type="triangle" w="med" len="med"/>
            </a:ln>
          </p:spPr>
        </p:cxnSp>
        <p:cxnSp>
          <p:nvCxnSpPr>
            <p:cNvPr id="793" name="Google Shape;793;p53"/>
            <p:cNvCxnSpPr/>
            <p:nvPr/>
          </p:nvCxnSpPr>
          <p:spPr>
            <a:xfrm>
              <a:off x="7153700" y="3842148"/>
              <a:ext cx="219000" cy="21900"/>
            </a:xfrm>
            <a:prstGeom prst="straightConnector1">
              <a:avLst/>
            </a:prstGeom>
            <a:noFill/>
            <a:ln w="9525" cap="flat" cmpd="sng">
              <a:solidFill>
                <a:schemeClr val="dk1"/>
              </a:solidFill>
              <a:prstDash val="solid"/>
              <a:round/>
              <a:headEnd type="none" w="med" len="med"/>
              <a:tailEnd type="triangle" w="med" len="med"/>
            </a:ln>
          </p:spPr>
        </p:cxnSp>
        <p:cxnSp>
          <p:nvCxnSpPr>
            <p:cNvPr id="794" name="Google Shape;794;p53"/>
            <p:cNvCxnSpPr/>
            <p:nvPr/>
          </p:nvCxnSpPr>
          <p:spPr>
            <a:xfrm>
              <a:off x="5616972" y="3707284"/>
              <a:ext cx="219000" cy="21900"/>
            </a:xfrm>
            <a:prstGeom prst="straightConnector1">
              <a:avLst/>
            </a:prstGeom>
            <a:noFill/>
            <a:ln w="9525" cap="flat" cmpd="sng">
              <a:solidFill>
                <a:schemeClr val="dk1"/>
              </a:solidFill>
              <a:prstDash val="solid"/>
              <a:round/>
              <a:headEnd type="none" w="med" len="med"/>
              <a:tailEnd type="triangle" w="med" len="med"/>
            </a:ln>
          </p:spPr>
        </p:cxnSp>
        <p:cxnSp>
          <p:nvCxnSpPr>
            <p:cNvPr id="795" name="Google Shape;795;p53"/>
            <p:cNvCxnSpPr/>
            <p:nvPr/>
          </p:nvCxnSpPr>
          <p:spPr>
            <a:xfrm rot="10800000" flipH="1">
              <a:off x="2239698" y="4487218"/>
              <a:ext cx="240900" cy="21900"/>
            </a:xfrm>
            <a:prstGeom prst="straightConnector1">
              <a:avLst/>
            </a:prstGeom>
            <a:noFill/>
            <a:ln w="9525" cap="flat" cmpd="sng">
              <a:solidFill>
                <a:schemeClr val="dk1"/>
              </a:solidFill>
              <a:prstDash val="solid"/>
              <a:round/>
              <a:headEnd type="none" w="med" len="med"/>
              <a:tailEnd type="triangle" w="med" len="med"/>
            </a:ln>
          </p:spPr>
        </p:cxnSp>
        <p:cxnSp>
          <p:nvCxnSpPr>
            <p:cNvPr id="796" name="Google Shape;796;p53"/>
            <p:cNvCxnSpPr/>
            <p:nvPr/>
          </p:nvCxnSpPr>
          <p:spPr>
            <a:xfrm rot="10800000" flipH="1">
              <a:off x="4007923" y="4340693"/>
              <a:ext cx="240900" cy="21900"/>
            </a:xfrm>
            <a:prstGeom prst="straightConnector1">
              <a:avLst/>
            </a:prstGeom>
            <a:noFill/>
            <a:ln w="9525" cap="flat" cmpd="sng">
              <a:solidFill>
                <a:schemeClr val="dk1"/>
              </a:solidFill>
              <a:prstDash val="solid"/>
              <a:round/>
              <a:headEnd type="none" w="med" len="med"/>
              <a:tailEnd type="triangle" w="med" len="med"/>
            </a:ln>
          </p:spPr>
        </p:cxnSp>
        <p:cxnSp>
          <p:nvCxnSpPr>
            <p:cNvPr id="797" name="Google Shape;797;p53"/>
            <p:cNvCxnSpPr/>
            <p:nvPr/>
          </p:nvCxnSpPr>
          <p:spPr>
            <a:xfrm rot="10800000" flipH="1">
              <a:off x="5595072" y="4165816"/>
              <a:ext cx="240900" cy="21900"/>
            </a:xfrm>
            <a:prstGeom prst="straightConnector1">
              <a:avLst/>
            </a:prstGeom>
            <a:noFill/>
            <a:ln w="9525" cap="flat" cmpd="sng">
              <a:solidFill>
                <a:schemeClr val="dk1"/>
              </a:solidFill>
              <a:prstDash val="solid"/>
              <a:round/>
              <a:headEnd type="none" w="med" len="med"/>
              <a:tailEnd type="triangle" w="med" len="med"/>
            </a:ln>
          </p:spPr>
        </p:cxnSp>
        <p:cxnSp>
          <p:nvCxnSpPr>
            <p:cNvPr id="798" name="Google Shape;798;p53"/>
            <p:cNvCxnSpPr/>
            <p:nvPr/>
          </p:nvCxnSpPr>
          <p:spPr>
            <a:xfrm rot="10800000" flipH="1">
              <a:off x="7153698" y="4032493"/>
              <a:ext cx="240900" cy="21900"/>
            </a:xfrm>
            <a:prstGeom prst="straightConnector1">
              <a:avLst/>
            </a:prstGeom>
            <a:noFill/>
            <a:ln w="9525" cap="flat" cmpd="sng">
              <a:solidFill>
                <a:schemeClr val="dk1"/>
              </a:solidFill>
              <a:prstDash val="solid"/>
              <a:round/>
              <a:headEnd type="none" w="med" len="med"/>
              <a:tailEnd type="triangle" w="med" len="med"/>
            </a:ln>
          </p:spPr>
        </p:cxnSp>
        <p:cxnSp>
          <p:nvCxnSpPr>
            <p:cNvPr id="799" name="Google Shape;799;p53"/>
            <p:cNvCxnSpPr/>
            <p:nvPr/>
          </p:nvCxnSpPr>
          <p:spPr>
            <a:xfrm>
              <a:off x="2277234" y="3954950"/>
              <a:ext cx="247200" cy="6900"/>
            </a:xfrm>
            <a:prstGeom prst="straightConnector1">
              <a:avLst/>
            </a:prstGeom>
            <a:noFill/>
            <a:ln w="9525" cap="flat" cmpd="sng">
              <a:solidFill>
                <a:schemeClr val="dk1"/>
              </a:solidFill>
              <a:prstDash val="solid"/>
              <a:round/>
              <a:headEnd type="none" w="med" len="med"/>
              <a:tailEnd type="triangle" w="med" len="med"/>
            </a:ln>
          </p:spPr>
        </p:cxnSp>
        <p:cxnSp>
          <p:nvCxnSpPr>
            <p:cNvPr id="800" name="Google Shape;800;p53"/>
            <p:cNvCxnSpPr/>
            <p:nvPr/>
          </p:nvCxnSpPr>
          <p:spPr>
            <a:xfrm>
              <a:off x="4048554" y="3950300"/>
              <a:ext cx="247200" cy="6900"/>
            </a:xfrm>
            <a:prstGeom prst="straightConnector1">
              <a:avLst/>
            </a:prstGeom>
            <a:noFill/>
            <a:ln w="9525" cap="flat" cmpd="sng">
              <a:solidFill>
                <a:schemeClr val="dk1"/>
              </a:solidFill>
              <a:prstDash val="solid"/>
              <a:round/>
              <a:headEnd type="none" w="med" len="med"/>
              <a:tailEnd type="triangle" w="med" len="med"/>
            </a:ln>
          </p:spPr>
        </p:cxnSp>
        <p:cxnSp>
          <p:nvCxnSpPr>
            <p:cNvPr id="801" name="Google Shape;801;p53"/>
            <p:cNvCxnSpPr/>
            <p:nvPr/>
          </p:nvCxnSpPr>
          <p:spPr>
            <a:xfrm>
              <a:off x="5646652" y="3939352"/>
              <a:ext cx="247200" cy="6900"/>
            </a:xfrm>
            <a:prstGeom prst="straightConnector1">
              <a:avLst/>
            </a:prstGeom>
            <a:noFill/>
            <a:ln w="9525" cap="flat" cmpd="sng">
              <a:solidFill>
                <a:schemeClr val="dk1"/>
              </a:solidFill>
              <a:prstDash val="solid"/>
              <a:round/>
              <a:headEnd type="none" w="med" len="med"/>
              <a:tailEnd type="triangle" w="med" len="med"/>
            </a:ln>
          </p:spPr>
        </p:cxnSp>
        <p:cxnSp>
          <p:nvCxnSpPr>
            <p:cNvPr id="802" name="Google Shape;802;p53"/>
            <p:cNvCxnSpPr/>
            <p:nvPr/>
          </p:nvCxnSpPr>
          <p:spPr>
            <a:xfrm>
              <a:off x="7457089" y="3950300"/>
              <a:ext cx="247200" cy="6900"/>
            </a:xfrm>
            <a:prstGeom prst="straightConnector1">
              <a:avLst/>
            </a:prstGeom>
            <a:noFill/>
            <a:ln w="9525" cap="flat" cmpd="sng">
              <a:solidFill>
                <a:schemeClr val="dk1"/>
              </a:solidFill>
              <a:prstDash val="solid"/>
              <a:round/>
              <a:headEnd type="none" w="med" len="med"/>
              <a:tailEnd type="triangle" w="med" len="med"/>
            </a:ln>
          </p:spPr>
        </p:cxnSp>
      </p:grpSp>
      <p:sp>
        <p:nvSpPr>
          <p:cNvPr id="803" name="Google Shape;80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54"/>
          <p:cNvSpPr txBox="1"/>
          <p:nvPr/>
        </p:nvSpPr>
        <p:spPr>
          <a:xfrm>
            <a:off x="2384461" y="0"/>
            <a:ext cx="51246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Marginalizing the Conditional Vector Fields </a:t>
            </a:r>
            <a:endParaRPr sz="1800" b="1">
              <a:solidFill>
                <a:schemeClr val="dk1"/>
              </a:solidFill>
            </a:endParaRPr>
          </a:p>
        </p:txBody>
      </p:sp>
      <p:pic>
        <p:nvPicPr>
          <p:cNvPr id="809" name="Google Shape;809;p54"/>
          <p:cNvPicPr preferRelativeResize="0"/>
          <p:nvPr/>
        </p:nvPicPr>
        <p:blipFill>
          <a:blip r:embed="rId3">
            <a:alphaModFix/>
          </a:blip>
          <a:stretch>
            <a:fillRect/>
          </a:stretch>
        </p:blipFill>
        <p:spPr>
          <a:xfrm>
            <a:off x="564625" y="1265025"/>
            <a:ext cx="8200600" cy="746175"/>
          </a:xfrm>
          <a:prstGeom prst="rect">
            <a:avLst/>
          </a:prstGeom>
          <a:noFill/>
          <a:ln>
            <a:noFill/>
          </a:ln>
        </p:spPr>
      </p:pic>
      <p:sp>
        <p:nvSpPr>
          <p:cNvPr id="810" name="Google Shape;810;p54"/>
          <p:cNvSpPr/>
          <p:nvPr/>
        </p:nvSpPr>
        <p:spPr>
          <a:xfrm>
            <a:off x="5808845" y="1180853"/>
            <a:ext cx="1094700" cy="4161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1" name="Google Shape;811;p54"/>
          <p:cNvSpPr txBox="1"/>
          <p:nvPr/>
        </p:nvSpPr>
        <p:spPr>
          <a:xfrm>
            <a:off x="7188375" y="830500"/>
            <a:ext cx="9744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chemeClr val="accent1"/>
                </a:solidFill>
              </a:rPr>
              <a:t>Prior</a:t>
            </a:r>
            <a:endParaRPr sz="1800" i="1">
              <a:solidFill>
                <a:schemeClr val="accent1"/>
              </a:solidFill>
            </a:endParaRPr>
          </a:p>
        </p:txBody>
      </p:sp>
      <p:sp>
        <p:nvSpPr>
          <p:cNvPr id="812" name="Google Shape;812;p54"/>
          <p:cNvSpPr/>
          <p:nvPr/>
        </p:nvSpPr>
        <p:spPr>
          <a:xfrm>
            <a:off x="6925575" y="1180850"/>
            <a:ext cx="1237200" cy="4161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3" name="Google Shape;813;p54"/>
          <p:cNvSpPr txBox="1"/>
          <p:nvPr/>
        </p:nvSpPr>
        <p:spPr>
          <a:xfrm>
            <a:off x="5743430" y="829091"/>
            <a:ext cx="16212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rgbClr val="FF0000"/>
                </a:solidFill>
              </a:rPr>
              <a:t>Likelihood</a:t>
            </a:r>
            <a:endParaRPr sz="1800" i="1">
              <a:solidFill>
                <a:srgbClr val="FF0000"/>
              </a:solidFill>
            </a:endParaRPr>
          </a:p>
        </p:txBody>
      </p:sp>
      <p:sp>
        <p:nvSpPr>
          <p:cNvPr id="814" name="Google Shape;814;p54"/>
          <p:cNvSpPr txBox="1"/>
          <p:nvPr/>
        </p:nvSpPr>
        <p:spPr>
          <a:xfrm>
            <a:off x="5666675" y="2765225"/>
            <a:ext cx="2741700" cy="74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solidFill>
                  <a:schemeClr val="dk1"/>
                </a:solidFill>
              </a:rPr>
              <a:t>i.e. the ratio above is equal to the posterior over </a:t>
            </a:r>
            <a:r>
              <a:rPr lang="en" sz="1600" i="1">
                <a:solidFill>
                  <a:schemeClr val="dk1"/>
                </a:solidFill>
              </a:rPr>
              <a:t>Z </a:t>
            </a:r>
            <a:endParaRPr sz="1600" i="1">
              <a:solidFill>
                <a:schemeClr val="dk1"/>
              </a:solidFill>
            </a:endParaRPr>
          </a:p>
        </p:txBody>
      </p:sp>
      <p:pic>
        <p:nvPicPr>
          <p:cNvPr id="815" name="Google Shape;815;p54"/>
          <p:cNvPicPr preferRelativeResize="0"/>
          <p:nvPr/>
        </p:nvPicPr>
        <p:blipFill>
          <a:blip r:embed="rId4">
            <a:alphaModFix/>
          </a:blip>
          <a:stretch>
            <a:fillRect/>
          </a:stretch>
        </p:blipFill>
        <p:spPr>
          <a:xfrm>
            <a:off x="6286625" y="2341376"/>
            <a:ext cx="1094700" cy="358174"/>
          </a:xfrm>
          <a:prstGeom prst="rect">
            <a:avLst/>
          </a:prstGeom>
          <a:noFill/>
          <a:ln>
            <a:noFill/>
          </a:ln>
        </p:spPr>
      </p:pic>
      <p:sp>
        <p:nvSpPr>
          <p:cNvPr id="816" name="Google Shape;816;p54"/>
          <p:cNvSpPr/>
          <p:nvPr/>
        </p:nvSpPr>
        <p:spPr>
          <a:xfrm>
            <a:off x="6914615" y="2100500"/>
            <a:ext cx="98700" cy="175200"/>
          </a:xfrm>
          <a:prstGeom prst="downArrow">
            <a:avLst>
              <a:gd name="adj1" fmla="val 50000"/>
              <a:gd name="adj2" fmla="val 50000"/>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7" name="Google Shape;817;p54"/>
          <p:cNvSpPr/>
          <p:nvPr/>
        </p:nvSpPr>
        <p:spPr>
          <a:xfrm rot="-5400000">
            <a:off x="4388375" y="918900"/>
            <a:ext cx="186000" cy="2370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8" name="Google Shape;818;p54"/>
          <p:cNvSpPr txBox="1"/>
          <p:nvPr/>
        </p:nvSpPr>
        <p:spPr>
          <a:xfrm>
            <a:off x="3316950" y="2192700"/>
            <a:ext cx="2510100" cy="74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Acts as a </a:t>
            </a:r>
            <a:r>
              <a:rPr lang="en" sz="1800" b="1">
                <a:solidFill>
                  <a:schemeClr val="dk1"/>
                </a:solidFill>
              </a:rPr>
              <a:t>weighting term </a:t>
            </a:r>
            <a:r>
              <a:rPr lang="en" sz="1800">
                <a:solidFill>
                  <a:schemeClr val="dk1"/>
                </a:solidFill>
              </a:rPr>
              <a:t>for the posterior</a:t>
            </a:r>
            <a:endParaRPr sz="1800">
              <a:solidFill>
                <a:schemeClr val="dk1"/>
              </a:solidFill>
            </a:endParaRPr>
          </a:p>
        </p:txBody>
      </p:sp>
      <p:sp>
        <p:nvSpPr>
          <p:cNvPr id="819" name="Google Shape;819;p54"/>
          <p:cNvSpPr txBox="1"/>
          <p:nvPr/>
        </p:nvSpPr>
        <p:spPr>
          <a:xfrm>
            <a:off x="6357700" y="534753"/>
            <a:ext cx="1237200" cy="17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rgbClr val="FF9900"/>
                </a:solidFill>
              </a:rPr>
              <a:t>Posterior</a:t>
            </a:r>
            <a:endParaRPr sz="1800" i="1">
              <a:solidFill>
                <a:srgbClr val="FF9900"/>
              </a:solidFill>
            </a:endParaRPr>
          </a:p>
        </p:txBody>
      </p:sp>
      <p:sp>
        <p:nvSpPr>
          <p:cNvPr id="820" name="Google Shape;820;p54"/>
          <p:cNvSpPr/>
          <p:nvPr/>
        </p:nvSpPr>
        <p:spPr>
          <a:xfrm rot="-5400000">
            <a:off x="5846933" y="2484153"/>
            <a:ext cx="98700" cy="175200"/>
          </a:xfrm>
          <a:prstGeom prst="downArrow">
            <a:avLst>
              <a:gd name="adj1" fmla="val 50000"/>
              <a:gd name="adj2" fmla="val 50000"/>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1" name="Google Shape;821;p54"/>
          <p:cNvSpPr/>
          <p:nvPr/>
        </p:nvSpPr>
        <p:spPr>
          <a:xfrm>
            <a:off x="1587464" y="4292562"/>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822" name="Google Shape;822;p54"/>
          <p:cNvSpPr/>
          <p:nvPr/>
        </p:nvSpPr>
        <p:spPr>
          <a:xfrm>
            <a:off x="1587464" y="3259512"/>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823" name="Google Shape;823;p54"/>
          <p:cNvSpPr/>
          <p:nvPr/>
        </p:nvSpPr>
        <p:spPr>
          <a:xfrm>
            <a:off x="2075475" y="3559671"/>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4" name="Google Shape;824;p54"/>
          <p:cNvSpPr/>
          <p:nvPr/>
        </p:nvSpPr>
        <p:spPr>
          <a:xfrm rot="10800000">
            <a:off x="1385975" y="3559671"/>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25" name="Google Shape;825;p54"/>
          <p:cNvPicPr preferRelativeResize="0"/>
          <p:nvPr/>
        </p:nvPicPr>
        <p:blipFill>
          <a:blip r:embed="rId4">
            <a:alphaModFix/>
          </a:blip>
          <a:stretch>
            <a:fillRect/>
          </a:stretch>
        </p:blipFill>
        <p:spPr>
          <a:xfrm>
            <a:off x="236550" y="3813825"/>
            <a:ext cx="1094700" cy="358170"/>
          </a:xfrm>
          <a:prstGeom prst="rect">
            <a:avLst/>
          </a:prstGeom>
          <a:noFill/>
          <a:ln>
            <a:noFill/>
          </a:ln>
        </p:spPr>
      </p:pic>
      <p:pic>
        <p:nvPicPr>
          <p:cNvPr id="826" name="Google Shape;826;p54"/>
          <p:cNvPicPr preferRelativeResize="0"/>
          <p:nvPr/>
        </p:nvPicPr>
        <p:blipFill>
          <a:blip r:embed="rId5">
            <a:alphaModFix/>
          </a:blip>
          <a:stretch>
            <a:fillRect/>
          </a:stretch>
        </p:blipFill>
        <p:spPr>
          <a:xfrm>
            <a:off x="2349150" y="3795571"/>
            <a:ext cx="1094700" cy="364900"/>
          </a:xfrm>
          <a:prstGeom prst="rect">
            <a:avLst/>
          </a:prstGeom>
          <a:noFill/>
          <a:ln>
            <a:noFill/>
          </a:ln>
        </p:spPr>
      </p:pic>
      <p:sp>
        <p:nvSpPr>
          <p:cNvPr id="827" name="Google Shape;827;p54"/>
          <p:cNvSpPr txBox="1"/>
          <p:nvPr/>
        </p:nvSpPr>
        <p:spPr>
          <a:xfrm>
            <a:off x="4035225" y="3652171"/>
            <a:ext cx="49698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chemeClr val="dk1"/>
                </a:solidFill>
              </a:rPr>
              <a:t>Note that marginalizing over the posterior here is referred to as the</a:t>
            </a:r>
            <a:r>
              <a:rPr lang="en" sz="1800">
                <a:solidFill>
                  <a:schemeClr val="dk1"/>
                </a:solidFill>
              </a:rPr>
              <a:t> </a:t>
            </a:r>
            <a:r>
              <a:rPr lang="en" sz="1800" b="1" i="1">
                <a:solidFill>
                  <a:schemeClr val="dk1"/>
                </a:solidFill>
              </a:rPr>
              <a:t>“Marginalization Trick”</a:t>
            </a:r>
            <a:endParaRPr sz="1800" b="1" i="1">
              <a:solidFill>
                <a:schemeClr val="dk1"/>
              </a:solidFill>
            </a:endParaRPr>
          </a:p>
        </p:txBody>
      </p:sp>
      <p:sp>
        <p:nvSpPr>
          <p:cNvPr id="828" name="Google Shape;828;p54"/>
          <p:cNvSpPr txBox="1"/>
          <p:nvPr/>
        </p:nvSpPr>
        <p:spPr>
          <a:xfrm>
            <a:off x="1587613" y="2971299"/>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Data</a:t>
            </a:r>
            <a:endParaRPr sz="1100">
              <a:solidFill>
                <a:schemeClr val="dk1"/>
              </a:solidFill>
            </a:endParaRPr>
          </a:p>
        </p:txBody>
      </p:sp>
      <p:sp>
        <p:nvSpPr>
          <p:cNvPr id="829" name="Google Shape;829;p54"/>
          <p:cNvSpPr txBox="1"/>
          <p:nvPr/>
        </p:nvSpPr>
        <p:spPr>
          <a:xfrm>
            <a:off x="1542944" y="4678354"/>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Noise</a:t>
            </a:r>
            <a:endParaRPr sz="1100">
              <a:solidFill>
                <a:schemeClr val="dk1"/>
              </a:solidFill>
            </a:endParaRPr>
          </a:p>
        </p:txBody>
      </p:sp>
      <p:sp>
        <p:nvSpPr>
          <p:cNvPr id="830" name="Google Shape;830;p54"/>
          <p:cNvSpPr txBox="1"/>
          <p:nvPr/>
        </p:nvSpPr>
        <p:spPr>
          <a:xfrm>
            <a:off x="2372175" y="4104825"/>
            <a:ext cx="10947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Likelihood</a:t>
            </a:r>
            <a:endParaRPr>
              <a:solidFill>
                <a:schemeClr val="dk1"/>
              </a:solidFill>
            </a:endParaRPr>
          </a:p>
        </p:txBody>
      </p:sp>
      <p:sp>
        <p:nvSpPr>
          <p:cNvPr id="831" name="Google Shape;831;p54"/>
          <p:cNvSpPr txBox="1"/>
          <p:nvPr/>
        </p:nvSpPr>
        <p:spPr>
          <a:xfrm>
            <a:off x="346057" y="4104828"/>
            <a:ext cx="1174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Posterior</a:t>
            </a:r>
            <a:endParaRPr>
              <a:solidFill>
                <a:schemeClr val="dk1"/>
              </a:solidFill>
            </a:endParaRPr>
          </a:p>
        </p:txBody>
      </p:sp>
      <p:sp>
        <p:nvSpPr>
          <p:cNvPr id="832" name="Google Shape;832;p54"/>
          <p:cNvSpPr/>
          <p:nvPr/>
        </p:nvSpPr>
        <p:spPr>
          <a:xfrm>
            <a:off x="5721248" y="929030"/>
            <a:ext cx="2510100" cy="1105800"/>
          </a:xfrm>
          <a:prstGeom prst="rect">
            <a:avLst/>
          </a:prstGeom>
          <a:noFill/>
          <a:ln w="9525" cap="flat" cmpd="sng">
            <a:solidFill>
              <a:srgbClr val="FF99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3" name="Google Shape;833;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55"/>
          <p:cNvSpPr txBox="1"/>
          <p:nvPr/>
        </p:nvSpPr>
        <p:spPr>
          <a:xfrm>
            <a:off x="1664751" y="10597"/>
            <a:ext cx="68007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 Vector Field as a Posterior Expectation </a:t>
            </a:r>
            <a:endParaRPr sz="1800" b="1">
              <a:solidFill>
                <a:schemeClr val="dk1"/>
              </a:solidFill>
            </a:endParaRPr>
          </a:p>
        </p:txBody>
      </p:sp>
      <p:pic>
        <p:nvPicPr>
          <p:cNvPr id="839" name="Google Shape;839;p55"/>
          <p:cNvPicPr preferRelativeResize="0"/>
          <p:nvPr/>
        </p:nvPicPr>
        <p:blipFill>
          <a:blip r:embed="rId3">
            <a:alphaModFix/>
          </a:blip>
          <a:stretch>
            <a:fillRect/>
          </a:stretch>
        </p:blipFill>
        <p:spPr>
          <a:xfrm>
            <a:off x="422297" y="1265025"/>
            <a:ext cx="8200600" cy="746175"/>
          </a:xfrm>
          <a:prstGeom prst="rect">
            <a:avLst/>
          </a:prstGeom>
          <a:noFill/>
          <a:ln>
            <a:noFill/>
          </a:ln>
        </p:spPr>
      </p:pic>
      <p:sp>
        <p:nvSpPr>
          <p:cNvPr id="840" name="Google Shape;840;p55"/>
          <p:cNvSpPr/>
          <p:nvPr/>
        </p:nvSpPr>
        <p:spPr>
          <a:xfrm>
            <a:off x="7116360" y="4139273"/>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841" name="Google Shape;841;p55"/>
          <p:cNvSpPr/>
          <p:nvPr/>
        </p:nvSpPr>
        <p:spPr>
          <a:xfrm>
            <a:off x="7116360" y="3106223"/>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842" name="Google Shape;842;p55"/>
          <p:cNvSpPr/>
          <p:nvPr/>
        </p:nvSpPr>
        <p:spPr>
          <a:xfrm>
            <a:off x="7604372" y="3406382"/>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3" name="Google Shape;843;p55"/>
          <p:cNvSpPr/>
          <p:nvPr/>
        </p:nvSpPr>
        <p:spPr>
          <a:xfrm rot="10800000">
            <a:off x="6914872" y="3406382"/>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44" name="Google Shape;844;p55"/>
          <p:cNvPicPr preferRelativeResize="0"/>
          <p:nvPr/>
        </p:nvPicPr>
        <p:blipFill>
          <a:blip r:embed="rId4">
            <a:alphaModFix/>
          </a:blip>
          <a:stretch>
            <a:fillRect/>
          </a:stretch>
        </p:blipFill>
        <p:spPr>
          <a:xfrm>
            <a:off x="5765446" y="3660537"/>
            <a:ext cx="1094700" cy="358170"/>
          </a:xfrm>
          <a:prstGeom prst="rect">
            <a:avLst/>
          </a:prstGeom>
          <a:noFill/>
          <a:ln>
            <a:noFill/>
          </a:ln>
        </p:spPr>
      </p:pic>
      <p:pic>
        <p:nvPicPr>
          <p:cNvPr id="845" name="Google Shape;845;p55"/>
          <p:cNvPicPr preferRelativeResize="0"/>
          <p:nvPr/>
        </p:nvPicPr>
        <p:blipFill>
          <a:blip r:embed="rId5">
            <a:alphaModFix/>
          </a:blip>
          <a:stretch>
            <a:fillRect/>
          </a:stretch>
        </p:blipFill>
        <p:spPr>
          <a:xfrm>
            <a:off x="7878047" y="3642282"/>
            <a:ext cx="1094700" cy="364900"/>
          </a:xfrm>
          <a:prstGeom prst="rect">
            <a:avLst/>
          </a:prstGeom>
          <a:noFill/>
          <a:ln>
            <a:noFill/>
          </a:ln>
        </p:spPr>
      </p:pic>
      <p:sp>
        <p:nvSpPr>
          <p:cNvPr id="846" name="Google Shape;846;p55"/>
          <p:cNvSpPr/>
          <p:nvPr/>
        </p:nvSpPr>
        <p:spPr>
          <a:xfrm>
            <a:off x="5578921" y="929030"/>
            <a:ext cx="2510100" cy="1105800"/>
          </a:xfrm>
          <a:prstGeom prst="rect">
            <a:avLst/>
          </a:prstGeom>
          <a:noFill/>
          <a:ln w="9525" cap="flat" cmpd="sng">
            <a:solidFill>
              <a:srgbClr val="FF99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7" name="Google Shape;847;p55"/>
          <p:cNvSpPr txBox="1"/>
          <p:nvPr/>
        </p:nvSpPr>
        <p:spPr>
          <a:xfrm>
            <a:off x="6226321" y="534753"/>
            <a:ext cx="1237200" cy="17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a:solidFill>
                  <a:srgbClr val="FF9900"/>
                </a:solidFill>
              </a:rPr>
              <a:t>Posterior</a:t>
            </a:r>
            <a:endParaRPr sz="1800" i="1">
              <a:solidFill>
                <a:srgbClr val="FF9900"/>
              </a:solidFill>
            </a:endParaRPr>
          </a:p>
        </p:txBody>
      </p:sp>
      <p:sp>
        <p:nvSpPr>
          <p:cNvPr id="848" name="Google Shape;848;p55"/>
          <p:cNvSpPr txBox="1"/>
          <p:nvPr/>
        </p:nvSpPr>
        <p:spPr>
          <a:xfrm>
            <a:off x="7933476" y="3962500"/>
            <a:ext cx="11292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Likelihood</a:t>
            </a:r>
            <a:endParaRPr>
              <a:solidFill>
                <a:schemeClr val="dk1"/>
              </a:solidFill>
            </a:endParaRPr>
          </a:p>
        </p:txBody>
      </p:sp>
      <p:sp>
        <p:nvSpPr>
          <p:cNvPr id="849" name="Google Shape;849;p55"/>
          <p:cNvSpPr txBox="1"/>
          <p:nvPr/>
        </p:nvSpPr>
        <p:spPr>
          <a:xfrm>
            <a:off x="5896833" y="3962501"/>
            <a:ext cx="1174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Posterior</a:t>
            </a:r>
            <a:endParaRPr>
              <a:solidFill>
                <a:schemeClr val="dk1"/>
              </a:solidFill>
            </a:endParaRPr>
          </a:p>
        </p:txBody>
      </p:sp>
      <p:sp>
        <p:nvSpPr>
          <p:cNvPr id="850" name="Google Shape;850;p55"/>
          <p:cNvSpPr txBox="1"/>
          <p:nvPr/>
        </p:nvSpPr>
        <p:spPr>
          <a:xfrm>
            <a:off x="114169" y="2286617"/>
            <a:ext cx="5180400" cy="188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Intuitively, we can say that the marginal vector field is the weighted average over all the data points z of the conditional vector fields                   where the weight is the posterior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p:txBody>
      </p:sp>
      <p:pic>
        <p:nvPicPr>
          <p:cNvPr id="851" name="Google Shape;851;p55"/>
          <p:cNvPicPr preferRelativeResize="0"/>
          <p:nvPr/>
        </p:nvPicPr>
        <p:blipFill>
          <a:blip r:embed="rId6">
            <a:alphaModFix/>
          </a:blip>
          <a:stretch>
            <a:fillRect/>
          </a:stretch>
        </p:blipFill>
        <p:spPr>
          <a:xfrm>
            <a:off x="4134472" y="2956144"/>
            <a:ext cx="961174" cy="229911"/>
          </a:xfrm>
          <a:prstGeom prst="rect">
            <a:avLst/>
          </a:prstGeom>
          <a:noFill/>
          <a:ln>
            <a:noFill/>
          </a:ln>
        </p:spPr>
      </p:pic>
      <p:pic>
        <p:nvPicPr>
          <p:cNvPr id="852" name="Google Shape;852;p55"/>
          <p:cNvPicPr preferRelativeResize="0"/>
          <p:nvPr/>
        </p:nvPicPr>
        <p:blipFill>
          <a:blip r:embed="rId7">
            <a:alphaModFix/>
          </a:blip>
          <a:stretch>
            <a:fillRect/>
          </a:stretch>
        </p:blipFill>
        <p:spPr>
          <a:xfrm>
            <a:off x="818475" y="3737157"/>
            <a:ext cx="3392801" cy="538492"/>
          </a:xfrm>
          <a:prstGeom prst="rect">
            <a:avLst/>
          </a:prstGeom>
          <a:noFill/>
          <a:ln>
            <a:noFill/>
          </a:ln>
        </p:spPr>
      </p:pic>
      <p:sp>
        <p:nvSpPr>
          <p:cNvPr id="853" name="Google Shape;853;p55"/>
          <p:cNvSpPr txBox="1"/>
          <p:nvPr/>
        </p:nvSpPr>
        <p:spPr>
          <a:xfrm>
            <a:off x="7116930" y="2826613"/>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Data</a:t>
            </a:r>
            <a:endParaRPr sz="1100">
              <a:solidFill>
                <a:schemeClr val="dk1"/>
              </a:solidFill>
            </a:endParaRPr>
          </a:p>
        </p:txBody>
      </p:sp>
      <p:sp>
        <p:nvSpPr>
          <p:cNvPr id="854" name="Google Shape;854;p55"/>
          <p:cNvSpPr txBox="1"/>
          <p:nvPr/>
        </p:nvSpPr>
        <p:spPr>
          <a:xfrm>
            <a:off x="7072261" y="4533668"/>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Noise</a:t>
            </a:r>
            <a:endParaRPr sz="1100">
              <a:solidFill>
                <a:schemeClr val="dk1"/>
              </a:solidFill>
            </a:endParaRPr>
          </a:p>
        </p:txBody>
      </p:sp>
      <p:pic>
        <p:nvPicPr>
          <p:cNvPr id="855" name="Google Shape;855;p55"/>
          <p:cNvPicPr preferRelativeResize="0"/>
          <p:nvPr/>
        </p:nvPicPr>
        <p:blipFill>
          <a:blip r:embed="rId4">
            <a:alphaModFix/>
          </a:blip>
          <a:stretch>
            <a:fillRect/>
          </a:stretch>
        </p:blipFill>
        <p:spPr>
          <a:xfrm>
            <a:off x="3577065" y="3190739"/>
            <a:ext cx="961175" cy="314487"/>
          </a:xfrm>
          <a:prstGeom prst="rect">
            <a:avLst/>
          </a:prstGeom>
          <a:noFill/>
          <a:ln>
            <a:noFill/>
          </a:ln>
        </p:spPr>
      </p:pic>
      <p:sp>
        <p:nvSpPr>
          <p:cNvPr id="856" name="Google Shape;856;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p56"/>
          <p:cNvSpPr txBox="1"/>
          <p:nvPr/>
        </p:nvSpPr>
        <p:spPr>
          <a:xfrm>
            <a:off x="3136050" y="0"/>
            <a:ext cx="28128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Posterior Interpretation </a:t>
            </a:r>
            <a:endParaRPr sz="1800" b="1">
              <a:solidFill>
                <a:schemeClr val="dk1"/>
              </a:solidFill>
            </a:endParaRPr>
          </a:p>
        </p:txBody>
      </p:sp>
      <p:sp>
        <p:nvSpPr>
          <p:cNvPr id="862" name="Google Shape;862;p56"/>
          <p:cNvSpPr/>
          <p:nvPr/>
        </p:nvSpPr>
        <p:spPr>
          <a:xfrm>
            <a:off x="1987277" y="1960551"/>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863" name="Google Shape;863;p56"/>
          <p:cNvSpPr/>
          <p:nvPr/>
        </p:nvSpPr>
        <p:spPr>
          <a:xfrm>
            <a:off x="1987277" y="927501"/>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864" name="Google Shape;864;p56"/>
          <p:cNvSpPr/>
          <p:nvPr/>
        </p:nvSpPr>
        <p:spPr>
          <a:xfrm>
            <a:off x="2475289" y="1227659"/>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5" name="Google Shape;865;p56"/>
          <p:cNvSpPr/>
          <p:nvPr/>
        </p:nvSpPr>
        <p:spPr>
          <a:xfrm rot="10800000">
            <a:off x="1785789" y="1227659"/>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66" name="Google Shape;866;p56"/>
          <p:cNvPicPr preferRelativeResize="0"/>
          <p:nvPr/>
        </p:nvPicPr>
        <p:blipFill>
          <a:blip r:embed="rId3">
            <a:alphaModFix/>
          </a:blip>
          <a:stretch>
            <a:fillRect/>
          </a:stretch>
        </p:blipFill>
        <p:spPr>
          <a:xfrm>
            <a:off x="636364" y="1481814"/>
            <a:ext cx="1094700" cy="358170"/>
          </a:xfrm>
          <a:prstGeom prst="rect">
            <a:avLst/>
          </a:prstGeom>
          <a:noFill/>
          <a:ln>
            <a:noFill/>
          </a:ln>
        </p:spPr>
      </p:pic>
      <p:pic>
        <p:nvPicPr>
          <p:cNvPr id="867" name="Google Shape;867;p56"/>
          <p:cNvPicPr preferRelativeResize="0"/>
          <p:nvPr/>
        </p:nvPicPr>
        <p:blipFill>
          <a:blip r:embed="rId4">
            <a:alphaModFix/>
          </a:blip>
          <a:stretch>
            <a:fillRect/>
          </a:stretch>
        </p:blipFill>
        <p:spPr>
          <a:xfrm>
            <a:off x="2748964" y="1463559"/>
            <a:ext cx="1094700" cy="364900"/>
          </a:xfrm>
          <a:prstGeom prst="rect">
            <a:avLst/>
          </a:prstGeom>
          <a:noFill/>
          <a:ln>
            <a:noFill/>
          </a:ln>
        </p:spPr>
      </p:pic>
      <p:sp>
        <p:nvSpPr>
          <p:cNvPr id="868" name="Google Shape;868;p56"/>
          <p:cNvSpPr txBox="1"/>
          <p:nvPr/>
        </p:nvSpPr>
        <p:spPr>
          <a:xfrm>
            <a:off x="2804400" y="1783775"/>
            <a:ext cx="10947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Likelihood</a:t>
            </a:r>
            <a:endParaRPr>
              <a:solidFill>
                <a:schemeClr val="dk1"/>
              </a:solidFill>
            </a:endParaRPr>
          </a:p>
        </p:txBody>
      </p:sp>
      <p:sp>
        <p:nvSpPr>
          <p:cNvPr id="869" name="Google Shape;869;p56"/>
          <p:cNvSpPr txBox="1"/>
          <p:nvPr/>
        </p:nvSpPr>
        <p:spPr>
          <a:xfrm>
            <a:off x="767750" y="1783778"/>
            <a:ext cx="1174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Posterior</a:t>
            </a:r>
            <a:endParaRPr>
              <a:solidFill>
                <a:schemeClr val="dk1"/>
              </a:solidFill>
            </a:endParaRPr>
          </a:p>
        </p:txBody>
      </p:sp>
      <p:sp>
        <p:nvSpPr>
          <p:cNvPr id="870" name="Google Shape;870;p56"/>
          <p:cNvSpPr txBox="1"/>
          <p:nvPr/>
        </p:nvSpPr>
        <p:spPr>
          <a:xfrm>
            <a:off x="1987847" y="647891"/>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Data</a:t>
            </a:r>
            <a:endParaRPr sz="1100">
              <a:solidFill>
                <a:schemeClr val="dk1"/>
              </a:solidFill>
            </a:endParaRPr>
          </a:p>
        </p:txBody>
      </p:sp>
      <p:sp>
        <p:nvSpPr>
          <p:cNvPr id="871" name="Google Shape;871;p56"/>
          <p:cNvSpPr txBox="1"/>
          <p:nvPr/>
        </p:nvSpPr>
        <p:spPr>
          <a:xfrm>
            <a:off x="1943178" y="2354946"/>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Noise</a:t>
            </a:r>
            <a:endParaRPr sz="1100">
              <a:solidFill>
                <a:schemeClr val="dk1"/>
              </a:solidFill>
            </a:endParaRPr>
          </a:p>
        </p:txBody>
      </p:sp>
      <p:sp>
        <p:nvSpPr>
          <p:cNvPr id="872" name="Google Shape;872;p56"/>
          <p:cNvSpPr txBox="1"/>
          <p:nvPr/>
        </p:nvSpPr>
        <p:spPr>
          <a:xfrm>
            <a:off x="552113" y="2877841"/>
            <a:ext cx="8112600" cy="176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Given that we are at </a:t>
            </a:r>
            <a:r>
              <a:rPr lang="en" sz="1800" b="1" i="1">
                <a:solidFill>
                  <a:schemeClr val="dk1"/>
                </a:solidFill>
              </a:rPr>
              <a:t>x</a:t>
            </a:r>
            <a:r>
              <a:rPr lang="en" sz="1800">
                <a:solidFill>
                  <a:schemeClr val="dk1"/>
                </a:solidFill>
              </a:rPr>
              <a:t>, we’re taking the expected value (i.e. </a:t>
            </a:r>
            <a:r>
              <a:rPr lang="en" sz="1800" i="1">
                <a:solidFill>
                  <a:schemeClr val="dk1"/>
                </a:solidFill>
              </a:rPr>
              <a:t>Integral </a:t>
            </a:r>
            <a:r>
              <a:rPr lang="en" sz="1800">
                <a:solidFill>
                  <a:schemeClr val="dk1"/>
                </a:solidFill>
              </a:rPr>
              <a:t>means </a:t>
            </a:r>
            <a:r>
              <a:rPr lang="en" sz="1800" i="1">
                <a:solidFill>
                  <a:schemeClr val="dk1"/>
                </a:solidFill>
              </a:rPr>
              <a:t>Expectation</a:t>
            </a:r>
            <a:r>
              <a:rPr lang="en" sz="1800">
                <a:solidFill>
                  <a:schemeClr val="dk1"/>
                </a:solidFill>
              </a:rPr>
              <a:t>) of my conditional vector field                  . In other words, we’re going backwards from </a:t>
            </a:r>
            <a:r>
              <a:rPr lang="en" sz="1800" b="1" i="1">
                <a:solidFill>
                  <a:schemeClr val="dk1"/>
                </a:solidFill>
              </a:rPr>
              <a:t>x</a:t>
            </a:r>
            <a:r>
              <a:rPr lang="en" sz="1800">
                <a:solidFill>
                  <a:schemeClr val="dk1"/>
                </a:solidFill>
              </a:rPr>
              <a:t> to </a:t>
            </a:r>
            <a:r>
              <a:rPr lang="en" sz="1800" b="1" i="1">
                <a:solidFill>
                  <a:schemeClr val="dk1"/>
                </a:solidFill>
              </a:rPr>
              <a:t>z</a:t>
            </a:r>
            <a:r>
              <a:rPr lang="en" sz="1800">
                <a:solidFill>
                  <a:schemeClr val="dk1"/>
                </a:solidFill>
              </a:rPr>
              <a:t> and taking solutions that we’ve used before for single data points                 , and weigh them with the posterior                . At every time, being at </a:t>
            </a:r>
            <a:r>
              <a:rPr lang="en" sz="1800" b="1" i="1">
                <a:solidFill>
                  <a:schemeClr val="dk1"/>
                </a:solidFill>
              </a:rPr>
              <a:t>x</a:t>
            </a:r>
            <a:r>
              <a:rPr lang="en" sz="1800">
                <a:solidFill>
                  <a:schemeClr val="dk1"/>
                </a:solidFill>
              </a:rPr>
              <a:t>, we’re basically going backwards to our </a:t>
            </a:r>
            <a:r>
              <a:rPr lang="en" sz="1800" b="1">
                <a:solidFill>
                  <a:schemeClr val="dk1"/>
                </a:solidFill>
              </a:rPr>
              <a:t>latent </a:t>
            </a:r>
            <a:r>
              <a:rPr lang="en" sz="1800">
                <a:solidFill>
                  <a:schemeClr val="dk1"/>
                </a:solidFill>
              </a:rPr>
              <a:t>variable, which </a:t>
            </a:r>
            <a:r>
              <a:rPr lang="en" sz="1800" b="1">
                <a:solidFill>
                  <a:schemeClr val="dk1"/>
                </a:solidFill>
              </a:rPr>
              <a:t>happens to be a data point </a:t>
            </a:r>
            <a:r>
              <a:rPr lang="en" sz="1800" b="1" i="1">
                <a:solidFill>
                  <a:schemeClr val="dk1"/>
                </a:solidFill>
              </a:rPr>
              <a:t>z</a:t>
            </a:r>
            <a:r>
              <a:rPr lang="en" sz="1800">
                <a:solidFill>
                  <a:schemeClr val="dk1"/>
                </a:solidFill>
              </a:rPr>
              <a:t> and marginalizing over that. </a:t>
            </a:r>
            <a:endParaRPr sz="1800">
              <a:solidFill>
                <a:schemeClr val="dk1"/>
              </a:solidFill>
            </a:endParaRPr>
          </a:p>
        </p:txBody>
      </p:sp>
      <p:pic>
        <p:nvPicPr>
          <p:cNvPr id="873" name="Google Shape;873;p56"/>
          <p:cNvPicPr preferRelativeResize="0"/>
          <p:nvPr/>
        </p:nvPicPr>
        <p:blipFill>
          <a:blip r:embed="rId5">
            <a:alphaModFix/>
          </a:blip>
          <a:stretch>
            <a:fillRect/>
          </a:stretch>
        </p:blipFill>
        <p:spPr>
          <a:xfrm>
            <a:off x="2503178" y="3810110"/>
            <a:ext cx="961174" cy="229911"/>
          </a:xfrm>
          <a:prstGeom prst="rect">
            <a:avLst/>
          </a:prstGeom>
          <a:noFill/>
          <a:ln>
            <a:noFill/>
          </a:ln>
        </p:spPr>
      </p:pic>
      <p:pic>
        <p:nvPicPr>
          <p:cNvPr id="874" name="Google Shape;874;p56"/>
          <p:cNvPicPr preferRelativeResize="0"/>
          <p:nvPr/>
        </p:nvPicPr>
        <p:blipFill>
          <a:blip r:embed="rId3">
            <a:alphaModFix/>
          </a:blip>
          <a:stretch>
            <a:fillRect/>
          </a:stretch>
        </p:blipFill>
        <p:spPr>
          <a:xfrm>
            <a:off x="7091475" y="3767817"/>
            <a:ext cx="961175" cy="314487"/>
          </a:xfrm>
          <a:prstGeom prst="rect">
            <a:avLst/>
          </a:prstGeom>
          <a:noFill/>
          <a:ln>
            <a:noFill/>
          </a:ln>
        </p:spPr>
      </p:pic>
      <p:sp>
        <p:nvSpPr>
          <p:cNvPr id="875" name="Google Shape;875;p56"/>
          <p:cNvSpPr/>
          <p:nvPr/>
        </p:nvSpPr>
        <p:spPr>
          <a:xfrm>
            <a:off x="6146746" y="1904934"/>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x</a:t>
            </a:r>
            <a:endParaRPr/>
          </a:p>
        </p:txBody>
      </p:sp>
      <p:sp>
        <p:nvSpPr>
          <p:cNvPr id="876" name="Google Shape;876;p56"/>
          <p:cNvSpPr/>
          <p:nvPr/>
        </p:nvSpPr>
        <p:spPr>
          <a:xfrm>
            <a:off x="6146746" y="871884"/>
            <a:ext cx="461700" cy="461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877" name="Google Shape;877;p56"/>
          <p:cNvSpPr/>
          <p:nvPr/>
        </p:nvSpPr>
        <p:spPr>
          <a:xfrm rot="10800000">
            <a:off x="5945258" y="1172042"/>
            <a:ext cx="175200" cy="9087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78" name="Google Shape;878;p56"/>
          <p:cNvPicPr preferRelativeResize="0"/>
          <p:nvPr/>
        </p:nvPicPr>
        <p:blipFill>
          <a:blip r:embed="rId3">
            <a:alphaModFix/>
          </a:blip>
          <a:stretch>
            <a:fillRect/>
          </a:stretch>
        </p:blipFill>
        <p:spPr>
          <a:xfrm>
            <a:off x="4795832" y="1426197"/>
            <a:ext cx="1094700" cy="358170"/>
          </a:xfrm>
          <a:prstGeom prst="rect">
            <a:avLst/>
          </a:prstGeom>
          <a:noFill/>
          <a:ln>
            <a:noFill/>
          </a:ln>
        </p:spPr>
      </p:pic>
      <p:sp>
        <p:nvSpPr>
          <p:cNvPr id="879" name="Google Shape;879;p56"/>
          <p:cNvSpPr txBox="1"/>
          <p:nvPr/>
        </p:nvSpPr>
        <p:spPr>
          <a:xfrm>
            <a:off x="4927219" y="1728161"/>
            <a:ext cx="11745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Posterior</a:t>
            </a:r>
            <a:endParaRPr>
              <a:solidFill>
                <a:schemeClr val="dk1"/>
              </a:solidFill>
            </a:endParaRPr>
          </a:p>
        </p:txBody>
      </p:sp>
      <p:sp>
        <p:nvSpPr>
          <p:cNvPr id="880" name="Google Shape;880;p56"/>
          <p:cNvSpPr txBox="1"/>
          <p:nvPr/>
        </p:nvSpPr>
        <p:spPr>
          <a:xfrm>
            <a:off x="6147316" y="592273"/>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Data</a:t>
            </a:r>
            <a:endParaRPr sz="1100">
              <a:solidFill>
                <a:schemeClr val="dk1"/>
              </a:solidFill>
            </a:endParaRPr>
          </a:p>
        </p:txBody>
      </p:sp>
      <p:sp>
        <p:nvSpPr>
          <p:cNvPr id="881" name="Google Shape;881;p56"/>
          <p:cNvSpPr txBox="1"/>
          <p:nvPr/>
        </p:nvSpPr>
        <p:spPr>
          <a:xfrm>
            <a:off x="6102647" y="2299328"/>
            <a:ext cx="614700" cy="1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Noise</a:t>
            </a:r>
            <a:endParaRPr sz="1100">
              <a:solidFill>
                <a:schemeClr val="dk1"/>
              </a:solidFill>
            </a:endParaRPr>
          </a:p>
        </p:txBody>
      </p:sp>
      <p:sp>
        <p:nvSpPr>
          <p:cNvPr id="882" name="Google Shape;882;p56"/>
          <p:cNvSpPr txBox="1"/>
          <p:nvPr/>
        </p:nvSpPr>
        <p:spPr>
          <a:xfrm>
            <a:off x="6717355" y="992991"/>
            <a:ext cx="1817400" cy="703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rgbClr val="FF0000"/>
                </a:solidFill>
              </a:rPr>
              <a:t>Given that we are at x, we go backwards</a:t>
            </a:r>
            <a:endParaRPr sz="1300">
              <a:solidFill>
                <a:srgbClr val="FF0000"/>
              </a:solidFill>
            </a:endParaRPr>
          </a:p>
        </p:txBody>
      </p:sp>
      <p:sp>
        <p:nvSpPr>
          <p:cNvPr id="883" name="Google Shape;883;p56"/>
          <p:cNvSpPr/>
          <p:nvPr/>
        </p:nvSpPr>
        <p:spPr>
          <a:xfrm rot="-5400000" flipH="1">
            <a:off x="7033509" y="447313"/>
            <a:ext cx="251700" cy="2310000"/>
          </a:xfrm>
          <a:prstGeom prst="bentUpArrow">
            <a:avLst>
              <a:gd name="adj1" fmla="val 8681"/>
              <a:gd name="adj2" fmla="val 25000"/>
              <a:gd name="adj3" fmla="val 25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84" name="Google Shape;884;p56"/>
          <p:cNvPicPr preferRelativeResize="0"/>
          <p:nvPr/>
        </p:nvPicPr>
        <p:blipFill>
          <a:blip r:embed="rId5">
            <a:alphaModFix/>
          </a:blip>
          <a:stretch>
            <a:fillRect/>
          </a:stretch>
        </p:blipFill>
        <p:spPr>
          <a:xfrm>
            <a:off x="4987556" y="3261833"/>
            <a:ext cx="961174" cy="229911"/>
          </a:xfrm>
          <a:prstGeom prst="rect">
            <a:avLst/>
          </a:prstGeom>
          <a:noFill/>
          <a:ln>
            <a:noFill/>
          </a:ln>
        </p:spPr>
      </p:pic>
      <p:sp>
        <p:nvSpPr>
          <p:cNvPr id="885" name="Google Shape;885;p56"/>
          <p:cNvSpPr/>
          <p:nvPr/>
        </p:nvSpPr>
        <p:spPr>
          <a:xfrm>
            <a:off x="4110825" y="1585400"/>
            <a:ext cx="374100" cy="1212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6" name="Google Shape;88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57"/>
          <p:cNvSpPr txBox="1"/>
          <p:nvPr/>
        </p:nvSpPr>
        <p:spPr>
          <a:xfrm>
            <a:off x="2502365" y="0"/>
            <a:ext cx="46125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Takeaway for the Practical Session</a:t>
            </a:r>
            <a:endParaRPr sz="1800" b="1">
              <a:solidFill>
                <a:schemeClr val="dk1"/>
              </a:solidFill>
            </a:endParaRPr>
          </a:p>
        </p:txBody>
      </p:sp>
      <p:sp>
        <p:nvSpPr>
          <p:cNvPr id="892" name="Google Shape;892;p57"/>
          <p:cNvSpPr txBox="1"/>
          <p:nvPr/>
        </p:nvSpPr>
        <p:spPr>
          <a:xfrm>
            <a:off x="871175" y="961875"/>
            <a:ext cx="7948500" cy="110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are indirectly solving the collective problem of ending up with the data distribution, by focusing on generating single data points. In other words: generating single data points is a proxy tool of actually ending up with the overall data distribution </a:t>
            </a:r>
            <a:endParaRPr sz="1800">
              <a:solidFill>
                <a:schemeClr val="dk1"/>
              </a:solidFill>
            </a:endParaRPr>
          </a:p>
        </p:txBody>
      </p:sp>
      <p:pic>
        <p:nvPicPr>
          <p:cNvPr id="893" name="Google Shape;893;p57"/>
          <p:cNvPicPr preferRelativeResize="0"/>
          <p:nvPr/>
        </p:nvPicPr>
        <p:blipFill>
          <a:blip r:embed="rId3">
            <a:alphaModFix/>
          </a:blip>
          <a:stretch>
            <a:fillRect/>
          </a:stretch>
        </p:blipFill>
        <p:spPr>
          <a:xfrm>
            <a:off x="3372736" y="1870600"/>
            <a:ext cx="687567" cy="277200"/>
          </a:xfrm>
          <a:prstGeom prst="rect">
            <a:avLst/>
          </a:prstGeom>
          <a:noFill/>
          <a:ln>
            <a:noFill/>
          </a:ln>
        </p:spPr>
      </p:pic>
      <p:sp>
        <p:nvSpPr>
          <p:cNvPr id="894" name="Google Shape;894;p57"/>
          <p:cNvSpPr/>
          <p:nvPr/>
        </p:nvSpPr>
        <p:spPr>
          <a:xfrm>
            <a:off x="4243250" y="2396075"/>
            <a:ext cx="383400" cy="6132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95" name="Google Shape;895;p57"/>
          <p:cNvSpPr txBox="1"/>
          <p:nvPr/>
        </p:nvSpPr>
        <p:spPr>
          <a:xfrm>
            <a:off x="871175" y="3337675"/>
            <a:ext cx="7565400" cy="7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core principle is that solving the problem per data point will be enough for training the model in practice.</a:t>
            </a:r>
            <a:endParaRPr sz="1800">
              <a:solidFill>
                <a:schemeClr val="dk1"/>
              </a:solidFill>
            </a:endParaRPr>
          </a:p>
        </p:txBody>
      </p:sp>
      <p:sp>
        <p:nvSpPr>
          <p:cNvPr id="896" name="Google Shape;896;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58"/>
          <p:cNvSpPr txBox="1"/>
          <p:nvPr/>
        </p:nvSpPr>
        <p:spPr>
          <a:xfrm>
            <a:off x="2640444" y="0"/>
            <a:ext cx="43212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Many Roads from Noise to Data </a:t>
            </a:r>
            <a:endParaRPr sz="1800" b="1">
              <a:solidFill>
                <a:schemeClr val="dk1"/>
              </a:solidFill>
            </a:endParaRPr>
          </a:p>
        </p:txBody>
      </p:sp>
      <p:sp>
        <p:nvSpPr>
          <p:cNvPr id="902" name="Google Shape;902;p58"/>
          <p:cNvSpPr txBox="1"/>
          <p:nvPr/>
        </p:nvSpPr>
        <p:spPr>
          <a:xfrm>
            <a:off x="466075" y="983775"/>
            <a:ext cx="8335800" cy="272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Note that there are many ways of going from noise to data. There are </a:t>
            </a:r>
            <a:r>
              <a:rPr lang="en" sz="1800" b="1">
                <a:solidFill>
                  <a:schemeClr val="dk1"/>
                </a:solidFill>
              </a:rPr>
              <a:t>infinitely many ways </a:t>
            </a:r>
            <a:r>
              <a:rPr lang="en" sz="1800">
                <a:solidFill>
                  <a:schemeClr val="dk1"/>
                </a:solidFill>
              </a:rPr>
              <a:t>actually! At the beginning people were doing this without specifying intermediate paths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One key idea of diffusion models was to specify the way of going from noise to data </a:t>
            </a:r>
            <a:r>
              <a:rPr lang="en" sz="1800" b="1">
                <a:solidFill>
                  <a:schemeClr val="dk1"/>
                </a:solidFill>
              </a:rPr>
              <a:t>using intermediate paths with scalable training</a:t>
            </a:r>
            <a:r>
              <a:rPr lang="en" sz="1800">
                <a:solidFill>
                  <a:schemeClr val="dk1"/>
                </a:solidFill>
              </a:rPr>
              <a:t>.</a:t>
            </a:r>
            <a:endParaRPr sz="1800">
              <a:solidFill>
                <a:schemeClr val="dk1"/>
              </a:solidFill>
            </a:endParaRPr>
          </a:p>
        </p:txBody>
      </p:sp>
      <p:pic>
        <p:nvPicPr>
          <p:cNvPr id="903" name="Google Shape;903;p58"/>
          <p:cNvPicPr preferRelativeResize="0"/>
          <p:nvPr/>
        </p:nvPicPr>
        <p:blipFill>
          <a:blip r:embed="rId3">
            <a:alphaModFix/>
          </a:blip>
          <a:stretch>
            <a:fillRect/>
          </a:stretch>
        </p:blipFill>
        <p:spPr>
          <a:xfrm>
            <a:off x="2492128" y="1637497"/>
            <a:ext cx="913795" cy="277200"/>
          </a:xfrm>
          <a:prstGeom prst="rect">
            <a:avLst/>
          </a:prstGeom>
          <a:noFill/>
          <a:ln>
            <a:noFill/>
          </a:ln>
        </p:spPr>
      </p:pic>
      <p:sp>
        <p:nvSpPr>
          <p:cNvPr id="904" name="Google Shape;904;p58"/>
          <p:cNvSpPr/>
          <p:nvPr/>
        </p:nvSpPr>
        <p:spPr>
          <a:xfrm>
            <a:off x="4243575" y="2116855"/>
            <a:ext cx="383400" cy="6132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5" name="Google Shape;905;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59"/>
          <p:cNvSpPr txBox="1"/>
          <p:nvPr/>
        </p:nvSpPr>
        <p:spPr>
          <a:xfrm>
            <a:off x="364826" y="3896030"/>
            <a:ext cx="7752600" cy="62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Where by definition  →                                                 ,</a:t>
            </a:r>
            <a:endParaRPr sz="1800">
              <a:solidFill>
                <a:schemeClr val="dk1"/>
              </a:solidFill>
            </a:endParaRPr>
          </a:p>
        </p:txBody>
      </p:sp>
      <p:sp>
        <p:nvSpPr>
          <p:cNvPr id="911" name="Google Shape;911;p59"/>
          <p:cNvSpPr txBox="1"/>
          <p:nvPr/>
        </p:nvSpPr>
        <p:spPr>
          <a:xfrm>
            <a:off x="3479300" y="0"/>
            <a:ext cx="24063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Continuity Equation</a:t>
            </a:r>
            <a:endParaRPr sz="1800" b="1">
              <a:solidFill>
                <a:schemeClr val="dk1"/>
              </a:solidFill>
            </a:endParaRPr>
          </a:p>
        </p:txBody>
      </p:sp>
      <p:sp>
        <p:nvSpPr>
          <p:cNvPr id="912" name="Google Shape;912;p59"/>
          <p:cNvSpPr txBox="1"/>
          <p:nvPr/>
        </p:nvSpPr>
        <p:spPr>
          <a:xfrm>
            <a:off x="310275" y="788375"/>
            <a:ext cx="8174400" cy="41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Given a randomly initialized ODE:                 , </a:t>
            </a:r>
            <a:endParaRPr sz="1800">
              <a:solidFill>
                <a:schemeClr val="dk1"/>
              </a:solidFill>
            </a:endParaRPr>
          </a:p>
        </p:txBody>
      </p:sp>
      <p:pic>
        <p:nvPicPr>
          <p:cNvPr id="913" name="Google Shape;913;p59"/>
          <p:cNvPicPr preferRelativeResize="0"/>
          <p:nvPr/>
        </p:nvPicPr>
        <p:blipFill>
          <a:blip r:embed="rId3">
            <a:alphaModFix/>
          </a:blip>
          <a:stretch>
            <a:fillRect/>
          </a:stretch>
        </p:blipFill>
        <p:spPr>
          <a:xfrm>
            <a:off x="3911293" y="910884"/>
            <a:ext cx="956450" cy="234200"/>
          </a:xfrm>
          <a:prstGeom prst="rect">
            <a:avLst/>
          </a:prstGeom>
          <a:noFill/>
          <a:ln>
            <a:noFill/>
          </a:ln>
        </p:spPr>
      </p:pic>
      <p:pic>
        <p:nvPicPr>
          <p:cNvPr id="914" name="Google Shape;914;p59"/>
          <p:cNvPicPr preferRelativeResize="0"/>
          <p:nvPr/>
        </p:nvPicPr>
        <p:blipFill>
          <a:blip r:embed="rId4">
            <a:alphaModFix/>
          </a:blip>
          <a:stretch>
            <a:fillRect/>
          </a:stretch>
        </p:blipFill>
        <p:spPr>
          <a:xfrm>
            <a:off x="5011775" y="859554"/>
            <a:ext cx="1340040" cy="310325"/>
          </a:xfrm>
          <a:prstGeom prst="rect">
            <a:avLst/>
          </a:prstGeom>
          <a:noFill/>
          <a:ln>
            <a:noFill/>
          </a:ln>
        </p:spPr>
      </p:pic>
      <p:sp>
        <p:nvSpPr>
          <p:cNvPr id="915" name="Google Shape;915;p59"/>
          <p:cNvSpPr txBox="1"/>
          <p:nvPr/>
        </p:nvSpPr>
        <p:spPr>
          <a:xfrm>
            <a:off x="364825" y="1714150"/>
            <a:ext cx="8174400" cy="41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Following the probability path               ,                 is equivalent to holding the </a:t>
            </a:r>
            <a:endParaRPr sz="1800">
              <a:solidFill>
                <a:schemeClr val="dk1"/>
              </a:solidFill>
            </a:endParaRPr>
          </a:p>
          <a:p>
            <a:pPr marL="0" lvl="0" indent="0" algn="l" rtl="0">
              <a:spcBef>
                <a:spcPts val="0"/>
              </a:spcBef>
              <a:spcAft>
                <a:spcPts val="0"/>
              </a:spcAft>
              <a:buNone/>
            </a:pPr>
            <a:endParaRPr sz="1800" b="1" i="1">
              <a:solidFill>
                <a:srgbClr val="FF0000"/>
              </a:solidFill>
            </a:endParaRPr>
          </a:p>
          <a:p>
            <a:pPr marL="0" lvl="0" indent="0" algn="l" rtl="0">
              <a:spcBef>
                <a:spcPts val="0"/>
              </a:spcBef>
              <a:spcAft>
                <a:spcPts val="0"/>
              </a:spcAft>
              <a:buNone/>
            </a:pPr>
            <a:r>
              <a:rPr lang="en" sz="1800" b="1" i="1">
                <a:solidFill>
                  <a:srgbClr val="FF0000"/>
                </a:solidFill>
              </a:rPr>
              <a:t>Continuity Equation</a:t>
            </a:r>
            <a:r>
              <a:rPr lang="en" sz="1800">
                <a:solidFill>
                  <a:schemeClr val="dk1"/>
                </a:solidFill>
              </a:rPr>
              <a:t> :</a:t>
            </a:r>
            <a:endParaRPr sz="1800">
              <a:solidFill>
                <a:schemeClr val="dk1"/>
              </a:solidFill>
            </a:endParaRPr>
          </a:p>
        </p:txBody>
      </p:sp>
      <p:pic>
        <p:nvPicPr>
          <p:cNvPr id="916" name="Google Shape;916;p59"/>
          <p:cNvPicPr preferRelativeResize="0"/>
          <p:nvPr/>
        </p:nvPicPr>
        <p:blipFill>
          <a:blip r:embed="rId5">
            <a:alphaModFix/>
          </a:blip>
          <a:stretch>
            <a:fillRect/>
          </a:stretch>
        </p:blipFill>
        <p:spPr>
          <a:xfrm>
            <a:off x="3506781" y="1839583"/>
            <a:ext cx="813030" cy="234200"/>
          </a:xfrm>
          <a:prstGeom prst="rect">
            <a:avLst/>
          </a:prstGeom>
          <a:noFill/>
          <a:ln>
            <a:noFill/>
          </a:ln>
        </p:spPr>
      </p:pic>
      <p:pic>
        <p:nvPicPr>
          <p:cNvPr id="917" name="Google Shape;917;p59"/>
          <p:cNvPicPr preferRelativeResize="0"/>
          <p:nvPr/>
        </p:nvPicPr>
        <p:blipFill>
          <a:blip r:embed="rId6">
            <a:alphaModFix/>
          </a:blip>
          <a:stretch>
            <a:fillRect/>
          </a:stretch>
        </p:blipFill>
        <p:spPr>
          <a:xfrm>
            <a:off x="4498725" y="1839583"/>
            <a:ext cx="947164" cy="234200"/>
          </a:xfrm>
          <a:prstGeom prst="rect">
            <a:avLst/>
          </a:prstGeom>
          <a:noFill/>
          <a:ln>
            <a:noFill/>
          </a:ln>
        </p:spPr>
      </p:pic>
      <p:pic>
        <p:nvPicPr>
          <p:cNvPr id="918" name="Google Shape;918;p59"/>
          <p:cNvPicPr preferRelativeResize="0"/>
          <p:nvPr/>
        </p:nvPicPr>
        <p:blipFill>
          <a:blip r:embed="rId7">
            <a:alphaModFix/>
          </a:blip>
          <a:stretch>
            <a:fillRect/>
          </a:stretch>
        </p:blipFill>
        <p:spPr>
          <a:xfrm>
            <a:off x="2947075" y="3896025"/>
            <a:ext cx="6065282" cy="414600"/>
          </a:xfrm>
          <a:prstGeom prst="rect">
            <a:avLst/>
          </a:prstGeom>
          <a:noFill/>
          <a:ln>
            <a:noFill/>
          </a:ln>
        </p:spPr>
      </p:pic>
      <p:pic>
        <p:nvPicPr>
          <p:cNvPr id="919" name="Google Shape;919;p59"/>
          <p:cNvPicPr preferRelativeResize="0"/>
          <p:nvPr/>
        </p:nvPicPr>
        <p:blipFill>
          <a:blip r:embed="rId8">
            <a:alphaModFix/>
          </a:blip>
          <a:stretch>
            <a:fillRect/>
          </a:stretch>
        </p:blipFill>
        <p:spPr>
          <a:xfrm>
            <a:off x="780325" y="2697825"/>
            <a:ext cx="5820082" cy="729263"/>
          </a:xfrm>
          <a:prstGeom prst="rect">
            <a:avLst/>
          </a:prstGeom>
          <a:noFill/>
          <a:ln>
            <a:noFill/>
          </a:ln>
        </p:spPr>
      </p:pic>
      <p:pic>
        <p:nvPicPr>
          <p:cNvPr id="920" name="Google Shape;920;p59"/>
          <p:cNvPicPr preferRelativeResize="0"/>
          <p:nvPr/>
        </p:nvPicPr>
        <p:blipFill>
          <a:blip r:embed="rId9">
            <a:alphaModFix/>
          </a:blip>
          <a:stretch>
            <a:fillRect/>
          </a:stretch>
        </p:blipFill>
        <p:spPr>
          <a:xfrm>
            <a:off x="7373045" y="2866035"/>
            <a:ext cx="1326786" cy="414600"/>
          </a:xfrm>
          <a:prstGeom prst="rect">
            <a:avLst/>
          </a:prstGeom>
          <a:noFill/>
          <a:ln>
            <a:noFill/>
          </a:ln>
        </p:spPr>
      </p:pic>
      <p:sp>
        <p:nvSpPr>
          <p:cNvPr id="921" name="Google Shape;921;p59"/>
          <p:cNvSpPr txBox="1"/>
          <p:nvPr/>
        </p:nvSpPr>
        <p:spPr>
          <a:xfrm>
            <a:off x="6752875" y="2800352"/>
            <a:ext cx="6417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chemeClr val="dk1"/>
                </a:solidFill>
              </a:rPr>
              <a:t>for</a:t>
            </a:r>
            <a:endParaRPr sz="2200">
              <a:solidFill>
                <a:schemeClr val="dk1"/>
              </a:solidFill>
            </a:endParaRPr>
          </a:p>
        </p:txBody>
      </p:sp>
      <p:sp>
        <p:nvSpPr>
          <p:cNvPr id="922" name="Google Shape;922;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47</a:t>
            </a:fld>
            <a:endParaRPr/>
          </a:p>
        </p:txBody>
      </p:sp>
      <p:pic>
        <p:nvPicPr>
          <p:cNvPr id="923" name="Google Shape;923;p59"/>
          <p:cNvPicPr preferRelativeResize="0"/>
          <p:nvPr/>
        </p:nvPicPr>
        <p:blipFill>
          <a:blip r:embed="rId10">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pic>
        <p:nvPicPr>
          <p:cNvPr id="928" name="Google Shape;928;p60"/>
          <p:cNvPicPr preferRelativeResize="0"/>
          <p:nvPr/>
        </p:nvPicPr>
        <p:blipFill>
          <a:blip r:embed="rId3">
            <a:alphaModFix/>
          </a:blip>
          <a:stretch>
            <a:fillRect/>
          </a:stretch>
        </p:blipFill>
        <p:spPr>
          <a:xfrm>
            <a:off x="1252753" y="3077524"/>
            <a:ext cx="5820082" cy="729263"/>
          </a:xfrm>
          <a:prstGeom prst="rect">
            <a:avLst/>
          </a:prstGeom>
          <a:noFill/>
          <a:ln>
            <a:noFill/>
          </a:ln>
        </p:spPr>
      </p:pic>
      <p:sp>
        <p:nvSpPr>
          <p:cNvPr id="929" name="Google Shape;929;p60"/>
          <p:cNvSpPr txBox="1"/>
          <p:nvPr/>
        </p:nvSpPr>
        <p:spPr>
          <a:xfrm>
            <a:off x="2209505" y="0"/>
            <a:ext cx="47250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Probability Mass: Inflow and Outflow </a:t>
            </a:r>
            <a:endParaRPr sz="1800" b="1">
              <a:solidFill>
                <a:schemeClr val="dk1"/>
              </a:solidFill>
            </a:endParaRPr>
          </a:p>
        </p:txBody>
      </p:sp>
      <p:grpSp>
        <p:nvGrpSpPr>
          <p:cNvPr id="930" name="Google Shape;930;p60"/>
          <p:cNvGrpSpPr/>
          <p:nvPr/>
        </p:nvGrpSpPr>
        <p:grpSpPr>
          <a:xfrm>
            <a:off x="2528674" y="510645"/>
            <a:ext cx="3355223" cy="2189988"/>
            <a:chOff x="1872300" y="520750"/>
            <a:chExt cx="4377900" cy="2857500"/>
          </a:xfrm>
        </p:grpSpPr>
        <p:grpSp>
          <p:nvGrpSpPr>
            <p:cNvPr id="931" name="Google Shape;931;p60"/>
            <p:cNvGrpSpPr/>
            <p:nvPr/>
          </p:nvGrpSpPr>
          <p:grpSpPr>
            <a:xfrm>
              <a:off x="1872300" y="520750"/>
              <a:ext cx="4377900" cy="2857500"/>
              <a:chOff x="1872300" y="520750"/>
              <a:chExt cx="4377900" cy="2857500"/>
            </a:xfrm>
          </p:grpSpPr>
          <p:sp>
            <p:nvSpPr>
              <p:cNvPr id="932" name="Google Shape;932;p60"/>
              <p:cNvSpPr/>
              <p:nvPr/>
            </p:nvSpPr>
            <p:spPr>
              <a:xfrm>
                <a:off x="1872300" y="520750"/>
                <a:ext cx="4377900" cy="2857500"/>
              </a:xfrm>
              <a:prstGeom prst="rect">
                <a:avLst/>
              </a:prstGeom>
              <a:noFill/>
              <a:ln w="14600" cap="flat" cmpd="sng">
                <a:solidFill>
                  <a:srgbClr val="FF0000"/>
                </a:solidFill>
                <a:prstDash val="dash"/>
                <a:round/>
                <a:headEnd type="none" w="sm" len="sm"/>
                <a:tailEnd type="none" w="sm" len="sm"/>
              </a:ln>
            </p:spPr>
            <p:txBody>
              <a:bodyPr spcFirstLastPara="1" wrap="square" lIns="70075" tIns="70075" rIns="70075" bIns="70075" anchor="ctr" anchorCtr="0">
                <a:noAutofit/>
              </a:bodyPr>
              <a:lstStyle/>
              <a:p>
                <a:pPr marL="0" lvl="0" indent="0" algn="ctr" rtl="0">
                  <a:spcBef>
                    <a:spcPts val="0"/>
                  </a:spcBef>
                  <a:spcAft>
                    <a:spcPts val="0"/>
                  </a:spcAft>
                  <a:buNone/>
                </a:pPr>
                <a:endParaRPr sz="1073"/>
              </a:p>
            </p:txBody>
          </p:sp>
          <p:grpSp>
            <p:nvGrpSpPr>
              <p:cNvPr id="933" name="Google Shape;933;p60"/>
              <p:cNvGrpSpPr/>
              <p:nvPr/>
            </p:nvGrpSpPr>
            <p:grpSpPr>
              <a:xfrm>
                <a:off x="2638938" y="520750"/>
                <a:ext cx="2793561" cy="2552050"/>
                <a:chOff x="2657256" y="520750"/>
                <a:chExt cx="2793561" cy="2552050"/>
              </a:xfrm>
            </p:grpSpPr>
            <p:sp>
              <p:nvSpPr>
                <p:cNvPr id="934" name="Google Shape;934;p60"/>
                <p:cNvSpPr/>
                <p:nvPr/>
              </p:nvSpPr>
              <p:spPr>
                <a:xfrm>
                  <a:off x="2673763" y="987825"/>
                  <a:ext cx="938675" cy="1749275"/>
                </a:xfrm>
                <a:custGeom>
                  <a:avLst/>
                  <a:gdLst/>
                  <a:ahLst/>
                  <a:cxnLst/>
                  <a:rect l="l" t="t" r="r" b="b"/>
                  <a:pathLst>
                    <a:path w="37547" h="69971" extrusionOk="0">
                      <a:moveTo>
                        <a:pt x="10438" y="69971"/>
                      </a:moveTo>
                      <a:cubicBezTo>
                        <a:pt x="8728" y="66491"/>
                        <a:pt x="-1468" y="55378"/>
                        <a:pt x="180" y="49089"/>
                      </a:cubicBezTo>
                      <a:cubicBezTo>
                        <a:pt x="1829" y="42800"/>
                        <a:pt x="14895" y="37976"/>
                        <a:pt x="20329" y="32237"/>
                      </a:cubicBezTo>
                      <a:cubicBezTo>
                        <a:pt x="25763" y="26498"/>
                        <a:pt x="29915" y="20026"/>
                        <a:pt x="32785" y="14653"/>
                      </a:cubicBezTo>
                      <a:cubicBezTo>
                        <a:pt x="35655" y="9280"/>
                        <a:pt x="36753" y="2442"/>
                        <a:pt x="37547" y="0"/>
                      </a:cubicBezTo>
                    </a:path>
                  </a:pathLst>
                </a:custGeom>
                <a:noFill/>
                <a:ln w="7275" cap="flat" cmpd="sng">
                  <a:solidFill>
                    <a:schemeClr val="dk2"/>
                  </a:solidFill>
                  <a:prstDash val="solid"/>
                  <a:round/>
                  <a:headEnd type="none" w="med" len="med"/>
                  <a:tailEnd type="none" w="med" len="med"/>
                </a:ln>
              </p:spPr>
              <p:txBody>
                <a:bodyPr/>
                <a:lstStyle/>
                <a:p>
                  <a:endParaRPr lang="en-US"/>
                </a:p>
              </p:txBody>
            </p:sp>
            <p:grpSp>
              <p:nvGrpSpPr>
                <p:cNvPr id="935" name="Google Shape;935;p60"/>
                <p:cNvGrpSpPr/>
                <p:nvPr/>
              </p:nvGrpSpPr>
              <p:grpSpPr>
                <a:xfrm rot="-2347399">
                  <a:off x="2672710" y="2404236"/>
                  <a:ext cx="128102" cy="94501"/>
                  <a:chOff x="1899825" y="2715809"/>
                  <a:chExt cx="128100" cy="94500"/>
                </a:xfrm>
              </p:grpSpPr>
              <p:cxnSp>
                <p:nvCxnSpPr>
                  <p:cNvPr id="936" name="Google Shape;936;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37" name="Google Shape;937;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38" name="Google Shape;938;p60"/>
                <p:cNvGrpSpPr/>
                <p:nvPr/>
              </p:nvGrpSpPr>
              <p:grpSpPr>
                <a:xfrm rot="2700000">
                  <a:off x="2870917" y="1924613"/>
                  <a:ext cx="128099" cy="94499"/>
                  <a:chOff x="1899825" y="2715809"/>
                  <a:chExt cx="128100" cy="94500"/>
                </a:xfrm>
              </p:grpSpPr>
              <p:cxnSp>
                <p:nvCxnSpPr>
                  <p:cNvPr id="939" name="Google Shape;939;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40" name="Google Shape;940;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41" name="Google Shape;941;p60"/>
                <p:cNvGrpSpPr/>
                <p:nvPr/>
              </p:nvGrpSpPr>
              <p:grpSpPr>
                <a:xfrm rot="1479641">
                  <a:off x="3233759" y="1618778"/>
                  <a:ext cx="128087" cy="94490"/>
                  <a:chOff x="1899825" y="2715809"/>
                  <a:chExt cx="128100" cy="94500"/>
                </a:xfrm>
              </p:grpSpPr>
              <p:cxnSp>
                <p:nvCxnSpPr>
                  <p:cNvPr id="942" name="Google Shape;942;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43" name="Google Shape;943;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44" name="Google Shape;944;p60"/>
                <p:cNvGrpSpPr/>
                <p:nvPr/>
              </p:nvGrpSpPr>
              <p:grpSpPr>
                <a:xfrm rot="639355">
                  <a:off x="3468533" y="1194383"/>
                  <a:ext cx="128093" cy="94495"/>
                  <a:chOff x="1899825" y="2715809"/>
                  <a:chExt cx="128100" cy="94500"/>
                </a:xfrm>
              </p:grpSpPr>
              <p:cxnSp>
                <p:nvCxnSpPr>
                  <p:cNvPr id="945" name="Google Shape;945;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46" name="Google Shape;946;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947" name="Google Shape;947;p60"/>
                <p:cNvSpPr/>
                <p:nvPr/>
              </p:nvSpPr>
              <p:spPr>
                <a:xfrm>
                  <a:off x="3045323" y="975350"/>
                  <a:ext cx="756125" cy="1804250"/>
                </a:xfrm>
                <a:custGeom>
                  <a:avLst/>
                  <a:gdLst/>
                  <a:ahLst/>
                  <a:cxnLst/>
                  <a:rect l="l" t="t" r="r" b="b"/>
                  <a:pathLst>
                    <a:path w="30245" h="72170" extrusionOk="0">
                      <a:moveTo>
                        <a:pt x="4235" y="72170"/>
                      </a:moveTo>
                      <a:cubicBezTo>
                        <a:pt x="3585" y="68773"/>
                        <a:pt x="-1311" y="58077"/>
                        <a:pt x="337" y="51788"/>
                      </a:cubicBezTo>
                      <a:cubicBezTo>
                        <a:pt x="1986" y="45499"/>
                        <a:pt x="10218" y="40176"/>
                        <a:pt x="14126" y="34436"/>
                      </a:cubicBezTo>
                      <a:cubicBezTo>
                        <a:pt x="18034" y="28697"/>
                        <a:pt x="21097" y="23090"/>
                        <a:pt x="23783" y="17351"/>
                      </a:cubicBezTo>
                      <a:cubicBezTo>
                        <a:pt x="26470" y="11612"/>
                        <a:pt x="29168" y="2892"/>
                        <a:pt x="30245" y="0"/>
                      </a:cubicBezTo>
                    </a:path>
                  </a:pathLst>
                </a:custGeom>
                <a:noFill/>
                <a:ln w="7275" cap="flat" cmpd="sng">
                  <a:solidFill>
                    <a:schemeClr val="dk2"/>
                  </a:solidFill>
                  <a:prstDash val="solid"/>
                  <a:round/>
                  <a:headEnd type="none" w="med" len="med"/>
                  <a:tailEnd type="none" w="med" len="med"/>
                </a:ln>
              </p:spPr>
              <p:txBody>
                <a:bodyPr/>
                <a:lstStyle/>
                <a:p>
                  <a:endParaRPr lang="en-US"/>
                </a:p>
              </p:txBody>
            </p:sp>
            <p:grpSp>
              <p:nvGrpSpPr>
                <p:cNvPr id="948" name="Google Shape;948;p60"/>
                <p:cNvGrpSpPr/>
                <p:nvPr/>
              </p:nvGrpSpPr>
              <p:grpSpPr>
                <a:xfrm rot="-990957">
                  <a:off x="3008384" y="2474359"/>
                  <a:ext cx="128108" cy="94506"/>
                  <a:chOff x="1899825" y="2715809"/>
                  <a:chExt cx="128100" cy="94500"/>
                </a:xfrm>
              </p:grpSpPr>
              <p:cxnSp>
                <p:nvCxnSpPr>
                  <p:cNvPr id="949" name="Google Shape;949;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50" name="Google Shape;950;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51" name="Google Shape;951;p60"/>
                <p:cNvGrpSpPr/>
                <p:nvPr/>
              </p:nvGrpSpPr>
              <p:grpSpPr>
                <a:xfrm rot="2016065">
                  <a:off x="3105644" y="2031212"/>
                  <a:ext cx="128098" cy="94499"/>
                  <a:chOff x="1899825" y="2715809"/>
                  <a:chExt cx="128100" cy="94500"/>
                </a:xfrm>
              </p:grpSpPr>
              <p:cxnSp>
                <p:nvCxnSpPr>
                  <p:cNvPr id="952" name="Google Shape;952;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53" name="Google Shape;953;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54" name="Google Shape;954;p60"/>
                <p:cNvGrpSpPr/>
                <p:nvPr/>
              </p:nvGrpSpPr>
              <p:grpSpPr>
                <a:xfrm rot="1479641">
                  <a:off x="3431952" y="1615481"/>
                  <a:ext cx="128087" cy="94490"/>
                  <a:chOff x="1899825" y="2715809"/>
                  <a:chExt cx="128100" cy="94500"/>
                </a:xfrm>
              </p:grpSpPr>
              <p:cxnSp>
                <p:nvCxnSpPr>
                  <p:cNvPr id="955" name="Google Shape;955;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56" name="Google Shape;956;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57" name="Google Shape;957;p60"/>
                <p:cNvGrpSpPr/>
                <p:nvPr/>
              </p:nvGrpSpPr>
              <p:grpSpPr>
                <a:xfrm rot="639355">
                  <a:off x="3647534" y="1185221"/>
                  <a:ext cx="128093" cy="94495"/>
                  <a:chOff x="1899825" y="2715809"/>
                  <a:chExt cx="128100" cy="94500"/>
                </a:xfrm>
              </p:grpSpPr>
              <p:cxnSp>
                <p:nvCxnSpPr>
                  <p:cNvPr id="958" name="Google Shape;958;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59" name="Google Shape;959;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960" name="Google Shape;960;p60"/>
                <p:cNvSpPr/>
                <p:nvPr/>
              </p:nvSpPr>
              <p:spPr>
                <a:xfrm>
                  <a:off x="4299329" y="987825"/>
                  <a:ext cx="1132150" cy="1770525"/>
                </a:xfrm>
                <a:custGeom>
                  <a:avLst/>
                  <a:gdLst/>
                  <a:ahLst/>
                  <a:cxnLst/>
                  <a:rect l="l" t="t" r="r" b="b"/>
                  <a:pathLst>
                    <a:path w="45286" h="70821" extrusionOk="0">
                      <a:moveTo>
                        <a:pt x="33111" y="70821"/>
                      </a:moveTo>
                      <a:cubicBezTo>
                        <a:pt x="35105" y="67341"/>
                        <a:pt x="46999" y="56228"/>
                        <a:pt x="45076" y="49939"/>
                      </a:cubicBezTo>
                      <a:cubicBezTo>
                        <a:pt x="43153" y="43650"/>
                        <a:pt x="27912" y="38826"/>
                        <a:pt x="21574" y="33087"/>
                      </a:cubicBezTo>
                      <a:cubicBezTo>
                        <a:pt x="15236" y="27348"/>
                        <a:pt x="10642" y="21018"/>
                        <a:pt x="7046" y="15503"/>
                      </a:cubicBezTo>
                      <a:cubicBezTo>
                        <a:pt x="3450" y="9989"/>
                        <a:pt x="1174" y="2584"/>
                        <a:pt x="0" y="0"/>
                      </a:cubicBezTo>
                    </a:path>
                  </a:pathLst>
                </a:custGeom>
                <a:noFill/>
                <a:ln w="7275" cap="flat" cmpd="sng">
                  <a:solidFill>
                    <a:schemeClr val="dk2"/>
                  </a:solidFill>
                  <a:prstDash val="solid"/>
                  <a:round/>
                  <a:headEnd type="none" w="med" len="med"/>
                  <a:tailEnd type="none" w="med" len="med"/>
                </a:ln>
              </p:spPr>
              <p:txBody>
                <a:bodyPr/>
                <a:lstStyle/>
                <a:p>
                  <a:endParaRPr lang="en-US"/>
                </a:p>
              </p:txBody>
            </p:sp>
            <p:grpSp>
              <p:nvGrpSpPr>
                <p:cNvPr id="961" name="Google Shape;961;p60"/>
                <p:cNvGrpSpPr/>
                <p:nvPr/>
              </p:nvGrpSpPr>
              <p:grpSpPr>
                <a:xfrm rot="2093318" flipH="1">
                  <a:off x="5287423" y="2422208"/>
                  <a:ext cx="141317" cy="101056"/>
                  <a:chOff x="1899825" y="2715809"/>
                  <a:chExt cx="128100" cy="94500"/>
                </a:xfrm>
              </p:grpSpPr>
              <p:cxnSp>
                <p:nvCxnSpPr>
                  <p:cNvPr id="962" name="Google Shape;962;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63" name="Google Shape;963;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64" name="Google Shape;964;p60"/>
                <p:cNvGrpSpPr/>
                <p:nvPr/>
              </p:nvGrpSpPr>
              <p:grpSpPr>
                <a:xfrm rot="-2436387" flipH="1">
                  <a:off x="5057220" y="1941780"/>
                  <a:ext cx="139169" cy="102666"/>
                  <a:chOff x="1899825" y="2715809"/>
                  <a:chExt cx="128100" cy="94500"/>
                </a:xfrm>
              </p:grpSpPr>
              <p:cxnSp>
                <p:nvCxnSpPr>
                  <p:cNvPr id="965" name="Google Shape;965;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66" name="Google Shape;966;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67" name="Google Shape;967;p60"/>
                <p:cNvGrpSpPr/>
                <p:nvPr/>
              </p:nvGrpSpPr>
              <p:grpSpPr>
                <a:xfrm rot="-1289142" flipH="1">
                  <a:off x="4630588" y="1638569"/>
                  <a:ext cx="145913" cy="97409"/>
                  <a:chOff x="1899825" y="2715809"/>
                  <a:chExt cx="128100" cy="94500"/>
                </a:xfrm>
              </p:grpSpPr>
              <p:cxnSp>
                <p:nvCxnSpPr>
                  <p:cNvPr id="968" name="Google Shape;968;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69" name="Google Shape;969;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70" name="Google Shape;970;p60"/>
                <p:cNvGrpSpPr/>
                <p:nvPr/>
              </p:nvGrpSpPr>
              <p:grpSpPr>
                <a:xfrm rot="-1153099" flipH="1">
                  <a:off x="4347688" y="1215175"/>
                  <a:ext cx="148738" cy="95073"/>
                  <a:chOff x="1899825" y="2715809"/>
                  <a:chExt cx="128100" cy="94500"/>
                </a:xfrm>
              </p:grpSpPr>
              <p:cxnSp>
                <p:nvCxnSpPr>
                  <p:cNvPr id="971" name="Google Shape;971;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72" name="Google Shape;972;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973" name="Google Shape;973;p60"/>
                <p:cNvSpPr/>
                <p:nvPr/>
              </p:nvSpPr>
              <p:spPr>
                <a:xfrm flipH="1">
                  <a:off x="4116126" y="996600"/>
                  <a:ext cx="881944" cy="1804250"/>
                </a:xfrm>
                <a:custGeom>
                  <a:avLst/>
                  <a:gdLst/>
                  <a:ahLst/>
                  <a:cxnLst/>
                  <a:rect l="l" t="t" r="r" b="b"/>
                  <a:pathLst>
                    <a:path w="30245" h="72170" extrusionOk="0">
                      <a:moveTo>
                        <a:pt x="4235" y="72170"/>
                      </a:moveTo>
                      <a:cubicBezTo>
                        <a:pt x="3585" y="68773"/>
                        <a:pt x="-1311" y="58077"/>
                        <a:pt x="337" y="51788"/>
                      </a:cubicBezTo>
                      <a:cubicBezTo>
                        <a:pt x="1986" y="45499"/>
                        <a:pt x="10218" y="40176"/>
                        <a:pt x="14126" y="34436"/>
                      </a:cubicBezTo>
                      <a:cubicBezTo>
                        <a:pt x="18034" y="28697"/>
                        <a:pt x="21097" y="23090"/>
                        <a:pt x="23783" y="17351"/>
                      </a:cubicBezTo>
                      <a:cubicBezTo>
                        <a:pt x="26470" y="11612"/>
                        <a:pt x="29168" y="2892"/>
                        <a:pt x="30245" y="0"/>
                      </a:cubicBezTo>
                    </a:path>
                  </a:pathLst>
                </a:custGeom>
                <a:noFill/>
                <a:ln w="7275" cap="flat" cmpd="sng">
                  <a:solidFill>
                    <a:schemeClr val="dk2"/>
                  </a:solidFill>
                  <a:prstDash val="solid"/>
                  <a:round/>
                  <a:headEnd type="none" w="med" len="med"/>
                  <a:tailEnd type="none" w="med" len="med"/>
                </a:ln>
              </p:spPr>
              <p:txBody>
                <a:bodyPr/>
                <a:lstStyle/>
                <a:p>
                  <a:endParaRPr lang="en-US"/>
                </a:p>
              </p:txBody>
            </p:sp>
            <p:grpSp>
              <p:nvGrpSpPr>
                <p:cNvPr id="974" name="Google Shape;974;p60"/>
                <p:cNvGrpSpPr/>
                <p:nvPr/>
              </p:nvGrpSpPr>
              <p:grpSpPr>
                <a:xfrm rot="855758" flipH="1">
                  <a:off x="4892534" y="2494926"/>
                  <a:ext cx="147823" cy="95872"/>
                  <a:chOff x="1899825" y="2715809"/>
                  <a:chExt cx="128100" cy="94500"/>
                </a:xfrm>
              </p:grpSpPr>
              <p:cxnSp>
                <p:nvCxnSpPr>
                  <p:cNvPr id="975" name="Google Shape;975;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76" name="Google Shape;976;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77" name="Google Shape;977;p60"/>
                <p:cNvGrpSpPr/>
                <p:nvPr/>
              </p:nvGrpSpPr>
              <p:grpSpPr>
                <a:xfrm rot="-1780040" flipH="1">
                  <a:off x="4781421" y="2049921"/>
                  <a:ext cx="143224" cy="99580"/>
                  <a:chOff x="1899825" y="2715809"/>
                  <a:chExt cx="128100" cy="94500"/>
                </a:xfrm>
              </p:grpSpPr>
              <p:cxnSp>
                <p:nvCxnSpPr>
                  <p:cNvPr id="978" name="Google Shape;978;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79" name="Google Shape;979;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80" name="Google Shape;980;p60"/>
                <p:cNvGrpSpPr/>
                <p:nvPr/>
              </p:nvGrpSpPr>
              <p:grpSpPr>
                <a:xfrm rot="-1289142" flipH="1">
                  <a:off x="4399409" y="1635272"/>
                  <a:ext cx="145913" cy="97409"/>
                  <a:chOff x="1899825" y="2715809"/>
                  <a:chExt cx="128100" cy="94500"/>
                </a:xfrm>
              </p:grpSpPr>
              <p:cxnSp>
                <p:nvCxnSpPr>
                  <p:cNvPr id="981" name="Google Shape;981;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82" name="Google Shape;982;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983" name="Google Shape;983;p60"/>
                <p:cNvSpPr/>
                <p:nvPr/>
              </p:nvSpPr>
              <p:spPr>
                <a:xfrm>
                  <a:off x="3520854" y="1024450"/>
                  <a:ext cx="357175" cy="1758475"/>
                </a:xfrm>
                <a:custGeom>
                  <a:avLst/>
                  <a:gdLst/>
                  <a:ahLst/>
                  <a:cxnLst/>
                  <a:rect l="l" t="t" r="r" b="b"/>
                  <a:pathLst>
                    <a:path w="14287" h="70339" extrusionOk="0">
                      <a:moveTo>
                        <a:pt x="0" y="70339"/>
                      </a:moveTo>
                      <a:cubicBezTo>
                        <a:pt x="1381" y="67476"/>
                        <a:pt x="6051" y="62984"/>
                        <a:pt x="8285" y="53158"/>
                      </a:cubicBezTo>
                      <a:cubicBezTo>
                        <a:pt x="10519" y="43332"/>
                        <a:pt x="12403" y="20243"/>
                        <a:pt x="13403" y="11383"/>
                      </a:cubicBezTo>
                      <a:cubicBezTo>
                        <a:pt x="14403" y="2523"/>
                        <a:pt x="14140" y="1897"/>
                        <a:pt x="14287" y="0"/>
                      </a:cubicBezTo>
                    </a:path>
                  </a:pathLst>
                </a:custGeom>
                <a:noFill/>
                <a:ln w="7275" cap="flat" cmpd="sng">
                  <a:solidFill>
                    <a:schemeClr val="dk2"/>
                  </a:solidFill>
                  <a:prstDash val="solid"/>
                  <a:round/>
                  <a:headEnd type="none" w="med" len="med"/>
                  <a:tailEnd type="none" w="med" len="med"/>
                </a:ln>
              </p:spPr>
              <p:txBody>
                <a:bodyPr/>
                <a:lstStyle/>
                <a:p>
                  <a:endParaRPr lang="en-US"/>
                </a:p>
              </p:txBody>
            </p:sp>
            <p:sp>
              <p:nvSpPr>
                <p:cNvPr id="984" name="Google Shape;984;p60"/>
                <p:cNvSpPr/>
                <p:nvPr/>
              </p:nvSpPr>
              <p:spPr>
                <a:xfrm>
                  <a:off x="4042904" y="987825"/>
                  <a:ext cx="293075" cy="1776775"/>
                </a:xfrm>
                <a:custGeom>
                  <a:avLst/>
                  <a:gdLst/>
                  <a:ahLst/>
                  <a:cxnLst/>
                  <a:rect l="l" t="t" r="r" b="b"/>
                  <a:pathLst>
                    <a:path w="11723" h="71071" extrusionOk="0">
                      <a:moveTo>
                        <a:pt x="11723" y="71071"/>
                      </a:moveTo>
                      <a:cubicBezTo>
                        <a:pt x="10622" y="68460"/>
                        <a:pt x="6822" y="64980"/>
                        <a:pt x="5118" y="55407"/>
                      </a:cubicBezTo>
                      <a:cubicBezTo>
                        <a:pt x="3415" y="45834"/>
                        <a:pt x="2355" y="22867"/>
                        <a:pt x="1502" y="13632"/>
                      </a:cubicBezTo>
                      <a:cubicBezTo>
                        <a:pt x="649" y="4398"/>
                        <a:pt x="250" y="2272"/>
                        <a:pt x="0" y="0"/>
                      </a:cubicBezTo>
                    </a:path>
                  </a:pathLst>
                </a:custGeom>
                <a:noFill/>
                <a:ln w="7275" cap="flat" cmpd="sng">
                  <a:solidFill>
                    <a:schemeClr val="dk2"/>
                  </a:solidFill>
                  <a:prstDash val="solid"/>
                  <a:round/>
                  <a:headEnd type="none" w="med" len="med"/>
                  <a:tailEnd type="none" w="med" len="med"/>
                </a:ln>
              </p:spPr>
              <p:txBody>
                <a:bodyPr/>
                <a:lstStyle/>
                <a:p>
                  <a:endParaRPr lang="en-US"/>
                </a:p>
              </p:txBody>
            </p:sp>
            <p:sp>
              <p:nvSpPr>
                <p:cNvPr id="985" name="Google Shape;985;p60"/>
                <p:cNvSpPr/>
                <p:nvPr/>
              </p:nvSpPr>
              <p:spPr>
                <a:xfrm>
                  <a:off x="3831528" y="1002834"/>
                  <a:ext cx="149668" cy="1804192"/>
                </a:xfrm>
                <a:custGeom>
                  <a:avLst/>
                  <a:gdLst/>
                  <a:ahLst/>
                  <a:cxnLst/>
                  <a:rect l="l" t="t" r="r" b="b"/>
                  <a:pathLst>
                    <a:path w="6496" h="72038" extrusionOk="0">
                      <a:moveTo>
                        <a:pt x="0" y="72038"/>
                      </a:moveTo>
                      <a:cubicBezTo>
                        <a:pt x="504" y="69214"/>
                        <a:pt x="1982" y="64839"/>
                        <a:pt x="3025" y="55092"/>
                      </a:cubicBezTo>
                      <a:cubicBezTo>
                        <a:pt x="4068" y="45345"/>
                        <a:pt x="5718" y="22737"/>
                        <a:pt x="6257" y="13555"/>
                      </a:cubicBezTo>
                      <a:cubicBezTo>
                        <a:pt x="6796" y="4373"/>
                        <a:pt x="6257" y="2259"/>
                        <a:pt x="6257" y="0"/>
                      </a:cubicBezTo>
                    </a:path>
                  </a:pathLst>
                </a:custGeom>
                <a:noFill/>
                <a:ln w="7275" cap="flat" cmpd="sng">
                  <a:solidFill>
                    <a:schemeClr val="dk2"/>
                  </a:solidFill>
                  <a:prstDash val="solid"/>
                  <a:round/>
                  <a:headEnd type="none" w="med" len="med"/>
                  <a:tailEnd type="none" w="med" len="med"/>
                </a:ln>
              </p:spPr>
              <p:txBody>
                <a:bodyPr/>
                <a:lstStyle/>
                <a:p>
                  <a:endParaRPr lang="en-US"/>
                </a:p>
              </p:txBody>
            </p:sp>
            <p:sp>
              <p:nvSpPr>
                <p:cNvPr id="986" name="Google Shape;986;p60"/>
                <p:cNvSpPr/>
                <p:nvPr/>
              </p:nvSpPr>
              <p:spPr>
                <a:xfrm>
                  <a:off x="3621586" y="1573975"/>
                  <a:ext cx="677700" cy="522000"/>
                </a:xfrm>
                <a:prstGeom prst="rect">
                  <a:avLst/>
                </a:prstGeom>
                <a:solidFill>
                  <a:schemeClr val="lt2"/>
                </a:solidFill>
                <a:ln w="7275" cap="flat" cmpd="sng">
                  <a:solidFill>
                    <a:schemeClr val="dk2"/>
                  </a:solidFill>
                  <a:prstDash val="solid"/>
                  <a:round/>
                  <a:headEnd type="none" w="sm" len="sm"/>
                  <a:tailEnd type="none" w="sm" len="sm"/>
                </a:ln>
              </p:spPr>
              <p:txBody>
                <a:bodyPr spcFirstLastPara="1" wrap="square" lIns="70075" tIns="70075" rIns="70075" bIns="70075" anchor="ctr" anchorCtr="0">
                  <a:noAutofit/>
                </a:bodyPr>
                <a:lstStyle/>
                <a:p>
                  <a:pPr marL="0" lvl="0" indent="0" algn="ctr" rtl="0">
                    <a:spcBef>
                      <a:spcPts val="0"/>
                    </a:spcBef>
                    <a:spcAft>
                      <a:spcPts val="0"/>
                    </a:spcAft>
                    <a:buNone/>
                  </a:pPr>
                  <a:r>
                    <a:rPr lang="en" sz="1073"/>
                    <a:t>x</a:t>
                  </a:r>
                  <a:endParaRPr sz="1073"/>
                </a:p>
              </p:txBody>
            </p:sp>
            <p:grpSp>
              <p:nvGrpSpPr>
                <p:cNvPr id="987" name="Google Shape;987;p60"/>
                <p:cNvGrpSpPr/>
                <p:nvPr/>
              </p:nvGrpSpPr>
              <p:grpSpPr>
                <a:xfrm rot="595998">
                  <a:off x="3655287" y="2296821"/>
                  <a:ext cx="128099" cy="94499"/>
                  <a:chOff x="1899825" y="2715809"/>
                  <a:chExt cx="128100" cy="94500"/>
                </a:xfrm>
              </p:grpSpPr>
              <p:cxnSp>
                <p:nvCxnSpPr>
                  <p:cNvPr id="988" name="Google Shape;988;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89" name="Google Shape;989;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90" name="Google Shape;990;p60"/>
                <p:cNvGrpSpPr/>
                <p:nvPr/>
              </p:nvGrpSpPr>
              <p:grpSpPr>
                <a:xfrm rot="-137203">
                  <a:off x="3844195" y="2266165"/>
                  <a:ext cx="128100" cy="94500"/>
                  <a:chOff x="1899825" y="2715809"/>
                  <a:chExt cx="128100" cy="94500"/>
                </a:xfrm>
              </p:grpSpPr>
              <p:cxnSp>
                <p:nvCxnSpPr>
                  <p:cNvPr id="991" name="Google Shape;991;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92" name="Google Shape;992;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93" name="Google Shape;993;p60"/>
                <p:cNvGrpSpPr/>
                <p:nvPr/>
              </p:nvGrpSpPr>
              <p:grpSpPr>
                <a:xfrm rot="-1471190">
                  <a:off x="4106609" y="2308474"/>
                  <a:ext cx="128098" cy="94498"/>
                  <a:chOff x="1899825" y="2715809"/>
                  <a:chExt cx="128100" cy="94500"/>
                </a:xfrm>
              </p:grpSpPr>
              <p:cxnSp>
                <p:nvCxnSpPr>
                  <p:cNvPr id="994" name="Google Shape;994;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95" name="Google Shape;995;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96" name="Google Shape;996;p60"/>
                <p:cNvGrpSpPr/>
                <p:nvPr/>
              </p:nvGrpSpPr>
              <p:grpSpPr>
                <a:xfrm rot="-319820">
                  <a:off x="3908707" y="1322647"/>
                  <a:ext cx="128103" cy="94502"/>
                  <a:chOff x="1899825" y="2715809"/>
                  <a:chExt cx="128100" cy="94500"/>
                </a:xfrm>
              </p:grpSpPr>
              <p:cxnSp>
                <p:nvCxnSpPr>
                  <p:cNvPr id="997" name="Google Shape;997;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998" name="Google Shape;998;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999" name="Google Shape;999;p60"/>
                <p:cNvGrpSpPr/>
                <p:nvPr/>
              </p:nvGrpSpPr>
              <p:grpSpPr>
                <a:xfrm rot="-762131">
                  <a:off x="4024395" y="1429561"/>
                  <a:ext cx="128110" cy="94507"/>
                  <a:chOff x="1899825" y="2715809"/>
                  <a:chExt cx="128100" cy="94500"/>
                </a:xfrm>
              </p:grpSpPr>
              <p:cxnSp>
                <p:nvCxnSpPr>
                  <p:cNvPr id="1000" name="Google Shape;1000;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1001" name="Google Shape;1001;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grpSp>
              <p:nvGrpSpPr>
                <p:cNvPr id="1002" name="Google Shape;1002;p60"/>
                <p:cNvGrpSpPr/>
                <p:nvPr/>
              </p:nvGrpSpPr>
              <p:grpSpPr>
                <a:xfrm>
                  <a:off x="3773716" y="1399006"/>
                  <a:ext cx="128113" cy="94509"/>
                  <a:chOff x="1899825" y="2715809"/>
                  <a:chExt cx="128100" cy="94500"/>
                </a:xfrm>
              </p:grpSpPr>
              <p:cxnSp>
                <p:nvCxnSpPr>
                  <p:cNvPr id="1003" name="Google Shape;1003;p60"/>
                  <p:cNvCxnSpPr/>
                  <p:nvPr/>
                </p:nvCxnSpPr>
                <p:spPr>
                  <a:xfrm flipH="1">
                    <a:off x="1899825" y="2718800"/>
                    <a:ext cx="73200" cy="73200"/>
                  </a:xfrm>
                  <a:prstGeom prst="straightConnector1">
                    <a:avLst/>
                  </a:prstGeom>
                  <a:noFill/>
                  <a:ln w="7275" cap="flat" cmpd="sng">
                    <a:solidFill>
                      <a:schemeClr val="dk2"/>
                    </a:solidFill>
                    <a:prstDash val="solid"/>
                    <a:round/>
                    <a:headEnd type="none" w="med" len="med"/>
                    <a:tailEnd type="none" w="med" len="med"/>
                  </a:ln>
                </p:spPr>
              </p:cxnSp>
              <p:cxnSp>
                <p:nvCxnSpPr>
                  <p:cNvPr id="1004" name="Google Shape;1004;p60"/>
                  <p:cNvCxnSpPr/>
                  <p:nvPr/>
                </p:nvCxnSpPr>
                <p:spPr>
                  <a:xfrm>
                    <a:off x="1973025" y="2715809"/>
                    <a:ext cx="54900" cy="94500"/>
                  </a:xfrm>
                  <a:prstGeom prst="straightConnector1">
                    <a:avLst/>
                  </a:prstGeom>
                  <a:noFill/>
                  <a:ln w="7275" cap="flat" cmpd="sng">
                    <a:solidFill>
                      <a:schemeClr val="dk2"/>
                    </a:solidFill>
                    <a:prstDash val="solid"/>
                    <a:round/>
                    <a:headEnd type="none" w="med" len="med"/>
                    <a:tailEnd type="none" w="med" len="med"/>
                  </a:ln>
                </p:spPr>
              </p:cxnSp>
            </p:grpSp>
            <p:sp>
              <p:nvSpPr>
                <p:cNvPr id="1005" name="Google Shape;1005;p60"/>
                <p:cNvSpPr txBox="1"/>
                <p:nvPr/>
              </p:nvSpPr>
              <p:spPr>
                <a:xfrm>
                  <a:off x="3506129" y="520750"/>
                  <a:ext cx="1000200" cy="219900"/>
                </a:xfrm>
                <a:prstGeom prst="rect">
                  <a:avLst/>
                </a:prstGeom>
                <a:noFill/>
                <a:ln>
                  <a:noFill/>
                </a:ln>
              </p:spPr>
              <p:txBody>
                <a:bodyPr spcFirstLastPara="1" wrap="square" lIns="70075" tIns="70075" rIns="70075" bIns="70075" anchor="t" anchorCtr="0">
                  <a:noAutofit/>
                </a:bodyPr>
                <a:lstStyle/>
                <a:p>
                  <a:pPr marL="0" lvl="0" indent="0" algn="l" rtl="0">
                    <a:spcBef>
                      <a:spcPts val="0"/>
                    </a:spcBef>
                    <a:spcAft>
                      <a:spcPts val="0"/>
                    </a:spcAft>
                    <a:buNone/>
                  </a:pPr>
                  <a:r>
                    <a:rPr lang="en" sz="1379">
                      <a:solidFill>
                        <a:schemeClr val="dk1"/>
                      </a:solidFill>
                    </a:rPr>
                    <a:t>Outflow</a:t>
                  </a:r>
                  <a:endParaRPr sz="1379">
                    <a:solidFill>
                      <a:schemeClr val="dk1"/>
                    </a:solidFill>
                  </a:endParaRPr>
                </a:p>
              </p:txBody>
            </p:sp>
            <p:sp>
              <p:nvSpPr>
                <p:cNvPr id="1006" name="Google Shape;1006;p60"/>
                <p:cNvSpPr txBox="1"/>
                <p:nvPr/>
              </p:nvSpPr>
              <p:spPr>
                <a:xfrm>
                  <a:off x="3561619" y="2852900"/>
                  <a:ext cx="1000200" cy="219900"/>
                </a:xfrm>
                <a:prstGeom prst="rect">
                  <a:avLst/>
                </a:prstGeom>
                <a:noFill/>
                <a:ln>
                  <a:noFill/>
                </a:ln>
              </p:spPr>
              <p:txBody>
                <a:bodyPr spcFirstLastPara="1" wrap="square" lIns="70075" tIns="70075" rIns="70075" bIns="70075" anchor="t" anchorCtr="0">
                  <a:noAutofit/>
                </a:bodyPr>
                <a:lstStyle/>
                <a:p>
                  <a:pPr marL="0" lvl="0" indent="0" algn="l" rtl="0">
                    <a:spcBef>
                      <a:spcPts val="0"/>
                    </a:spcBef>
                    <a:spcAft>
                      <a:spcPts val="0"/>
                    </a:spcAft>
                    <a:buNone/>
                  </a:pPr>
                  <a:r>
                    <a:rPr lang="en" sz="1379">
                      <a:solidFill>
                        <a:schemeClr val="dk1"/>
                      </a:solidFill>
                    </a:rPr>
                    <a:t>Inflow</a:t>
                  </a:r>
                  <a:endParaRPr sz="1379">
                    <a:solidFill>
                      <a:schemeClr val="dk1"/>
                    </a:solidFill>
                  </a:endParaRPr>
                </a:p>
              </p:txBody>
            </p:sp>
          </p:grpSp>
        </p:grpSp>
        <p:pic>
          <p:nvPicPr>
            <p:cNvPr id="1007" name="Google Shape;1007;p60"/>
            <p:cNvPicPr preferRelativeResize="0"/>
            <p:nvPr/>
          </p:nvPicPr>
          <p:blipFill>
            <a:blip r:embed="rId4">
              <a:alphaModFix/>
            </a:blip>
            <a:stretch>
              <a:fillRect/>
            </a:stretch>
          </p:blipFill>
          <p:spPr>
            <a:xfrm>
              <a:off x="5432497" y="1413125"/>
              <a:ext cx="515185" cy="277200"/>
            </a:xfrm>
            <a:prstGeom prst="rect">
              <a:avLst/>
            </a:prstGeom>
            <a:noFill/>
            <a:ln>
              <a:noFill/>
            </a:ln>
          </p:spPr>
        </p:pic>
      </p:grpSp>
      <p:pic>
        <p:nvPicPr>
          <p:cNvPr id="1008" name="Google Shape;1008;p60"/>
          <p:cNvPicPr preferRelativeResize="0"/>
          <p:nvPr/>
        </p:nvPicPr>
        <p:blipFill>
          <a:blip r:embed="rId5">
            <a:alphaModFix/>
          </a:blip>
          <a:stretch>
            <a:fillRect/>
          </a:stretch>
        </p:blipFill>
        <p:spPr>
          <a:xfrm>
            <a:off x="1300827" y="3691935"/>
            <a:ext cx="901175" cy="179050"/>
          </a:xfrm>
          <a:prstGeom prst="rect">
            <a:avLst/>
          </a:prstGeom>
          <a:noFill/>
          <a:ln>
            <a:noFill/>
          </a:ln>
        </p:spPr>
      </p:pic>
      <p:sp>
        <p:nvSpPr>
          <p:cNvPr id="1009" name="Google Shape;1009;p60"/>
          <p:cNvSpPr txBox="1"/>
          <p:nvPr/>
        </p:nvSpPr>
        <p:spPr>
          <a:xfrm>
            <a:off x="3398389" y="3789797"/>
            <a:ext cx="15021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Change of probability mass at x</a:t>
            </a:r>
            <a:endParaRPr sz="1100">
              <a:solidFill>
                <a:srgbClr val="FF0000"/>
              </a:solidFill>
            </a:endParaRPr>
          </a:p>
        </p:txBody>
      </p:sp>
      <p:sp>
        <p:nvSpPr>
          <p:cNvPr id="1010" name="Google Shape;1010;p60"/>
          <p:cNvSpPr txBox="1"/>
          <p:nvPr/>
        </p:nvSpPr>
        <p:spPr>
          <a:xfrm>
            <a:off x="4952496" y="3789793"/>
            <a:ext cx="23739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100">
                <a:solidFill>
                  <a:srgbClr val="FF0000"/>
                </a:solidFill>
              </a:rPr>
              <a:t>Net inflow of probability mass:</a:t>
            </a:r>
            <a:endParaRPr sz="1100">
              <a:solidFill>
                <a:srgbClr val="FF0000"/>
              </a:solidFill>
            </a:endParaRPr>
          </a:p>
          <a:p>
            <a:pPr marL="0" lvl="0" indent="0" algn="ctr" rtl="0">
              <a:spcBef>
                <a:spcPts val="0"/>
              </a:spcBef>
              <a:spcAft>
                <a:spcPts val="0"/>
              </a:spcAft>
              <a:buClr>
                <a:schemeClr val="dk1"/>
              </a:buClr>
              <a:buSzPts val="1100"/>
              <a:buFont typeface="Arial"/>
              <a:buNone/>
            </a:pPr>
            <a:r>
              <a:rPr lang="en" sz="1100">
                <a:solidFill>
                  <a:srgbClr val="FF0000"/>
                </a:solidFill>
              </a:rPr>
              <a:t> Inflow - Outflow</a:t>
            </a:r>
            <a:endParaRPr sz="1100">
              <a:solidFill>
                <a:srgbClr val="FF0000"/>
              </a:solidFill>
            </a:endParaRPr>
          </a:p>
        </p:txBody>
      </p:sp>
      <p:sp>
        <p:nvSpPr>
          <p:cNvPr id="1011" name="Google Shape;1011;p60"/>
          <p:cNvSpPr txBox="1"/>
          <p:nvPr/>
        </p:nvSpPr>
        <p:spPr>
          <a:xfrm>
            <a:off x="2548954" y="3540707"/>
            <a:ext cx="901200" cy="17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rgbClr val="FF0000"/>
                </a:solidFill>
              </a:rPr>
              <a:t>Importantly,</a:t>
            </a:r>
            <a:endParaRPr sz="800">
              <a:solidFill>
                <a:srgbClr val="FF0000"/>
              </a:solidFill>
            </a:endParaRPr>
          </a:p>
          <a:p>
            <a:pPr marL="0" lvl="0" indent="0" algn="ctr" rtl="0">
              <a:spcBef>
                <a:spcPts val="0"/>
              </a:spcBef>
              <a:spcAft>
                <a:spcPts val="0"/>
              </a:spcAft>
              <a:buNone/>
            </a:pPr>
            <a:r>
              <a:rPr lang="en" sz="800">
                <a:solidFill>
                  <a:srgbClr val="FF0000"/>
                </a:solidFill>
              </a:rPr>
              <a:t> this statement  goes both ways</a:t>
            </a:r>
            <a:endParaRPr sz="800">
              <a:solidFill>
                <a:srgbClr val="FF0000"/>
              </a:solidFill>
            </a:endParaRPr>
          </a:p>
        </p:txBody>
      </p:sp>
      <p:sp>
        <p:nvSpPr>
          <p:cNvPr id="1012" name="Google Shape;1012;p60"/>
          <p:cNvSpPr txBox="1"/>
          <p:nvPr/>
        </p:nvSpPr>
        <p:spPr>
          <a:xfrm>
            <a:off x="3276235" y="2646560"/>
            <a:ext cx="19590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100" i="1">
                <a:solidFill>
                  <a:schemeClr val="dk1"/>
                </a:solidFill>
              </a:rPr>
              <a:t>Probability-flow intuition </a:t>
            </a:r>
            <a:endParaRPr sz="1100" i="1">
              <a:solidFill>
                <a:schemeClr val="dk1"/>
              </a:solidFill>
            </a:endParaRPr>
          </a:p>
        </p:txBody>
      </p:sp>
      <p:sp>
        <p:nvSpPr>
          <p:cNvPr id="1013" name="Google Shape;1013;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48</a:t>
            </a:fld>
            <a:endParaRPr/>
          </a:p>
        </p:txBody>
      </p:sp>
      <p:pic>
        <p:nvPicPr>
          <p:cNvPr id="1014" name="Google Shape;1014;p60"/>
          <p:cNvPicPr preferRelativeResize="0"/>
          <p:nvPr/>
        </p:nvPicPr>
        <p:blipFill>
          <a:blip r:embed="rId6">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61"/>
          <p:cNvSpPr txBox="1"/>
          <p:nvPr/>
        </p:nvSpPr>
        <p:spPr>
          <a:xfrm>
            <a:off x="718198" y="4265341"/>
            <a:ext cx="77076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We end up following the probability path when we “go with the flow”</a:t>
            </a:r>
            <a:endParaRPr sz="1800" b="1">
              <a:solidFill>
                <a:schemeClr val="dk1"/>
              </a:solidFill>
            </a:endParaRPr>
          </a:p>
        </p:txBody>
      </p:sp>
      <p:grpSp>
        <p:nvGrpSpPr>
          <p:cNvPr id="1020" name="Google Shape;1020;p61"/>
          <p:cNvGrpSpPr/>
          <p:nvPr/>
        </p:nvGrpSpPr>
        <p:grpSpPr>
          <a:xfrm>
            <a:off x="241950" y="1494027"/>
            <a:ext cx="8660100" cy="2000928"/>
            <a:chOff x="322200" y="1180852"/>
            <a:chExt cx="8660100" cy="2000928"/>
          </a:xfrm>
        </p:grpSpPr>
        <p:sp>
          <p:nvSpPr>
            <p:cNvPr id="1021" name="Google Shape;1021;p61"/>
            <p:cNvSpPr txBox="1"/>
            <p:nvPr/>
          </p:nvSpPr>
          <p:spPr>
            <a:xfrm>
              <a:off x="322200" y="1180852"/>
              <a:ext cx="8660100" cy="83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Let’s prove that                 by using the left part “&lt;=” part of our equivalence relation “⇔” from before.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We will show that we can go from            to                              and once this is done, we will make use of the “⇔” relation to conclude that   </a:t>
              </a:r>
              <a:endParaRPr sz="1800">
                <a:solidFill>
                  <a:schemeClr val="dk1"/>
                </a:solidFill>
              </a:endParaRPr>
            </a:p>
          </p:txBody>
        </p:sp>
        <p:pic>
          <p:nvPicPr>
            <p:cNvPr id="1022" name="Google Shape;1022;p61"/>
            <p:cNvPicPr preferRelativeResize="0"/>
            <p:nvPr/>
          </p:nvPicPr>
          <p:blipFill>
            <a:blip r:embed="rId3">
              <a:alphaModFix/>
            </a:blip>
            <a:stretch>
              <a:fillRect/>
            </a:stretch>
          </p:blipFill>
          <p:spPr>
            <a:xfrm>
              <a:off x="2043308" y="1287172"/>
              <a:ext cx="913795" cy="277200"/>
            </a:xfrm>
            <a:prstGeom prst="rect">
              <a:avLst/>
            </a:prstGeom>
            <a:noFill/>
            <a:ln>
              <a:noFill/>
            </a:ln>
          </p:spPr>
        </p:pic>
        <p:pic>
          <p:nvPicPr>
            <p:cNvPr id="1023" name="Google Shape;1023;p61"/>
            <p:cNvPicPr preferRelativeResize="0"/>
            <p:nvPr/>
          </p:nvPicPr>
          <p:blipFill>
            <a:blip r:embed="rId4">
              <a:alphaModFix/>
            </a:blip>
            <a:stretch>
              <a:fillRect/>
            </a:stretch>
          </p:blipFill>
          <p:spPr>
            <a:xfrm>
              <a:off x="4815039" y="2661393"/>
              <a:ext cx="1766297" cy="277200"/>
            </a:xfrm>
            <a:prstGeom prst="rect">
              <a:avLst/>
            </a:prstGeom>
            <a:noFill/>
            <a:ln>
              <a:noFill/>
            </a:ln>
          </p:spPr>
        </p:pic>
        <p:pic>
          <p:nvPicPr>
            <p:cNvPr id="1024" name="Google Shape;1024;p61"/>
            <p:cNvPicPr preferRelativeResize="0"/>
            <p:nvPr/>
          </p:nvPicPr>
          <p:blipFill>
            <a:blip r:embed="rId5">
              <a:alphaModFix/>
            </a:blip>
            <a:stretch>
              <a:fillRect/>
            </a:stretch>
          </p:blipFill>
          <p:spPr>
            <a:xfrm>
              <a:off x="5808126" y="2949550"/>
              <a:ext cx="751450" cy="232230"/>
            </a:xfrm>
            <a:prstGeom prst="rect">
              <a:avLst/>
            </a:prstGeom>
            <a:noFill/>
            <a:ln>
              <a:noFill/>
            </a:ln>
          </p:spPr>
        </p:pic>
      </p:grpSp>
      <p:sp>
        <p:nvSpPr>
          <p:cNvPr id="1025" name="Google Shape;1025;p61"/>
          <p:cNvSpPr txBox="1"/>
          <p:nvPr/>
        </p:nvSpPr>
        <p:spPr>
          <a:xfrm>
            <a:off x="3462600" y="7400"/>
            <a:ext cx="2475000" cy="393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Going with the Flow</a:t>
            </a:r>
            <a:endParaRPr sz="1800" b="1">
              <a:solidFill>
                <a:schemeClr val="dk1"/>
              </a:solidFill>
            </a:endParaRPr>
          </a:p>
        </p:txBody>
      </p:sp>
      <p:pic>
        <p:nvPicPr>
          <p:cNvPr id="1026" name="Google Shape;1026;p61"/>
          <p:cNvPicPr preferRelativeResize="0"/>
          <p:nvPr/>
        </p:nvPicPr>
        <p:blipFill>
          <a:blip r:embed="rId6">
            <a:alphaModFix/>
          </a:blip>
          <a:stretch>
            <a:fillRect/>
          </a:stretch>
        </p:blipFill>
        <p:spPr>
          <a:xfrm>
            <a:off x="3815178" y="2845323"/>
            <a:ext cx="593525" cy="425175"/>
          </a:xfrm>
          <a:prstGeom prst="rect">
            <a:avLst/>
          </a:prstGeom>
          <a:noFill/>
          <a:ln>
            <a:noFill/>
          </a:ln>
        </p:spPr>
      </p:pic>
      <p:sp>
        <p:nvSpPr>
          <p:cNvPr id="1027" name="Google Shape;1027;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49</a:t>
            </a:fld>
            <a:endParaRPr/>
          </a:p>
        </p:txBody>
      </p:sp>
      <p:pic>
        <p:nvPicPr>
          <p:cNvPr id="1028" name="Google Shape;1028;p61"/>
          <p:cNvPicPr preferRelativeResize="0"/>
          <p:nvPr/>
        </p:nvPicPr>
        <p:blipFill>
          <a:blip r:embed="rId7">
            <a:alphaModFix/>
          </a:blip>
          <a:stretch>
            <a:fillRect/>
          </a:stretch>
        </p:blipFill>
        <p:spPr>
          <a:xfrm>
            <a:off x="8902058" y="7408"/>
            <a:ext cx="236401" cy="26237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62"/>
          <p:cNvSpPr txBox="1"/>
          <p:nvPr/>
        </p:nvSpPr>
        <p:spPr>
          <a:xfrm>
            <a:off x="1274425" y="0"/>
            <a:ext cx="68580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Proof: The Marginal Vector Field Generates the Marginal Path </a:t>
            </a:r>
            <a:endParaRPr sz="1800" b="1">
              <a:solidFill>
                <a:schemeClr val="dk1"/>
              </a:solidFill>
            </a:endParaRPr>
          </a:p>
        </p:txBody>
      </p:sp>
      <p:sp>
        <p:nvSpPr>
          <p:cNvPr id="1034" name="Google Shape;1034;p62"/>
          <p:cNvSpPr txBox="1"/>
          <p:nvPr/>
        </p:nvSpPr>
        <p:spPr>
          <a:xfrm>
            <a:off x="5639426" y="921125"/>
            <a:ext cx="34104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Apply the marginalization formula</a:t>
            </a:r>
            <a:endParaRPr sz="1200">
              <a:solidFill>
                <a:schemeClr val="dk1"/>
              </a:solidFill>
            </a:endParaRPr>
          </a:p>
        </p:txBody>
      </p:sp>
      <p:sp>
        <p:nvSpPr>
          <p:cNvPr id="1035" name="Google Shape;1035;p62"/>
          <p:cNvSpPr txBox="1"/>
          <p:nvPr/>
        </p:nvSpPr>
        <p:spPr>
          <a:xfrm>
            <a:off x="5628475" y="1568853"/>
            <a:ext cx="31842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Move the time derivative inside the integral</a:t>
            </a:r>
            <a:endParaRPr sz="1200">
              <a:solidFill>
                <a:schemeClr val="dk1"/>
              </a:solidFill>
            </a:endParaRPr>
          </a:p>
        </p:txBody>
      </p:sp>
      <p:sp>
        <p:nvSpPr>
          <p:cNvPr id="1036" name="Google Shape;1036;p62"/>
          <p:cNvSpPr txBox="1"/>
          <p:nvPr/>
        </p:nvSpPr>
        <p:spPr>
          <a:xfrm>
            <a:off x="5630875" y="2172625"/>
            <a:ext cx="35157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Apply the continuity equation formula by using </a:t>
            </a:r>
            <a:endParaRPr sz="1200">
              <a:solidFill>
                <a:schemeClr val="dk1"/>
              </a:solidFill>
            </a:endParaRPr>
          </a:p>
          <a:p>
            <a:pPr marL="0" lvl="0" indent="0" algn="l" rtl="0">
              <a:spcBef>
                <a:spcPts val="0"/>
              </a:spcBef>
              <a:spcAft>
                <a:spcPts val="0"/>
              </a:spcAft>
              <a:buNone/>
            </a:pPr>
            <a:r>
              <a:rPr lang="en" sz="1200">
                <a:solidFill>
                  <a:schemeClr val="dk1"/>
                </a:solidFill>
              </a:rPr>
              <a:t>the conditional probability, i.e. with  “ | z” instead </a:t>
            </a:r>
            <a:endParaRPr sz="1200">
              <a:solidFill>
                <a:schemeClr val="dk1"/>
              </a:solidFill>
            </a:endParaRPr>
          </a:p>
          <a:p>
            <a:pPr marL="0" lvl="0" indent="0" algn="l" rtl="0">
              <a:spcBef>
                <a:spcPts val="0"/>
              </a:spcBef>
              <a:spcAft>
                <a:spcPts val="0"/>
              </a:spcAft>
              <a:buNone/>
            </a:pPr>
            <a:endParaRPr sz="1200">
              <a:solidFill>
                <a:schemeClr val="dk1"/>
              </a:solidFill>
            </a:endParaRPr>
          </a:p>
        </p:txBody>
      </p:sp>
      <p:sp>
        <p:nvSpPr>
          <p:cNvPr id="1037" name="Google Shape;1037;p62"/>
          <p:cNvSpPr txBox="1"/>
          <p:nvPr/>
        </p:nvSpPr>
        <p:spPr>
          <a:xfrm>
            <a:off x="5641752" y="2863400"/>
            <a:ext cx="34104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Take the “div” operator outside and instantiate </a:t>
            </a:r>
            <a:endParaRPr sz="1200">
              <a:solidFill>
                <a:schemeClr val="dk1"/>
              </a:solidFill>
            </a:endParaRPr>
          </a:p>
          <a:p>
            <a:pPr marL="0" lvl="0" indent="0" algn="l" rtl="0">
              <a:spcBef>
                <a:spcPts val="0"/>
              </a:spcBef>
              <a:spcAft>
                <a:spcPts val="0"/>
              </a:spcAft>
              <a:buNone/>
            </a:pPr>
            <a:r>
              <a:rPr lang="en" sz="1200">
                <a:solidFill>
                  <a:schemeClr val="dk1"/>
                </a:solidFill>
              </a:rPr>
              <a:t>the dots with x as shown by the arrows above</a:t>
            </a:r>
            <a:endParaRPr sz="1200">
              <a:solidFill>
                <a:schemeClr val="dk1"/>
              </a:solidFill>
            </a:endParaRPr>
          </a:p>
        </p:txBody>
      </p:sp>
      <p:sp>
        <p:nvSpPr>
          <p:cNvPr id="1038" name="Google Shape;1038;p62"/>
          <p:cNvSpPr txBox="1"/>
          <p:nvPr/>
        </p:nvSpPr>
        <p:spPr>
          <a:xfrm>
            <a:off x="5652634" y="3478504"/>
            <a:ext cx="3515700" cy="27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Multiply and divide by</a:t>
            </a:r>
            <a:r>
              <a:rPr lang="en" sz="1200" i="1">
                <a:solidFill>
                  <a:schemeClr val="dk1"/>
                </a:solidFill>
              </a:rPr>
              <a:t> p</a:t>
            </a:r>
            <a:r>
              <a:rPr lang="en" sz="1200" i="1" baseline="-25000">
                <a:solidFill>
                  <a:schemeClr val="dk1"/>
                </a:solidFill>
              </a:rPr>
              <a:t>t</a:t>
            </a:r>
            <a:r>
              <a:rPr lang="en" sz="1200" i="1">
                <a:solidFill>
                  <a:schemeClr val="dk1"/>
                </a:solidFill>
              </a:rPr>
              <a:t>(x)</a:t>
            </a:r>
            <a:r>
              <a:rPr lang="en" sz="1200">
                <a:solidFill>
                  <a:schemeClr val="dk1"/>
                </a:solidFill>
              </a:rPr>
              <a:t> trick, so that we </a:t>
            </a:r>
            <a:endParaRPr sz="1200">
              <a:solidFill>
                <a:schemeClr val="dk1"/>
              </a:solidFill>
            </a:endParaRPr>
          </a:p>
          <a:p>
            <a:pPr marL="0" lvl="0" indent="0" algn="l" rtl="0">
              <a:spcBef>
                <a:spcPts val="0"/>
              </a:spcBef>
              <a:spcAft>
                <a:spcPts val="0"/>
              </a:spcAft>
              <a:buNone/>
            </a:pPr>
            <a:r>
              <a:rPr lang="en" sz="1200">
                <a:solidFill>
                  <a:schemeClr val="dk1"/>
                </a:solidFill>
              </a:rPr>
              <a:t>reach the posterior formula </a:t>
            </a:r>
            <a:r>
              <a:rPr lang="en" sz="1200" i="1">
                <a:solidFill>
                  <a:schemeClr val="dk1"/>
                </a:solidFill>
              </a:rPr>
              <a:t>p</a:t>
            </a:r>
            <a:r>
              <a:rPr lang="en" sz="1200" i="1" baseline="-25000">
                <a:solidFill>
                  <a:schemeClr val="dk1"/>
                </a:solidFill>
              </a:rPr>
              <a:t>t</a:t>
            </a:r>
            <a:r>
              <a:rPr lang="en" sz="1200" i="1">
                <a:solidFill>
                  <a:schemeClr val="dk1"/>
                </a:solidFill>
              </a:rPr>
              <a:t>(z|x)</a:t>
            </a:r>
            <a:r>
              <a:rPr lang="en" sz="1200">
                <a:solidFill>
                  <a:schemeClr val="dk1"/>
                </a:solidFill>
              </a:rPr>
              <a:t> in the red box</a:t>
            </a:r>
            <a:endParaRPr sz="1200">
              <a:solidFill>
                <a:schemeClr val="dk1"/>
              </a:solidFill>
            </a:endParaRPr>
          </a:p>
        </p:txBody>
      </p:sp>
      <p:sp>
        <p:nvSpPr>
          <p:cNvPr id="1039" name="Google Shape;1039;p62"/>
          <p:cNvSpPr txBox="1"/>
          <p:nvPr/>
        </p:nvSpPr>
        <p:spPr>
          <a:xfrm>
            <a:off x="5652634" y="4104351"/>
            <a:ext cx="3059100" cy="46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The integral is the </a:t>
            </a:r>
            <a:r>
              <a:rPr lang="en" sz="1200" b="1">
                <a:solidFill>
                  <a:schemeClr val="dk1"/>
                </a:solidFill>
              </a:rPr>
              <a:t>Marginal Vector Field</a:t>
            </a:r>
            <a:r>
              <a:rPr lang="en" sz="1200">
                <a:solidFill>
                  <a:schemeClr val="dk1"/>
                </a:solidFill>
              </a:rPr>
              <a:t> </a:t>
            </a:r>
            <a:endParaRPr sz="1200">
              <a:solidFill>
                <a:schemeClr val="dk1"/>
              </a:solidFill>
            </a:endParaRPr>
          </a:p>
          <a:p>
            <a:pPr marL="0" lvl="0" indent="0" algn="l" rtl="0">
              <a:spcBef>
                <a:spcPts val="0"/>
              </a:spcBef>
              <a:spcAft>
                <a:spcPts val="0"/>
              </a:spcAft>
              <a:buNone/>
            </a:pPr>
            <a:r>
              <a:rPr lang="en" sz="1200">
                <a:solidFill>
                  <a:schemeClr val="dk1"/>
                </a:solidFill>
              </a:rPr>
              <a:t>formula that we’ve seen some slides ago </a:t>
            </a:r>
            <a:endParaRPr sz="1200">
              <a:solidFill>
                <a:schemeClr val="dk1"/>
              </a:solidFill>
            </a:endParaRPr>
          </a:p>
        </p:txBody>
      </p:sp>
      <p:grpSp>
        <p:nvGrpSpPr>
          <p:cNvPr id="1040" name="Google Shape;1040;p62"/>
          <p:cNvGrpSpPr/>
          <p:nvPr/>
        </p:nvGrpSpPr>
        <p:grpSpPr>
          <a:xfrm>
            <a:off x="32623" y="834035"/>
            <a:ext cx="5628475" cy="3822090"/>
            <a:chOff x="76119" y="834035"/>
            <a:chExt cx="5628475" cy="3822090"/>
          </a:xfrm>
        </p:grpSpPr>
        <p:pic>
          <p:nvPicPr>
            <p:cNvPr id="1041" name="Google Shape;1041;p62"/>
            <p:cNvPicPr preferRelativeResize="0"/>
            <p:nvPr/>
          </p:nvPicPr>
          <p:blipFill>
            <a:blip r:embed="rId3">
              <a:alphaModFix/>
            </a:blip>
            <a:stretch>
              <a:fillRect/>
            </a:stretch>
          </p:blipFill>
          <p:spPr>
            <a:xfrm>
              <a:off x="76119" y="834035"/>
              <a:ext cx="5628475" cy="3822090"/>
            </a:xfrm>
            <a:prstGeom prst="rect">
              <a:avLst/>
            </a:prstGeom>
            <a:noFill/>
            <a:ln>
              <a:noFill/>
            </a:ln>
          </p:spPr>
        </p:pic>
        <p:sp>
          <p:nvSpPr>
            <p:cNvPr id="1042" name="Google Shape;1042;p62"/>
            <p:cNvSpPr/>
            <p:nvPr/>
          </p:nvSpPr>
          <p:spPr>
            <a:xfrm flipH="1">
              <a:off x="2342674" y="2013729"/>
              <a:ext cx="1948800" cy="230100"/>
            </a:xfrm>
            <a:prstGeom prst="curvedDownArrow">
              <a:avLst>
                <a:gd name="adj1" fmla="val 25000"/>
                <a:gd name="adj2" fmla="val 50000"/>
                <a:gd name="adj3" fmla="val 1890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3" name="Google Shape;1043;p62"/>
            <p:cNvSpPr/>
            <p:nvPr/>
          </p:nvSpPr>
          <p:spPr>
            <a:xfrm>
              <a:off x="3737450" y="3458450"/>
              <a:ext cx="1563000" cy="613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4" name="Google Shape;1044;p62"/>
            <p:cNvSpPr/>
            <p:nvPr/>
          </p:nvSpPr>
          <p:spPr>
            <a:xfrm rot="10800000">
              <a:off x="3528808" y="2592085"/>
              <a:ext cx="751800" cy="175500"/>
            </a:xfrm>
            <a:prstGeom prst="curvedDownArrow">
              <a:avLst>
                <a:gd name="adj1" fmla="val 25000"/>
                <a:gd name="adj2" fmla="val 50000"/>
                <a:gd name="adj3" fmla="val 3137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045" name="Google Shape;1045;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50</a:t>
            </a:fld>
            <a:endParaRPr/>
          </a:p>
        </p:txBody>
      </p:sp>
      <p:pic>
        <p:nvPicPr>
          <p:cNvPr id="1046" name="Google Shape;1046;p62"/>
          <p:cNvPicPr preferRelativeResize="0"/>
          <p:nvPr/>
        </p:nvPicPr>
        <p:blipFill>
          <a:blip r:embed="rId4">
            <a:alphaModFix/>
          </a:blip>
          <a:stretch>
            <a:fillRect/>
          </a:stretch>
        </p:blipFill>
        <p:spPr>
          <a:xfrm>
            <a:off x="8902058" y="7408"/>
            <a:ext cx="236401" cy="26237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63"/>
          <p:cNvSpPr txBox="1"/>
          <p:nvPr/>
        </p:nvSpPr>
        <p:spPr>
          <a:xfrm>
            <a:off x="1844007" y="1725790"/>
            <a:ext cx="5550900" cy="43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300" b="1">
                <a:solidFill>
                  <a:schemeClr val="dk1"/>
                </a:solidFill>
              </a:rPr>
              <a:t>Conditional and Marginal Score Functions</a:t>
            </a:r>
            <a:endParaRPr sz="3300" b="1">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64"/>
          <p:cNvSpPr txBox="1"/>
          <p:nvPr/>
        </p:nvSpPr>
        <p:spPr>
          <a:xfrm>
            <a:off x="832959" y="1736687"/>
            <a:ext cx="58173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Technically it’s         but we will write      for simplicity.          </a:t>
            </a:r>
            <a:endParaRPr sz="1800">
              <a:solidFill>
                <a:schemeClr val="dk1"/>
              </a:solidFill>
            </a:endParaRPr>
          </a:p>
        </p:txBody>
      </p:sp>
      <p:sp>
        <p:nvSpPr>
          <p:cNvPr id="1057" name="Google Shape;1057;p64"/>
          <p:cNvSpPr txBox="1"/>
          <p:nvPr/>
        </p:nvSpPr>
        <p:spPr>
          <a:xfrm>
            <a:off x="2527737" y="0"/>
            <a:ext cx="42408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The Score Is a Log-Density Gradient </a:t>
            </a:r>
            <a:endParaRPr sz="1800" b="1">
              <a:solidFill>
                <a:schemeClr val="dk1"/>
              </a:solidFill>
            </a:endParaRPr>
          </a:p>
        </p:txBody>
      </p:sp>
      <p:sp>
        <p:nvSpPr>
          <p:cNvPr id="1058" name="Google Shape;1058;p64"/>
          <p:cNvSpPr txBox="1"/>
          <p:nvPr/>
        </p:nvSpPr>
        <p:spPr>
          <a:xfrm>
            <a:off x="847700" y="939925"/>
            <a:ext cx="86055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Whenever you see             in the diffusion context, think of “</a:t>
            </a:r>
            <a:r>
              <a:rPr lang="en" sz="1800" b="1">
                <a:solidFill>
                  <a:schemeClr val="dk1"/>
                </a:solidFill>
              </a:rPr>
              <a:t>Score</a:t>
            </a:r>
            <a:r>
              <a:rPr lang="en" sz="1800">
                <a:solidFill>
                  <a:schemeClr val="dk1"/>
                </a:solidFill>
              </a:rPr>
              <a:t>”.</a:t>
            </a:r>
            <a:endParaRPr sz="1800">
              <a:solidFill>
                <a:schemeClr val="dk1"/>
              </a:solidFill>
            </a:endParaRPr>
          </a:p>
        </p:txBody>
      </p:sp>
      <p:pic>
        <p:nvPicPr>
          <p:cNvPr id="1059" name="Google Shape;1059;p64"/>
          <p:cNvPicPr preferRelativeResize="0"/>
          <p:nvPr/>
        </p:nvPicPr>
        <p:blipFill>
          <a:blip r:embed="rId3">
            <a:alphaModFix/>
          </a:blip>
          <a:stretch>
            <a:fillRect/>
          </a:stretch>
        </p:blipFill>
        <p:spPr>
          <a:xfrm>
            <a:off x="2955674" y="1035025"/>
            <a:ext cx="651092" cy="277200"/>
          </a:xfrm>
          <a:prstGeom prst="rect">
            <a:avLst/>
          </a:prstGeom>
          <a:noFill/>
          <a:ln>
            <a:noFill/>
          </a:ln>
        </p:spPr>
      </p:pic>
      <p:sp>
        <p:nvSpPr>
          <p:cNvPr id="1060" name="Google Shape;1060;p64"/>
          <p:cNvSpPr txBox="1"/>
          <p:nvPr/>
        </p:nvSpPr>
        <p:spPr>
          <a:xfrm>
            <a:off x="847700" y="2511525"/>
            <a:ext cx="74997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Similar as before, we can distinguish between the </a:t>
            </a:r>
            <a:r>
              <a:rPr lang="en" sz="1800" b="1">
                <a:solidFill>
                  <a:schemeClr val="dk1"/>
                </a:solidFill>
              </a:rPr>
              <a:t>conditional score</a:t>
            </a:r>
            <a:r>
              <a:rPr lang="en" sz="1800">
                <a:solidFill>
                  <a:schemeClr val="dk1"/>
                </a:solidFill>
              </a:rPr>
              <a:t>:</a:t>
            </a:r>
            <a:endParaRPr sz="1800">
              <a:solidFill>
                <a:schemeClr val="dk1"/>
              </a:solidFill>
            </a:endParaRPr>
          </a:p>
        </p:txBody>
      </p:sp>
      <p:pic>
        <p:nvPicPr>
          <p:cNvPr id="1061" name="Google Shape;1061;p64"/>
          <p:cNvPicPr preferRelativeResize="0"/>
          <p:nvPr/>
        </p:nvPicPr>
        <p:blipFill>
          <a:blip r:embed="rId4">
            <a:alphaModFix/>
          </a:blip>
          <a:stretch>
            <a:fillRect/>
          </a:stretch>
        </p:blipFill>
        <p:spPr>
          <a:xfrm>
            <a:off x="3431500" y="3139825"/>
            <a:ext cx="2430526" cy="457875"/>
          </a:xfrm>
          <a:prstGeom prst="rect">
            <a:avLst/>
          </a:prstGeom>
          <a:noFill/>
          <a:ln>
            <a:noFill/>
          </a:ln>
        </p:spPr>
      </p:pic>
      <p:sp>
        <p:nvSpPr>
          <p:cNvPr id="1062" name="Google Shape;1062;p64"/>
          <p:cNvSpPr txBox="1"/>
          <p:nvPr/>
        </p:nvSpPr>
        <p:spPr>
          <a:xfrm>
            <a:off x="846824" y="3638319"/>
            <a:ext cx="69849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and the </a:t>
            </a:r>
            <a:r>
              <a:rPr lang="en" sz="1800" b="1">
                <a:solidFill>
                  <a:schemeClr val="dk1"/>
                </a:solidFill>
              </a:rPr>
              <a:t>marginal score</a:t>
            </a:r>
            <a:r>
              <a:rPr lang="en" sz="1800">
                <a:solidFill>
                  <a:schemeClr val="dk1"/>
                </a:solidFill>
              </a:rPr>
              <a:t>:</a:t>
            </a:r>
            <a:endParaRPr sz="1800">
              <a:solidFill>
                <a:schemeClr val="dk1"/>
              </a:solidFill>
            </a:endParaRPr>
          </a:p>
        </p:txBody>
      </p:sp>
      <p:pic>
        <p:nvPicPr>
          <p:cNvPr id="1063" name="Google Shape;1063;p64"/>
          <p:cNvPicPr preferRelativeResize="0"/>
          <p:nvPr/>
        </p:nvPicPr>
        <p:blipFill>
          <a:blip r:embed="rId5">
            <a:alphaModFix/>
          </a:blip>
          <a:stretch>
            <a:fillRect/>
          </a:stretch>
        </p:blipFill>
        <p:spPr>
          <a:xfrm>
            <a:off x="3720232" y="4369000"/>
            <a:ext cx="2018680" cy="457875"/>
          </a:xfrm>
          <a:prstGeom prst="rect">
            <a:avLst/>
          </a:prstGeom>
          <a:noFill/>
          <a:ln>
            <a:noFill/>
          </a:ln>
        </p:spPr>
      </p:pic>
      <p:pic>
        <p:nvPicPr>
          <p:cNvPr id="1064" name="Google Shape;1064;p64"/>
          <p:cNvPicPr preferRelativeResize="0"/>
          <p:nvPr/>
        </p:nvPicPr>
        <p:blipFill>
          <a:blip r:embed="rId6">
            <a:alphaModFix/>
          </a:blip>
          <a:stretch>
            <a:fillRect/>
          </a:stretch>
        </p:blipFill>
        <p:spPr>
          <a:xfrm>
            <a:off x="2439837" y="1788376"/>
            <a:ext cx="461088" cy="350400"/>
          </a:xfrm>
          <a:prstGeom prst="rect">
            <a:avLst/>
          </a:prstGeom>
          <a:noFill/>
          <a:ln>
            <a:noFill/>
          </a:ln>
        </p:spPr>
      </p:pic>
      <p:pic>
        <p:nvPicPr>
          <p:cNvPr id="1065" name="Google Shape;1065;p64"/>
          <p:cNvPicPr preferRelativeResize="0"/>
          <p:nvPr/>
        </p:nvPicPr>
        <p:blipFill>
          <a:blip r:embed="rId7">
            <a:alphaModFix/>
          </a:blip>
          <a:stretch>
            <a:fillRect/>
          </a:stretch>
        </p:blipFill>
        <p:spPr>
          <a:xfrm>
            <a:off x="4593911" y="1808210"/>
            <a:ext cx="271302" cy="277200"/>
          </a:xfrm>
          <a:prstGeom prst="rect">
            <a:avLst/>
          </a:prstGeom>
          <a:noFill/>
          <a:ln>
            <a:noFill/>
          </a:ln>
        </p:spPr>
      </p:pic>
      <p:sp>
        <p:nvSpPr>
          <p:cNvPr id="1066" name="Google Shape;1066;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65"/>
          <p:cNvSpPr txBox="1"/>
          <p:nvPr/>
        </p:nvSpPr>
        <p:spPr>
          <a:xfrm>
            <a:off x="3135900" y="0"/>
            <a:ext cx="2872200" cy="27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 Score Function</a:t>
            </a:r>
            <a:endParaRPr sz="1800" b="1">
              <a:solidFill>
                <a:schemeClr val="dk1"/>
              </a:solidFill>
            </a:endParaRPr>
          </a:p>
        </p:txBody>
      </p:sp>
      <p:sp>
        <p:nvSpPr>
          <p:cNvPr id="1072" name="Google Shape;1072;p65"/>
          <p:cNvSpPr txBox="1"/>
          <p:nvPr/>
        </p:nvSpPr>
        <p:spPr>
          <a:xfrm>
            <a:off x="37523" y="2207211"/>
            <a:ext cx="86709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To prove the formula for the marginal score function we will make use of the fact that:                     (assuming our log has base </a:t>
            </a:r>
            <a:r>
              <a:rPr lang="en" sz="1800" i="1">
                <a:solidFill>
                  <a:schemeClr val="dk1"/>
                </a:solidFill>
              </a:rPr>
              <a:t>e</a:t>
            </a:r>
            <a:r>
              <a:rPr lang="en" sz="1800">
                <a:solidFill>
                  <a:schemeClr val="dk1"/>
                </a:solidFill>
              </a:rPr>
              <a:t>, i.e. </a:t>
            </a:r>
            <a:r>
              <a:rPr lang="en" sz="1800" i="1">
                <a:solidFill>
                  <a:schemeClr val="dk1"/>
                </a:solidFill>
              </a:rPr>
              <a:t>log </a:t>
            </a:r>
            <a:r>
              <a:rPr lang="en" sz="1800">
                <a:solidFill>
                  <a:schemeClr val="dk1"/>
                </a:solidFill>
              </a:rPr>
              <a:t>== “natural logarithm” / ln) </a:t>
            </a:r>
            <a:endParaRPr sz="1800">
              <a:solidFill>
                <a:schemeClr val="dk1"/>
              </a:solidFill>
            </a:endParaRPr>
          </a:p>
        </p:txBody>
      </p:sp>
      <p:pic>
        <p:nvPicPr>
          <p:cNvPr id="1073" name="Google Shape;1073;p65"/>
          <p:cNvPicPr preferRelativeResize="0"/>
          <p:nvPr/>
        </p:nvPicPr>
        <p:blipFill>
          <a:blip r:embed="rId3">
            <a:alphaModFix/>
          </a:blip>
          <a:stretch>
            <a:fillRect/>
          </a:stretch>
        </p:blipFill>
        <p:spPr>
          <a:xfrm>
            <a:off x="705323" y="2535701"/>
            <a:ext cx="1094850" cy="400600"/>
          </a:xfrm>
          <a:prstGeom prst="rect">
            <a:avLst/>
          </a:prstGeom>
          <a:noFill/>
          <a:ln>
            <a:noFill/>
          </a:ln>
        </p:spPr>
      </p:pic>
      <p:sp>
        <p:nvSpPr>
          <p:cNvPr id="1074" name="Google Shape;1074;p65"/>
          <p:cNvSpPr txBox="1"/>
          <p:nvPr/>
        </p:nvSpPr>
        <p:spPr>
          <a:xfrm>
            <a:off x="55100" y="3096650"/>
            <a:ext cx="8714700" cy="47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If</a:t>
            </a:r>
            <a:r>
              <a:rPr lang="en" sz="1800" i="1">
                <a:solidFill>
                  <a:schemeClr val="dk1"/>
                </a:solidFill>
              </a:rPr>
              <a:t> </a:t>
            </a:r>
            <a:r>
              <a:rPr lang="en" sz="1800">
                <a:solidFill>
                  <a:schemeClr val="dk1"/>
                </a:solidFill>
              </a:rPr>
              <a:t>we have a composed function however, we would have                              instead, according to the </a:t>
            </a:r>
            <a:r>
              <a:rPr lang="en" sz="1800" i="1">
                <a:solidFill>
                  <a:schemeClr val="dk1"/>
                </a:solidFill>
              </a:rPr>
              <a:t>chain-rule</a:t>
            </a:r>
            <a:r>
              <a:rPr lang="en" sz="1800">
                <a:solidFill>
                  <a:schemeClr val="dk1"/>
                </a:solidFill>
              </a:rPr>
              <a:t>.</a:t>
            </a:r>
            <a:endParaRPr sz="1800">
              <a:solidFill>
                <a:schemeClr val="dk1"/>
              </a:solidFill>
            </a:endParaRPr>
          </a:p>
        </p:txBody>
      </p:sp>
      <p:sp>
        <p:nvSpPr>
          <p:cNvPr id="1075" name="Google Shape;1075;p65"/>
          <p:cNvSpPr txBox="1"/>
          <p:nvPr/>
        </p:nvSpPr>
        <p:spPr>
          <a:xfrm>
            <a:off x="70375" y="3990750"/>
            <a:ext cx="9497700" cy="4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Therefore:                                , where      is the vector of partial-derivative operators: </a:t>
            </a:r>
            <a:endParaRPr sz="1800">
              <a:solidFill>
                <a:schemeClr val="dk1"/>
              </a:solidFill>
            </a:endParaRPr>
          </a:p>
        </p:txBody>
      </p:sp>
      <p:pic>
        <p:nvPicPr>
          <p:cNvPr id="1076" name="Google Shape;1076;p65"/>
          <p:cNvPicPr preferRelativeResize="0"/>
          <p:nvPr/>
        </p:nvPicPr>
        <p:blipFill>
          <a:blip r:embed="rId4">
            <a:alphaModFix/>
          </a:blip>
          <a:stretch>
            <a:fillRect/>
          </a:stretch>
        </p:blipFill>
        <p:spPr>
          <a:xfrm>
            <a:off x="1277690" y="4004639"/>
            <a:ext cx="1953873" cy="400600"/>
          </a:xfrm>
          <a:prstGeom prst="rect">
            <a:avLst/>
          </a:prstGeom>
          <a:noFill/>
          <a:ln>
            <a:noFill/>
          </a:ln>
        </p:spPr>
      </p:pic>
      <p:pic>
        <p:nvPicPr>
          <p:cNvPr id="1077" name="Google Shape;1077;p65"/>
          <p:cNvPicPr preferRelativeResize="0"/>
          <p:nvPr/>
        </p:nvPicPr>
        <p:blipFill>
          <a:blip r:embed="rId5">
            <a:alphaModFix/>
          </a:blip>
          <a:stretch>
            <a:fillRect/>
          </a:stretch>
        </p:blipFill>
        <p:spPr>
          <a:xfrm>
            <a:off x="4084487" y="4128310"/>
            <a:ext cx="233250" cy="227200"/>
          </a:xfrm>
          <a:prstGeom prst="rect">
            <a:avLst/>
          </a:prstGeom>
          <a:noFill/>
          <a:ln>
            <a:noFill/>
          </a:ln>
        </p:spPr>
      </p:pic>
      <p:pic>
        <p:nvPicPr>
          <p:cNvPr id="1078" name="Google Shape;1078;p65"/>
          <p:cNvPicPr preferRelativeResize="0"/>
          <p:nvPr/>
        </p:nvPicPr>
        <p:blipFill>
          <a:blip r:embed="rId6">
            <a:alphaModFix/>
          </a:blip>
          <a:stretch>
            <a:fillRect/>
          </a:stretch>
        </p:blipFill>
        <p:spPr>
          <a:xfrm>
            <a:off x="1447074" y="828288"/>
            <a:ext cx="6249851" cy="699275"/>
          </a:xfrm>
          <a:prstGeom prst="rect">
            <a:avLst/>
          </a:prstGeom>
          <a:noFill/>
          <a:ln>
            <a:noFill/>
          </a:ln>
        </p:spPr>
      </p:pic>
      <p:sp>
        <p:nvSpPr>
          <p:cNvPr id="1079" name="Google Shape;1079;p65"/>
          <p:cNvSpPr txBox="1"/>
          <p:nvPr/>
        </p:nvSpPr>
        <p:spPr>
          <a:xfrm>
            <a:off x="1296587" y="1336712"/>
            <a:ext cx="1916100" cy="2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Marginal score</a:t>
            </a:r>
            <a:endParaRPr sz="1800">
              <a:solidFill>
                <a:srgbClr val="FF0000"/>
              </a:solidFill>
            </a:endParaRPr>
          </a:p>
        </p:txBody>
      </p:sp>
      <p:sp>
        <p:nvSpPr>
          <p:cNvPr id="1080" name="Google Shape;1080;p65"/>
          <p:cNvSpPr txBox="1"/>
          <p:nvPr/>
        </p:nvSpPr>
        <p:spPr>
          <a:xfrm>
            <a:off x="3311222" y="1342377"/>
            <a:ext cx="2397600" cy="22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1"/>
                </a:solidFill>
              </a:rPr>
              <a:t>Conditional score</a:t>
            </a:r>
            <a:endParaRPr sz="1800">
              <a:solidFill>
                <a:schemeClr val="accent1"/>
              </a:solidFill>
            </a:endParaRPr>
          </a:p>
        </p:txBody>
      </p:sp>
      <p:pic>
        <p:nvPicPr>
          <p:cNvPr id="1081" name="Google Shape;1081;p65"/>
          <p:cNvPicPr preferRelativeResize="0"/>
          <p:nvPr/>
        </p:nvPicPr>
        <p:blipFill>
          <a:blip r:embed="rId7">
            <a:alphaModFix/>
          </a:blip>
          <a:stretch>
            <a:fillRect/>
          </a:stretch>
        </p:blipFill>
        <p:spPr>
          <a:xfrm>
            <a:off x="5980237" y="3096662"/>
            <a:ext cx="1787982" cy="470700"/>
          </a:xfrm>
          <a:prstGeom prst="rect">
            <a:avLst/>
          </a:prstGeom>
          <a:noFill/>
          <a:ln>
            <a:noFill/>
          </a:ln>
        </p:spPr>
      </p:pic>
      <p:pic>
        <p:nvPicPr>
          <p:cNvPr id="1082" name="Google Shape;1082;p65"/>
          <p:cNvPicPr preferRelativeResize="0"/>
          <p:nvPr/>
        </p:nvPicPr>
        <p:blipFill>
          <a:blip r:embed="rId8">
            <a:alphaModFix/>
          </a:blip>
          <a:stretch>
            <a:fillRect/>
          </a:stretch>
        </p:blipFill>
        <p:spPr>
          <a:xfrm>
            <a:off x="3045413" y="4465700"/>
            <a:ext cx="2311375" cy="550350"/>
          </a:xfrm>
          <a:prstGeom prst="rect">
            <a:avLst/>
          </a:prstGeom>
          <a:noFill/>
          <a:ln>
            <a:noFill/>
          </a:ln>
        </p:spPr>
      </p:pic>
      <p:sp>
        <p:nvSpPr>
          <p:cNvPr id="1083" name="Google Shape;1083;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66"/>
          <p:cNvSpPr txBox="1"/>
          <p:nvPr/>
        </p:nvSpPr>
        <p:spPr>
          <a:xfrm>
            <a:off x="2973325" y="0"/>
            <a:ext cx="35700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Proof: Marginal Score Identity </a:t>
            </a:r>
            <a:endParaRPr sz="1800" b="1">
              <a:solidFill>
                <a:schemeClr val="dk1"/>
              </a:solidFill>
            </a:endParaRPr>
          </a:p>
        </p:txBody>
      </p:sp>
      <p:pic>
        <p:nvPicPr>
          <p:cNvPr id="1089" name="Google Shape;1089;p66"/>
          <p:cNvPicPr preferRelativeResize="0"/>
          <p:nvPr/>
        </p:nvPicPr>
        <p:blipFill>
          <a:blip r:embed="rId3">
            <a:alphaModFix/>
          </a:blip>
          <a:stretch>
            <a:fillRect/>
          </a:stretch>
        </p:blipFill>
        <p:spPr>
          <a:xfrm>
            <a:off x="447425" y="666300"/>
            <a:ext cx="3960350" cy="3481800"/>
          </a:xfrm>
          <a:prstGeom prst="rect">
            <a:avLst/>
          </a:prstGeom>
          <a:noFill/>
          <a:ln>
            <a:noFill/>
          </a:ln>
        </p:spPr>
      </p:pic>
      <p:sp>
        <p:nvSpPr>
          <p:cNvPr id="1090" name="Google Shape;1090;p66"/>
          <p:cNvSpPr txBox="1"/>
          <p:nvPr/>
        </p:nvSpPr>
        <p:spPr>
          <a:xfrm>
            <a:off x="4591990" y="731973"/>
            <a:ext cx="38976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Apply the chain rule formula from last slide</a:t>
            </a:r>
            <a:endParaRPr sz="1200">
              <a:solidFill>
                <a:schemeClr val="dk1"/>
              </a:solidFill>
            </a:endParaRPr>
          </a:p>
        </p:txBody>
      </p:sp>
      <p:sp>
        <p:nvSpPr>
          <p:cNvPr id="1091" name="Google Shape;1091;p66"/>
          <p:cNvSpPr txBox="1"/>
          <p:nvPr/>
        </p:nvSpPr>
        <p:spPr>
          <a:xfrm>
            <a:off x="4591990" y="1420848"/>
            <a:ext cx="38976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Use the marginalization trick, i.e. integrate the conditionals to get the marginal</a:t>
            </a:r>
            <a:endParaRPr sz="1200">
              <a:solidFill>
                <a:schemeClr val="dk1"/>
              </a:solidFill>
            </a:endParaRPr>
          </a:p>
        </p:txBody>
      </p:sp>
      <p:sp>
        <p:nvSpPr>
          <p:cNvPr id="1092" name="Google Shape;1092;p66"/>
          <p:cNvSpPr txBox="1"/>
          <p:nvPr/>
        </p:nvSpPr>
        <p:spPr>
          <a:xfrm>
            <a:off x="4592000" y="2493775"/>
            <a:ext cx="41823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Take the integral outside of the gradient operator, because we integrate over z, but the gradient is with respect to x.</a:t>
            </a:r>
            <a:endParaRPr sz="1200">
              <a:solidFill>
                <a:schemeClr val="dk1"/>
              </a:solidFill>
            </a:endParaRPr>
          </a:p>
        </p:txBody>
      </p:sp>
      <p:sp>
        <p:nvSpPr>
          <p:cNvPr id="1093" name="Google Shape;1093;p66"/>
          <p:cNvSpPr txBox="1"/>
          <p:nvPr/>
        </p:nvSpPr>
        <p:spPr>
          <a:xfrm>
            <a:off x="4591990" y="3566698"/>
            <a:ext cx="4467000" cy="4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Apply the chain rule formula from last slide again, but for conditionals, i.e. “| z” case (as suggested by the 3 red arrows)</a:t>
            </a:r>
            <a:endParaRPr sz="1200">
              <a:solidFill>
                <a:schemeClr val="dk1"/>
              </a:solidFill>
            </a:endParaRPr>
          </a:p>
        </p:txBody>
      </p:sp>
      <p:pic>
        <p:nvPicPr>
          <p:cNvPr id="1094" name="Google Shape;1094;p66"/>
          <p:cNvPicPr preferRelativeResize="0"/>
          <p:nvPr/>
        </p:nvPicPr>
        <p:blipFill>
          <a:blip r:embed="rId4">
            <a:alphaModFix/>
          </a:blip>
          <a:stretch>
            <a:fillRect/>
          </a:stretch>
        </p:blipFill>
        <p:spPr>
          <a:xfrm>
            <a:off x="239396" y="3113747"/>
            <a:ext cx="1604859" cy="294000"/>
          </a:xfrm>
          <a:prstGeom prst="rect">
            <a:avLst/>
          </a:prstGeom>
          <a:noFill/>
          <a:ln>
            <a:noFill/>
          </a:ln>
        </p:spPr>
      </p:pic>
      <p:cxnSp>
        <p:nvCxnSpPr>
          <p:cNvPr id="1095" name="Google Shape;1095;p66"/>
          <p:cNvCxnSpPr/>
          <p:nvPr/>
        </p:nvCxnSpPr>
        <p:spPr>
          <a:xfrm>
            <a:off x="595900" y="3359550"/>
            <a:ext cx="470700" cy="339300"/>
          </a:xfrm>
          <a:prstGeom prst="straightConnector1">
            <a:avLst/>
          </a:prstGeom>
          <a:noFill/>
          <a:ln w="9525" cap="flat" cmpd="sng">
            <a:solidFill>
              <a:srgbClr val="FF0000"/>
            </a:solidFill>
            <a:prstDash val="solid"/>
            <a:round/>
            <a:headEnd type="none" w="med" len="med"/>
            <a:tailEnd type="triangle" w="med" len="med"/>
          </a:ln>
        </p:spPr>
      </p:cxnSp>
      <p:cxnSp>
        <p:nvCxnSpPr>
          <p:cNvPr id="1096" name="Google Shape;1096;p66"/>
          <p:cNvCxnSpPr/>
          <p:nvPr/>
        </p:nvCxnSpPr>
        <p:spPr>
          <a:xfrm>
            <a:off x="1646925" y="3392400"/>
            <a:ext cx="865200" cy="284700"/>
          </a:xfrm>
          <a:prstGeom prst="straightConnector1">
            <a:avLst/>
          </a:prstGeom>
          <a:noFill/>
          <a:ln w="9525" cap="flat" cmpd="sng">
            <a:solidFill>
              <a:srgbClr val="FF0000"/>
            </a:solidFill>
            <a:prstDash val="solid"/>
            <a:round/>
            <a:headEnd type="none" w="med" len="med"/>
            <a:tailEnd type="triangle" w="med" len="med"/>
          </a:ln>
        </p:spPr>
      </p:cxnSp>
      <p:cxnSp>
        <p:nvCxnSpPr>
          <p:cNvPr id="1097" name="Google Shape;1097;p66"/>
          <p:cNvCxnSpPr/>
          <p:nvPr/>
        </p:nvCxnSpPr>
        <p:spPr>
          <a:xfrm rot="10800000" flipH="1">
            <a:off x="1438925" y="2691800"/>
            <a:ext cx="219000" cy="448800"/>
          </a:xfrm>
          <a:prstGeom prst="straightConnector1">
            <a:avLst/>
          </a:prstGeom>
          <a:noFill/>
          <a:ln w="9525" cap="flat" cmpd="sng">
            <a:solidFill>
              <a:srgbClr val="FF0000"/>
            </a:solidFill>
            <a:prstDash val="solid"/>
            <a:round/>
            <a:headEnd type="none" w="med" len="med"/>
            <a:tailEnd type="triangle" w="med" len="med"/>
          </a:ln>
        </p:spPr>
      </p:cxnSp>
      <p:sp>
        <p:nvSpPr>
          <p:cNvPr id="1098" name="Google Shape;1098;p66"/>
          <p:cNvSpPr txBox="1"/>
          <p:nvPr/>
        </p:nvSpPr>
        <p:spPr>
          <a:xfrm>
            <a:off x="1844250" y="3271800"/>
            <a:ext cx="613200" cy="12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FF0000"/>
                </a:solidFill>
              </a:rPr>
              <a:t>reduce</a:t>
            </a:r>
            <a:endParaRPr sz="800">
              <a:solidFill>
                <a:srgbClr val="FF0000"/>
              </a:solidFill>
            </a:endParaRPr>
          </a:p>
        </p:txBody>
      </p:sp>
      <p:pic>
        <p:nvPicPr>
          <p:cNvPr id="1099" name="Google Shape;1099;p66"/>
          <p:cNvPicPr preferRelativeResize="0"/>
          <p:nvPr/>
        </p:nvPicPr>
        <p:blipFill>
          <a:blip r:embed="rId5">
            <a:alphaModFix/>
          </a:blip>
          <a:stretch>
            <a:fillRect/>
          </a:stretch>
        </p:blipFill>
        <p:spPr>
          <a:xfrm>
            <a:off x="2701453" y="4454726"/>
            <a:ext cx="5273872" cy="590075"/>
          </a:xfrm>
          <a:prstGeom prst="rect">
            <a:avLst/>
          </a:prstGeom>
          <a:noFill/>
          <a:ln>
            <a:noFill/>
          </a:ln>
        </p:spPr>
      </p:pic>
      <p:sp>
        <p:nvSpPr>
          <p:cNvPr id="1100" name="Google Shape;1100;p66"/>
          <p:cNvSpPr txBox="1"/>
          <p:nvPr/>
        </p:nvSpPr>
        <p:spPr>
          <a:xfrm>
            <a:off x="1247764" y="4487555"/>
            <a:ext cx="15522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Therefore →</a:t>
            </a:r>
            <a:endParaRPr sz="1800">
              <a:solidFill>
                <a:schemeClr val="dk1"/>
              </a:solidFill>
            </a:endParaRPr>
          </a:p>
        </p:txBody>
      </p:sp>
      <p:sp>
        <p:nvSpPr>
          <p:cNvPr id="1101" name="Google Shape;1101;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54</a:t>
            </a:fld>
            <a:endParaRPr/>
          </a:p>
        </p:txBody>
      </p:sp>
      <p:pic>
        <p:nvPicPr>
          <p:cNvPr id="1102" name="Google Shape;1102;p66"/>
          <p:cNvPicPr preferRelativeResize="0"/>
          <p:nvPr/>
        </p:nvPicPr>
        <p:blipFill>
          <a:blip r:embed="rId6">
            <a:alphaModFix/>
          </a:blip>
          <a:stretch>
            <a:fillRect/>
          </a:stretch>
        </p:blipFill>
        <p:spPr>
          <a:xfrm>
            <a:off x="8902058" y="7408"/>
            <a:ext cx="236401" cy="26237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67"/>
          <p:cNvSpPr txBox="1"/>
          <p:nvPr/>
        </p:nvSpPr>
        <p:spPr>
          <a:xfrm>
            <a:off x="2480750" y="0"/>
            <a:ext cx="46203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Marginal Score vs. Marginal Vector Field </a:t>
            </a:r>
            <a:endParaRPr sz="1800" b="1">
              <a:solidFill>
                <a:schemeClr val="dk1"/>
              </a:solidFill>
            </a:endParaRPr>
          </a:p>
        </p:txBody>
      </p:sp>
      <p:sp>
        <p:nvSpPr>
          <p:cNvPr id="1108" name="Google Shape;1108;p67"/>
          <p:cNvSpPr txBox="1"/>
          <p:nvPr/>
        </p:nvSpPr>
        <p:spPr>
          <a:xfrm>
            <a:off x="5062800" y="1082325"/>
            <a:ext cx="2364900" cy="9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endParaRPr>
          </a:p>
        </p:txBody>
      </p:sp>
      <p:sp>
        <p:nvSpPr>
          <p:cNvPr id="1109" name="Google Shape;1109;p67"/>
          <p:cNvSpPr/>
          <p:nvPr/>
        </p:nvSpPr>
        <p:spPr>
          <a:xfrm>
            <a:off x="6792600" y="2132948"/>
            <a:ext cx="131400" cy="13635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0" name="Google Shape;1110;p67"/>
          <p:cNvSpPr txBox="1"/>
          <p:nvPr/>
        </p:nvSpPr>
        <p:spPr>
          <a:xfrm>
            <a:off x="6924000" y="2516475"/>
            <a:ext cx="1379400" cy="60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We have this </a:t>
            </a:r>
            <a:r>
              <a:rPr lang="en" sz="1100" i="1">
                <a:solidFill>
                  <a:srgbClr val="FF0000"/>
                </a:solidFill>
              </a:rPr>
              <a:t>p(z|x) </a:t>
            </a:r>
            <a:r>
              <a:rPr lang="en" sz="1100">
                <a:solidFill>
                  <a:srgbClr val="FF0000"/>
                </a:solidFill>
              </a:rPr>
              <a:t>posterior ratio in both cases</a:t>
            </a:r>
            <a:endParaRPr sz="1100">
              <a:solidFill>
                <a:srgbClr val="FF0000"/>
              </a:solidFill>
            </a:endParaRPr>
          </a:p>
        </p:txBody>
      </p:sp>
      <p:pic>
        <p:nvPicPr>
          <p:cNvPr id="1111" name="Google Shape;1111;p67"/>
          <p:cNvPicPr preferRelativeResize="0"/>
          <p:nvPr/>
        </p:nvPicPr>
        <p:blipFill>
          <a:blip r:embed="rId3">
            <a:alphaModFix/>
          </a:blip>
          <a:stretch>
            <a:fillRect/>
          </a:stretch>
        </p:blipFill>
        <p:spPr>
          <a:xfrm>
            <a:off x="1377275" y="1101254"/>
            <a:ext cx="7121724" cy="892746"/>
          </a:xfrm>
          <a:prstGeom prst="rect">
            <a:avLst/>
          </a:prstGeom>
          <a:noFill/>
          <a:ln>
            <a:noFill/>
          </a:ln>
        </p:spPr>
      </p:pic>
      <p:sp>
        <p:nvSpPr>
          <p:cNvPr id="1112" name="Google Shape;1112;p67"/>
          <p:cNvSpPr/>
          <p:nvPr/>
        </p:nvSpPr>
        <p:spPr>
          <a:xfrm>
            <a:off x="5752528" y="1082325"/>
            <a:ext cx="2364900" cy="9852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113" name="Google Shape;1113;p67"/>
          <p:cNvPicPr preferRelativeResize="0"/>
          <p:nvPr/>
        </p:nvPicPr>
        <p:blipFill>
          <a:blip r:embed="rId4">
            <a:alphaModFix/>
          </a:blip>
          <a:stretch>
            <a:fillRect/>
          </a:stretch>
        </p:blipFill>
        <p:spPr>
          <a:xfrm>
            <a:off x="1453888" y="3567561"/>
            <a:ext cx="7121735" cy="930600"/>
          </a:xfrm>
          <a:prstGeom prst="rect">
            <a:avLst/>
          </a:prstGeom>
          <a:noFill/>
          <a:ln>
            <a:noFill/>
          </a:ln>
        </p:spPr>
      </p:pic>
      <p:sp>
        <p:nvSpPr>
          <p:cNvPr id="1114" name="Google Shape;1114;p67"/>
          <p:cNvSpPr/>
          <p:nvPr/>
        </p:nvSpPr>
        <p:spPr>
          <a:xfrm>
            <a:off x="5741595" y="3567561"/>
            <a:ext cx="2430600" cy="9855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5" name="Google Shape;1115;p67"/>
          <p:cNvSpPr/>
          <p:nvPr/>
        </p:nvSpPr>
        <p:spPr>
          <a:xfrm>
            <a:off x="5072712" y="1945598"/>
            <a:ext cx="131400" cy="1632900"/>
          </a:xfrm>
          <a:prstGeom prst="up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6" name="Google Shape;1116;p67"/>
          <p:cNvSpPr txBox="1"/>
          <p:nvPr/>
        </p:nvSpPr>
        <p:spPr>
          <a:xfrm>
            <a:off x="3442359" y="2231486"/>
            <a:ext cx="1707000" cy="60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Both are integrals over conditionals, which act like weighting terms for </a:t>
            </a:r>
            <a:endParaRPr sz="1100">
              <a:solidFill>
                <a:srgbClr val="FF0000"/>
              </a:solidFill>
            </a:endParaRPr>
          </a:p>
          <a:p>
            <a:pPr marL="0" lvl="0" indent="0" algn="ctr" rtl="0">
              <a:spcBef>
                <a:spcPts val="0"/>
              </a:spcBef>
              <a:spcAft>
                <a:spcPts val="0"/>
              </a:spcAft>
              <a:buNone/>
            </a:pPr>
            <a:r>
              <a:rPr lang="en" sz="1100">
                <a:solidFill>
                  <a:srgbClr val="FF0000"/>
                </a:solidFill>
              </a:rPr>
              <a:t>the posterior </a:t>
            </a:r>
            <a:r>
              <a:rPr lang="en" sz="1100" i="1">
                <a:solidFill>
                  <a:srgbClr val="FF0000"/>
                </a:solidFill>
              </a:rPr>
              <a:t>p(z|x)</a:t>
            </a:r>
            <a:endParaRPr sz="1100" i="1">
              <a:solidFill>
                <a:srgbClr val="FF0000"/>
              </a:solidFill>
            </a:endParaRPr>
          </a:p>
        </p:txBody>
      </p:sp>
      <p:sp>
        <p:nvSpPr>
          <p:cNvPr id="1117" name="Google Shape;1117;p67"/>
          <p:cNvSpPr txBox="1"/>
          <p:nvPr/>
        </p:nvSpPr>
        <p:spPr>
          <a:xfrm>
            <a:off x="245550" y="699125"/>
            <a:ext cx="49038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i="1">
                <a:solidFill>
                  <a:schemeClr val="dk1"/>
                </a:solidFill>
              </a:rPr>
              <a:t>Marginal Score Function formula:</a:t>
            </a:r>
            <a:endParaRPr sz="1800" b="1" i="1">
              <a:solidFill>
                <a:schemeClr val="dk1"/>
              </a:solidFill>
            </a:endParaRPr>
          </a:p>
        </p:txBody>
      </p:sp>
      <p:sp>
        <p:nvSpPr>
          <p:cNvPr id="1118" name="Google Shape;1118;p67"/>
          <p:cNvSpPr txBox="1"/>
          <p:nvPr/>
        </p:nvSpPr>
        <p:spPr>
          <a:xfrm>
            <a:off x="245550" y="3030252"/>
            <a:ext cx="3733500" cy="35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i="1">
                <a:solidFill>
                  <a:schemeClr val="dk1"/>
                </a:solidFill>
              </a:rPr>
              <a:t>Marginal Vector Field formula:</a:t>
            </a:r>
            <a:endParaRPr sz="1800" b="1" i="1">
              <a:solidFill>
                <a:schemeClr val="dk1"/>
              </a:solidFill>
            </a:endParaRPr>
          </a:p>
        </p:txBody>
      </p:sp>
      <p:sp>
        <p:nvSpPr>
          <p:cNvPr id="1119" name="Google Shape;1119;p67"/>
          <p:cNvSpPr txBox="1"/>
          <p:nvPr/>
        </p:nvSpPr>
        <p:spPr>
          <a:xfrm>
            <a:off x="76726" y="4529380"/>
            <a:ext cx="9289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Both formulas are posterior expectations. The same posterior weights either the conditional scores or the conditional vector fields. </a:t>
            </a:r>
            <a:endParaRPr sz="1200" dirty="0"/>
          </a:p>
        </p:txBody>
      </p:sp>
      <p:sp>
        <p:nvSpPr>
          <p:cNvPr id="1120" name="Google Shape;1120;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68"/>
          <p:cNvSpPr txBox="1"/>
          <p:nvPr/>
        </p:nvSpPr>
        <p:spPr>
          <a:xfrm>
            <a:off x="3184075" y="0"/>
            <a:ext cx="33036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Gaussian Conditional Score </a:t>
            </a:r>
            <a:endParaRPr sz="1800" b="1">
              <a:solidFill>
                <a:schemeClr val="dk1"/>
              </a:solidFill>
            </a:endParaRPr>
          </a:p>
        </p:txBody>
      </p:sp>
      <p:sp>
        <p:nvSpPr>
          <p:cNvPr id="1126" name="Google Shape;1126;p68"/>
          <p:cNvSpPr txBox="1"/>
          <p:nvPr/>
        </p:nvSpPr>
        <p:spPr>
          <a:xfrm>
            <a:off x="398841" y="1246550"/>
            <a:ext cx="8244000" cy="10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can design the conditional probability path                  ourselves, making its conditional score                            analytically available.</a:t>
            </a:r>
            <a:endParaRPr sz="1800">
              <a:solidFill>
                <a:schemeClr val="dk1"/>
              </a:solidFill>
            </a:endParaRPr>
          </a:p>
        </p:txBody>
      </p:sp>
      <p:pic>
        <p:nvPicPr>
          <p:cNvPr id="1127" name="Google Shape;1127;p68"/>
          <p:cNvPicPr preferRelativeResize="0"/>
          <p:nvPr/>
        </p:nvPicPr>
        <p:blipFill>
          <a:blip r:embed="rId3">
            <a:alphaModFix/>
          </a:blip>
          <a:stretch>
            <a:fillRect/>
          </a:stretch>
        </p:blipFill>
        <p:spPr>
          <a:xfrm>
            <a:off x="2265472" y="1604963"/>
            <a:ext cx="1642250" cy="345175"/>
          </a:xfrm>
          <a:prstGeom prst="rect">
            <a:avLst/>
          </a:prstGeom>
          <a:noFill/>
          <a:ln>
            <a:noFill/>
          </a:ln>
        </p:spPr>
      </p:pic>
      <p:sp>
        <p:nvSpPr>
          <p:cNvPr id="1128" name="Google Shape;1128;p68"/>
          <p:cNvSpPr txBox="1"/>
          <p:nvPr/>
        </p:nvSpPr>
        <p:spPr>
          <a:xfrm>
            <a:off x="431687" y="2702669"/>
            <a:ext cx="8714700" cy="70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For example, if we use our beloved </a:t>
            </a:r>
            <a:r>
              <a:rPr lang="en" sz="1800" b="1">
                <a:solidFill>
                  <a:schemeClr val="dk1"/>
                </a:solidFill>
              </a:rPr>
              <a:t>Gaussian Conditional Probability Path</a:t>
            </a:r>
            <a:endParaRPr sz="1800" b="1">
              <a:solidFill>
                <a:schemeClr val="dk1"/>
              </a:solidFill>
            </a:endParaRPr>
          </a:p>
          <a:p>
            <a:pPr marL="0" lvl="0" indent="0" algn="l" rtl="0">
              <a:spcBef>
                <a:spcPts val="0"/>
              </a:spcBef>
              <a:spcAft>
                <a:spcPts val="0"/>
              </a:spcAft>
              <a:buNone/>
            </a:pPr>
            <a:r>
              <a:rPr lang="en" sz="1800">
                <a:solidFill>
                  <a:schemeClr val="dk1"/>
                </a:solidFill>
              </a:rPr>
              <a:t>                                        then we can show analytically that the </a:t>
            </a:r>
            <a:r>
              <a:rPr lang="en" sz="1800" b="1">
                <a:solidFill>
                  <a:schemeClr val="dk1"/>
                </a:solidFill>
              </a:rPr>
              <a:t>Gaussian Score </a:t>
            </a:r>
            <a:r>
              <a:rPr lang="en" sz="1800">
                <a:solidFill>
                  <a:schemeClr val="dk1"/>
                </a:solidFill>
              </a:rPr>
              <a:t>is                                                                                                                                                                                                 </a:t>
            </a:r>
            <a:endParaRPr sz="1800">
              <a:solidFill>
                <a:schemeClr val="dk1"/>
              </a:solidFill>
            </a:endParaRPr>
          </a:p>
        </p:txBody>
      </p:sp>
      <p:pic>
        <p:nvPicPr>
          <p:cNvPr id="1129" name="Google Shape;1129;p68"/>
          <p:cNvPicPr preferRelativeResize="0"/>
          <p:nvPr/>
        </p:nvPicPr>
        <p:blipFill>
          <a:blip r:embed="rId4">
            <a:alphaModFix/>
          </a:blip>
          <a:stretch>
            <a:fillRect/>
          </a:stretch>
        </p:blipFill>
        <p:spPr>
          <a:xfrm>
            <a:off x="519237" y="3064769"/>
            <a:ext cx="2489099" cy="294000"/>
          </a:xfrm>
          <a:prstGeom prst="rect">
            <a:avLst/>
          </a:prstGeom>
          <a:noFill/>
          <a:ln>
            <a:noFill/>
          </a:ln>
        </p:spPr>
      </p:pic>
      <p:pic>
        <p:nvPicPr>
          <p:cNvPr id="1130" name="Google Shape;1130;p68"/>
          <p:cNvPicPr preferRelativeResize="0"/>
          <p:nvPr/>
        </p:nvPicPr>
        <p:blipFill>
          <a:blip r:embed="rId5">
            <a:alphaModFix/>
          </a:blip>
          <a:stretch>
            <a:fillRect/>
          </a:stretch>
        </p:blipFill>
        <p:spPr>
          <a:xfrm>
            <a:off x="2220025" y="3621594"/>
            <a:ext cx="4703950" cy="767350"/>
          </a:xfrm>
          <a:prstGeom prst="rect">
            <a:avLst/>
          </a:prstGeom>
          <a:noFill/>
          <a:ln>
            <a:noFill/>
          </a:ln>
        </p:spPr>
      </p:pic>
      <p:pic>
        <p:nvPicPr>
          <p:cNvPr id="1131" name="Google Shape;1131;p68"/>
          <p:cNvPicPr preferRelativeResize="0"/>
          <p:nvPr/>
        </p:nvPicPr>
        <p:blipFill>
          <a:blip r:embed="rId6">
            <a:alphaModFix/>
          </a:blip>
          <a:stretch>
            <a:fillRect/>
          </a:stretch>
        </p:blipFill>
        <p:spPr>
          <a:xfrm>
            <a:off x="5257037" y="1351338"/>
            <a:ext cx="972163" cy="294000"/>
          </a:xfrm>
          <a:prstGeom prst="rect">
            <a:avLst/>
          </a:prstGeom>
          <a:noFill/>
          <a:ln>
            <a:noFill/>
          </a:ln>
        </p:spPr>
      </p:pic>
      <p:sp>
        <p:nvSpPr>
          <p:cNvPr id="1132" name="Google Shape;1132;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pic>
        <p:nvPicPr>
          <p:cNvPr id="1137" name="Google Shape;1137;p69"/>
          <p:cNvPicPr preferRelativeResize="0"/>
          <p:nvPr/>
        </p:nvPicPr>
        <p:blipFill>
          <a:blip r:embed="rId3">
            <a:alphaModFix/>
          </a:blip>
          <a:stretch>
            <a:fillRect/>
          </a:stretch>
        </p:blipFill>
        <p:spPr>
          <a:xfrm>
            <a:off x="152400" y="601288"/>
            <a:ext cx="8839200" cy="811155"/>
          </a:xfrm>
          <a:prstGeom prst="rect">
            <a:avLst/>
          </a:prstGeom>
          <a:noFill/>
          <a:ln>
            <a:noFill/>
          </a:ln>
        </p:spPr>
      </p:pic>
      <p:sp>
        <p:nvSpPr>
          <p:cNvPr id="1138" name="Google Shape;1138;p69"/>
          <p:cNvSpPr txBox="1"/>
          <p:nvPr/>
        </p:nvSpPr>
        <p:spPr>
          <a:xfrm>
            <a:off x="3573344" y="0"/>
            <a:ext cx="28581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From ODE to SDE</a:t>
            </a:r>
            <a:endParaRPr sz="1800" b="1">
              <a:solidFill>
                <a:schemeClr val="dk1"/>
              </a:solidFill>
            </a:endParaRPr>
          </a:p>
        </p:txBody>
      </p:sp>
      <p:sp>
        <p:nvSpPr>
          <p:cNvPr id="1139" name="Google Shape;1139;p69"/>
          <p:cNvSpPr/>
          <p:nvPr/>
        </p:nvSpPr>
        <p:spPr>
          <a:xfrm>
            <a:off x="7903601" y="1519379"/>
            <a:ext cx="126000" cy="3999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0" name="Google Shape;1140;p69"/>
          <p:cNvSpPr/>
          <p:nvPr/>
        </p:nvSpPr>
        <p:spPr>
          <a:xfrm>
            <a:off x="5209476" y="1519379"/>
            <a:ext cx="126000" cy="3999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1" name="Google Shape;1141;p69"/>
          <p:cNvSpPr/>
          <p:nvPr/>
        </p:nvSpPr>
        <p:spPr>
          <a:xfrm>
            <a:off x="2340151" y="1519379"/>
            <a:ext cx="126000" cy="3999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2" name="Google Shape;1142;p69"/>
          <p:cNvSpPr txBox="1"/>
          <p:nvPr/>
        </p:nvSpPr>
        <p:spPr>
          <a:xfrm>
            <a:off x="1537425" y="1919288"/>
            <a:ext cx="19050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Use old vector field</a:t>
            </a:r>
            <a:endParaRPr>
              <a:solidFill>
                <a:srgbClr val="FF0000"/>
              </a:solidFill>
            </a:endParaRPr>
          </a:p>
        </p:txBody>
      </p:sp>
      <p:sp>
        <p:nvSpPr>
          <p:cNvPr id="1143" name="Google Shape;1143;p69"/>
          <p:cNvSpPr txBox="1"/>
          <p:nvPr/>
        </p:nvSpPr>
        <p:spPr>
          <a:xfrm>
            <a:off x="4265250" y="1919288"/>
            <a:ext cx="2112300" cy="29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FF0000"/>
                </a:solidFill>
              </a:rPr>
              <a:t>This score is essentially the correction term that we have to apply to the old ODE vector field.</a:t>
            </a:r>
            <a:endParaRPr>
              <a:solidFill>
                <a:srgbClr val="FF0000"/>
              </a:solidFill>
            </a:endParaRPr>
          </a:p>
        </p:txBody>
      </p:sp>
      <p:sp>
        <p:nvSpPr>
          <p:cNvPr id="1144" name="Google Shape;1144;p69"/>
          <p:cNvSpPr txBox="1"/>
          <p:nvPr/>
        </p:nvSpPr>
        <p:spPr>
          <a:xfrm>
            <a:off x="7289050" y="1919288"/>
            <a:ext cx="13551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Noise injection</a:t>
            </a:r>
            <a:endParaRPr>
              <a:solidFill>
                <a:srgbClr val="FF0000"/>
              </a:solidFill>
            </a:endParaRPr>
          </a:p>
        </p:txBody>
      </p:sp>
      <p:sp>
        <p:nvSpPr>
          <p:cNvPr id="1145" name="Google Shape;1145;p69"/>
          <p:cNvSpPr txBox="1"/>
          <p:nvPr/>
        </p:nvSpPr>
        <p:spPr>
          <a:xfrm>
            <a:off x="574000" y="3381450"/>
            <a:ext cx="8298900" cy="12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Different choices of       are theoretically possible, provided the corresponding score correction                       is applied. </a:t>
            </a:r>
            <a:endParaRPr sz="1800">
              <a:solidFill>
                <a:schemeClr val="dk1"/>
              </a:solidFill>
            </a:endParaRPr>
          </a:p>
        </p:txBody>
      </p:sp>
      <p:pic>
        <p:nvPicPr>
          <p:cNvPr id="1146" name="Google Shape;1146;p69"/>
          <p:cNvPicPr preferRelativeResize="0"/>
          <p:nvPr/>
        </p:nvPicPr>
        <p:blipFill>
          <a:blip r:embed="rId4">
            <a:alphaModFix/>
          </a:blip>
          <a:stretch>
            <a:fillRect/>
          </a:stretch>
        </p:blipFill>
        <p:spPr>
          <a:xfrm>
            <a:off x="2703031" y="3479173"/>
            <a:ext cx="328425" cy="246325"/>
          </a:xfrm>
          <a:prstGeom prst="rect">
            <a:avLst/>
          </a:prstGeom>
          <a:noFill/>
          <a:ln>
            <a:noFill/>
          </a:ln>
        </p:spPr>
      </p:pic>
      <p:pic>
        <p:nvPicPr>
          <p:cNvPr id="1147" name="Google Shape;1147;p69"/>
          <p:cNvPicPr preferRelativeResize="0"/>
          <p:nvPr/>
        </p:nvPicPr>
        <p:blipFill>
          <a:blip r:embed="rId5">
            <a:alphaModFix/>
          </a:blip>
          <a:stretch>
            <a:fillRect/>
          </a:stretch>
        </p:blipFill>
        <p:spPr>
          <a:xfrm>
            <a:off x="2340141" y="3725507"/>
            <a:ext cx="1355100" cy="364710"/>
          </a:xfrm>
          <a:prstGeom prst="rect">
            <a:avLst/>
          </a:prstGeom>
          <a:noFill/>
          <a:ln>
            <a:noFill/>
          </a:ln>
        </p:spPr>
      </p:pic>
      <p:sp>
        <p:nvSpPr>
          <p:cNvPr id="1148" name="Google Shape;1148;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70"/>
          <p:cNvSpPr txBox="1"/>
          <p:nvPr/>
        </p:nvSpPr>
        <p:spPr>
          <a:xfrm>
            <a:off x="2459231" y="0"/>
            <a:ext cx="45999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Injecting Noise: One Flow, Many SDEs </a:t>
            </a:r>
            <a:endParaRPr sz="1800" b="1">
              <a:solidFill>
                <a:schemeClr val="dk1"/>
              </a:solidFill>
            </a:endParaRPr>
          </a:p>
        </p:txBody>
      </p:sp>
      <p:sp>
        <p:nvSpPr>
          <p:cNvPr id="1154" name="Google Shape;1154;p70"/>
          <p:cNvSpPr txBox="1"/>
          <p:nvPr/>
        </p:nvSpPr>
        <p:spPr>
          <a:xfrm>
            <a:off x="300307" y="830500"/>
            <a:ext cx="85617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So a score function is essentially the correction term that we need to apply if we want to inject noise and convert an ODE to an SDE.</a:t>
            </a:r>
            <a:endParaRPr sz="1700">
              <a:solidFill>
                <a:schemeClr val="dk1"/>
              </a:solidFill>
            </a:endParaRPr>
          </a:p>
        </p:txBody>
      </p:sp>
      <p:sp>
        <p:nvSpPr>
          <p:cNvPr id="1155" name="Google Shape;1155;p70"/>
          <p:cNvSpPr txBox="1"/>
          <p:nvPr/>
        </p:nvSpPr>
        <p:spPr>
          <a:xfrm>
            <a:off x="311260" y="2012950"/>
            <a:ext cx="84960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Training an ODE flow model will give us one solution. And by injecting noise on top, we can get a whole variety of different other models / solutions.</a:t>
            </a:r>
            <a:endParaRPr sz="1700">
              <a:solidFill>
                <a:schemeClr val="dk1"/>
              </a:solidFill>
            </a:endParaRPr>
          </a:p>
        </p:txBody>
      </p:sp>
      <p:sp>
        <p:nvSpPr>
          <p:cNvPr id="1156" name="Google Shape;1156;p70"/>
          <p:cNvSpPr txBox="1"/>
          <p:nvPr/>
        </p:nvSpPr>
        <p:spPr>
          <a:xfrm>
            <a:off x="311250" y="3017107"/>
            <a:ext cx="8670900" cy="165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The anecdotal evidence is that a lot of the models in the literature are purely flow models, because that approach already does the job well. It’s a luxury to have a whole diversity of SDE models that all do the same thing, but empirically you might still be interested to explore these and find the optimal noise level      to get the “best” results, best here meaning the most visually pleasing qualitative results to you.</a:t>
            </a:r>
            <a:endParaRPr sz="1700">
              <a:solidFill>
                <a:schemeClr val="dk1"/>
              </a:solidFill>
            </a:endParaRPr>
          </a:p>
        </p:txBody>
      </p:sp>
      <p:pic>
        <p:nvPicPr>
          <p:cNvPr id="1157" name="Google Shape;1157;p70"/>
          <p:cNvPicPr preferRelativeResize="0"/>
          <p:nvPr/>
        </p:nvPicPr>
        <p:blipFill>
          <a:blip r:embed="rId3">
            <a:alphaModFix/>
          </a:blip>
          <a:stretch>
            <a:fillRect/>
          </a:stretch>
        </p:blipFill>
        <p:spPr>
          <a:xfrm>
            <a:off x="5995624" y="3899644"/>
            <a:ext cx="300625" cy="225475"/>
          </a:xfrm>
          <a:prstGeom prst="rect">
            <a:avLst/>
          </a:prstGeom>
          <a:noFill/>
          <a:ln>
            <a:noFill/>
          </a:ln>
        </p:spPr>
      </p:pic>
      <p:sp>
        <p:nvSpPr>
          <p:cNvPr id="1158" name="Google Shape;1158;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71"/>
          <p:cNvSpPr txBox="1"/>
          <p:nvPr/>
        </p:nvSpPr>
        <p:spPr>
          <a:xfrm>
            <a:off x="2779850" y="0"/>
            <a:ext cx="46374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From Continuity to Fokker–Planck </a:t>
            </a:r>
            <a:endParaRPr sz="1800" b="1">
              <a:solidFill>
                <a:schemeClr val="dk1"/>
              </a:solidFill>
            </a:endParaRPr>
          </a:p>
        </p:txBody>
      </p:sp>
      <p:sp>
        <p:nvSpPr>
          <p:cNvPr id="1164" name="Google Shape;1164;p71"/>
          <p:cNvSpPr txBox="1"/>
          <p:nvPr/>
        </p:nvSpPr>
        <p:spPr>
          <a:xfrm>
            <a:off x="574002" y="764825"/>
            <a:ext cx="7992300" cy="43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continuity equation we saw in the ODE case:</a:t>
            </a:r>
            <a:endParaRPr sz="1800">
              <a:solidFill>
                <a:schemeClr val="dk1"/>
              </a:solidFill>
            </a:endParaRPr>
          </a:p>
        </p:txBody>
      </p:sp>
      <p:sp>
        <p:nvSpPr>
          <p:cNvPr id="1165" name="Google Shape;1165;p71"/>
          <p:cNvSpPr txBox="1"/>
          <p:nvPr/>
        </p:nvSpPr>
        <p:spPr>
          <a:xfrm>
            <a:off x="595127" y="1400790"/>
            <a:ext cx="5901300" cy="43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becomes the Fokker-Planck equation in the SDE case:</a:t>
            </a:r>
            <a:endParaRPr sz="1800">
              <a:solidFill>
                <a:schemeClr val="dk1"/>
              </a:solidFill>
            </a:endParaRPr>
          </a:p>
        </p:txBody>
      </p:sp>
      <p:sp>
        <p:nvSpPr>
          <p:cNvPr id="1166" name="Google Shape;1166;p71"/>
          <p:cNvSpPr txBox="1"/>
          <p:nvPr/>
        </p:nvSpPr>
        <p:spPr>
          <a:xfrm>
            <a:off x="965957" y="3094178"/>
            <a:ext cx="15021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Change of probability mass at x</a:t>
            </a:r>
            <a:endParaRPr sz="1100">
              <a:solidFill>
                <a:srgbClr val="FF0000"/>
              </a:solidFill>
            </a:endParaRPr>
          </a:p>
        </p:txBody>
      </p:sp>
      <p:sp>
        <p:nvSpPr>
          <p:cNvPr id="1167" name="Google Shape;1167;p71"/>
          <p:cNvSpPr txBox="1"/>
          <p:nvPr/>
        </p:nvSpPr>
        <p:spPr>
          <a:xfrm>
            <a:off x="2823347" y="3094175"/>
            <a:ext cx="25746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Net inflow of probability mass:</a:t>
            </a:r>
            <a:endParaRPr sz="1100">
              <a:solidFill>
                <a:srgbClr val="FF0000"/>
              </a:solidFill>
            </a:endParaRPr>
          </a:p>
          <a:p>
            <a:pPr marL="0" lvl="0" indent="0" algn="ctr" rtl="0">
              <a:spcBef>
                <a:spcPts val="0"/>
              </a:spcBef>
              <a:spcAft>
                <a:spcPts val="0"/>
              </a:spcAft>
              <a:buNone/>
            </a:pPr>
            <a:r>
              <a:rPr lang="en" sz="1100">
                <a:solidFill>
                  <a:srgbClr val="FF0000"/>
                </a:solidFill>
              </a:rPr>
              <a:t> Inflow - Outflow</a:t>
            </a:r>
            <a:endParaRPr sz="1100">
              <a:solidFill>
                <a:srgbClr val="FF0000"/>
              </a:solidFill>
            </a:endParaRPr>
          </a:p>
        </p:txBody>
      </p:sp>
      <p:sp>
        <p:nvSpPr>
          <p:cNvPr id="1168" name="Google Shape;1168;p71"/>
          <p:cNvSpPr txBox="1"/>
          <p:nvPr/>
        </p:nvSpPr>
        <p:spPr>
          <a:xfrm>
            <a:off x="5332702" y="3094175"/>
            <a:ext cx="2379600" cy="52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Diffusion of probability mass</a:t>
            </a:r>
            <a:endParaRPr sz="1100">
              <a:solidFill>
                <a:srgbClr val="FF0000"/>
              </a:solidFill>
            </a:endParaRPr>
          </a:p>
        </p:txBody>
      </p:sp>
      <p:sp>
        <p:nvSpPr>
          <p:cNvPr id="1169" name="Google Shape;1169;p71"/>
          <p:cNvSpPr txBox="1"/>
          <p:nvPr/>
        </p:nvSpPr>
        <p:spPr>
          <a:xfrm>
            <a:off x="606850" y="4049303"/>
            <a:ext cx="8287800" cy="43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Compared with the continuity equation, the Fokker–Planck equation contains an additional diffusion term involving the Laplacian </a:t>
            </a:r>
            <a:r>
              <a:rPr lang="en" sz="1600" b="1">
                <a:solidFill>
                  <a:schemeClr val="dk1"/>
                </a:solidFill>
              </a:rPr>
              <a:t>𝚫</a:t>
            </a:r>
            <a:r>
              <a:rPr lang="en" sz="1600">
                <a:solidFill>
                  <a:schemeClr val="dk1"/>
                </a:solidFill>
              </a:rPr>
              <a:t>. This is the same diffusion operator that appears in the heat equation. </a:t>
            </a:r>
            <a:endParaRPr sz="1600">
              <a:solidFill>
                <a:schemeClr val="dk1"/>
              </a:solidFill>
            </a:endParaRPr>
          </a:p>
        </p:txBody>
      </p:sp>
      <p:pic>
        <p:nvPicPr>
          <p:cNvPr id="1170" name="Google Shape;1170;p71"/>
          <p:cNvPicPr preferRelativeResize="0"/>
          <p:nvPr/>
        </p:nvPicPr>
        <p:blipFill>
          <a:blip r:embed="rId3">
            <a:alphaModFix/>
          </a:blip>
          <a:stretch>
            <a:fillRect/>
          </a:stretch>
        </p:blipFill>
        <p:spPr>
          <a:xfrm>
            <a:off x="1053100" y="2102087"/>
            <a:ext cx="6364149" cy="1004560"/>
          </a:xfrm>
          <a:prstGeom prst="rect">
            <a:avLst/>
          </a:prstGeom>
          <a:noFill/>
          <a:ln>
            <a:noFill/>
          </a:ln>
        </p:spPr>
      </p:pic>
      <p:pic>
        <p:nvPicPr>
          <p:cNvPr id="1171" name="Google Shape;1171;p71"/>
          <p:cNvPicPr preferRelativeResize="0"/>
          <p:nvPr/>
        </p:nvPicPr>
        <p:blipFill>
          <a:blip r:embed="rId4">
            <a:alphaModFix/>
          </a:blip>
          <a:stretch>
            <a:fillRect/>
          </a:stretch>
        </p:blipFill>
        <p:spPr>
          <a:xfrm>
            <a:off x="5800625" y="698125"/>
            <a:ext cx="3023024" cy="621400"/>
          </a:xfrm>
          <a:prstGeom prst="rect">
            <a:avLst/>
          </a:prstGeom>
          <a:noFill/>
          <a:ln>
            <a:noFill/>
          </a:ln>
        </p:spPr>
      </p:pic>
      <p:sp>
        <p:nvSpPr>
          <p:cNvPr id="1172" name="Google Shape;1172;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59</a:t>
            </a:fld>
            <a:endParaRPr/>
          </a:p>
        </p:txBody>
      </p:sp>
      <p:pic>
        <p:nvPicPr>
          <p:cNvPr id="1173" name="Google Shape;1173;p71"/>
          <p:cNvPicPr preferRelativeResize="0"/>
          <p:nvPr/>
        </p:nvPicPr>
        <p:blipFill>
          <a:blip r:embed="rId5">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p72"/>
          <p:cNvSpPr txBox="1"/>
          <p:nvPr/>
        </p:nvSpPr>
        <p:spPr>
          <a:xfrm>
            <a:off x="3487475" y="1644975"/>
            <a:ext cx="2736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Chapter 3</a:t>
            </a:r>
            <a:endParaRPr sz="3300" b="1">
              <a:solidFill>
                <a:schemeClr val="dk1"/>
              </a:solidFill>
            </a:endParaRPr>
          </a:p>
          <a:p>
            <a:pPr marL="0" lvl="0" indent="0" algn="l" rtl="0">
              <a:spcBef>
                <a:spcPts val="0"/>
              </a:spcBef>
              <a:spcAft>
                <a:spcPts val="0"/>
              </a:spcAft>
              <a:buNone/>
            </a:pPr>
            <a:endParaRPr sz="3300" b="1">
              <a:solidFill>
                <a:schemeClr val="dk1"/>
              </a:solidFill>
            </a:endParaRPr>
          </a:p>
        </p:txBody>
      </p:sp>
      <p:sp>
        <p:nvSpPr>
          <p:cNvPr id="1179" name="Google Shape;1179;p72"/>
          <p:cNvSpPr txBox="1"/>
          <p:nvPr/>
        </p:nvSpPr>
        <p:spPr>
          <a:xfrm>
            <a:off x="932766" y="2272400"/>
            <a:ext cx="72981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2000" b="1">
                <a:solidFill>
                  <a:schemeClr val="dk1"/>
                </a:solidFill>
              </a:rPr>
              <a:t>Practical Training Algorithms</a:t>
            </a:r>
            <a:endParaRPr sz="2000" b="1">
              <a:solidFill>
                <a:schemeClr val="dk1"/>
              </a:solidFill>
            </a:endParaRPr>
          </a:p>
          <a:p>
            <a:pPr marL="0" lvl="0" indent="0" algn="ctr" rtl="0">
              <a:spcBef>
                <a:spcPts val="0"/>
              </a:spcBef>
              <a:spcAft>
                <a:spcPts val="0"/>
              </a:spcAft>
              <a:buNone/>
            </a:pPr>
            <a:endParaRPr sz="200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73"/>
          <p:cNvSpPr/>
          <p:nvPr/>
        </p:nvSpPr>
        <p:spPr>
          <a:xfrm>
            <a:off x="1651925" y="1622718"/>
            <a:ext cx="5134200" cy="9084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5" name="Google Shape;1185;p73"/>
          <p:cNvSpPr/>
          <p:nvPr/>
        </p:nvSpPr>
        <p:spPr>
          <a:xfrm>
            <a:off x="1651925" y="3784101"/>
            <a:ext cx="5134200" cy="9084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6" name="Google Shape;1186;p73"/>
          <p:cNvSpPr txBox="1"/>
          <p:nvPr/>
        </p:nvSpPr>
        <p:spPr>
          <a:xfrm>
            <a:off x="243400" y="879243"/>
            <a:ext cx="8290500" cy="5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Flow matching is the training algorithm that uses the Marginal Vector Field concept:</a:t>
            </a:r>
            <a:endParaRPr sz="1700">
              <a:solidFill>
                <a:schemeClr val="dk1"/>
              </a:solidFill>
            </a:endParaRPr>
          </a:p>
        </p:txBody>
      </p:sp>
      <p:sp>
        <p:nvSpPr>
          <p:cNvPr id="1187" name="Google Shape;1187;p73"/>
          <p:cNvSpPr txBox="1"/>
          <p:nvPr/>
        </p:nvSpPr>
        <p:spPr>
          <a:xfrm>
            <a:off x="243400" y="3126528"/>
            <a:ext cx="8791800" cy="5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Score matching is the training algorithm that uses the Marginal Score Function concept:</a:t>
            </a:r>
            <a:endParaRPr sz="1700">
              <a:solidFill>
                <a:schemeClr val="dk1"/>
              </a:solidFill>
            </a:endParaRPr>
          </a:p>
        </p:txBody>
      </p:sp>
      <p:sp>
        <p:nvSpPr>
          <p:cNvPr id="1188" name="Google Shape;1188;p73"/>
          <p:cNvSpPr txBox="1"/>
          <p:nvPr/>
        </p:nvSpPr>
        <p:spPr>
          <a:xfrm>
            <a:off x="2333452" y="0"/>
            <a:ext cx="41232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Flow Matching vs. Score Matching </a:t>
            </a:r>
            <a:endParaRPr sz="1800" b="1">
              <a:solidFill>
                <a:schemeClr val="dk1"/>
              </a:solidFill>
            </a:endParaRPr>
          </a:p>
        </p:txBody>
      </p:sp>
      <p:pic>
        <p:nvPicPr>
          <p:cNvPr id="1189" name="Google Shape;1189;p73"/>
          <p:cNvPicPr preferRelativeResize="0"/>
          <p:nvPr/>
        </p:nvPicPr>
        <p:blipFill>
          <a:blip r:embed="rId3">
            <a:alphaModFix/>
          </a:blip>
          <a:stretch>
            <a:fillRect/>
          </a:stretch>
        </p:blipFill>
        <p:spPr>
          <a:xfrm>
            <a:off x="1828400" y="1721653"/>
            <a:ext cx="1683300" cy="588840"/>
          </a:xfrm>
          <a:prstGeom prst="rect">
            <a:avLst/>
          </a:prstGeom>
          <a:noFill/>
          <a:ln>
            <a:noFill/>
          </a:ln>
        </p:spPr>
      </p:pic>
      <p:pic>
        <p:nvPicPr>
          <p:cNvPr id="1190" name="Google Shape;1190;p73"/>
          <p:cNvPicPr preferRelativeResize="0"/>
          <p:nvPr/>
        </p:nvPicPr>
        <p:blipFill>
          <a:blip r:embed="rId4">
            <a:alphaModFix/>
          </a:blip>
          <a:stretch>
            <a:fillRect/>
          </a:stretch>
        </p:blipFill>
        <p:spPr>
          <a:xfrm>
            <a:off x="1711550" y="4022274"/>
            <a:ext cx="1917000" cy="511200"/>
          </a:xfrm>
          <a:prstGeom prst="rect">
            <a:avLst/>
          </a:prstGeom>
          <a:noFill/>
          <a:ln>
            <a:noFill/>
          </a:ln>
        </p:spPr>
      </p:pic>
      <p:sp>
        <p:nvSpPr>
          <p:cNvPr id="1191" name="Google Shape;1191;p73"/>
          <p:cNvSpPr txBox="1"/>
          <p:nvPr/>
        </p:nvSpPr>
        <p:spPr>
          <a:xfrm>
            <a:off x="4117625" y="1815525"/>
            <a:ext cx="2430000" cy="51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         Flow Matching</a:t>
            </a:r>
            <a:endParaRPr sz="1800">
              <a:solidFill>
                <a:schemeClr val="dk1"/>
              </a:solidFill>
            </a:endParaRPr>
          </a:p>
        </p:txBody>
      </p:sp>
      <p:sp>
        <p:nvSpPr>
          <p:cNvPr id="1192" name="Google Shape;1192;p73"/>
          <p:cNvSpPr txBox="1"/>
          <p:nvPr/>
        </p:nvSpPr>
        <p:spPr>
          <a:xfrm>
            <a:off x="4224600" y="4022275"/>
            <a:ext cx="2504700" cy="46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       Score Matching</a:t>
            </a:r>
            <a:endParaRPr sz="1800">
              <a:solidFill>
                <a:schemeClr val="dk1"/>
              </a:solidFill>
            </a:endParaRPr>
          </a:p>
        </p:txBody>
      </p:sp>
      <p:sp>
        <p:nvSpPr>
          <p:cNvPr id="1193" name="Google Shape;1193;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74"/>
          <p:cNvSpPr txBox="1"/>
          <p:nvPr/>
        </p:nvSpPr>
        <p:spPr>
          <a:xfrm>
            <a:off x="1692646" y="0"/>
            <a:ext cx="58926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Flow Matching: Learning the Marginal Vector Field</a:t>
            </a:r>
            <a:endParaRPr sz="1800" b="1">
              <a:solidFill>
                <a:schemeClr val="dk1"/>
              </a:solidFill>
            </a:endParaRPr>
          </a:p>
        </p:txBody>
      </p:sp>
      <p:sp>
        <p:nvSpPr>
          <p:cNvPr id="1199" name="Google Shape;1199;p74"/>
          <p:cNvSpPr txBox="1"/>
          <p:nvPr/>
        </p:nvSpPr>
        <p:spPr>
          <a:xfrm>
            <a:off x="616325" y="1153650"/>
            <a:ext cx="8233500" cy="56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Goal: find a neural network with such parameters 𝚹 that would closely approximate </a:t>
            </a:r>
            <a:r>
              <a:rPr lang="en" sz="1800" i="1">
                <a:solidFill>
                  <a:schemeClr val="dk1"/>
                </a:solidFill>
              </a:rPr>
              <a:t>u</a:t>
            </a:r>
            <a:r>
              <a:rPr lang="en" sz="1800" i="1" baseline="-25000">
                <a:solidFill>
                  <a:schemeClr val="dk1"/>
                </a:solidFill>
              </a:rPr>
              <a:t>t</a:t>
            </a:r>
            <a:r>
              <a:rPr lang="en" sz="1800" i="1" baseline="30000">
                <a:solidFill>
                  <a:schemeClr val="dk1"/>
                </a:solidFill>
              </a:rPr>
              <a:t>target</a:t>
            </a:r>
            <a:r>
              <a:rPr lang="en" sz="1800" i="1">
                <a:solidFill>
                  <a:schemeClr val="dk1"/>
                </a:solidFill>
              </a:rPr>
              <a:t> : </a:t>
            </a:r>
            <a:endParaRPr sz="1800" i="1">
              <a:solidFill>
                <a:schemeClr val="dk1"/>
              </a:solidFill>
            </a:endParaRPr>
          </a:p>
        </p:txBody>
      </p:sp>
      <p:pic>
        <p:nvPicPr>
          <p:cNvPr id="1200" name="Google Shape;1200;p74"/>
          <p:cNvPicPr preferRelativeResize="0"/>
          <p:nvPr/>
        </p:nvPicPr>
        <p:blipFill>
          <a:blip r:embed="rId3">
            <a:alphaModFix/>
          </a:blip>
          <a:stretch>
            <a:fillRect/>
          </a:stretch>
        </p:blipFill>
        <p:spPr>
          <a:xfrm>
            <a:off x="2755831" y="1474552"/>
            <a:ext cx="1322125" cy="364150"/>
          </a:xfrm>
          <a:prstGeom prst="rect">
            <a:avLst/>
          </a:prstGeom>
          <a:noFill/>
          <a:ln>
            <a:noFill/>
          </a:ln>
        </p:spPr>
      </p:pic>
      <p:sp>
        <p:nvSpPr>
          <p:cNvPr id="1201" name="Google Shape;1201;p74"/>
          <p:cNvSpPr txBox="1"/>
          <p:nvPr/>
        </p:nvSpPr>
        <p:spPr>
          <a:xfrm>
            <a:off x="616325" y="2238525"/>
            <a:ext cx="8055000" cy="5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Flow Matching Loss is an </a:t>
            </a:r>
            <a:r>
              <a:rPr lang="en" sz="1800" b="1">
                <a:solidFill>
                  <a:schemeClr val="dk1"/>
                </a:solidFill>
              </a:rPr>
              <a:t>E</a:t>
            </a:r>
            <a:r>
              <a:rPr lang="en" sz="1800">
                <a:solidFill>
                  <a:schemeClr val="dk1"/>
                </a:solidFill>
              </a:rPr>
              <a:t>xpectation over squared differences:</a:t>
            </a:r>
            <a:endParaRPr sz="1800">
              <a:solidFill>
                <a:schemeClr val="dk1"/>
              </a:solidFill>
            </a:endParaRPr>
          </a:p>
        </p:txBody>
      </p:sp>
      <p:sp>
        <p:nvSpPr>
          <p:cNvPr id="1202" name="Google Shape;1202;p74"/>
          <p:cNvSpPr txBox="1"/>
          <p:nvPr/>
        </p:nvSpPr>
        <p:spPr>
          <a:xfrm>
            <a:off x="4641611" y="3750053"/>
            <a:ext cx="21159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Time t is uniform in range [0,1]</a:t>
            </a:r>
            <a:endParaRPr sz="1100">
              <a:solidFill>
                <a:schemeClr val="dk1"/>
              </a:solidFill>
            </a:endParaRPr>
          </a:p>
        </p:txBody>
      </p:sp>
      <p:sp>
        <p:nvSpPr>
          <p:cNvPr id="1203" name="Google Shape;1203;p74"/>
          <p:cNvSpPr txBox="1"/>
          <p:nvPr/>
        </p:nvSpPr>
        <p:spPr>
          <a:xfrm>
            <a:off x="4641599" y="4064950"/>
            <a:ext cx="35295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Draw a data point z, i.e. iterate over the data loader</a:t>
            </a:r>
            <a:endParaRPr sz="1100">
              <a:solidFill>
                <a:schemeClr val="dk1"/>
              </a:solidFill>
            </a:endParaRPr>
          </a:p>
        </p:txBody>
      </p:sp>
      <p:sp>
        <p:nvSpPr>
          <p:cNvPr id="1204" name="Google Shape;1204;p74"/>
          <p:cNvSpPr txBox="1"/>
          <p:nvPr/>
        </p:nvSpPr>
        <p:spPr>
          <a:xfrm>
            <a:off x="4641611" y="4390731"/>
            <a:ext cx="19854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Draw x from conditional path</a:t>
            </a:r>
            <a:endParaRPr sz="1100">
              <a:solidFill>
                <a:schemeClr val="dk1"/>
              </a:solidFill>
            </a:endParaRPr>
          </a:p>
        </p:txBody>
      </p:sp>
      <p:sp>
        <p:nvSpPr>
          <p:cNvPr id="1205" name="Google Shape;1205;p74"/>
          <p:cNvSpPr/>
          <p:nvPr/>
        </p:nvSpPr>
        <p:spPr>
          <a:xfrm>
            <a:off x="4254715" y="3883657"/>
            <a:ext cx="153900" cy="1059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6" name="Google Shape;1206;p74"/>
          <p:cNvSpPr/>
          <p:nvPr/>
        </p:nvSpPr>
        <p:spPr>
          <a:xfrm>
            <a:off x="4254715" y="4517407"/>
            <a:ext cx="153900" cy="1059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7" name="Google Shape;1207;p74"/>
          <p:cNvSpPr/>
          <p:nvPr/>
        </p:nvSpPr>
        <p:spPr>
          <a:xfrm>
            <a:off x="4254715" y="4200532"/>
            <a:ext cx="153900" cy="1059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208" name="Google Shape;1208;p74"/>
          <p:cNvPicPr preferRelativeResize="0"/>
          <p:nvPr/>
        </p:nvPicPr>
        <p:blipFill>
          <a:blip r:embed="rId4">
            <a:alphaModFix/>
          </a:blip>
          <a:stretch>
            <a:fillRect/>
          </a:stretch>
        </p:blipFill>
        <p:spPr>
          <a:xfrm>
            <a:off x="1125096" y="2738633"/>
            <a:ext cx="6757499" cy="1125104"/>
          </a:xfrm>
          <a:prstGeom prst="rect">
            <a:avLst/>
          </a:prstGeom>
          <a:noFill/>
          <a:ln>
            <a:noFill/>
          </a:ln>
        </p:spPr>
      </p:pic>
      <p:pic>
        <p:nvPicPr>
          <p:cNvPr id="1209" name="Google Shape;1209;p74"/>
          <p:cNvPicPr preferRelativeResize="0"/>
          <p:nvPr/>
        </p:nvPicPr>
        <p:blipFill>
          <a:blip r:embed="rId5">
            <a:alphaModFix/>
          </a:blip>
          <a:stretch>
            <a:fillRect/>
          </a:stretch>
        </p:blipFill>
        <p:spPr>
          <a:xfrm>
            <a:off x="2672352" y="3785379"/>
            <a:ext cx="1184035" cy="853125"/>
          </a:xfrm>
          <a:prstGeom prst="rect">
            <a:avLst/>
          </a:prstGeom>
          <a:noFill/>
          <a:ln>
            <a:noFill/>
          </a:ln>
        </p:spPr>
      </p:pic>
      <p:sp>
        <p:nvSpPr>
          <p:cNvPr id="1210" name="Google Shape;1210;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75"/>
          <p:cNvSpPr txBox="1"/>
          <p:nvPr/>
        </p:nvSpPr>
        <p:spPr>
          <a:xfrm>
            <a:off x="3113100" y="784750"/>
            <a:ext cx="5853600" cy="63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This loss function is the objective we want to minimize ideally. However, it is not tractable due to                  not being trivial to evaluate. </a:t>
            </a:r>
            <a:endParaRPr sz="1100">
              <a:solidFill>
                <a:schemeClr val="dk1"/>
              </a:solidFill>
            </a:endParaRPr>
          </a:p>
        </p:txBody>
      </p:sp>
      <p:pic>
        <p:nvPicPr>
          <p:cNvPr id="1216" name="Google Shape;1216;p75"/>
          <p:cNvPicPr preferRelativeResize="0"/>
          <p:nvPr/>
        </p:nvPicPr>
        <p:blipFill>
          <a:blip r:embed="rId3">
            <a:alphaModFix/>
          </a:blip>
          <a:stretch>
            <a:fillRect/>
          </a:stretch>
        </p:blipFill>
        <p:spPr>
          <a:xfrm>
            <a:off x="3649350" y="1015272"/>
            <a:ext cx="587775" cy="214250"/>
          </a:xfrm>
          <a:prstGeom prst="rect">
            <a:avLst/>
          </a:prstGeom>
          <a:noFill/>
          <a:ln>
            <a:noFill/>
          </a:ln>
        </p:spPr>
      </p:pic>
      <p:pic>
        <p:nvPicPr>
          <p:cNvPr id="1217" name="Google Shape;1217;p75"/>
          <p:cNvPicPr preferRelativeResize="0"/>
          <p:nvPr/>
        </p:nvPicPr>
        <p:blipFill>
          <a:blip r:embed="rId4">
            <a:alphaModFix/>
          </a:blip>
          <a:stretch>
            <a:fillRect/>
          </a:stretch>
        </p:blipFill>
        <p:spPr>
          <a:xfrm>
            <a:off x="958175" y="1319725"/>
            <a:ext cx="2044374" cy="156525"/>
          </a:xfrm>
          <a:prstGeom prst="rect">
            <a:avLst/>
          </a:prstGeom>
          <a:noFill/>
          <a:ln>
            <a:noFill/>
          </a:ln>
        </p:spPr>
      </p:pic>
      <p:pic>
        <p:nvPicPr>
          <p:cNvPr id="1218" name="Google Shape;1218;p75"/>
          <p:cNvPicPr preferRelativeResize="0"/>
          <p:nvPr/>
        </p:nvPicPr>
        <p:blipFill>
          <a:blip r:embed="rId5">
            <a:alphaModFix/>
          </a:blip>
          <a:stretch>
            <a:fillRect/>
          </a:stretch>
        </p:blipFill>
        <p:spPr>
          <a:xfrm>
            <a:off x="801438" y="1892931"/>
            <a:ext cx="7121735" cy="930600"/>
          </a:xfrm>
          <a:prstGeom prst="rect">
            <a:avLst/>
          </a:prstGeom>
          <a:noFill/>
          <a:ln>
            <a:noFill/>
          </a:ln>
        </p:spPr>
      </p:pic>
      <p:sp>
        <p:nvSpPr>
          <p:cNvPr id="1219" name="Google Shape;1219;p75"/>
          <p:cNvSpPr txBox="1"/>
          <p:nvPr/>
        </p:nvSpPr>
        <p:spPr>
          <a:xfrm>
            <a:off x="2289800" y="2823525"/>
            <a:ext cx="6120600" cy="38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i="1">
                <a:solidFill>
                  <a:schemeClr val="dk1"/>
                </a:solidFill>
              </a:rPr>
              <a:t>This is a very high dimensional integral and basically intractable.</a:t>
            </a:r>
            <a:endParaRPr sz="1600" i="1">
              <a:solidFill>
                <a:schemeClr val="dk1"/>
              </a:solidFill>
            </a:endParaRPr>
          </a:p>
        </p:txBody>
      </p:sp>
      <p:sp>
        <p:nvSpPr>
          <p:cNvPr id="1220" name="Google Shape;1220;p75"/>
          <p:cNvSpPr txBox="1"/>
          <p:nvPr/>
        </p:nvSpPr>
        <p:spPr>
          <a:xfrm>
            <a:off x="128100" y="3444725"/>
            <a:ext cx="8887800" cy="12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Why intractable? Well, we could technically loop over the entire dataset and for every datapoint evaluate the posterior ratio </a:t>
            </a:r>
            <a:r>
              <a:rPr lang="en" sz="1800" i="1">
                <a:solidFill>
                  <a:schemeClr val="dk1"/>
                </a:solidFill>
              </a:rPr>
              <a:t>p</a:t>
            </a:r>
            <a:r>
              <a:rPr lang="en" sz="1800" i="1" baseline="-25000">
                <a:solidFill>
                  <a:schemeClr val="dk1"/>
                </a:solidFill>
              </a:rPr>
              <a:t>t</a:t>
            </a:r>
            <a:r>
              <a:rPr lang="en" sz="1800" i="1">
                <a:solidFill>
                  <a:schemeClr val="dk1"/>
                </a:solidFill>
              </a:rPr>
              <a:t>(z|x)</a:t>
            </a:r>
            <a:r>
              <a:rPr lang="en" sz="1800">
                <a:solidFill>
                  <a:schemeClr val="dk1"/>
                </a:solidFill>
              </a:rPr>
              <a:t> and then take an average over that. But let’s say our dataset has 100 million images =&gt; for every evaluation of the neural network we would need to do this. This is not realistic.</a:t>
            </a:r>
            <a:endParaRPr sz="1800">
              <a:solidFill>
                <a:schemeClr val="dk1"/>
              </a:solidFill>
            </a:endParaRPr>
          </a:p>
        </p:txBody>
      </p:sp>
      <p:sp>
        <p:nvSpPr>
          <p:cNvPr id="1221" name="Google Shape;1221;p75"/>
          <p:cNvSpPr txBox="1"/>
          <p:nvPr/>
        </p:nvSpPr>
        <p:spPr>
          <a:xfrm>
            <a:off x="2141100" y="3016"/>
            <a:ext cx="48618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Why the Flow Matching Loss Is Intractable </a:t>
            </a:r>
            <a:endParaRPr sz="1800" b="1">
              <a:solidFill>
                <a:schemeClr val="dk1"/>
              </a:solidFill>
            </a:endParaRPr>
          </a:p>
        </p:txBody>
      </p:sp>
      <p:sp>
        <p:nvSpPr>
          <p:cNvPr id="1222" name="Google Shape;1222;p75"/>
          <p:cNvSpPr/>
          <p:nvPr/>
        </p:nvSpPr>
        <p:spPr>
          <a:xfrm>
            <a:off x="5067402" y="1865475"/>
            <a:ext cx="2886300" cy="985500"/>
          </a:xfrm>
          <a:prstGeom prst="rect">
            <a:avLst/>
          </a:prstGeom>
          <a:no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3" name="Google Shape;1223;p75"/>
          <p:cNvSpPr txBox="1"/>
          <p:nvPr/>
        </p:nvSpPr>
        <p:spPr>
          <a:xfrm>
            <a:off x="6053279" y="1416538"/>
            <a:ext cx="805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i="1">
                <a:solidFill>
                  <a:srgbClr val="FF0000"/>
                </a:solidFill>
              </a:rPr>
              <a:t>p</a:t>
            </a:r>
            <a:r>
              <a:rPr lang="en" sz="1800" i="1" baseline="-25000">
                <a:solidFill>
                  <a:srgbClr val="FF0000"/>
                </a:solidFill>
              </a:rPr>
              <a:t>t</a:t>
            </a:r>
            <a:r>
              <a:rPr lang="en" sz="1800" i="1">
                <a:solidFill>
                  <a:srgbClr val="FF0000"/>
                </a:solidFill>
              </a:rPr>
              <a:t>(z|x)</a:t>
            </a:r>
            <a:endParaRPr>
              <a:solidFill>
                <a:srgbClr val="FF0000"/>
              </a:solidFill>
            </a:endParaRPr>
          </a:p>
        </p:txBody>
      </p:sp>
      <p:pic>
        <p:nvPicPr>
          <p:cNvPr id="1224" name="Google Shape;1224;p75"/>
          <p:cNvPicPr preferRelativeResize="0"/>
          <p:nvPr/>
        </p:nvPicPr>
        <p:blipFill>
          <a:blip r:embed="rId6">
            <a:alphaModFix/>
          </a:blip>
          <a:stretch>
            <a:fillRect/>
          </a:stretch>
        </p:blipFill>
        <p:spPr>
          <a:xfrm>
            <a:off x="385599" y="810026"/>
            <a:ext cx="2772960" cy="461700"/>
          </a:xfrm>
          <a:prstGeom prst="rect">
            <a:avLst/>
          </a:prstGeom>
          <a:noFill/>
          <a:ln>
            <a:noFill/>
          </a:ln>
        </p:spPr>
      </p:pic>
      <p:sp>
        <p:nvSpPr>
          <p:cNvPr id="1225" name="Google Shape;1225;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29"/>
        <p:cNvGrpSpPr/>
        <p:nvPr/>
      </p:nvGrpSpPr>
      <p:grpSpPr>
        <a:xfrm>
          <a:off x="0" y="0"/>
          <a:ext cx="0" cy="0"/>
          <a:chOff x="0" y="0"/>
          <a:chExt cx="0" cy="0"/>
        </a:xfrm>
      </p:grpSpPr>
      <p:sp>
        <p:nvSpPr>
          <p:cNvPr id="1230" name="Google Shape;1230;p76"/>
          <p:cNvSpPr txBox="1"/>
          <p:nvPr/>
        </p:nvSpPr>
        <p:spPr>
          <a:xfrm>
            <a:off x="2877100" y="0"/>
            <a:ext cx="40575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Flow Matching Loss</a:t>
            </a:r>
            <a:endParaRPr sz="1800" b="1">
              <a:solidFill>
                <a:schemeClr val="dk1"/>
              </a:solidFill>
            </a:endParaRPr>
          </a:p>
        </p:txBody>
      </p:sp>
      <p:sp>
        <p:nvSpPr>
          <p:cNvPr id="1231" name="Google Shape;1231;p76"/>
          <p:cNvSpPr txBox="1"/>
          <p:nvPr/>
        </p:nvSpPr>
        <p:spPr>
          <a:xfrm>
            <a:off x="4572000" y="2364350"/>
            <a:ext cx="3133500" cy="89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1"/>
                </a:solidFill>
              </a:rPr>
              <a:t>Since we have a formula for this, L</a:t>
            </a:r>
            <a:r>
              <a:rPr lang="en" sz="1800" baseline="-25000">
                <a:solidFill>
                  <a:schemeClr val="dk1"/>
                </a:solidFill>
              </a:rPr>
              <a:t>CFM</a:t>
            </a:r>
            <a:r>
              <a:rPr lang="en" sz="1800">
                <a:solidFill>
                  <a:schemeClr val="dk1"/>
                </a:solidFill>
              </a:rPr>
              <a:t> will be tractable.</a:t>
            </a:r>
            <a:endParaRPr sz="1800">
              <a:solidFill>
                <a:schemeClr val="dk1"/>
              </a:solidFill>
            </a:endParaRPr>
          </a:p>
        </p:txBody>
      </p:sp>
      <p:pic>
        <p:nvPicPr>
          <p:cNvPr id="1232" name="Google Shape;1232;p76"/>
          <p:cNvPicPr preferRelativeResize="0"/>
          <p:nvPr/>
        </p:nvPicPr>
        <p:blipFill>
          <a:blip r:embed="rId3">
            <a:alphaModFix/>
          </a:blip>
          <a:stretch>
            <a:fillRect/>
          </a:stretch>
        </p:blipFill>
        <p:spPr>
          <a:xfrm>
            <a:off x="2662027" y="2145192"/>
            <a:ext cx="1184035" cy="853125"/>
          </a:xfrm>
          <a:prstGeom prst="rect">
            <a:avLst/>
          </a:prstGeom>
          <a:noFill/>
          <a:ln>
            <a:noFill/>
          </a:ln>
        </p:spPr>
      </p:pic>
      <p:sp>
        <p:nvSpPr>
          <p:cNvPr id="1233" name="Google Shape;1233;p76"/>
          <p:cNvSpPr/>
          <p:nvPr/>
        </p:nvSpPr>
        <p:spPr>
          <a:xfrm>
            <a:off x="5898475" y="1944950"/>
            <a:ext cx="217500" cy="2502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4" name="Google Shape;1234;p76"/>
          <p:cNvSpPr txBox="1"/>
          <p:nvPr/>
        </p:nvSpPr>
        <p:spPr>
          <a:xfrm>
            <a:off x="667975" y="3641300"/>
            <a:ext cx="8362200" cy="110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L</a:t>
            </a:r>
            <a:r>
              <a:rPr lang="en" sz="1800" baseline="-25000">
                <a:solidFill>
                  <a:schemeClr val="dk1"/>
                </a:solidFill>
              </a:rPr>
              <a:t>CFM</a:t>
            </a:r>
            <a:r>
              <a:rPr lang="en" sz="1800">
                <a:solidFill>
                  <a:schemeClr val="dk1"/>
                </a:solidFill>
              </a:rPr>
              <a:t> is tractable, but does it even make sense to minimize this object? Because we don’t just want to generate single data points z. We want to generate distributions of data points, which is what             is doing from the L</a:t>
            </a:r>
            <a:r>
              <a:rPr lang="en" sz="1800" baseline="-25000">
                <a:solidFill>
                  <a:schemeClr val="dk1"/>
                </a:solidFill>
              </a:rPr>
              <a:t>FM </a:t>
            </a:r>
            <a:r>
              <a:rPr lang="en" sz="1800">
                <a:solidFill>
                  <a:schemeClr val="dk1"/>
                </a:solidFill>
              </a:rPr>
              <a:t>case.</a:t>
            </a:r>
            <a:endParaRPr sz="1800">
              <a:solidFill>
                <a:schemeClr val="dk1"/>
              </a:solidFill>
            </a:endParaRPr>
          </a:p>
        </p:txBody>
      </p:sp>
      <p:pic>
        <p:nvPicPr>
          <p:cNvPr id="1235" name="Google Shape;1235;p76"/>
          <p:cNvPicPr preferRelativeResize="0"/>
          <p:nvPr/>
        </p:nvPicPr>
        <p:blipFill>
          <a:blip r:embed="rId4">
            <a:alphaModFix/>
          </a:blip>
          <a:stretch>
            <a:fillRect/>
          </a:stretch>
        </p:blipFill>
        <p:spPr>
          <a:xfrm>
            <a:off x="5041250" y="4310147"/>
            <a:ext cx="587775" cy="214250"/>
          </a:xfrm>
          <a:prstGeom prst="rect">
            <a:avLst/>
          </a:prstGeom>
          <a:noFill/>
          <a:ln>
            <a:noFill/>
          </a:ln>
        </p:spPr>
      </p:pic>
      <p:pic>
        <p:nvPicPr>
          <p:cNvPr id="1236" name="Google Shape;1236;p76"/>
          <p:cNvPicPr preferRelativeResize="0"/>
          <p:nvPr/>
        </p:nvPicPr>
        <p:blipFill>
          <a:blip r:embed="rId5">
            <a:alphaModFix/>
          </a:blip>
          <a:stretch>
            <a:fillRect/>
          </a:stretch>
        </p:blipFill>
        <p:spPr>
          <a:xfrm>
            <a:off x="1504125" y="1045400"/>
            <a:ext cx="5952250" cy="784500"/>
          </a:xfrm>
          <a:prstGeom prst="rect">
            <a:avLst/>
          </a:prstGeom>
          <a:noFill/>
          <a:ln>
            <a:noFill/>
          </a:ln>
        </p:spPr>
      </p:pic>
      <p:sp>
        <p:nvSpPr>
          <p:cNvPr id="1237" name="Google Shape;1237;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cxnSp>
        <p:nvCxnSpPr>
          <p:cNvPr id="1242" name="Google Shape;1242;p77"/>
          <p:cNvCxnSpPr/>
          <p:nvPr/>
        </p:nvCxnSpPr>
        <p:spPr>
          <a:xfrm flipH="1">
            <a:off x="3631320" y="3728193"/>
            <a:ext cx="10800" cy="456600"/>
          </a:xfrm>
          <a:prstGeom prst="straightConnector1">
            <a:avLst/>
          </a:prstGeom>
          <a:noFill/>
          <a:ln w="9525" cap="flat" cmpd="sng">
            <a:solidFill>
              <a:schemeClr val="dk2"/>
            </a:solidFill>
            <a:prstDash val="solid"/>
            <a:round/>
            <a:headEnd type="none" w="med" len="med"/>
            <a:tailEnd type="none" w="med" len="med"/>
          </a:ln>
        </p:spPr>
      </p:cxnSp>
      <p:sp>
        <p:nvSpPr>
          <p:cNvPr id="1243" name="Google Shape;1243;p77"/>
          <p:cNvSpPr txBox="1"/>
          <p:nvPr/>
        </p:nvSpPr>
        <p:spPr>
          <a:xfrm>
            <a:off x="331123" y="705263"/>
            <a:ext cx="8547000" cy="6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will now show that we can indeed minimize L</a:t>
            </a:r>
            <a:r>
              <a:rPr lang="en" sz="1800" baseline="-25000">
                <a:solidFill>
                  <a:schemeClr val="dk1"/>
                </a:solidFill>
              </a:rPr>
              <a:t>CFM </a:t>
            </a:r>
            <a:r>
              <a:rPr lang="en" sz="1800">
                <a:solidFill>
                  <a:schemeClr val="dk1"/>
                </a:solidFill>
              </a:rPr>
              <a:t>as a proxy for minimizing L</a:t>
            </a:r>
            <a:r>
              <a:rPr lang="en" sz="1800" baseline="-25000">
                <a:solidFill>
                  <a:schemeClr val="dk1"/>
                </a:solidFill>
              </a:rPr>
              <a:t>FM</a:t>
            </a:r>
            <a:endParaRPr sz="1800">
              <a:solidFill>
                <a:schemeClr val="dk1"/>
              </a:solidFill>
            </a:endParaRPr>
          </a:p>
        </p:txBody>
      </p:sp>
      <p:sp>
        <p:nvSpPr>
          <p:cNvPr id="1244" name="Google Shape;1244;p77"/>
          <p:cNvSpPr txBox="1"/>
          <p:nvPr/>
        </p:nvSpPr>
        <p:spPr>
          <a:xfrm>
            <a:off x="1733725" y="-15575"/>
            <a:ext cx="54843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Why Conditional Flow Matching Is a Valid Proxy </a:t>
            </a:r>
            <a:endParaRPr sz="1800" b="1">
              <a:solidFill>
                <a:schemeClr val="dk1"/>
              </a:solidFill>
            </a:endParaRPr>
          </a:p>
        </p:txBody>
      </p:sp>
      <p:sp>
        <p:nvSpPr>
          <p:cNvPr id="1245" name="Google Shape;1245;p77"/>
          <p:cNvSpPr txBox="1"/>
          <p:nvPr/>
        </p:nvSpPr>
        <p:spPr>
          <a:xfrm>
            <a:off x="363500" y="1227250"/>
            <a:ext cx="68544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Theorem:                                                        for </a:t>
            </a:r>
            <a:endParaRPr sz="1800">
              <a:solidFill>
                <a:schemeClr val="dk1"/>
              </a:solidFill>
            </a:endParaRPr>
          </a:p>
        </p:txBody>
      </p:sp>
      <p:sp>
        <p:nvSpPr>
          <p:cNvPr id="1246" name="Google Shape;1246;p77"/>
          <p:cNvSpPr txBox="1"/>
          <p:nvPr/>
        </p:nvSpPr>
        <p:spPr>
          <a:xfrm>
            <a:off x="298500" y="1836191"/>
            <a:ext cx="8384100" cy="2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 where C is a constant independent of 𝚹, and non-negative, i.e. L</a:t>
            </a:r>
            <a:r>
              <a:rPr lang="en" sz="1600" baseline="-25000">
                <a:solidFill>
                  <a:schemeClr val="dk1"/>
                </a:solidFill>
              </a:rPr>
              <a:t>CFM</a:t>
            </a:r>
            <a:r>
              <a:rPr lang="en" sz="1600">
                <a:solidFill>
                  <a:schemeClr val="dk1"/>
                </a:solidFill>
              </a:rPr>
              <a:t> is shifted above L</a:t>
            </a:r>
            <a:r>
              <a:rPr lang="en" sz="1600" baseline="-25000">
                <a:solidFill>
                  <a:schemeClr val="dk1"/>
                </a:solidFill>
              </a:rPr>
              <a:t>FM</a:t>
            </a:r>
            <a:endParaRPr sz="1600" baseline="-25000">
              <a:solidFill>
                <a:schemeClr val="dk1"/>
              </a:solidFill>
            </a:endParaRPr>
          </a:p>
        </p:txBody>
      </p:sp>
      <p:cxnSp>
        <p:nvCxnSpPr>
          <p:cNvPr id="1247" name="Google Shape;1247;p77"/>
          <p:cNvCxnSpPr/>
          <p:nvPr/>
        </p:nvCxnSpPr>
        <p:spPr>
          <a:xfrm rot="10800000">
            <a:off x="1418296" y="2401672"/>
            <a:ext cx="0" cy="1805100"/>
          </a:xfrm>
          <a:prstGeom prst="straightConnector1">
            <a:avLst/>
          </a:prstGeom>
          <a:noFill/>
          <a:ln w="9525" cap="flat" cmpd="sng">
            <a:solidFill>
              <a:schemeClr val="dk1"/>
            </a:solidFill>
            <a:prstDash val="solid"/>
            <a:round/>
            <a:headEnd type="none" w="med" len="med"/>
            <a:tailEnd type="triangle" w="med" len="med"/>
          </a:ln>
        </p:spPr>
      </p:cxnSp>
      <p:cxnSp>
        <p:nvCxnSpPr>
          <p:cNvPr id="1248" name="Google Shape;1248;p77"/>
          <p:cNvCxnSpPr/>
          <p:nvPr/>
        </p:nvCxnSpPr>
        <p:spPr>
          <a:xfrm>
            <a:off x="1418296" y="4206772"/>
            <a:ext cx="4012500" cy="0"/>
          </a:xfrm>
          <a:prstGeom prst="straightConnector1">
            <a:avLst/>
          </a:prstGeom>
          <a:noFill/>
          <a:ln w="9525" cap="flat" cmpd="sng">
            <a:solidFill>
              <a:schemeClr val="dk1"/>
            </a:solidFill>
            <a:prstDash val="solid"/>
            <a:round/>
            <a:headEnd type="none" w="med" len="med"/>
            <a:tailEnd type="triangle" w="med" len="med"/>
          </a:ln>
        </p:spPr>
      </p:cxnSp>
      <p:sp>
        <p:nvSpPr>
          <p:cNvPr id="1249" name="Google Shape;1249;p77"/>
          <p:cNvSpPr/>
          <p:nvPr/>
        </p:nvSpPr>
        <p:spPr>
          <a:xfrm>
            <a:off x="1635821" y="2488633"/>
            <a:ext cx="3610200" cy="1244200"/>
          </a:xfrm>
          <a:custGeom>
            <a:avLst/>
            <a:gdLst/>
            <a:ahLst/>
            <a:cxnLst/>
            <a:rect l="l" t="t" r="r" b="b"/>
            <a:pathLst>
              <a:path w="144408" h="49768" extrusionOk="0">
                <a:moveTo>
                  <a:pt x="0" y="6399"/>
                </a:moveTo>
                <a:cubicBezTo>
                  <a:pt x="1326" y="8932"/>
                  <a:pt x="4861" y="17686"/>
                  <a:pt x="7955" y="21595"/>
                </a:cubicBezTo>
                <a:cubicBezTo>
                  <a:pt x="11049" y="25504"/>
                  <a:pt x="14585" y="27982"/>
                  <a:pt x="18563" y="29854"/>
                </a:cubicBezTo>
                <a:cubicBezTo>
                  <a:pt x="22541" y="31726"/>
                  <a:pt x="27072" y="31891"/>
                  <a:pt x="31823" y="32827"/>
                </a:cubicBezTo>
                <a:cubicBezTo>
                  <a:pt x="36575" y="33763"/>
                  <a:pt x="42486" y="33983"/>
                  <a:pt x="47072" y="35470"/>
                </a:cubicBezTo>
                <a:cubicBezTo>
                  <a:pt x="51658" y="36957"/>
                  <a:pt x="55691" y="39717"/>
                  <a:pt x="59337" y="41747"/>
                </a:cubicBezTo>
                <a:cubicBezTo>
                  <a:pt x="62983" y="43777"/>
                  <a:pt x="65027" y="46335"/>
                  <a:pt x="68949" y="47649"/>
                </a:cubicBezTo>
                <a:cubicBezTo>
                  <a:pt x="72872" y="48963"/>
                  <a:pt x="77900" y="50183"/>
                  <a:pt x="82872" y="49632"/>
                </a:cubicBezTo>
                <a:cubicBezTo>
                  <a:pt x="87844" y="49082"/>
                  <a:pt x="94695" y="46541"/>
                  <a:pt x="98783" y="44346"/>
                </a:cubicBezTo>
                <a:cubicBezTo>
                  <a:pt x="102871" y="42151"/>
                  <a:pt x="104419" y="39710"/>
                  <a:pt x="107402" y="36461"/>
                </a:cubicBezTo>
                <a:cubicBezTo>
                  <a:pt x="110385" y="33213"/>
                  <a:pt x="113865" y="28111"/>
                  <a:pt x="116683" y="24855"/>
                </a:cubicBezTo>
                <a:cubicBezTo>
                  <a:pt x="119501" y="21599"/>
                  <a:pt x="122374" y="18853"/>
                  <a:pt x="124308" y="16926"/>
                </a:cubicBezTo>
                <a:cubicBezTo>
                  <a:pt x="126242" y="14999"/>
                  <a:pt x="126849" y="14661"/>
                  <a:pt x="128286" y="13292"/>
                </a:cubicBezTo>
                <a:cubicBezTo>
                  <a:pt x="129723" y="11923"/>
                  <a:pt x="130884" y="10521"/>
                  <a:pt x="132928" y="8711"/>
                </a:cubicBezTo>
                <a:cubicBezTo>
                  <a:pt x="134972" y="6901"/>
                  <a:pt x="138639" y="3886"/>
                  <a:pt x="140552" y="2434"/>
                </a:cubicBezTo>
                <a:cubicBezTo>
                  <a:pt x="142465" y="982"/>
                  <a:pt x="143765" y="406"/>
                  <a:pt x="144408" y="0"/>
                </a:cubicBezTo>
              </a:path>
            </a:pathLst>
          </a:custGeom>
          <a:noFill/>
          <a:ln w="9525" cap="flat" cmpd="sng">
            <a:solidFill>
              <a:schemeClr val="accent1"/>
            </a:solidFill>
            <a:prstDash val="solid"/>
            <a:round/>
            <a:headEnd type="none" w="med" len="med"/>
            <a:tailEnd type="none" w="med" len="med"/>
          </a:ln>
        </p:spPr>
        <p:txBody>
          <a:bodyPr/>
          <a:lstStyle/>
          <a:p>
            <a:endParaRPr lang="en-US"/>
          </a:p>
        </p:txBody>
      </p:sp>
      <p:sp>
        <p:nvSpPr>
          <p:cNvPr id="1250" name="Google Shape;1250;p77"/>
          <p:cNvSpPr/>
          <p:nvPr/>
        </p:nvSpPr>
        <p:spPr>
          <a:xfrm>
            <a:off x="1619495" y="2945348"/>
            <a:ext cx="3604775" cy="1244250"/>
          </a:xfrm>
          <a:custGeom>
            <a:avLst/>
            <a:gdLst/>
            <a:ahLst/>
            <a:cxnLst/>
            <a:rect l="l" t="t" r="r" b="b"/>
            <a:pathLst>
              <a:path w="144191" h="49770" extrusionOk="0">
                <a:moveTo>
                  <a:pt x="0" y="6401"/>
                </a:moveTo>
                <a:cubicBezTo>
                  <a:pt x="1326" y="8934"/>
                  <a:pt x="4861" y="17688"/>
                  <a:pt x="7955" y="21597"/>
                </a:cubicBezTo>
                <a:cubicBezTo>
                  <a:pt x="11049" y="25506"/>
                  <a:pt x="14585" y="27984"/>
                  <a:pt x="18563" y="29856"/>
                </a:cubicBezTo>
                <a:cubicBezTo>
                  <a:pt x="22541" y="31728"/>
                  <a:pt x="27072" y="31893"/>
                  <a:pt x="31823" y="32829"/>
                </a:cubicBezTo>
                <a:cubicBezTo>
                  <a:pt x="36574" y="33765"/>
                  <a:pt x="42485" y="33985"/>
                  <a:pt x="47071" y="35472"/>
                </a:cubicBezTo>
                <a:cubicBezTo>
                  <a:pt x="51657" y="36959"/>
                  <a:pt x="55691" y="39719"/>
                  <a:pt x="59337" y="41749"/>
                </a:cubicBezTo>
                <a:cubicBezTo>
                  <a:pt x="62983" y="43779"/>
                  <a:pt x="65027" y="46337"/>
                  <a:pt x="68949" y="47651"/>
                </a:cubicBezTo>
                <a:cubicBezTo>
                  <a:pt x="72872" y="48965"/>
                  <a:pt x="77900" y="50185"/>
                  <a:pt x="82872" y="49634"/>
                </a:cubicBezTo>
                <a:cubicBezTo>
                  <a:pt x="87844" y="49083"/>
                  <a:pt x="94695" y="46542"/>
                  <a:pt x="98783" y="44347"/>
                </a:cubicBezTo>
                <a:cubicBezTo>
                  <a:pt x="102871" y="42152"/>
                  <a:pt x="104419" y="39712"/>
                  <a:pt x="107402" y="36463"/>
                </a:cubicBezTo>
                <a:cubicBezTo>
                  <a:pt x="110385" y="33215"/>
                  <a:pt x="113865" y="28112"/>
                  <a:pt x="116683" y="24856"/>
                </a:cubicBezTo>
                <a:cubicBezTo>
                  <a:pt x="119501" y="21600"/>
                  <a:pt x="122374" y="18855"/>
                  <a:pt x="124308" y="16928"/>
                </a:cubicBezTo>
                <a:cubicBezTo>
                  <a:pt x="126242" y="15001"/>
                  <a:pt x="126849" y="14663"/>
                  <a:pt x="128285" y="13294"/>
                </a:cubicBezTo>
                <a:cubicBezTo>
                  <a:pt x="129722" y="11925"/>
                  <a:pt x="130883" y="10523"/>
                  <a:pt x="132927" y="8713"/>
                </a:cubicBezTo>
                <a:cubicBezTo>
                  <a:pt x="134971" y="6903"/>
                  <a:pt x="138674" y="3888"/>
                  <a:pt x="140551" y="2436"/>
                </a:cubicBezTo>
                <a:cubicBezTo>
                  <a:pt x="142428" y="984"/>
                  <a:pt x="143584" y="406"/>
                  <a:pt x="144191" y="0"/>
                </a:cubicBezTo>
              </a:path>
            </a:pathLst>
          </a:custGeom>
          <a:noFill/>
          <a:ln w="9525" cap="flat" cmpd="sng">
            <a:solidFill>
              <a:srgbClr val="FF9900"/>
            </a:solidFill>
            <a:prstDash val="solid"/>
            <a:round/>
            <a:headEnd type="none" w="med" len="med"/>
            <a:tailEnd type="none" w="med" len="med"/>
          </a:ln>
        </p:spPr>
        <p:txBody>
          <a:bodyPr/>
          <a:lstStyle/>
          <a:p>
            <a:endParaRPr lang="en-US"/>
          </a:p>
        </p:txBody>
      </p:sp>
      <p:sp>
        <p:nvSpPr>
          <p:cNvPr id="1251" name="Google Shape;1251;p77"/>
          <p:cNvSpPr/>
          <p:nvPr/>
        </p:nvSpPr>
        <p:spPr>
          <a:xfrm>
            <a:off x="3571395" y="4141524"/>
            <a:ext cx="108900" cy="1089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52" name="Google Shape;1252;p77"/>
          <p:cNvCxnSpPr/>
          <p:nvPr/>
        </p:nvCxnSpPr>
        <p:spPr>
          <a:xfrm flipH="1">
            <a:off x="2494939" y="3325964"/>
            <a:ext cx="10800" cy="456600"/>
          </a:xfrm>
          <a:prstGeom prst="straightConnector1">
            <a:avLst/>
          </a:prstGeom>
          <a:noFill/>
          <a:ln w="9525" cap="flat" cmpd="sng">
            <a:solidFill>
              <a:schemeClr val="dk2"/>
            </a:solidFill>
            <a:prstDash val="solid"/>
            <a:round/>
            <a:headEnd type="none" w="med" len="med"/>
            <a:tailEnd type="none" w="med" len="med"/>
          </a:ln>
        </p:spPr>
      </p:cxnSp>
      <p:cxnSp>
        <p:nvCxnSpPr>
          <p:cNvPr id="1253" name="Google Shape;1253;p77"/>
          <p:cNvCxnSpPr/>
          <p:nvPr/>
        </p:nvCxnSpPr>
        <p:spPr>
          <a:xfrm flipH="1">
            <a:off x="4751503" y="2901909"/>
            <a:ext cx="10800" cy="456600"/>
          </a:xfrm>
          <a:prstGeom prst="straightConnector1">
            <a:avLst/>
          </a:prstGeom>
          <a:noFill/>
          <a:ln w="9525" cap="flat" cmpd="sng">
            <a:solidFill>
              <a:schemeClr val="dk2"/>
            </a:solidFill>
            <a:prstDash val="solid"/>
            <a:round/>
            <a:headEnd type="none" w="med" len="med"/>
            <a:tailEnd type="none" w="med" len="med"/>
          </a:ln>
        </p:spPr>
      </p:cxnSp>
      <p:cxnSp>
        <p:nvCxnSpPr>
          <p:cNvPr id="1254" name="Google Shape;1254;p77"/>
          <p:cNvCxnSpPr/>
          <p:nvPr/>
        </p:nvCxnSpPr>
        <p:spPr>
          <a:xfrm flipH="1">
            <a:off x="1733733" y="2880222"/>
            <a:ext cx="10800" cy="456600"/>
          </a:xfrm>
          <a:prstGeom prst="straightConnector1">
            <a:avLst/>
          </a:prstGeom>
          <a:noFill/>
          <a:ln w="9525" cap="flat" cmpd="sng">
            <a:solidFill>
              <a:schemeClr val="dk2"/>
            </a:solidFill>
            <a:prstDash val="solid"/>
            <a:round/>
            <a:headEnd type="none" w="med" len="med"/>
            <a:tailEnd type="none" w="med" len="med"/>
          </a:ln>
        </p:spPr>
      </p:cxnSp>
      <p:sp>
        <p:nvSpPr>
          <p:cNvPr id="1255" name="Google Shape;1255;p77"/>
          <p:cNvSpPr txBox="1"/>
          <p:nvPr/>
        </p:nvSpPr>
        <p:spPr>
          <a:xfrm>
            <a:off x="1679375" y="2999644"/>
            <a:ext cx="4023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a:t>
            </a:r>
            <a:endParaRPr sz="1800">
              <a:solidFill>
                <a:schemeClr val="dk1"/>
              </a:solidFill>
            </a:endParaRPr>
          </a:p>
        </p:txBody>
      </p:sp>
      <p:sp>
        <p:nvSpPr>
          <p:cNvPr id="1256" name="Google Shape;1256;p77"/>
          <p:cNvSpPr txBox="1"/>
          <p:nvPr/>
        </p:nvSpPr>
        <p:spPr>
          <a:xfrm>
            <a:off x="2439304" y="3347644"/>
            <a:ext cx="4023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a:t>
            </a:r>
            <a:endParaRPr sz="1800">
              <a:solidFill>
                <a:schemeClr val="dk1"/>
              </a:solidFill>
            </a:endParaRPr>
          </a:p>
        </p:txBody>
      </p:sp>
      <p:sp>
        <p:nvSpPr>
          <p:cNvPr id="1257" name="Google Shape;1257;p77"/>
          <p:cNvSpPr txBox="1"/>
          <p:nvPr/>
        </p:nvSpPr>
        <p:spPr>
          <a:xfrm>
            <a:off x="3576958" y="3728198"/>
            <a:ext cx="4023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a:t>
            </a:r>
            <a:endParaRPr sz="1800">
              <a:solidFill>
                <a:schemeClr val="dk1"/>
              </a:solidFill>
            </a:endParaRPr>
          </a:p>
        </p:txBody>
      </p:sp>
      <p:sp>
        <p:nvSpPr>
          <p:cNvPr id="1258" name="Google Shape;1258;p77"/>
          <p:cNvSpPr txBox="1"/>
          <p:nvPr/>
        </p:nvSpPr>
        <p:spPr>
          <a:xfrm>
            <a:off x="4708004" y="2782494"/>
            <a:ext cx="4023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C</a:t>
            </a:r>
            <a:endParaRPr sz="1800">
              <a:solidFill>
                <a:schemeClr val="dk1"/>
              </a:solidFill>
            </a:endParaRPr>
          </a:p>
        </p:txBody>
      </p:sp>
      <p:sp>
        <p:nvSpPr>
          <p:cNvPr id="1259" name="Google Shape;1259;p77"/>
          <p:cNvSpPr txBox="1"/>
          <p:nvPr/>
        </p:nvSpPr>
        <p:spPr>
          <a:xfrm>
            <a:off x="5322132" y="4087217"/>
            <a:ext cx="402300"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𝚹</a:t>
            </a:r>
            <a:endParaRPr sz="1800">
              <a:solidFill>
                <a:schemeClr val="dk1"/>
              </a:solidFill>
            </a:endParaRPr>
          </a:p>
        </p:txBody>
      </p:sp>
      <p:sp>
        <p:nvSpPr>
          <p:cNvPr id="1260" name="Google Shape;1260;p77"/>
          <p:cNvSpPr txBox="1"/>
          <p:nvPr/>
        </p:nvSpPr>
        <p:spPr>
          <a:xfrm>
            <a:off x="3457251" y="4141522"/>
            <a:ext cx="5982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𝚹</a:t>
            </a:r>
            <a:r>
              <a:rPr lang="en"/>
              <a:t>*</a:t>
            </a:r>
            <a:endParaRPr sz="1800">
              <a:solidFill>
                <a:schemeClr val="dk1"/>
              </a:solidFill>
            </a:endParaRPr>
          </a:p>
        </p:txBody>
      </p:sp>
      <p:sp>
        <p:nvSpPr>
          <p:cNvPr id="1261" name="Google Shape;1261;p77"/>
          <p:cNvSpPr txBox="1"/>
          <p:nvPr/>
        </p:nvSpPr>
        <p:spPr>
          <a:xfrm>
            <a:off x="5768021" y="2685897"/>
            <a:ext cx="2609700" cy="134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L</a:t>
            </a:r>
            <a:r>
              <a:rPr lang="en" baseline="-25000">
                <a:solidFill>
                  <a:schemeClr val="dk1"/>
                </a:solidFill>
              </a:rPr>
              <a:t>FM​</a:t>
            </a:r>
            <a:r>
              <a:rPr lang="en">
                <a:solidFill>
                  <a:schemeClr val="dk1"/>
                </a:solidFill>
              </a:rPr>
              <a:t> can reach zero, whereas L</a:t>
            </a:r>
            <a:r>
              <a:rPr lang="en" baseline="-25000">
                <a:solidFill>
                  <a:schemeClr val="dk1"/>
                </a:solidFill>
              </a:rPr>
              <a:t>CFM</a:t>
            </a:r>
            <a:r>
              <a:rPr lang="en">
                <a:solidFill>
                  <a:schemeClr val="dk1"/>
                </a:solidFill>
              </a:rPr>
              <a:t>​ generally does not. The two losses differ by a non-negative constant C. </a:t>
            </a:r>
            <a:endParaRPr>
              <a:solidFill>
                <a:schemeClr val="dk1"/>
              </a:solidFill>
            </a:endParaRPr>
          </a:p>
        </p:txBody>
      </p:sp>
      <p:sp>
        <p:nvSpPr>
          <p:cNvPr id="1262" name="Google Shape;1262;p77"/>
          <p:cNvSpPr txBox="1"/>
          <p:nvPr/>
        </p:nvSpPr>
        <p:spPr>
          <a:xfrm>
            <a:off x="244050" y="4582350"/>
            <a:ext cx="86559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We don’t care about the value of L</a:t>
            </a:r>
            <a:r>
              <a:rPr lang="en" sz="1200" baseline="-25000">
                <a:solidFill>
                  <a:schemeClr val="dk1"/>
                </a:solidFill>
              </a:rPr>
              <a:t>CFM</a:t>
            </a:r>
            <a:r>
              <a:rPr lang="en" sz="1200">
                <a:solidFill>
                  <a:schemeClr val="dk1"/>
                </a:solidFill>
              </a:rPr>
              <a:t> on the y-axis actually. We only care about 𝚹*. And 𝚹* is the same for both L</a:t>
            </a:r>
            <a:r>
              <a:rPr lang="en" sz="1200" baseline="-25000">
                <a:solidFill>
                  <a:schemeClr val="dk1"/>
                </a:solidFill>
              </a:rPr>
              <a:t>FM</a:t>
            </a:r>
            <a:r>
              <a:rPr lang="en" sz="1200">
                <a:solidFill>
                  <a:schemeClr val="dk1"/>
                </a:solidFill>
              </a:rPr>
              <a:t> and L</a:t>
            </a:r>
            <a:r>
              <a:rPr lang="en" sz="1200" baseline="-25000">
                <a:solidFill>
                  <a:schemeClr val="dk1"/>
                </a:solidFill>
              </a:rPr>
              <a:t>CFM</a:t>
            </a:r>
            <a:r>
              <a:rPr lang="en" sz="1200">
                <a:solidFill>
                  <a:schemeClr val="dk1"/>
                </a:solidFill>
              </a:rPr>
              <a:t>.</a:t>
            </a:r>
            <a:endParaRPr sz="1200">
              <a:solidFill>
                <a:schemeClr val="dk1"/>
              </a:solidFill>
            </a:endParaRPr>
          </a:p>
        </p:txBody>
      </p:sp>
      <p:pic>
        <p:nvPicPr>
          <p:cNvPr id="1263" name="Google Shape;1263;p77"/>
          <p:cNvPicPr preferRelativeResize="0"/>
          <p:nvPr/>
        </p:nvPicPr>
        <p:blipFill>
          <a:blip r:embed="rId3">
            <a:alphaModFix/>
          </a:blip>
          <a:stretch>
            <a:fillRect/>
          </a:stretch>
        </p:blipFill>
        <p:spPr>
          <a:xfrm>
            <a:off x="1619500" y="1247600"/>
            <a:ext cx="3237810" cy="391500"/>
          </a:xfrm>
          <a:prstGeom prst="rect">
            <a:avLst/>
          </a:prstGeom>
          <a:noFill/>
          <a:ln>
            <a:noFill/>
          </a:ln>
        </p:spPr>
      </p:pic>
      <p:pic>
        <p:nvPicPr>
          <p:cNvPr id="1264" name="Google Shape;1264;p77"/>
          <p:cNvPicPr preferRelativeResize="0"/>
          <p:nvPr/>
        </p:nvPicPr>
        <p:blipFill>
          <a:blip r:embed="rId4">
            <a:alphaModFix/>
          </a:blip>
          <a:stretch>
            <a:fillRect/>
          </a:stretch>
        </p:blipFill>
        <p:spPr>
          <a:xfrm>
            <a:off x="5362647" y="1296348"/>
            <a:ext cx="790439" cy="294000"/>
          </a:xfrm>
          <a:prstGeom prst="rect">
            <a:avLst/>
          </a:prstGeom>
          <a:noFill/>
          <a:ln>
            <a:noFill/>
          </a:ln>
        </p:spPr>
      </p:pic>
      <p:sp>
        <p:nvSpPr>
          <p:cNvPr id="1265" name="Google Shape;1265;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269"/>
        <p:cNvGrpSpPr/>
        <p:nvPr/>
      </p:nvGrpSpPr>
      <p:grpSpPr>
        <a:xfrm>
          <a:off x="0" y="0"/>
          <a:ext cx="0" cy="0"/>
          <a:chOff x="0" y="0"/>
          <a:chExt cx="0" cy="0"/>
        </a:xfrm>
      </p:grpSpPr>
      <p:sp>
        <p:nvSpPr>
          <p:cNvPr id="1270" name="Google Shape;1270;p78"/>
          <p:cNvSpPr txBox="1"/>
          <p:nvPr/>
        </p:nvSpPr>
        <p:spPr>
          <a:xfrm>
            <a:off x="41586" y="831655"/>
            <a:ext cx="8079600" cy="59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There are 2 important properties that follow:</a:t>
            </a:r>
            <a:endParaRPr sz="1800">
              <a:solidFill>
                <a:schemeClr val="dk1"/>
              </a:solidFill>
            </a:endParaRPr>
          </a:p>
        </p:txBody>
      </p:sp>
      <p:sp>
        <p:nvSpPr>
          <p:cNvPr id="1271" name="Google Shape;1271;p78"/>
          <p:cNvSpPr txBox="1"/>
          <p:nvPr/>
        </p:nvSpPr>
        <p:spPr>
          <a:xfrm>
            <a:off x="-1918" y="1451473"/>
            <a:ext cx="7916400" cy="483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arenR"/>
            </a:pPr>
            <a:r>
              <a:rPr lang="en" sz="1800">
                <a:solidFill>
                  <a:schemeClr val="dk1"/>
                </a:solidFill>
              </a:rPr>
              <a:t>For minimizer 𝚹* of L</a:t>
            </a:r>
            <a:r>
              <a:rPr lang="en" sz="1800" baseline="-25000">
                <a:solidFill>
                  <a:schemeClr val="dk1"/>
                </a:solidFill>
              </a:rPr>
              <a:t>CFM</a:t>
            </a:r>
            <a:r>
              <a:rPr lang="en" sz="1800">
                <a:solidFill>
                  <a:schemeClr val="dk1"/>
                </a:solidFill>
              </a:rPr>
              <a:t> :  </a:t>
            </a:r>
            <a:endParaRPr sz="1800">
              <a:solidFill>
                <a:schemeClr val="dk1"/>
              </a:solidFill>
            </a:endParaRPr>
          </a:p>
        </p:txBody>
      </p:sp>
      <p:sp>
        <p:nvSpPr>
          <p:cNvPr id="1272" name="Google Shape;1272;p78"/>
          <p:cNvSpPr txBox="1"/>
          <p:nvPr/>
        </p:nvSpPr>
        <p:spPr>
          <a:xfrm>
            <a:off x="2367539" y="-15575"/>
            <a:ext cx="43164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Consequences of the Constant Offset</a:t>
            </a:r>
            <a:endParaRPr sz="1800" b="1">
              <a:solidFill>
                <a:schemeClr val="dk1"/>
              </a:solidFill>
            </a:endParaRPr>
          </a:p>
        </p:txBody>
      </p:sp>
      <p:pic>
        <p:nvPicPr>
          <p:cNvPr id="1273" name="Google Shape;1273;p78"/>
          <p:cNvPicPr preferRelativeResize="0"/>
          <p:nvPr/>
        </p:nvPicPr>
        <p:blipFill>
          <a:blip r:embed="rId3">
            <a:alphaModFix/>
          </a:blip>
          <a:stretch>
            <a:fillRect/>
          </a:stretch>
        </p:blipFill>
        <p:spPr>
          <a:xfrm>
            <a:off x="3214258" y="1407992"/>
            <a:ext cx="1845550" cy="482950"/>
          </a:xfrm>
          <a:prstGeom prst="rect">
            <a:avLst/>
          </a:prstGeom>
          <a:noFill/>
          <a:ln>
            <a:noFill/>
          </a:ln>
        </p:spPr>
      </p:pic>
      <p:sp>
        <p:nvSpPr>
          <p:cNvPr id="1274" name="Google Shape;1274;p78"/>
          <p:cNvSpPr txBox="1"/>
          <p:nvPr/>
        </p:nvSpPr>
        <p:spPr>
          <a:xfrm>
            <a:off x="498296" y="1956100"/>
            <a:ext cx="8460000" cy="77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So if we train perfectly, we will reach this equality =&gt; if we simulate our neural net model, we will have noise being converted into data, which was our overall goal.</a:t>
            </a:r>
            <a:endParaRPr sz="1800">
              <a:solidFill>
                <a:schemeClr val="dk1"/>
              </a:solidFill>
            </a:endParaRPr>
          </a:p>
        </p:txBody>
      </p:sp>
      <p:pic>
        <p:nvPicPr>
          <p:cNvPr id="1275" name="Google Shape;1275;p78"/>
          <p:cNvPicPr preferRelativeResize="0"/>
          <p:nvPr/>
        </p:nvPicPr>
        <p:blipFill>
          <a:blip r:embed="rId4">
            <a:alphaModFix/>
          </a:blip>
          <a:stretch>
            <a:fillRect/>
          </a:stretch>
        </p:blipFill>
        <p:spPr>
          <a:xfrm>
            <a:off x="548553" y="3093250"/>
            <a:ext cx="4661478" cy="335350"/>
          </a:xfrm>
          <a:prstGeom prst="rect">
            <a:avLst/>
          </a:prstGeom>
          <a:noFill/>
          <a:ln>
            <a:noFill/>
          </a:ln>
        </p:spPr>
      </p:pic>
      <p:sp>
        <p:nvSpPr>
          <p:cNvPr id="1276" name="Google Shape;1276;p78"/>
          <p:cNvSpPr txBox="1"/>
          <p:nvPr/>
        </p:nvSpPr>
        <p:spPr>
          <a:xfrm>
            <a:off x="41580" y="3033130"/>
            <a:ext cx="517500" cy="48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a:t>
            </a:r>
            <a:endParaRPr sz="1800">
              <a:solidFill>
                <a:schemeClr val="dk1"/>
              </a:solidFill>
            </a:endParaRPr>
          </a:p>
        </p:txBody>
      </p:sp>
      <p:cxnSp>
        <p:nvCxnSpPr>
          <p:cNvPr id="1277" name="Google Shape;1277;p78"/>
          <p:cNvCxnSpPr/>
          <p:nvPr/>
        </p:nvCxnSpPr>
        <p:spPr>
          <a:xfrm rot="10800000" flipH="1">
            <a:off x="4441847" y="3099077"/>
            <a:ext cx="944700" cy="323700"/>
          </a:xfrm>
          <a:prstGeom prst="straightConnector1">
            <a:avLst/>
          </a:prstGeom>
          <a:noFill/>
          <a:ln w="19050" cap="flat" cmpd="sng">
            <a:solidFill>
              <a:srgbClr val="FF0000"/>
            </a:solidFill>
            <a:prstDash val="solid"/>
            <a:round/>
            <a:headEnd type="none" w="med" len="med"/>
            <a:tailEnd type="triangle" w="med" len="med"/>
          </a:ln>
        </p:spPr>
      </p:cxnSp>
      <p:sp>
        <p:nvSpPr>
          <p:cNvPr id="1278" name="Google Shape;1278;p78"/>
          <p:cNvSpPr txBox="1"/>
          <p:nvPr/>
        </p:nvSpPr>
        <p:spPr>
          <a:xfrm>
            <a:off x="5386550" y="2749925"/>
            <a:ext cx="1587600" cy="44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FF0000"/>
                </a:solidFill>
              </a:rPr>
              <a:t>Reduces to zero because the constant C does not depend on 𝚹</a:t>
            </a:r>
            <a:endParaRPr sz="1000">
              <a:solidFill>
                <a:srgbClr val="FF0000"/>
              </a:solidFill>
            </a:endParaRPr>
          </a:p>
        </p:txBody>
      </p:sp>
      <p:pic>
        <p:nvPicPr>
          <p:cNvPr id="1279" name="Google Shape;1279;p78"/>
          <p:cNvPicPr preferRelativeResize="0"/>
          <p:nvPr/>
        </p:nvPicPr>
        <p:blipFill>
          <a:blip r:embed="rId5">
            <a:alphaModFix/>
          </a:blip>
          <a:stretch>
            <a:fillRect/>
          </a:stretch>
        </p:blipFill>
        <p:spPr>
          <a:xfrm>
            <a:off x="718100" y="3820950"/>
            <a:ext cx="3300450" cy="391325"/>
          </a:xfrm>
          <a:prstGeom prst="rect">
            <a:avLst/>
          </a:prstGeom>
          <a:noFill/>
          <a:ln>
            <a:noFill/>
          </a:ln>
        </p:spPr>
      </p:pic>
      <p:sp>
        <p:nvSpPr>
          <p:cNvPr id="1280" name="Google Shape;1280;p78"/>
          <p:cNvSpPr/>
          <p:nvPr/>
        </p:nvSpPr>
        <p:spPr>
          <a:xfrm>
            <a:off x="2367543" y="3528175"/>
            <a:ext cx="193200" cy="1932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1" name="Google Shape;1281;p78"/>
          <p:cNvSpPr txBox="1"/>
          <p:nvPr/>
        </p:nvSpPr>
        <p:spPr>
          <a:xfrm>
            <a:off x="559075" y="4311850"/>
            <a:ext cx="8294400" cy="39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Hence, both losses guide the model toward the same solution. The individual mini-batch updates may differ, but their </a:t>
            </a:r>
            <a:r>
              <a:rPr lang="en" sz="1800" b="1">
                <a:solidFill>
                  <a:schemeClr val="dk1"/>
                </a:solidFill>
              </a:rPr>
              <a:t>average </a:t>
            </a:r>
            <a:r>
              <a:rPr lang="en" sz="1800" b="1" u="sng">
                <a:solidFill>
                  <a:schemeClr val="dk1"/>
                </a:solidFill>
              </a:rPr>
              <a:t>direction </a:t>
            </a:r>
            <a:r>
              <a:rPr lang="en" sz="1800" b="1">
                <a:solidFill>
                  <a:schemeClr val="dk1"/>
                </a:solidFill>
              </a:rPr>
              <a:t>is the same</a:t>
            </a:r>
            <a:r>
              <a:rPr lang="en" sz="1800">
                <a:solidFill>
                  <a:schemeClr val="dk1"/>
                </a:solidFill>
              </a:rPr>
              <a:t>. </a:t>
            </a:r>
            <a:endParaRPr sz="1800">
              <a:solidFill>
                <a:schemeClr val="dk1"/>
              </a:solidFill>
            </a:endParaRPr>
          </a:p>
        </p:txBody>
      </p:sp>
      <p:sp>
        <p:nvSpPr>
          <p:cNvPr id="1282" name="Google Shape;1282;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pic>
        <p:nvPicPr>
          <p:cNvPr id="1287" name="Google Shape;1287;p79"/>
          <p:cNvPicPr preferRelativeResize="0"/>
          <p:nvPr/>
        </p:nvPicPr>
        <p:blipFill>
          <a:blip r:embed="rId3">
            <a:alphaModFix/>
          </a:blip>
          <a:stretch>
            <a:fillRect/>
          </a:stretch>
        </p:blipFill>
        <p:spPr>
          <a:xfrm>
            <a:off x="286450" y="1114150"/>
            <a:ext cx="6298626" cy="2580225"/>
          </a:xfrm>
          <a:prstGeom prst="rect">
            <a:avLst/>
          </a:prstGeom>
          <a:noFill/>
          <a:ln>
            <a:noFill/>
          </a:ln>
        </p:spPr>
      </p:pic>
      <p:sp>
        <p:nvSpPr>
          <p:cNvPr id="1288" name="Google Shape;1288;p79"/>
          <p:cNvSpPr txBox="1"/>
          <p:nvPr/>
        </p:nvSpPr>
        <p:spPr>
          <a:xfrm>
            <a:off x="2126791" y="-15575"/>
            <a:ext cx="48573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General Flow Matching Training Procedure</a:t>
            </a:r>
            <a:endParaRPr sz="1800" b="1">
              <a:solidFill>
                <a:schemeClr val="dk1"/>
              </a:solidFill>
            </a:endParaRPr>
          </a:p>
        </p:txBody>
      </p:sp>
      <p:sp>
        <p:nvSpPr>
          <p:cNvPr id="1289" name="Google Shape;1289;p79"/>
          <p:cNvSpPr txBox="1"/>
          <p:nvPr/>
        </p:nvSpPr>
        <p:spPr>
          <a:xfrm>
            <a:off x="6670550" y="1749150"/>
            <a:ext cx="2473500" cy="69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rPr>
              <a:t>By averaging over many samples drawn by the Data Loader, the empirical mean of the conditional terms approaches the corresponding marginal expectation                 . </a:t>
            </a:r>
            <a:endParaRPr sz="1200" b="1">
              <a:solidFill>
                <a:schemeClr val="dk1"/>
              </a:solidFill>
            </a:endParaRPr>
          </a:p>
        </p:txBody>
      </p:sp>
      <p:cxnSp>
        <p:nvCxnSpPr>
          <p:cNvPr id="1290" name="Google Shape;1290;p79"/>
          <p:cNvCxnSpPr>
            <a:stCxn id="1289" idx="1"/>
          </p:cNvCxnSpPr>
          <p:nvPr/>
        </p:nvCxnSpPr>
        <p:spPr>
          <a:xfrm rot="10800000">
            <a:off x="3508250" y="1720350"/>
            <a:ext cx="3162300" cy="374400"/>
          </a:xfrm>
          <a:prstGeom prst="straightConnector1">
            <a:avLst/>
          </a:prstGeom>
          <a:noFill/>
          <a:ln w="9525" cap="flat" cmpd="sng">
            <a:solidFill>
              <a:srgbClr val="FF0000"/>
            </a:solidFill>
            <a:prstDash val="solid"/>
            <a:round/>
            <a:headEnd type="none" w="med" len="med"/>
            <a:tailEnd type="triangle" w="med" len="med"/>
          </a:ln>
        </p:spPr>
      </p:cxnSp>
      <p:cxnSp>
        <p:nvCxnSpPr>
          <p:cNvPr id="1291" name="Google Shape;1291;p79"/>
          <p:cNvCxnSpPr>
            <a:stCxn id="1289" idx="1"/>
          </p:cNvCxnSpPr>
          <p:nvPr/>
        </p:nvCxnSpPr>
        <p:spPr>
          <a:xfrm flipH="1">
            <a:off x="5039450" y="2094750"/>
            <a:ext cx="1631100" cy="665700"/>
          </a:xfrm>
          <a:prstGeom prst="straightConnector1">
            <a:avLst/>
          </a:prstGeom>
          <a:noFill/>
          <a:ln w="9525" cap="flat" cmpd="sng">
            <a:solidFill>
              <a:srgbClr val="FF0000"/>
            </a:solidFill>
            <a:prstDash val="solid"/>
            <a:round/>
            <a:headEnd type="none" w="med" len="med"/>
            <a:tailEnd type="triangle" w="med" len="med"/>
          </a:ln>
        </p:spPr>
      </p:cxnSp>
      <p:pic>
        <p:nvPicPr>
          <p:cNvPr id="1292" name="Google Shape;1292;p79"/>
          <p:cNvPicPr preferRelativeResize="0"/>
          <p:nvPr/>
        </p:nvPicPr>
        <p:blipFill>
          <a:blip r:embed="rId4">
            <a:alphaModFix/>
          </a:blip>
          <a:stretch>
            <a:fillRect/>
          </a:stretch>
        </p:blipFill>
        <p:spPr>
          <a:xfrm>
            <a:off x="8316168" y="2738702"/>
            <a:ext cx="697850" cy="239275"/>
          </a:xfrm>
          <a:prstGeom prst="rect">
            <a:avLst/>
          </a:prstGeom>
          <a:noFill/>
          <a:ln>
            <a:noFill/>
          </a:ln>
        </p:spPr>
      </p:pic>
      <p:sp>
        <p:nvSpPr>
          <p:cNvPr id="1293" name="Google Shape;1293;p79"/>
          <p:cNvSpPr txBox="1"/>
          <p:nvPr/>
        </p:nvSpPr>
        <p:spPr>
          <a:xfrm>
            <a:off x="450500" y="3989275"/>
            <a:ext cx="8101200" cy="3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The model      has 2 inputs: the time </a:t>
            </a:r>
            <a:r>
              <a:rPr lang="en" sz="1600" i="1">
                <a:solidFill>
                  <a:schemeClr val="dk1"/>
                </a:solidFill>
              </a:rPr>
              <a:t>t</a:t>
            </a:r>
            <a:r>
              <a:rPr lang="en" sz="1600">
                <a:solidFill>
                  <a:schemeClr val="dk1"/>
                </a:solidFill>
              </a:rPr>
              <a:t> and location </a:t>
            </a:r>
            <a:r>
              <a:rPr lang="en" sz="1600" i="1">
                <a:solidFill>
                  <a:schemeClr val="dk1"/>
                </a:solidFill>
              </a:rPr>
              <a:t>x. It then learns to regress towards each data point individually, and in the long run it will learn to create entire datasets.</a:t>
            </a:r>
            <a:endParaRPr sz="1600" i="1">
              <a:solidFill>
                <a:schemeClr val="dk1"/>
              </a:solidFill>
            </a:endParaRPr>
          </a:p>
        </p:txBody>
      </p:sp>
      <p:pic>
        <p:nvPicPr>
          <p:cNvPr id="1294" name="Google Shape;1294;p79"/>
          <p:cNvPicPr preferRelativeResize="0"/>
          <p:nvPr/>
        </p:nvPicPr>
        <p:blipFill>
          <a:blip r:embed="rId5">
            <a:alphaModFix/>
          </a:blip>
          <a:stretch>
            <a:fillRect/>
          </a:stretch>
        </p:blipFill>
        <p:spPr>
          <a:xfrm>
            <a:off x="1568175" y="4017625"/>
            <a:ext cx="226357" cy="312900"/>
          </a:xfrm>
          <a:prstGeom prst="rect">
            <a:avLst/>
          </a:prstGeom>
          <a:noFill/>
          <a:ln>
            <a:noFill/>
          </a:ln>
        </p:spPr>
      </p:pic>
      <p:sp>
        <p:nvSpPr>
          <p:cNvPr id="1295" name="Google Shape;1295;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80"/>
          <p:cNvSpPr txBox="1"/>
          <p:nvPr/>
        </p:nvSpPr>
        <p:spPr>
          <a:xfrm>
            <a:off x="1963897" y="-15575"/>
            <a:ext cx="48336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CFM Loss for a Gaussian Conditional Path</a:t>
            </a:r>
            <a:endParaRPr sz="1800" b="1">
              <a:solidFill>
                <a:schemeClr val="dk1"/>
              </a:solidFill>
            </a:endParaRPr>
          </a:p>
        </p:txBody>
      </p:sp>
      <p:sp>
        <p:nvSpPr>
          <p:cNvPr id="1301" name="Google Shape;1301;p80"/>
          <p:cNvSpPr txBox="1"/>
          <p:nvPr/>
        </p:nvSpPr>
        <p:spPr>
          <a:xfrm>
            <a:off x="172050" y="756325"/>
            <a:ext cx="8746800" cy="77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Note –&gt; we can pick the conditional probability path ourselves, and then we can pick the conditional vector field that does the job we want. This is essentially a design choice that is up to us. Hence, we can choose the Gaussian variants of </a:t>
            </a:r>
            <a:r>
              <a:rPr lang="en" sz="1800" i="1">
                <a:solidFill>
                  <a:schemeClr val="dk1"/>
                </a:solidFill>
              </a:rPr>
              <a:t>p</a:t>
            </a:r>
            <a:r>
              <a:rPr lang="en" sz="1800">
                <a:solidFill>
                  <a:schemeClr val="dk1"/>
                </a:solidFill>
              </a:rPr>
              <a:t> and </a:t>
            </a:r>
            <a:r>
              <a:rPr lang="en" sz="1800" i="1">
                <a:solidFill>
                  <a:schemeClr val="dk1"/>
                </a:solidFill>
              </a:rPr>
              <a:t>u</a:t>
            </a:r>
            <a:r>
              <a:rPr lang="en" sz="1800">
                <a:solidFill>
                  <a:schemeClr val="dk1"/>
                </a:solidFill>
              </a:rPr>
              <a:t>.</a:t>
            </a:r>
            <a:endParaRPr sz="1800">
              <a:solidFill>
                <a:schemeClr val="dk1"/>
              </a:solidFill>
            </a:endParaRPr>
          </a:p>
        </p:txBody>
      </p:sp>
      <p:sp>
        <p:nvSpPr>
          <p:cNvPr id="1302" name="Google Shape;1302;p80"/>
          <p:cNvSpPr txBox="1"/>
          <p:nvPr/>
        </p:nvSpPr>
        <p:spPr>
          <a:xfrm>
            <a:off x="167785" y="1901429"/>
            <a:ext cx="5034900" cy="5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Choose Gaussian probability path:</a:t>
            </a:r>
            <a:endParaRPr sz="1800">
              <a:solidFill>
                <a:schemeClr val="dk1"/>
              </a:solidFill>
            </a:endParaRPr>
          </a:p>
        </p:txBody>
      </p:sp>
      <p:sp>
        <p:nvSpPr>
          <p:cNvPr id="1303" name="Google Shape;1303;p80"/>
          <p:cNvSpPr txBox="1"/>
          <p:nvPr/>
        </p:nvSpPr>
        <p:spPr>
          <a:xfrm>
            <a:off x="167785" y="2684379"/>
            <a:ext cx="56655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Choose Gaussian conditional vector field:</a:t>
            </a:r>
            <a:endParaRPr sz="1800">
              <a:solidFill>
                <a:schemeClr val="dk1"/>
              </a:solidFill>
            </a:endParaRPr>
          </a:p>
        </p:txBody>
      </p:sp>
      <p:pic>
        <p:nvPicPr>
          <p:cNvPr id="1304" name="Google Shape;1304;p80"/>
          <p:cNvPicPr preferRelativeResize="0"/>
          <p:nvPr/>
        </p:nvPicPr>
        <p:blipFill>
          <a:blip r:embed="rId3">
            <a:alphaModFix/>
          </a:blip>
          <a:stretch>
            <a:fillRect/>
          </a:stretch>
        </p:blipFill>
        <p:spPr>
          <a:xfrm>
            <a:off x="4122520" y="1960829"/>
            <a:ext cx="2772136" cy="348000"/>
          </a:xfrm>
          <a:prstGeom prst="rect">
            <a:avLst/>
          </a:prstGeom>
          <a:noFill/>
          <a:ln>
            <a:noFill/>
          </a:ln>
        </p:spPr>
      </p:pic>
      <p:pic>
        <p:nvPicPr>
          <p:cNvPr id="1305" name="Google Shape;1305;p80"/>
          <p:cNvPicPr preferRelativeResize="0"/>
          <p:nvPr/>
        </p:nvPicPr>
        <p:blipFill>
          <a:blip r:embed="rId4">
            <a:alphaModFix/>
          </a:blip>
          <a:stretch>
            <a:fillRect/>
          </a:stretch>
        </p:blipFill>
        <p:spPr>
          <a:xfrm>
            <a:off x="4803946" y="2527702"/>
            <a:ext cx="4027912" cy="770100"/>
          </a:xfrm>
          <a:prstGeom prst="rect">
            <a:avLst/>
          </a:prstGeom>
          <a:noFill/>
          <a:ln>
            <a:noFill/>
          </a:ln>
        </p:spPr>
      </p:pic>
      <p:pic>
        <p:nvPicPr>
          <p:cNvPr id="1306" name="Google Shape;1306;p80"/>
          <p:cNvPicPr preferRelativeResize="0"/>
          <p:nvPr/>
        </p:nvPicPr>
        <p:blipFill>
          <a:blip r:embed="rId5">
            <a:alphaModFix/>
          </a:blip>
          <a:stretch>
            <a:fillRect/>
          </a:stretch>
        </p:blipFill>
        <p:spPr>
          <a:xfrm>
            <a:off x="456828" y="3929900"/>
            <a:ext cx="5893648" cy="348000"/>
          </a:xfrm>
          <a:prstGeom prst="rect">
            <a:avLst/>
          </a:prstGeom>
          <a:noFill/>
          <a:ln>
            <a:noFill/>
          </a:ln>
        </p:spPr>
      </p:pic>
      <p:sp>
        <p:nvSpPr>
          <p:cNvPr id="1307" name="Google Shape;1307;p80"/>
          <p:cNvSpPr txBox="1"/>
          <p:nvPr/>
        </p:nvSpPr>
        <p:spPr>
          <a:xfrm>
            <a:off x="163196" y="3875527"/>
            <a:ext cx="3480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If</a:t>
            </a:r>
            <a:endParaRPr sz="1800">
              <a:solidFill>
                <a:schemeClr val="dk1"/>
              </a:solidFill>
            </a:endParaRPr>
          </a:p>
        </p:txBody>
      </p:sp>
      <p:cxnSp>
        <p:nvCxnSpPr>
          <p:cNvPr id="1308" name="Google Shape;1308;p80"/>
          <p:cNvCxnSpPr/>
          <p:nvPr/>
        </p:nvCxnSpPr>
        <p:spPr>
          <a:xfrm rot="10800000">
            <a:off x="6645963" y="3546619"/>
            <a:ext cx="0" cy="875400"/>
          </a:xfrm>
          <a:prstGeom prst="straightConnector1">
            <a:avLst/>
          </a:prstGeom>
          <a:noFill/>
          <a:ln w="4650" cap="flat" cmpd="sng">
            <a:solidFill>
              <a:schemeClr val="dk1"/>
            </a:solidFill>
            <a:prstDash val="solid"/>
            <a:round/>
            <a:headEnd type="none" w="med" len="med"/>
            <a:tailEnd type="triangle" w="med" len="med"/>
          </a:ln>
        </p:spPr>
      </p:cxnSp>
      <p:cxnSp>
        <p:nvCxnSpPr>
          <p:cNvPr id="1309" name="Google Shape;1309;p80"/>
          <p:cNvCxnSpPr/>
          <p:nvPr/>
        </p:nvCxnSpPr>
        <p:spPr>
          <a:xfrm>
            <a:off x="6645963" y="4422019"/>
            <a:ext cx="1112100" cy="0"/>
          </a:xfrm>
          <a:prstGeom prst="straightConnector1">
            <a:avLst/>
          </a:prstGeom>
          <a:noFill/>
          <a:ln w="4650" cap="flat" cmpd="sng">
            <a:solidFill>
              <a:schemeClr val="dk1"/>
            </a:solidFill>
            <a:prstDash val="solid"/>
            <a:round/>
            <a:headEnd type="none" w="med" len="med"/>
            <a:tailEnd type="triangle" w="med" len="med"/>
          </a:ln>
        </p:spPr>
      </p:cxnSp>
      <p:cxnSp>
        <p:nvCxnSpPr>
          <p:cNvPr id="1310" name="Google Shape;1310;p80"/>
          <p:cNvCxnSpPr/>
          <p:nvPr/>
        </p:nvCxnSpPr>
        <p:spPr>
          <a:xfrm rot="10800000" flipH="1">
            <a:off x="6645952" y="3919508"/>
            <a:ext cx="870300" cy="502500"/>
          </a:xfrm>
          <a:prstGeom prst="straightConnector1">
            <a:avLst/>
          </a:prstGeom>
          <a:noFill/>
          <a:ln w="9350" cap="flat" cmpd="sng">
            <a:solidFill>
              <a:srgbClr val="FF0000"/>
            </a:solidFill>
            <a:prstDash val="solid"/>
            <a:round/>
            <a:headEnd type="none" w="med" len="med"/>
            <a:tailEnd type="none" w="med" len="med"/>
          </a:ln>
        </p:spPr>
      </p:cxnSp>
      <p:cxnSp>
        <p:nvCxnSpPr>
          <p:cNvPr id="1311" name="Google Shape;1311;p80"/>
          <p:cNvCxnSpPr/>
          <p:nvPr/>
        </p:nvCxnSpPr>
        <p:spPr>
          <a:xfrm>
            <a:off x="6645963" y="3928578"/>
            <a:ext cx="867600" cy="493500"/>
          </a:xfrm>
          <a:prstGeom prst="straightConnector1">
            <a:avLst/>
          </a:prstGeom>
          <a:noFill/>
          <a:ln w="9350" cap="flat" cmpd="sng">
            <a:solidFill>
              <a:schemeClr val="dk1"/>
            </a:solidFill>
            <a:prstDash val="solid"/>
            <a:round/>
            <a:headEnd type="none" w="med" len="med"/>
            <a:tailEnd type="none" w="med" len="med"/>
          </a:ln>
        </p:spPr>
      </p:cxnSp>
      <p:pic>
        <p:nvPicPr>
          <p:cNvPr id="1312" name="Google Shape;1312;p80"/>
          <p:cNvPicPr preferRelativeResize="0"/>
          <p:nvPr/>
        </p:nvPicPr>
        <p:blipFill>
          <a:blip r:embed="rId6">
            <a:alphaModFix/>
          </a:blip>
          <a:stretch>
            <a:fillRect/>
          </a:stretch>
        </p:blipFill>
        <p:spPr>
          <a:xfrm>
            <a:off x="7491498" y="3782518"/>
            <a:ext cx="357732" cy="113654"/>
          </a:xfrm>
          <a:prstGeom prst="rect">
            <a:avLst/>
          </a:prstGeom>
          <a:noFill/>
          <a:ln>
            <a:noFill/>
          </a:ln>
        </p:spPr>
      </p:pic>
      <p:pic>
        <p:nvPicPr>
          <p:cNvPr id="1313" name="Google Shape;1313;p80"/>
          <p:cNvPicPr preferRelativeResize="0"/>
          <p:nvPr/>
        </p:nvPicPr>
        <p:blipFill>
          <a:blip r:embed="rId7">
            <a:alphaModFix/>
          </a:blip>
          <a:stretch>
            <a:fillRect/>
          </a:stretch>
        </p:blipFill>
        <p:spPr>
          <a:xfrm>
            <a:off x="6622810" y="4449593"/>
            <a:ext cx="312764" cy="102880"/>
          </a:xfrm>
          <a:prstGeom prst="rect">
            <a:avLst/>
          </a:prstGeom>
          <a:noFill/>
          <a:ln>
            <a:noFill/>
          </a:ln>
        </p:spPr>
      </p:pic>
      <p:pic>
        <p:nvPicPr>
          <p:cNvPr id="1314" name="Google Shape;1314;p80"/>
          <p:cNvPicPr preferRelativeResize="0"/>
          <p:nvPr/>
        </p:nvPicPr>
        <p:blipFill>
          <a:blip r:embed="rId8">
            <a:alphaModFix/>
          </a:blip>
          <a:stretch>
            <a:fillRect/>
          </a:stretch>
        </p:blipFill>
        <p:spPr>
          <a:xfrm>
            <a:off x="7736053" y="4465342"/>
            <a:ext cx="50396" cy="71392"/>
          </a:xfrm>
          <a:prstGeom prst="rect">
            <a:avLst/>
          </a:prstGeom>
          <a:noFill/>
          <a:ln>
            <a:noFill/>
          </a:ln>
        </p:spPr>
      </p:pic>
      <p:pic>
        <p:nvPicPr>
          <p:cNvPr id="1315" name="Google Shape;1315;p80"/>
          <p:cNvPicPr preferRelativeResize="0"/>
          <p:nvPr/>
        </p:nvPicPr>
        <p:blipFill>
          <a:blip r:embed="rId9">
            <a:alphaModFix/>
          </a:blip>
          <a:stretch>
            <a:fillRect/>
          </a:stretch>
        </p:blipFill>
        <p:spPr>
          <a:xfrm>
            <a:off x="7513987" y="4265044"/>
            <a:ext cx="312763" cy="113654"/>
          </a:xfrm>
          <a:prstGeom prst="rect">
            <a:avLst/>
          </a:prstGeom>
          <a:noFill/>
          <a:ln>
            <a:noFill/>
          </a:ln>
        </p:spPr>
      </p:pic>
      <p:pic>
        <p:nvPicPr>
          <p:cNvPr id="1316" name="Google Shape;1316;p80"/>
          <p:cNvPicPr preferRelativeResize="0"/>
          <p:nvPr/>
        </p:nvPicPr>
        <p:blipFill>
          <a:blip r:embed="rId10">
            <a:alphaModFix/>
          </a:blip>
          <a:stretch>
            <a:fillRect/>
          </a:stretch>
        </p:blipFill>
        <p:spPr>
          <a:xfrm>
            <a:off x="6656686" y="3779642"/>
            <a:ext cx="312763" cy="112315"/>
          </a:xfrm>
          <a:prstGeom prst="rect">
            <a:avLst/>
          </a:prstGeom>
          <a:noFill/>
          <a:ln>
            <a:noFill/>
          </a:ln>
        </p:spPr>
      </p:pic>
      <p:pic>
        <p:nvPicPr>
          <p:cNvPr id="1317" name="Google Shape;1317;p80"/>
          <p:cNvPicPr preferRelativeResize="0"/>
          <p:nvPr/>
        </p:nvPicPr>
        <p:blipFill>
          <a:blip r:embed="rId11">
            <a:alphaModFix/>
          </a:blip>
          <a:stretch>
            <a:fillRect/>
          </a:stretch>
        </p:blipFill>
        <p:spPr>
          <a:xfrm>
            <a:off x="8012353" y="3958785"/>
            <a:ext cx="353927" cy="113654"/>
          </a:xfrm>
          <a:prstGeom prst="rect">
            <a:avLst/>
          </a:prstGeom>
          <a:noFill/>
          <a:ln>
            <a:noFill/>
          </a:ln>
        </p:spPr>
      </p:pic>
      <p:pic>
        <p:nvPicPr>
          <p:cNvPr id="1318" name="Google Shape;1318;p80"/>
          <p:cNvPicPr preferRelativeResize="0"/>
          <p:nvPr/>
        </p:nvPicPr>
        <p:blipFill>
          <a:blip r:embed="rId12">
            <a:alphaModFix/>
          </a:blip>
          <a:stretch>
            <a:fillRect/>
          </a:stretch>
        </p:blipFill>
        <p:spPr>
          <a:xfrm>
            <a:off x="8016056" y="4113162"/>
            <a:ext cx="573493" cy="135827"/>
          </a:xfrm>
          <a:prstGeom prst="rect">
            <a:avLst/>
          </a:prstGeom>
          <a:noFill/>
          <a:ln>
            <a:noFill/>
          </a:ln>
        </p:spPr>
      </p:pic>
      <p:sp>
        <p:nvSpPr>
          <p:cNvPr id="1319" name="Google Shape;1319;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pic>
        <p:nvPicPr>
          <p:cNvPr id="1324" name="Google Shape;1324;p81"/>
          <p:cNvPicPr preferRelativeResize="0"/>
          <p:nvPr/>
        </p:nvPicPr>
        <p:blipFill>
          <a:blip r:embed="rId3">
            <a:alphaModFix/>
          </a:blip>
          <a:stretch>
            <a:fillRect/>
          </a:stretch>
        </p:blipFill>
        <p:spPr>
          <a:xfrm>
            <a:off x="971800" y="546784"/>
            <a:ext cx="6416950" cy="1076700"/>
          </a:xfrm>
          <a:prstGeom prst="rect">
            <a:avLst/>
          </a:prstGeom>
          <a:noFill/>
          <a:ln>
            <a:noFill/>
          </a:ln>
        </p:spPr>
      </p:pic>
      <p:sp>
        <p:nvSpPr>
          <p:cNvPr id="1325" name="Google Shape;1325;p81"/>
          <p:cNvSpPr txBox="1"/>
          <p:nvPr/>
        </p:nvSpPr>
        <p:spPr>
          <a:xfrm>
            <a:off x="2614472" y="0"/>
            <a:ext cx="45966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Gaussian CFM Loss: Derivation I </a:t>
            </a:r>
            <a:endParaRPr sz="1800" b="1">
              <a:solidFill>
                <a:schemeClr val="dk1"/>
              </a:solidFill>
            </a:endParaRPr>
          </a:p>
        </p:txBody>
      </p:sp>
      <p:pic>
        <p:nvPicPr>
          <p:cNvPr id="1326" name="Google Shape;1326;p81"/>
          <p:cNvPicPr preferRelativeResize="0"/>
          <p:nvPr/>
        </p:nvPicPr>
        <p:blipFill>
          <a:blip r:embed="rId4">
            <a:alphaModFix/>
          </a:blip>
          <a:stretch>
            <a:fillRect/>
          </a:stretch>
        </p:blipFill>
        <p:spPr>
          <a:xfrm>
            <a:off x="873075" y="2093459"/>
            <a:ext cx="7051580" cy="1076700"/>
          </a:xfrm>
          <a:prstGeom prst="rect">
            <a:avLst/>
          </a:prstGeom>
          <a:noFill/>
          <a:ln>
            <a:noFill/>
          </a:ln>
        </p:spPr>
      </p:pic>
      <p:pic>
        <p:nvPicPr>
          <p:cNvPr id="1327" name="Google Shape;1327;p81"/>
          <p:cNvPicPr preferRelativeResize="0"/>
          <p:nvPr/>
        </p:nvPicPr>
        <p:blipFill>
          <a:blip r:embed="rId5">
            <a:alphaModFix/>
          </a:blip>
          <a:stretch>
            <a:fillRect/>
          </a:stretch>
        </p:blipFill>
        <p:spPr>
          <a:xfrm>
            <a:off x="705176" y="3568858"/>
            <a:ext cx="7968599" cy="1205050"/>
          </a:xfrm>
          <a:prstGeom prst="rect">
            <a:avLst/>
          </a:prstGeom>
          <a:noFill/>
          <a:ln>
            <a:noFill/>
          </a:ln>
        </p:spPr>
      </p:pic>
      <p:pic>
        <p:nvPicPr>
          <p:cNvPr id="1328" name="Google Shape;1328;p81"/>
          <p:cNvPicPr preferRelativeResize="0"/>
          <p:nvPr/>
        </p:nvPicPr>
        <p:blipFill>
          <a:blip r:embed="rId6">
            <a:alphaModFix/>
          </a:blip>
          <a:stretch>
            <a:fillRect/>
          </a:stretch>
        </p:blipFill>
        <p:spPr>
          <a:xfrm>
            <a:off x="2272450" y="1390575"/>
            <a:ext cx="773950" cy="444250"/>
          </a:xfrm>
          <a:prstGeom prst="rect">
            <a:avLst/>
          </a:prstGeom>
          <a:noFill/>
          <a:ln>
            <a:noFill/>
          </a:ln>
        </p:spPr>
      </p:pic>
      <p:cxnSp>
        <p:nvCxnSpPr>
          <p:cNvPr id="1329" name="Google Shape;1329;p81"/>
          <p:cNvCxnSpPr>
            <a:stCxn id="1330" idx="2"/>
          </p:cNvCxnSpPr>
          <p:nvPr/>
        </p:nvCxnSpPr>
        <p:spPr>
          <a:xfrm flipH="1">
            <a:off x="2659847" y="1888541"/>
            <a:ext cx="4800" cy="548400"/>
          </a:xfrm>
          <a:prstGeom prst="straightConnector1">
            <a:avLst/>
          </a:prstGeom>
          <a:noFill/>
          <a:ln w="9525" cap="flat" cmpd="sng">
            <a:solidFill>
              <a:srgbClr val="FF0000"/>
            </a:solidFill>
            <a:prstDash val="solid"/>
            <a:round/>
            <a:headEnd type="none" w="med" len="med"/>
            <a:tailEnd type="triangle" w="med" len="med"/>
          </a:ln>
        </p:spPr>
      </p:cxnSp>
      <p:cxnSp>
        <p:nvCxnSpPr>
          <p:cNvPr id="1331" name="Google Shape;1331;p81"/>
          <p:cNvCxnSpPr>
            <a:stCxn id="1330" idx="3"/>
          </p:cNvCxnSpPr>
          <p:nvPr/>
        </p:nvCxnSpPr>
        <p:spPr>
          <a:xfrm>
            <a:off x="3094097" y="1779941"/>
            <a:ext cx="3653100" cy="588000"/>
          </a:xfrm>
          <a:prstGeom prst="straightConnector1">
            <a:avLst/>
          </a:prstGeom>
          <a:noFill/>
          <a:ln w="9525" cap="flat" cmpd="sng">
            <a:solidFill>
              <a:srgbClr val="FF0000"/>
            </a:solidFill>
            <a:prstDash val="solid"/>
            <a:round/>
            <a:headEnd type="none" w="med" len="med"/>
            <a:tailEnd type="triangle" w="med" len="med"/>
          </a:ln>
        </p:spPr>
      </p:cxnSp>
      <p:pic>
        <p:nvPicPr>
          <p:cNvPr id="1332" name="Google Shape;1332;p81"/>
          <p:cNvPicPr preferRelativeResize="0"/>
          <p:nvPr/>
        </p:nvPicPr>
        <p:blipFill>
          <a:blip r:embed="rId7">
            <a:alphaModFix/>
          </a:blip>
          <a:stretch>
            <a:fillRect/>
          </a:stretch>
        </p:blipFill>
        <p:spPr>
          <a:xfrm>
            <a:off x="915900" y="2930733"/>
            <a:ext cx="773950" cy="547376"/>
          </a:xfrm>
          <a:prstGeom prst="rect">
            <a:avLst/>
          </a:prstGeom>
          <a:noFill/>
          <a:ln>
            <a:noFill/>
          </a:ln>
        </p:spPr>
      </p:pic>
      <p:sp>
        <p:nvSpPr>
          <p:cNvPr id="1330" name="Google Shape;1330;p81"/>
          <p:cNvSpPr/>
          <p:nvPr/>
        </p:nvSpPr>
        <p:spPr>
          <a:xfrm>
            <a:off x="2235197" y="1671341"/>
            <a:ext cx="858900" cy="217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3" name="Google Shape;1333;p81"/>
          <p:cNvSpPr txBox="1"/>
          <p:nvPr/>
        </p:nvSpPr>
        <p:spPr>
          <a:xfrm>
            <a:off x="1613751" y="3199783"/>
            <a:ext cx="2645400" cy="21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i="1">
                <a:solidFill>
                  <a:schemeClr val="dk1"/>
                </a:solidFill>
              </a:rPr>
              <a:t>Change of variable because </a:t>
            </a:r>
            <a:endParaRPr sz="1300" i="1">
              <a:solidFill>
                <a:schemeClr val="dk1"/>
              </a:solidFill>
            </a:endParaRPr>
          </a:p>
        </p:txBody>
      </p:sp>
      <p:pic>
        <p:nvPicPr>
          <p:cNvPr id="1334" name="Google Shape;1334;p81"/>
          <p:cNvPicPr preferRelativeResize="0"/>
          <p:nvPr/>
        </p:nvPicPr>
        <p:blipFill>
          <a:blip r:embed="rId8">
            <a:alphaModFix/>
          </a:blip>
          <a:stretch>
            <a:fillRect/>
          </a:stretch>
        </p:blipFill>
        <p:spPr>
          <a:xfrm>
            <a:off x="3827435" y="3299020"/>
            <a:ext cx="1063900" cy="180475"/>
          </a:xfrm>
          <a:prstGeom prst="rect">
            <a:avLst/>
          </a:prstGeom>
          <a:noFill/>
          <a:ln>
            <a:noFill/>
          </a:ln>
        </p:spPr>
      </p:pic>
      <p:sp>
        <p:nvSpPr>
          <p:cNvPr id="1335" name="Google Shape;1335;p81"/>
          <p:cNvSpPr/>
          <p:nvPr/>
        </p:nvSpPr>
        <p:spPr>
          <a:xfrm>
            <a:off x="896150" y="3290533"/>
            <a:ext cx="4044300" cy="217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6" name="Google Shape;1336;p81"/>
          <p:cNvSpPr txBox="1"/>
          <p:nvPr/>
        </p:nvSpPr>
        <p:spPr>
          <a:xfrm>
            <a:off x="4900955" y="3209608"/>
            <a:ext cx="1599300" cy="2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i="1">
                <a:solidFill>
                  <a:schemeClr val="dk1"/>
                </a:solidFill>
              </a:rPr>
              <a:t>(See previous slide)</a:t>
            </a:r>
            <a:endParaRPr sz="1200" i="1">
              <a:solidFill>
                <a:schemeClr val="dk1"/>
              </a:solidFill>
            </a:endParaRPr>
          </a:p>
        </p:txBody>
      </p:sp>
      <p:cxnSp>
        <p:nvCxnSpPr>
          <p:cNvPr id="1337" name="Google Shape;1337;p81"/>
          <p:cNvCxnSpPr/>
          <p:nvPr/>
        </p:nvCxnSpPr>
        <p:spPr>
          <a:xfrm>
            <a:off x="5216839" y="3631608"/>
            <a:ext cx="651600" cy="1007100"/>
          </a:xfrm>
          <a:prstGeom prst="straightConnector1">
            <a:avLst/>
          </a:prstGeom>
          <a:noFill/>
          <a:ln w="9525" cap="flat" cmpd="sng">
            <a:solidFill>
              <a:srgbClr val="FF0000"/>
            </a:solidFill>
            <a:prstDash val="solid"/>
            <a:round/>
            <a:headEnd type="none" w="med" len="med"/>
            <a:tailEnd type="none" w="med" len="med"/>
          </a:ln>
        </p:spPr>
      </p:cxnSp>
      <p:cxnSp>
        <p:nvCxnSpPr>
          <p:cNvPr id="1338" name="Google Shape;1338;p81"/>
          <p:cNvCxnSpPr/>
          <p:nvPr/>
        </p:nvCxnSpPr>
        <p:spPr>
          <a:xfrm>
            <a:off x="6474944" y="3655667"/>
            <a:ext cx="651600" cy="1007100"/>
          </a:xfrm>
          <a:prstGeom prst="straightConnector1">
            <a:avLst/>
          </a:prstGeom>
          <a:noFill/>
          <a:ln w="9525" cap="flat" cmpd="sng">
            <a:solidFill>
              <a:srgbClr val="FF0000"/>
            </a:solidFill>
            <a:prstDash val="solid"/>
            <a:round/>
            <a:headEnd type="none" w="med" len="med"/>
            <a:tailEnd type="none" w="med" len="med"/>
          </a:ln>
        </p:spPr>
      </p:cxnSp>
      <p:cxnSp>
        <p:nvCxnSpPr>
          <p:cNvPr id="1339" name="Google Shape;1339;p81"/>
          <p:cNvCxnSpPr/>
          <p:nvPr/>
        </p:nvCxnSpPr>
        <p:spPr>
          <a:xfrm flipH="1">
            <a:off x="7694725" y="3779708"/>
            <a:ext cx="345600" cy="375300"/>
          </a:xfrm>
          <a:prstGeom prst="straightConnector1">
            <a:avLst/>
          </a:prstGeom>
          <a:noFill/>
          <a:ln w="9525" cap="flat" cmpd="sng">
            <a:solidFill>
              <a:schemeClr val="accent1"/>
            </a:solidFill>
            <a:prstDash val="solid"/>
            <a:round/>
            <a:headEnd type="none" w="med" len="med"/>
            <a:tailEnd type="none" w="med" len="med"/>
          </a:ln>
        </p:spPr>
      </p:cxnSp>
      <p:cxnSp>
        <p:nvCxnSpPr>
          <p:cNvPr id="1340" name="Google Shape;1340;p81"/>
          <p:cNvCxnSpPr/>
          <p:nvPr/>
        </p:nvCxnSpPr>
        <p:spPr>
          <a:xfrm flipH="1">
            <a:off x="7649678" y="4208534"/>
            <a:ext cx="345600" cy="375300"/>
          </a:xfrm>
          <a:prstGeom prst="straightConnector1">
            <a:avLst/>
          </a:prstGeom>
          <a:noFill/>
          <a:ln w="9525" cap="flat" cmpd="sng">
            <a:solidFill>
              <a:schemeClr val="accent1"/>
            </a:solidFill>
            <a:prstDash val="solid"/>
            <a:round/>
            <a:headEnd type="none" w="med" len="med"/>
            <a:tailEnd type="none" w="med" len="med"/>
          </a:ln>
        </p:spPr>
      </p:cxnSp>
      <p:pic>
        <p:nvPicPr>
          <p:cNvPr id="1341" name="Google Shape;1341;p81"/>
          <p:cNvPicPr preferRelativeResize="0"/>
          <p:nvPr/>
        </p:nvPicPr>
        <p:blipFill>
          <a:blip r:embed="rId9">
            <a:alphaModFix/>
          </a:blip>
          <a:stretch>
            <a:fillRect/>
          </a:stretch>
        </p:blipFill>
        <p:spPr>
          <a:xfrm>
            <a:off x="1134099" y="4817084"/>
            <a:ext cx="3067974" cy="180475"/>
          </a:xfrm>
          <a:prstGeom prst="rect">
            <a:avLst/>
          </a:prstGeom>
          <a:noFill/>
          <a:ln>
            <a:noFill/>
          </a:ln>
        </p:spPr>
      </p:pic>
      <p:sp>
        <p:nvSpPr>
          <p:cNvPr id="1342" name="Google Shape;1342;p81"/>
          <p:cNvSpPr/>
          <p:nvPr/>
        </p:nvSpPr>
        <p:spPr>
          <a:xfrm rot="5400000">
            <a:off x="5693050" y="247675"/>
            <a:ext cx="142200" cy="2893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43" name="Google Shape;1343;p81"/>
          <p:cNvPicPr preferRelativeResize="0"/>
          <p:nvPr/>
        </p:nvPicPr>
        <p:blipFill>
          <a:blip r:embed="rId10">
            <a:alphaModFix/>
          </a:blip>
          <a:stretch>
            <a:fillRect/>
          </a:stretch>
        </p:blipFill>
        <p:spPr>
          <a:xfrm>
            <a:off x="4522525" y="1727950"/>
            <a:ext cx="876379" cy="217200"/>
          </a:xfrm>
          <a:prstGeom prst="rect">
            <a:avLst/>
          </a:prstGeom>
          <a:noFill/>
          <a:ln>
            <a:noFill/>
          </a:ln>
        </p:spPr>
      </p:pic>
      <p:sp>
        <p:nvSpPr>
          <p:cNvPr id="1344" name="Google Shape;1344;p81"/>
          <p:cNvSpPr txBox="1"/>
          <p:nvPr/>
        </p:nvSpPr>
        <p:spPr>
          <a:xfrm>
            <a:off x="5341940" y="1690628"/>
            <a:ext cx="1263600" cy="21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rPr>
              <a:t>for the </a:t>
            </a:r>
            <a:r>
              <a:rPr lang="en" sz="1000" b="1">
                <a:solidFill>
                  <a:schemeClr val="dk1"/>
                </a:solidFill>
              </a:rPr>
              <a:t>Gaussian</a:t>
            </a:r>
            <a:endParaRPr sz="1000" b="1">
              <a:solidFill>
                <a:schemeClr val="dk1"/>
              </a:solidFill>
            </a:endParaRPr>
          </a:p>
        </p:txBody>
      </p:sp>
      <p:pic>
        <p:nvPicPr>
          <p:cNvPr id="1345" name="Google Shape;1345;p81"/>
          <p:cNvPicPr preferRelativeResize="0"/>
          <p:nvPr/>
        </p:nvPicPr>
        <p:blipFill>
          <a:blip r:embed="rId11">
            <a:alphaModFix/>
          </a:blip>
          <a:stretch>
            <a:fillRect/>
          </a:stretch>
        </p:blipFill>
        <p:spPr>
          <a:xfrm>
            <a:off x="6443948" y="1731090"/>
            <a:ext cx="651600" cy="216210"/>
          </a:xfrm>
          <a:prstGeom prst="rect">
            <a:avLst/>
          </a:prstGeom>
          <a:noFill/>
          <a:ln>
            <a:noFill/>
          </a:ln>
        </p:spPr>
      </p:pic>
      <p:sp>
        <p:nvSpPr>
          <p:cNvPr id="1346" name="Google Shape;1346;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69</a:t>
            </a:fld>
            <a:endParaRPr/>
          </a:p>
        </p:txBody>
      </p:sp>
      <p:pic>
        <p:nvPicPr>
          <p:cNvPr id="1347" name="Google Shape;1347;p81"/>
          <p:cNvPicPr preferRelativeResize="0"/>
          <p:nvPr/>
        </p:nvPicPr>
        <p:blipFill>
          <a:blip r:embed="rId12">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51"/>
        <p:cNvGrpSpPr/>
        <p:nvPr/>
      </p:nvGrpSpPr>
      <p:grpSpPr>
        <a:xfrm>
          <a:off x="0" y="0"/>
          <a:ext cx="0" cy="0"/>
          <a:chOff x="0" y="0"/>
          <a:chExt cx="0" cy="0"/>
        </a:xfrm>
      </p:grpSpPr>
      <p:pic>
        <p:nvPicPr>
          <p:cNvPr id="1352" name="Google Shape;1352;p82"/>
          <p:cNvPicPr preferRelativeResize="0"/>
          <p:nvPr/>
        </p:nvPicPr>
        <p:blipFill>
          <a:blip r:embed="rId3">
            <a:alphaModFix/>
          </a:blip>
          <a:stretch>
            <a:fillRect/>
          </a:stretch>
        </p:blipFill>
        <p:spPr>
          <a:xfrm>
            <a:off x="1097525" y="737228"/>
            <a:ext cx="5751201" cy="959400"/>
          </a:xfrm>
          <a:prstGeom prst="rect">
            <a:avLst/>
          </a:prstGeom>
          <a:noFill/>
          <a:ln>
            <a:noFill/>
          </a:ln>
        </p:spPr>
      </p:pic>
      <p:sp>
        <p:nvSpPr>
          <p:cNvPr id="1353" name="Google Shape;1353;p82"/>
          <p:cNvSpPr txBox="1"/>
          <p:nvPr/>
        </p:nvSpPr>
        <p:spPr>
          <a:xfrm>
            <a:off x="2292452" y="0"/>
            <a:ext cx="4236600" cy="29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rPr>
              <a:t>Gaussian CFM Loss: Derivation II </a:t>
            </a:r>
            <a:endParaRPr sz="1800" b="1">
              <a:solidFill>
                <a:schemeClr val="dk1"/>
              </a:solidFill>
            </a:endParaRPr>
          </a:p>
          <a:p>
            <a:pPr marL="0" marR="0" lvl="0" indent="0" algn="l" rtl="0">
              <a:lnSpc>
                <a:spcPct val="100000"/>
              </a:lnSpc>
              <a:spcBef>
                <a:spcPts val="0"/>
              </a:spcBef>
              <a:spcAft>
                <a:spcPts val="0"/>
              </a:spcAft>
              <a:buNone/>
            </a:pPr>
            <a:endParaRPr sz="1800" b="1">
              <a:solidFill>
                <a:schemeClr val="dk1"/>
              </a:solidFill>
            </a:endParaRPr>
          </a:p>
        </p:txBody>
      </p:sp>
      <p:pic>
        <p:nvPicPr>
          <p:cNvPr id="1354" name="Google Shape;1354;p82"/>
          <p:cNvPicPr preferRelativeResize="0"/>
          <p:nvPr/>
        </p:nvPicPr>
        <p:blipFill>
          <a:blip r:embed="rId4">
            <a:alphaModFix/>
          </a:blip>
          <a:stretch>
            <a:fillRect/>
          </a:stretch>
        </p:blipFill>
        <p:spPr>
          <a:xfrm>
            <a:off x="1519374" y="1647250"/>
            <a:ext cx="1059500" cy="761950"/>
          </a:xfrm>
          <a:prstGeom prst="rect">
            <a:avLst/>
          </a:prstGeom>
          <a:noFill/>
          <a:ln>
            <a:noFill/>
          </a:ln>
        </p:spPr>
      </p:pic>
      <p:pic>
        <p:nvPicPr>
          <p:cNvPr id="1355" name="Google Shape;1355;p82"/>
          <p:cNvPicPr preferRelativeResize="0"/>
          <p:nvPr/>
        </p:nvPicPr>
        <p:blipFill>
          <a:blip r:embed="rId5">
            <a:alphaModFix/>
          </a:blip>
          <a:stretch>
            <a:fillRect/>
          </a:stretch>
        </p:blipFill>
        <p:spPr>
          <a:xfrm>
            <a:off x="1228500" y="2571750"/>
            <a:ext cx="5292546" cy="761950"/>
          </a:xfrm>
          <a:prstGeom prst="rect">
            <a:avLst/>
          </a:prstGeom>
          <a:noFill/>
          <a:ln>
            <a:noFill/>
          </a:ln>
        </p:spPr>
      </p:pic>
      <p:pic>
        <p:nvPicPr>
          <p:cNvPr id="1356" name="Google Shape;1356;p82"/>
          <p:cNvPicPr preferRelativeResize="0"/>
          <p:nvPr/>
        </p:nvPicPr>
        <p:blipFill>
          <a:blip r:embed="rId4">
            <a:alphaModFix/>
          </a:blip>
          <a:stretch>
            <a:fillRect/>
          </a:stretch>
        </p:blipFill>
        <p:spPr>
          <a:xfrm>
            <a:off x="1602674" y="3333700"/>
            <a:ext cx="1059500" cy="761950"/>
          </a:xfrm>
          <a:prstGeom prst="rect">
            <a:avLst/>
          </a:prstGeom>
          <a:noFill/>
          <a:ln>
            <a:noFill/>
          </a:ln>
        </p:spPr>
      </p:pic>
      <p:sp>
        <p:nvSpPr>
          <p:cNvPr id="1357" name="Google Shape;1357;p82"/>
          <p:cNvSpPr txBox="1"/>
          <p:nvPr/>
        </p:nvSpPr>
        <p:spPr>
          <a:xfrm>
            <a:off x="3637259" y="1746000"/>
            <a:ext cx="3458400" cy="49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where </a:t>
            </a:r>
            <a:r>
              <a:rPr lang="en" sz="1800">
                <a:solidFill>
                  <a:schemeClr val="dk1"/>
                </a:solidFill>
              </a:rPr>
              <a:t>                   </a:t>
            </a:r>
            <a:r>
              <a:rPr lang="en" sz="1600">
                <a:solidFill>
                  <a:schemeClr val="dk1"/>
                </a:solidFill>
              </a:rPr>
              <a:t>and </a:t>
            </a:r>
            <a:endParaRPr sz="1600">
              <a:solidFill>
                <a:schemeClr val="dk1"/>
              </a:solidFill>
            </a:endParaRPr>
          </a:p>
        </p:txBody>
      </p:sp>
      <p:pic>
        <p:nvPicPr>
          <p:cNvPr id="1358" name="Google Shape;1358;p82"/>
          <p:cNvPicPr preferRelativeResize="0"/>
          <p:nvPr/>
        </p:nvPicPr>
        <p:blipFill>
          <a:blip r:embed="rId6">
            <a:alphaModFix/>
          </a:blip>
          <a:stretch>
            <a:fillRect/>
          </a:stretch>
        </p:blipFill>
        <p:spPr>
          <a:xfrm>
            <a:off x="4394159" y="1803498"/>
            <a:ext cx="1059500" cy="345502"/>
          </a:xfrm>
          <a:prstGeom prst="rect">
            <a:avLst/>
          </a:prstGeom>
          <a:noFill/>
          <a:ln>
            <a:noFill/>
          </a:ln>
        </p:spPr>
      </p:pic>
      <p:pic>
        <p:nvPicPr>
          <p:cNvPr id="1359" name="Google Shape;1359;p82"/>
          <p:cNvPicPr preferRelativeResize="0"/>
          <p:nvPr/>
        </p:nvPicPr>
        <p:blipFill>
          <a:blip r:embed="rId7">
            <a:alphaModFix/>
          </a:blip>
          <a:stretch>
            <a:fillRect/>
          </a:stretch>
        </p:blipFill>
        <p:spPr>
          <a:xfrm>
            <a:off x="5950758" y="1786350"/>
            <a:ext cx="1030789" cy="379775"/>
          </a:xfrm>
          <a:prstGeom prst="rect">
            <a:avLst/>
          </a:prstGeom>
          <a:noFill/>
          <a:ln>
            <a:noFill/>
          </a:ln>
        </p:spPr>
      </p:pic>
      <p:cxnSp>
        <p:nvCxnSpPr>
          <p:cNvPr id="1360" name="Google Shape;1360;p82"/>
          <p:cNvCxnSpPr/>
          <p:nvPr/>
        </p:nvCxnSpPr>
        <p:spPr>
          <a:xfrm flipH="1">
            <a:off x="4604700" y="1380775"/>
            <a:ext cx="332700" cy="345600"/>
          </a:xfrm>
          <a:prstGeom prst="straightConnector1">
            <a:avLst/>
          </a:prstGeom>
          <a:noFill/>
          <a:ln w="9525" cap="flat" cmpd="sng">
            <a:solidFill>
              <a:srgbClr val="FF0000"/>
            </a:solidFill>
            <a:prstDash val="solid"/>
            <a:round/>
            <a:headEnd type="none" w="med" len="med"/>
            <a:tailEnd type="triangle" w="med" len="med"/>
          </a:ln>
        </p:spPr>
      </p:cxnSp>
      <p:cxnSp>
        <p:nvCxnSpPr>
          <p:cNvPr id="1361" name="Google Shape;1361;p82"/>
          <p:cNvCxnSpPr/>
          <p:nvPr/>
        </p:nvCxnSpPr>
        <p:spPr>
          <a:xfrm>
            <a:off x="6016500" y="1410325"/>
            <a:ext cx="39600" cy="286200"/>
          </a:xfrm>
          <a:prstGeom prst="straightConnector1">
            <a:avLst/>
          </a:prstGeom>
          <a:noFill/>
          <a:ln w="9525" cap="flat" cmpd="sng">
            <a:solidFill>
              <a:srgbClr val="FF0000"/>
            </a:solidFill>
            <a:prstDash val="solid"/>
            <a:round/>
            <a:headEnd type="none" w="med" len="med"/>
            <a:tailEnd type="triangle" w="med" len="med"/>
          </a:ln>
        </p:spPr>
      </p:cxnSp>
      <p:sp>
        <p:nvSpPr>
          <p:cNvPr id="1362" name="Google Shape;1362;p82"/>
          <p:cNvSpPr/>
          <p:nvPr/>
        </p:nvSpPr>
        <p:spPr>
          <a:xfrm rot="5400000">
            <a:off x="5252161" y="2715750"/>
            <a:ext cx="142200" cy="11760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3" name="Google Shape;1363;p82"/>
          <p:cNvSpPr/>
          <p:nvPr/>
        </p:nvSpPr>
        <p:spPr>
          <a:xfrm rot="5400000">
            <a:off x="3400486" y="2723962"/>
            <a:ext cx="142200" cy="11760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4" name="Google Shape;1364;p82"/>
          <p:cNvSpPr txBox="1"/>
          <p:nvPr/>
        </p:nvSpPr>
        <p:spPr>
          <a:xfrm>
            <a:off x="2883575" y="3383050"/>
            <a:ext cx="12423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We plug in some weighted average of the z data point and noise ε and are predicting</a:t>
            </a:r>
            <a:endParaRPr sz="1000">
              <a:solidFill>
                <a:srgbClr val="FF0000"/>
              </a:solidFill>
            </a:endParaRPr>
          </a:p>
        </p:txBody>
      </p:sp>
      <p:sp>
        <p:nvSpPr>
          <p:cNvPr id="1365" name="Google Shape;1365;p82"/>
          <p:cNvSpPr txBox="1"/>
          <p:nvPr/>
        </p:nvSpPr>
        <p:spPr>
          <a:xfrm>
            <a:off x="4870325" y="3383050"/>
            <a:ext cx="13185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an average between the z data point and  ε-noise, but using time derivative weights instead</a:t>
            </a:r>
            <a:endParaRPr sz="1000">
              <a:solidFill>
                <a:srgbClr val="FF0000"/>
              </a:solidFill>
            </a:endParaRPr>
          </a:p>
        </p:txBody>
      </p:sp>
      <p:grpSp>
        <p:nvGrpSpPr>
          <p:cNvPr id="1366" name="Google Shape;1366;p82"/>
          <p:cNvGrpSpPr/>
          <p:nvPr/>
        </p:nvGrpSpPr>
        <p:grpSpPr>
          <a:xfrm>
            <a:off x="3985584" y="3499817"/>
            <a:ext cx="847029" cy="677701"/>
            <a:chOff x="3941070" y="3467324"/>
            <a:chExt cx="924300" cy="739526"/>
          </a:xfrm>
        </p:grpSpPr>
        <p:cxnSp>
          <p:nvCxnSpPr>
            <p:cNvPr id="1367" name="Google Shape;1367;p82"/>
            <p:cNvCxnSpPr/>
            <p:nvPr/>
          </p:nvCxnSpPr>
          <p:spPr>
            <a:xfrm rot="10800000" flipH="1">
              <a:off x="3941070" y="3554350"/>
              <a:ext cx="924300" cy="652500"/>
            </a:xfrm>
            <a:prstGeom prst="bentConnector3">
              <a:avLst>
                <a:gd name="adj1" fmla="val 50000"/>
              </a:avLst>
            </a:prstGeom>
            <a:noFill/>
            <a:ln w="17450" cap="flat" cmpd="sng">
              <a:solidFill>
                <a:srgbClr val="FF0000"/>
              </a:solidFill>
              <a:prstDash val="solid"/>
              <a:round/>
              <a:headEnd type="none" w="med" len="med"/>
              <a:tailEnd type="none" w="med" len="med"/>
            </a:ln>
          </p:spPr>
        </p:cxnSp>
        <p:cxnSp>
          <p:nvCxnSpPr>
            <p:cNvPr id="1368" name="Google Shape;1368;p82"/>
            <p:cNvCxnSpPr/>
            <p:nvPr/>
          </p:nvCxnSpPr>
          <p:spPr>
            <a:xfrm>
              <a:off x="4767551" y="3467324"/>
              <a:ext cx="97800" cy="87000"/>
            </a:xfrm>
            <a:prstGeom prst="straightConnector1">
              <a:avLst/>
            </a:prstGeom>
            <a:noFill/>
            <a:ln w="17450" cap="flat" cmpd="sng">
              <a:solidFill>
                <a:srgbClr val="FF0000"/>
              </a:solidFill>
              <a:prstDash val="solid"/>
              <a:round/>
              <a:headEnd type="none" w="med" len="med"/>
              <a:tailEnd type="none" w="med" len="med"/>
            </a:ln>
          </p:spPr>
        </p:cxnSp>
        <p:cxnSp>
          <p:nvCxnSpPr>
            <p:cNvPr id="1369" name="Google Shape;1369;p82"/>
            <p:cNvCxnSpPr/>
            <p:nvPr/>
          </p:nvCxnSpPr>
          <p:spPr>
            <a:xfrm flipH="1">
              <a:off x="4786226" y="3554350"/>
              <a:ext cx="71400" cy="100800"/>
            </a:xfrm>
            <a:prstGeom prst="straightConnector1">
              <a:avLst/>
            </a:prstGeom>
            <a:noFill/>
            <a:ln w="17450" cap="flat" cmpd="sng">
              <a:solidFill>
                <a:srgbClr val="FF0000"/>
              </a:solidFill>
              <a:prstDash val="solid"/>
              <a:round/>
              <a:headEnd type="none" w="med" len="med"/>
              <a:tailEnd type="none" w="med" len="med"/>
            </a:ln>
          </p:spPr>
        </p:cxnSp>
      </p:grpSp>
      <p:sp>
        <p:nvSpPr>
          <p:cNvPr id="1370" name="Google Shape;1370;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70</a:t>
            </a:fld>
            <a:endParaRPr/>
          </a:p>
        </p:txBody>
      </p:sp>
      <p:pic>
        <p:nvPicPr>
          <p:cNvPr id="1371" name="Google Shape;1371;p82"/>
          <p:cNvPicPr preferRelativeResize="0"/>
          <p:nvPr/>
        </p:nvPicPr>
        <p:blipFill>
          <a:blip r:embed="rId8">
            <a:alphaModFix/>
          </a:blip>
          <a:stretch>
            <a:fillRect/>
          </a:stretch>
        </p:blipFill>
        <p:spPr>
          <a:xfrm rot="529257">
            <a:off x="8951687" y="11720"/>
            <a:ext cx="173231" cy="2623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75"/>
        <p:cNvGrpSpPr/>
        <p:nvPr/>
      </p:nvGrpSpPr>
      <p:grpSpPr>
        <a:xfrm>
          <a:off x="0" y="0"/>
          <a:ext cx="0" cy="0"/>
          <a:chOff x="0" y="0"/>
          <a:chExt cx="0" cy="0"/>
        </a:xfrm>
      </p:grpSpPr>
      <p:sp>
        <p:nvSpPr>
          <p:cNvPr id="1376" name="Google Shape;1376;p83"/>
          <p:cNvSpPr txBox="1"/>
          <p:nvPr/>
        </p:nvSpPr>
        <p:spPr>
          <a:xfrm>
            <a:off x="3199375" y="0"/>
            <a:ext cx="25452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OT Path</a:t>
            </a:r>
            <a:endParaRPr sz="1800" b="1">
              <a:solidFill>
                <a:schemeClr val="dk1"/>
              </a:solidFill>
            </a:endParaRPr>
          </a:p>
        </p:txBody>
      </p:sp>
      <p:sp>
        <p:nvSpPr>
          <p:cNvPr id="1377" name="Google Shape;1377;p83"/>
          <p:cNvSpPr txBox="1"/>
          <p:nvPr/>
        </p:nvSpPr>
        <p:spPr>
          <a:xfrm>
            <a:off x="328729" y="792225"/>
            <a:ext cx="6253200" cy="58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To make things even more concrete, let’s choose a specific</a:t>
            </a:r>
            <a:endParaRPr sz="1800">
              <a:solidFill>
                <a:schemeClr val="dk1"/>
              </a:solidFill>
            </a:endParaRPr>
          </a:p>
          <a:p>
            <a:pPr marL="0" lvl="0" indent="0" algn="l" rtl="0">
              <a:spcBef>
                <a:spcPts val="0"/>
              </a:spcBef>
              <a:spcAft>
                <a:spcPts val="0"/>
              </a:spcAft>
              <a:buNone/>
            </a:pPr>
            <a:r>
              <a:rPr lang="en" sz="1800">
                <a:solidFill>
                  <a:schemeClr val="dk1"/>
                </a:solidFill>
              </a:rPr>
              <a:t> instance of 𝞪</a:t>
            </a:r>
            <a:r>
              <a:rPr lang="en" sz="1800" i="1" baseline="-25000">
                <a:solidFill>
                  <a:schemeClr val="dk1"/>
                </a:solidFill>
              </a:rPr>
              <a:t>t</a:t>
            </a:r>
            <a:r>
              <a:rPr lang="en" sz="1800">
                <a:solidFill>
                  <a:schemeClr val="dk1"/>
                </a:solidFill>
              </a:rPr>
              <a:t> and 𝞫</a:t>
            </a:r>
            <a:r>
              <a:rPr lang="en" sz="1800" i="1" baseline="-25000">
                <a:solidFill>
                  <a:schemeClr val="dk1"/>
                </a:solidFill>
              </a:rPr>
              <a:t>t  </a:t>
            </a:r>
            <a:r>
              <a:rPr lang="en" sz="1800" i="1">
                <a:solidFill>
                  <a:schemeClr val="dk1"/>
                </a:solidFill>
              </a:rPr>
              <a:t>, say            and </a:t>
            </a:r>
            <a:endParaRPr sz="1800" i="1">
              <a:solidFill>
                <a:schemeClr val="dk1"/>
              </a:solidFill>
            </a:endParaRPr>
          </a:p>
        </p:txBody>
      </p:sp>
      <p:pic>
        <p:nvPicPr>
          <p:cNvPr id="1378" name="Google Shape;1378;p83"/>
          <p:cNvPicPr preferRelativeResize="0"/>
          <p:nvPr/>
        </p:nvPicPr>
        <p:blipFill>
          <a:blip r:embed="rId3">
            <a:alphaModFix/>
          </a:blip>
          <a:stretch>
            <a:fillRect/>
          </a:stretch>
        </p:blipFill>
        <p:spPr>
          <a:xfrm>
            <a:off x="3199366" y="1218054"/>
            <a:ext cx="573500" cy="184199"/>
          </a:xfrm>
          <a:prstGeom prst="rect">
            <a:avLst/>
          </a:prstGeom>
          <a:noFill/>
          <a:ln>
            <a:noFill/>
          </a:ln>
        </p:spPr>
      </p:pic>
      <p:pic>
        <p:nvPicPr>
          <p:cNvPr id="1379" name="Google Shape;1379;p83"/>
          <p:cNvPicPr preferRelativeResize="0"/>
          <p:nvPr/>
        </p:nvPicPr>
        <p:blipFill>
          <a:blip r:embed="rId4">
            <a:alphaModFix/>
          </a:blip>
          <a:stretch>
            <a:fillRect/>
          </a:stretch>
        </p:blipFill>
        <p:spPr>
          <a:xfrm>
            <a:off x="4371827" y="1218175"/>
            <a:ext cx="777613" cy="184200"/>
          </a:xfrm>
          <a:prstGeom prst="rect">
            <a:avLst/>
          </a:prstGeom>
          <a:noFill/>
          <a:ln>
            <a:noFill/>
          </a:ln>
        </p:spPr>
      </p:pic>
      <p:cxnSp>
        <p:nvCxnSpPr>
          <p:cNvPr id="1380" name="Google Shape;1380;p83"/>
          <p:cNvCxnSpPr/>
          <p:nvPr/>
        </p:nvCxnSpPr>
        <p:spPr>
          <a:xfrm rot="10800000">
            <a:off x="7320162" y="774580"/>
            <a:ext cx="0" cy="875400"/>
          </a:xfrm>
          <a:prstGeom prst="straightConnector1">
            <a:avLst/>
          </a:prstGeom>
          <a:noFill/>
          <a:ln w="4650" cap="flat" cmpd="sng">
            <a:solidFill>
              <a:schemeClr val="dk1"/>
            </a:solidFill>
            <a:prstDash val="solid"/>
            <a:round/>
            <a:headEnd type="none" w="med" len="med"/>
            <a:tailEnd type="triangle" w="med" len="med"/>
          </a:ln>
        </p:spPr>
      </p:cxnSp>
      <p:cxnSp>
        <p:nvCxnSpPr>
          <p:cNvPr id="1381" name="Google Shape;1381;p83"/>
          <p:cNvCxnSpPr/>
          <p:nvPr/>
        </p:nvCxnSpPr>
        <p:spPr>
          <a:xfrm>
            <a:off x="7320162" y="1649980"/>
            <a:ext cx="1112100" cy="0"/>
          </a:xfrm>
          <a:prstGeom prst="straightConnector1">
            <a:avLst/>
          </a:prstGeom>
          <a:noFill/>
          <a:ln w="4650" cap="flat" cmpd="sng">
            <a:solidFill>
              <a:schemeClr val="dk1"/>
            </a:solidFill>
            <a:prstDash val="solid"/>
            <a:round/>
            <a:headEnd type="none" w="med" len="med"/>
            <a:tailEnd type="triangle" w="med" len="med"/>
          </a:ln>
        </p:spPr>
      </p:cxnSp>
      <p:cxnSp>
        <p:nvCxnSpPr>
          <p:cNvPr id="1382" name="Google Shape;1382;p83"/>
          <p:cNvCxnSpPr/>
          <p:nvPr/>
        </p:nvCxnSpPr>
        <p:spPr>
          <a:xfrm rot="10800000" flipH="1">
            <a:off x="7320151" y="1147469"/>
            <a:ext cx="870300" cy="502500"/>
          </a:xfrm>
          <a:prstGeom prst="straightConnector1">
            <a:avLst/>
          </a:prstGeom>
          <a:noFill/>
          <a:ln w="9350" cap="flat" cmpd="sng">
            <a:solidFill>
              <a:srgbClr val="FF0000"/>
            </a:solidFill>
            <a:prstDash val="solid"/>
            <a:round/>
            <a:headEnd type="none" w="med" len="med"/>
            <a:tailEnd type="none" w="med" len="med"/>
          </a:ln>
        </p:spPr>
      </p:cxnSp>
      <p:cxnSp>
        <p:nvCxnSpPr>
          <p:cNvPr id="1383" name="Google Shape;1383;p83"/>
          <p:cNvCxnSpPr/>
          <p:nvPr/>
        </p:nvCxnSpPr>
        <p:spPr>
          <a:xfrm>
            <a:off x="7320162" y="1156539"/>
            <a:ext cx="867600" cy="493500"/>
          </a:xfrm>
          <a:prstGeom prst="straightConnector1">
            <a:avLst/>
          </a:prstGeom>
          <a:noFill/>
          <a:ln w="9350" cap="flat" cmpd="sng">
            <a:solidFill>
              <a:schemeClr val="dk1"/>
            </a:solidFill>
            <a:prstDash val="solid"/>
            <a:round/>
            <a:headEnd type="none" w="med" len="med"/>
            <a:tailEnd type="none" w="med" len="med"/>
          </a:ln>
        </p:spPr>
      </p:cxnSp>
      <p:pic>
        <p:nvPicPr>
          <p:cNvPr id="1384" name="Google Shape;1384;p83"/>
          <p:cNvPicPr preferRelativeResize="0"/>
          <p:nvPr/>
        </p:nvPicPr>
        <p:blipFill>
          <a:blip r:embed="rId5">
            <a:alphaModFix/>
          </a:blip>
          <a:stretch>
            <a:fillRect/>
          </a:stretch>
        </p:blipFill>
        <p:spPr>
          <a:xfrm>
            <a:off x="8165697" y="1010479"/>
            <a:ext cx="357732" cy="113654"/>
          </a:xfrm>
          <a:prstGeom prst="rect">
            <a:avLst/>
          </a:prstGeom>
          <a:noFill/>
          <a:ln>
            <a:noFill/>
          </a:ln>
        </p:spPr>
      </p:pic>
      <p:pic>
        <p:nvPicPr>
          <p:cNvPr id="1385" name="Google Shape;1385;p83"/>
          <p:cNvPicPr preferRelativeResize="0"/>
          <p:nvPr/>
        </p:nvPicPr>
        <p:blipFill>
          <a:blip r:embed="rId6">
            <a:alphaModFix/>
          </a:blip>
          <a:stretch>
            <a:fillRect/>
          </a:stretch>
        </p:blipFill>
        <p:spPr>
          <a:xfrm>
            <a:off x="7297010" y="1677554"/>
            <a:ext cx="312764" cy="102880"/>
          </a:xfrm>
          <a:prstGeom prst="rect">
            <a:avLst/>
          </a:prstGeom>
          <a:noFill/>
          <a:ln>
            <a:noFill/>
          </a:ln>
        </p:spPr>
      </p:pic>
      <p:pic>
        <p:nvPicPr>
          <p:cNvPr id="1386" name="Google Shape;1386;p83"/>
          <p:cNvPicPr preferRelativeResize="0"/>
          <p:nvPr/>
        </p:nvPicPr>
        <p:blipFill>
          <a:blip r:embed="rId7">
            <a:alphaModFix/>
          </a:blip>
          <a:stretch>
            <a:fillRect/>
          </a:stretch>
        </p:blipFill>
        <p:spPr>
          <a:xfrm>
            <a:off x="8410252" y="1693303"/>
            <a:ext cx="50396" cy="71392"/>
          </a:xfrm>
          <a:prstGeom prst="rect">
            <a:avLst/>
          </a:prstGeom>
          <a:noFill/>
          <a:ln>
            <a:noFill/>
          </a:ln>
        </p:spPr>
      </p:pic>
      <p:pic>
        <p:nvPicPr>
          <p:cNvPr id="1387" name="Google Shape;1387;p83"/>
          <p:cNvPicPr preferRelativeResize="0"/>
          <p:nvPr/>
        </p:nvPicPr>
        <p:blipFill>
          <a:blip r:embed="rId8">
            <a:alphaModFix/>
          </a:blip>
          <a:stretch>
            <a:fillRect/>
          </a:stretch>
        </p:blipFill>
        <p:spPr>
          <a:xfrm>
            <a:off x="8188187" y="1493005"/>
            <a:ext cx="312763" cy="113654"/>
          </a:xfrm>
          <a:prstGeom prst="rect">
            <a:avLst/>
          </a:prstGeom>
          <a:noFill/>
          <a:ln>
            <a:noFill/>
          </a:ln>
        </p:spPr>
      </p:pic>
      <p:pic>
        <p:nvPicPr>
          <p:cNvPr id="1388" name="Google Shape;1388;p83"/>
          <p:cNvPicPr preferRelativeResize="0"/>
          <p:nvPr/>
        </p:nvPicPr>
        <p:blipFill>
          <a:blip r:embed="rId9">
            <a:alphaModFix/>
          </a:blip>
          <a:stretch>
            <a:fillRect/>
          </a:stretch>
        </p:blipFill>
        <p:spPr>
          <a:xfrm>
            <a:off x="7330885" y="1007604"/>
            <a:ext cx="312763" cy="112315"/>
          </a:xfrm>
          <a:prstGeom prst="rect">
            <a:avLst/>
          </a:prstGeom>
          <a:noFill/>
          <a:ln>
            <a:noFill/>
          </a:ln>
        </p:spPr>
      </p:pic>
      <p:sp>
        <p:nvSpPr>
          <p:cNvPr id="1389" name="Google Shape;1389;p83"/>
          <p:cNvSpPr/>
          <p:nvPr/>
        </p:nvSpPr>
        <p:spPr>
          <a:xfrm>
            <a:off x="5277955" y="1262070"/>
            <a:ext cx="1112100" cy="1122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0" name="Google Shape;1390;p83"/>
          <p:cNvSpPr txBox="1"/>
          <p:nvPr/>
        </p:nvSpPr>
        <p:spPr>
          <a:xfrm>
            <a:off x="377691" y="1911978"/>
            <a:ext cx="8916300" cy="42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corresponding derivatives with respect to time will be              and               , so:</a:t>
            </a:r>
            <a:endParaRPr sz="1800">
              <a:solidFill>
                <a:schemeClr val="dk1"/>
              </a:solidFill>
            </a:endParaRPr>
          </a:p>
        </p:txBody>
      </p:sp>
      <p:pic>
        <p:nvPicPr>
          <p:cNvPr id="1391" name="Google Shape;1391;p83"/>
          <p:cNvPicPr preferRelativeResize="0"/>
          <p:nvPr/>
        </p:nvPicPr>
        <p:blipFill>
          <a:blip r:embed="rId10">
            <a:alphaModFix/>
          </a:blip>
          <a:stretch>
            <a:fillRect/>
          </a:stretch>
        </p:blipFill>
        <p:spPr>
          <a:xfrm>
            <a:off x="1283598" y="2553384"/>
            <a:ext cx="6260005" cy="875400"/>
          </a:xfrm>
          <a:prstGeom prst="rect">
            <a:avLst/>
          </a:prstGeom>
          <a:noFill/>
          <a:ln>
            <a:noFill/>
          </a:ln>
        </p:spPr>
      </p:pic>
      <p:pic>
        <p:nvPicPr>
          <p:cNvPr id="1392" name="Google Shape;1392;p83"/>
          <p:cNvPicPr preferRelativeResize="0"/>
          <p:nvPr/>
        </p:nvPicPr>
        <p:blipFill>
          <a:blip r:embed="rId11">
            <a:alphaModFix/>
          </a:blip>
          <a:stretch>
            <a:fillRect/>
          </a:stretch>
        </p:blipFill>
        <p:spPr>
          <a:xfrm>
            <a:off x="2829727" y="3363542"/>
            <a:ext cx="867600" cy="623948"/>
          </a:xfrm>
          <a:prstGeom prst="rect">
            <a:avLst/>
          </a:prstGeom>
          <a:noFill/>
          <a:ln>
            <a:noFill/>
          </a:ln>
        </p:spPr>
      </p:pic>
      <p:sp>
        <p:nvSpPr>
          <p:cNvPr id="1393" name="Google Shape;1393;p83"/>
          <p:cNvSpPr/>
          <p:nvPr/>
        </p:nvSpPr>
        <p:spPr>
          <a:xfrm rot="5400000">
            <a:off x="4856948" y="2505082"/>
            <a:ext cx="171300" cy="1603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4" name="Google Shape;1394;p83"/>
          <p:cNvSpPr txBox="1"/>
          <p:nvPr/>
        </p:nvSpPr>
        <p:spPr>
          <a:xfrm>
            <a:off x="4549827" y="3363534"/>
            <a:ext cx="9648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Straight line between data z and noise ε </a:t>
            </a:r>
            <a:endParaRPr sz="1000">
              <a:solidFill>
                <a:srgbClr val="FF0000"/>
              </a:solidFill>
            </a:endParaRPr>
          </a:p>
        </p:txBody>
      </p:sp>
      <p:grpSp>
        <p:nvGrpSpPr>
          <p:cNvPr id="1395" name="Google Shape;1395;p83"/>
          <p:cNvGrpSpPr/>
          <p:nvPr/>
        </p:nvGrpSpPr>
        <p:grpSpPr>
          <a:xfrm>
            <a:off x="4562659" y="3902095"/>
            <a:ext cx="808263" cy="599734"/>
            <a:chOff x="4042430" y="4303131"/>
            <a:chExt cx="808263" cy="599734"/>
          </a:xfrm>
        </p:grpSpPr>
        <p:cxnSp>
          <p:nvCxnSpPr>
            <p:cNvPr id="1396" name="Google Shape;1396;p83"/>
            <p:cNvCxnSpPr/>
            <p:nvPr/>
          </p:nvCxnSpPr>
          <p:spPr>
            <a:xfrm rot="10800000" flipH="1">
              <a:off x="4169480" y="4380732"/>
              <a:ext cx="619800" cy="217500"/>
            </a:xfrm>
            <a:prstGeom prst="straightConnector1">
              <a:avLst/>
            </a:prstGeom>
            <a:noFill/>
            <a:ln w="9525" cap="flat" cmpd="sng">
              <a:solidFill>
                <a:srgbClr val="FF0000"/>
              </a:solidFill>
              <a:prstDash val="solid"/>
              <a:round/>
              <a:headEnd type="none" w="med" len="med"/>
              <a:tailEnd type="none" w="med" len="med"/>
            </a:ln>
          </p:spPr>
        </p:cxnSp>
        <p:sp>
          <p:nvSpPr>
            <p:cNvPr id="1397" name="Google Shape;1397;p83"/>
            <p:cNvSpPr txBox="1"/>
            <p:nvPr/>
          </p:nvSpPr>
          <p:spPr>
            <a:xfrm>
              <a:off x="4665892" y="4303131"/>
              <a:ext cx="184800" cy="18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rPr>
                <a:t>z</a:t>
              </a:r>
              <a:endParaRPr sz="1300">
                <a:solidFill>
                  <a:srgbClr val="FF0000"/>
                </a:solidFill>
              </a:endParaRPr>
            </a:p>
          </p:txBody>
        </p:sp>
        <p:sp>
          <p:nvSpPr>
            <p:cNvPr id="1398" name="Google Shape;1398;p83"/>
            <p:cNvSpPr txBox="1"/>
            <p:nvPr/>
          </p:nvSpPr>
          <p:spPr>
            <a:xfrm>
              <a:off x="4042430" y="4517964"/>
              <a:ext cx="2610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0000"/>
                  </a:solidFill>
                </a:rPr>
                <a:t>ε</a:t>
              </a:r>
              <a:endParaRPr sz="1700"/>
            </a:p>
          </p:txBody>
        </p:sp>
        <p:sp>
          <p:nvSpPr>
            <p:cNvPr id="1399" name="Google Shape;1399;p83"/>
            <p:cNvSpPr/>
            <p:nvPr/>
          </p:nvSpPr>
          <p:spPr>
            <a:xfrm>
              <a:off x="4147730" y="4576482"/>
              <a:ext cx="50400" cy="504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0" name="Google Shape;1400;p83"/>
            <p:cNvSpPr/>
            <p:nvPr/>
          </p:nvSpPr>
          <p:spPr>
            <a:xfrm>
              <a:off x="4765714" y="4359151"/>
              <a:ext cx="50400" cy="50400"/>
            </a:xfrm>
            <a:prstGeom prst="ellipse">
              <a:avLst/>
            </a:prstGeom>
            <a:solidFill>
              <a:srgbClr val="000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401" name="Google Shape;1401;p83"/>
          <p:cNvSpPr/>
          <p:nvPr/>
        </p:nvSpPr>
        <p:spPr>
          <a:xfrm rot="5400000">
            <a:off x="6598051" y="2900783"/>
            <a:ext cx="138600" cy="801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2" name="Google Shape;1402;p83"/>
          <p:cNvSpPr txBox="1"/>
          <p:nvPr/>
        </p:nvSpPr>
        <p:spPr>
          <a:xfrm>
            <a:off x="6236252" y="3375659"/>
            <a:ext cx="964800" cy="59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Difference between data and noise</a:t>
            </a:r>
            <a:endParaRPr sz="1000">
              <a:solidFill>
                <a:srgbClr val="FF0000"/>
              </a:solidFill>
            </a:endParaRPr>
          </a:p>
        </p:txBody>
      </p:sp>
      <p:sp>
        <p:nvSpPr>
          <p:cNvPr id="1403" name="Google Shape;1403;p83"/>
          <p:cNvSpPr txBox="1"/>
          <p:nvPr/>
        </p:nvSpPr>
        <p:spPr>
          <a:xfrm>
            <a:off x="561346" y="4429968"/>
            <a:ext cx="8175300" cy="7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rPr>
              <a:t>This is referred to as the </a:t>
            </a:r>
            <a:r>
              <a:rPr lang="en" sz="1100" b="1">
                <a:solidFill>
                  <a:schemeClr val="dk1"/>
                </a:solidFill>
              </a:rPr>
              <a:t>Cond OT</a:t>
            </a:r>
            <a:r>
              <a:rPr lang="en" sz="1100">
                <a:solidFill>
                  <a:schemeClr val="dk1"/>
                </a:solidFill>
              </a:rPr>
              <a:t> </a:t>
            </a:r>
            <a:r>
              <a:rPr lang="en" sz="1100" b="1">
                <a:solidFill>
                  <a:schemeClr val="dk1"/>
                </a:solidFill>
              </a:rPr>
              <a:t>Path </a:t>
            </a:r>
            <a:r>
              <a:rPr lang="en" sz="1100">
                <a:solidFill>
                  <a:schemeClr val="dk1"/>
                </a:solidFill>
              </a:rPr>
              <a:t>(i.e. </a:t>
            </a:r>
            <a:r>
              <a:rPr lang="en" sz="1100" b="1">
                <a:solidFill>
                  <a:schemeClr val="dk1"/>
                </a:solidFill>
              </a:rPr>
              <a:t>Conditional Optimal Transport Path</a:t>
            </a:r>
            <a:r>
              <a:rPr lang="en" sz="1100">
                <a:solidFill>
                  <a:schemeClr val="dk1"/>
                </a:solidFill>
              </a:rPr>
              <a:t>), i.e. an </a:t>
            </a:r>
            <a:r>
              <a:rPr lang="en" sz="1100" b="1">
                <a:solidFill>
                  <a:schemeClr val="dk1"/>
                </a:solidFill>
              </a:rPr>
              <a:t>optimal transport path</a:t>
            </a:r>
            <a:r>
              <a:rPr lang="en" sz="1100">
                <a:solidFill>
                  <a:schemeClr val="dk1"/>
                </a:solidFill>
              </a:rPr>
              <a:t>, essentially corresponding to a straight line between noise and data, which is </a:t>
            </a:r>
            <a:r>
              <a:rPr lang="en" sz="1100" b="1" i="1">
                <a:solidFill>
                  <a:schemeClr val="dk1"/>
                </a:solidFill>
              </a:rPr>
              <a:t>tz + (1-t)ε</a:t>
            </a:r>
            <a:r>
              <a:rPr lang="en" sz="1100" i="1">
                <a:solidFill>
                  <a:schemeClr val="dk1"/>
                </a:solidFill>
              </a:rPr>
              <a:t>  and what we are predicting is the difference </a:t>
            </a:r>
            <a:r>
              <a:rPr lang="en" sz="1100" b="1" i="1">
                <a:solidFill>
                  <a:schemeClr val="dk1"/>
                </a:solidFill>
              </a:rPr>
              <a:t>(z - ε)</a:t>
            </a:r>
            <a:endParaRPr sz="1100" b="1" i="1">
              <a:solidFill>
                <a:schemeClr val="dk1"/>
              </a:solidFill>
            </a:endParaRPr>
          </a:p>
        </p:txBody>
      </p:sp>
      <p:pic>
        <p:nvPicPr>
          <p:cNvPr id="1404" name="Google Shape;1404;p83"/>
          <p:cNvPicPr preferRelativeResize="0"/>
          <p:nvPr/>
        </p:nvPicPr>
        <p:blipFill>
          <a:blip r:embed="rId12">
            <a:alphaModFix/>
          </a:blip>
          <a:stretch>
            <a:fillRect/>
          </a:stretch>
        </p:blipFill>
        <p:spPr>
          <a:xfrm>
            <a:off x="6370311" y="2016147"/>
            <a:ext cx="699625" cy="253383"/>
          </a:xfrm>
          <a:prstGeom prst="rect">
            <a:avLst/>
          </a:prstGeom>
          <a:noFill/>
          <a:ln>
            <a:noFill/>
          </a:ln>
        </p:spPr>
      </p:pic>
      <p:pic>
        <p:nvPicPr>
          <p:cNvPr id="1405" name="Google Shape;1405;p83"/>
          <p:cNvPicPr preferRelativeResize="0"/>
          <p:nvPr/>
        </p:nvPicPr>
        <p:blipFill>
          <a:blip r:embed="rId13">
            <a:alphaModFix/>
          </a:blip>
          <a:stretch>
            <a:fillRect/>
          </a:stretch>
        </p:blipFill>
        <p:spPr>
          <a:xfrm>
            <a:off x="7627824" y="2005142"/>
            <a:ext cx="821789" cy="294000"/>
          </a:xfrm>
          <a:prstGeom prst="rect">
            <a:avLst/>
          </a:prstGeom>
          <a:noFill/>
          <a:ln>
            <a:noFill/>
          </a:ln>
        </p:spPr>
      </p:pic>
      <p:sp>
        <p:nvSpPr>
          <p:cNvPr id="1406" name="Google Shape;1406;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10"/>
        <p:cNvGrpSpPr/>
        <p:nvPr/>
      </p:nvGrpSpPr>
      <p:grpSpPr>
        <a:xfrm>
          <a:off x="0" y="0"/>
          <a:ext cx="0" cy="0"/>
          <a:chOff x="0" y="0"/>
          <a:chExt cx="0" cy="0"/>
        </a:xfrm>
      </p:grpSpPr>
      <p:sp>
        <p:nvSpPr>
          <p:cNvPr id="1411" name="Google Shape;1411;p84"/>
          <p:cNvSpPr txBox="1"/>
          <p:nvPr/>
        </p:nvSpPr>
        <p:spPr>
          <a:xfrm>
            <a:off x="3040500" y="0"/>
            <a:ext cx="34452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OT Path Intuition</a:t>
            </a:r>
            <a:endParaRPr sz="1800" b="1">
              <a:solidFill>
                <a:schemeClr val="dk1"/>
              </a:solidFill>
            </a:endParaRPr>
          </a:p>
        </p:txBody>
      </p:sp>
      <p:pic>
        <p:nvPicPr>
          <p:cNvPr id="1412" name="Google Shape;1412;p84"/>
          <p:cNvPicPr preferRelativeResize="0"/>
          <p:nvPr/>
        </p:nvPicPr>
        <p:blipFill>
          <a:blip r:embed="rId3">
            <a:alphaModFix/>
          </a:blip>
          <a:stretch>
            <a:fillRect/>
          </a:stretch>
        </p:blipFill>
        <p:spPr>
          <a:xfrm>
            <a:off x="1944470" y="1074471"/>
            <a:ext cx="4839025" cy="3007900"/>
          </a:xfrm>
          <a:prstGeom prst="rect">
            <a:avLst/>
          </a:prstGeom>
          <a:noFill/>
          <a:ln>
            <a:noFill/>
          </a:ln>
        </p:spPr>
      </p:pic>
      <p:sp>
        <p:nvSpPr>
          <p:cNvPr id="1413" name="Google Shape;1413;p84"/>
          <p:cNvSpPr txBox="1"/>
          <p:nvPr/>
        </p:nvSpPr>
        <p:spPr>
          <a:xfrm>
            <a:off x="5840143" y="2081595"/>
            <a:ext cx="985200" cy="3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chemeClr val="accent1"/>
                </a:solidFill>
              </a:rPr>
              <a:t>We call this z</a:t>
            </a:r>
            <a:endParaRPr sz="1000" b="1">
              <a:solidFill>
                <a:schemeClr val="accent1"/>
              </a:solidFill>
            </a:endParaRPr>
          </a:p>
        </p:txBody>
      </p:sp>
      <p:sp>
        <p:nvSpPr>
          <p:cNvPr id="1414" name="Google Shape;1414;p84"/>
          <p:cNvSpPr txBox="1"/>
          <p:nvPr/>
        </p:nvSpPr>
        <p:spPr>
          <a:xfrm>
            <a:off x="1867845" y="2333445"/>
            <a:ext cx="985200" cy="3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chemeClr val="accent1"/>
                </a:solidFill>
              </a:rPr>
              <a:t>We call this ε</a:t>
            </a:r>
            <a:endParaRPr sz="1000" b="1">
              <a:solidFill>
                <a:schemeClr val="accent1"/>
              </a:solidFill>
            </a:endParaRPr>
          </a:p>
        </p:txBody>
      </p:sp>
      <p:sp>
        <p:nvSpPr>
          <p:cNvPr id="1415" name="Google Shape;1415;p84"/>
          <p:cNvSpPr txBox="1"/>
          <p:nvPr/>
        </p:nvSpPr>
        <p:spPr>
          <a:xfrm>
            <a:off x="4865790" y="1349388"/>
            <a:ext cx="317400" cy="39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a:solidFill>
                  <a:schemeClr val="accent1"/>
                </a:solidFill>
              </a:rPr>
              <a:t>z</a:t>
            </a:r>
            <a:endParaRPr sz="2200" b="1">
              <a:solidFill>
                <a:schemeClr val="accent1"/>
              </a:solidFill>
            </a:endParaRPr>
          </a:p>
        </p:txBody>
      </p:sp>
      <p:sp>
        <p:nvSpPr>
          <p:cNvPr id="1416" name="Google Shape;1416;p84"/>
          <p:cNvSpPr txBox="1"/>
          <p:nvPr/>
        </p:nvSpPr>
        <p:spPr>
          <a:xfrm>
            <a:off x="4301783" y="1349397"/>
            <a:ext cx="3174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accent1"/>
                </a:solidFill>
              </a:rPr>
              <a:t>ε</a:t>
            </a:r>
            <a:endParaRPr sz="2700"/>
          </a:p>
        </p:txBody>
      </p:sp>
      <p:sp>
        <p:nvSpPr>
          <p:cNvPr id="1417" name="Google Shape;1417;p84"/>
          <p:cNvSpPr txBox="1"/>
          <p:nvPr/>
        </p:nvSpPr>
        <p:spPr>
          <a:xfrm>
            <a:off x="2040394" y="4088584"/>
            <a:ext cx="46431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rPr>
              <a:t>[ Slide 19 from </a:t>
            </a:r>
            <a:r>
              <a:rPr lang="en" sz="1100" u="sng">
                <a:solidFill>
                  <a:schemeClr val="hlink"/>
                </a:solidFill>
                <a:hlinkClick r:id="rId4"/>
              </a:rPr>
              <a:t>https://neurips.cc/media/neurips-2024/Slides/99531.pdf</a:t>
            </a:r>
            <a:r>
              <a:rPr lang="en" sz="1100">
                <a:solidFill>
                  <a:schemeClr val="dk1"/>
                </a:solidFill>
              </a:rPr>
              <a:t> ]</a:t>
            </a:r>
            <a:endParaRPr/>
          </a:p>
        </p:txBody>
      </p:sp>
      <p:sp>
        <p:nvSpPr>
          <p:cNvPr id="1418" name="Google Shape;1418;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422"/>
        <p:cNvGrpSpPr/>
        <p:nvPr/>
      </p:nvGrpSpPr>
      <p:grpSpPr>
        <a:xfrm>
          <a:off x="0" y="0"/>
          <a:ext cx="0" cy="0"/>
          <a:chOff x="0" y="0"/>
          <a:chExt cx="0" cy="0"/>
        </a:xfrm>
      </p:grpSpPr>
      <p:pic>
        <p:nvPicPr>
          <p:cNvPr id="1423" name="Google Shape;1423;p85"/>
          <p:cNvPicPr preferRelativeResize="0"/>
          <p:nvPr/>
        </p:nvPicPr>
        <p:blipFill>
          <a:blip r:embed="rId3">
            <a:alphaModFix/>
          </a:blip>
          <a:stretch>
            <a:fillRect/>
          </a:stretch>
        </p:blipFill>
        <p:spPr>
          <a:xfrm>
            <a:off x="207125" y="1271575"/>
            <a:ext cx="5529326" cy="2518100"/>
          </a:xfrm>
          <a:prstGeom prst="rect">
            <a:avLst/>
          </a:prstGeom>
          <a:noFill/>
          <a:ln>
            <a:noFill/>
          </a:ln>
        </p:spPr>
      </p:pic>
      <p:sp>
        <p:nvSpPr>
          <p:cNvPr id="1424" name="Google Shape;1424;p85"/>
          <p:cNvSpPr txBox="1"/>
          <p:nvPr/>
        </p:nvSpPr>
        <p:spPr>
          <a:xfrm>
            <a:off x="3103800" y="0"/>
            <a:ext cx="32514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Conditional OT Algorithm</a:t>
            </a:r>
            <a:endParaRPr sz="1800" b="1">
              <a:solidFill>
                <a:schemeClr val="dk1"/>
              </a:solidFill>
            </a:endParaRPr>
          </a:p>
        </p:txBody>
      </p:sp>
      <p:sp>
        <p:nvSpPr>
          <p:cNvPr id="1425" name="Google Shape;1425;p85"/>
          <p:cNvSpPr txBox="1"/>
          <p:nvPr/>
        </p:nvSpPr>
        <p:spPr>
          <a:xfrm>
            <a:off x="5741700" y="1271575"/>
            <a:ext cx="3402300" cy="27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FF0000"/>
                </a:solidFill>
              </a:rPr>
              <a:t>Notice that we are learning to predict the same thing at all times t, namely (z-ε), but at inference phase we have to do it sequentially, since at t=0 we have access to no information at all, i.e. we have just ε-chaos, and at t = 1 we have access to full information. Hence, we have to gain this information step-by-step, for all t ∈ [0,1].</a:t>
            </a:r>
            <a:endParaRPr sz="1200">
              <a:solidFill>
                <a:srgbClr val="FF0000"/>
              </a:solidFill>
            </a:endParaRPr>
          </a:p>
          <a:p>
            <a:pPr marL="0" lvl="0" indent="0" algn="l" rtl="0">
              <a:spcBef>
                <a:spcPts val="0"/>
              </a:spcBef>
              <a:spcAft>
                <a:spcPts val="0"/>
              </a:spcAft>
              <a:buNone/>
            </a:pPr>
            <a:r>
              <a:rPr lang="en" sz="1200">
                <a:solidFill>
                  <a:srgbClr val="FF0000"/>
                </a:solidFill>
              </a:rPr>
              <a:t>So over time we learn to predict the same thing </a:t>
            </a:r>
            <a:r>
              <a:rPr lang="en" sz="1200" b="1">
                <a:solidFill>
                  <a:schemeClr val="accent1"/>
                </a:solidFill>
              </a:rPr>
              <a:t>(z-ε)</a:t>
            </a:r>
            <a:r>
              <a:rPr lang="en" sz="1200">
                <a:solidFill>
                  <a:srgbClr val="FF0000"/>
                </a:solidFill>
              </a:rPr>
              <a:t>, but the amount of information grows, i.e. axis of information will still differ across time.</a:t>
            </a:r>
            <a:endParaRPr sz="1200">
              <a:solidFill>
                <a:srgbClr val="FF0000"/>
              </a:solidFill>
            </a:endParaRPr>
          </a:p>
        </p:txBody>
      </p:sp>
      <p:sp>
        <p:nvSpPr>
          <p:cNvPr id="1426" name="Google Shape;1426;p85"/>
          <p:cNvSpPr/>
          <p:nvPr/>
        </p:nvSpPr>
        <p:spPr>
          <a:xfrm>
            <a:off x="4296427" y="3067075"/>
            <a:ext cx="1434300" cy="109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7" name="Google Shape;1427;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431"/>
        <p:cNvGrpSpPr/>
        <p:nvPr/>
      </p:nvGrpSpPr>
      <p:grpSpPr>
        <a:xfrm>
          <a:off x="0" y="0"/>
          <a:ext cx="0" cy="0"/>
          <a:chOff x="0" y="0"/>
          <a:chExt cx="0" cy="0"/>
        </a:xfrm>
      </p:grpSpPr>
      <p:sp>
        <p:nvSpPr>
          <p:cNvPr id="1432" name="Google Shape;1432;p86"/>
          <p:cNvSpPr/>
          <p:nvPr/>
        </p:nvSpPr>
        <p:spPr>
          <a:xfrm>
            <a:off x="478095" y="2377825"/>
            <a:ext cx="3208525" cy="1541975"/>
          </a:xfrm>
          <a:custGeom>
            <a:avLst/>
            <a:gdLst/>
            <a:ahLst/>
            <a:cxnLst/>
            <a:rect l="l" t="t" r="r" b="b"/>
            <a:pathLst>
              <a:path w="128341" h="61679" extrusionOk="0">
                <a:moveTo>
                  <a:pt x="0" y="61604"/>
                </a:moveTo>
                <a:cubicBezTo>
                  <a:pt x="4147" y="61538"/>
                  <a:pt x="16455" y="61999"/>
                  <a:pt x="24879" y="61209"/>
                </a:cubicBezTo>
                <a:cubicBezTo>
                  <a:pt x="33304" y="60419"/>
                  <a:pt x="41859" y="59169"/>
                  <a:pt x="50547" y="56865"/>
                </a:cubicBezTo>
                <a:cubicBezTo>
                  <a:pt x="59235" y="54561"/>
                  <a:pt x="69502" y="50810"/>
                  <a:pt x="77005" y="47387"/>
                </a:cubicBezTo>
                <a:cubicBezTo>
                  <a:pt x="84508" y="43965"/>
                  <a:pt x="90168" y="40082"/>
                  <a:pt x="95565" y="36330"/>
                </a:cubicBezTo>
                <a:cubicBezTo>
                  <a:pt x="100962" y="32579"/>
                  <a:pt x="105042" y="29090"/>
                  <a:pt x="109386" y="24878"/>
                </a:cubicBezTo>
                <a:cubicBezTo>
                  <a:pt x="113730" y="20666"/>
                  <a:pt x="118469" y="15203"/>
                  <a:pt x="121628" y="11057"/>
                </a:cubicBezTo>
                <a:cubicBezTo>
                  <a:pt x="124787" y="6911"/>
                  <a:pt x="127222" y="1843"/>
                  <a:pt x="128341" y="0"/>
                </a:cubicBezTo>
              </a:path>
            </a:pathLst>
          </a:custGeom>
          <a:noFill/>
          <a:ln w="9525" cap="flat" cmpd="sng">
            <a:solidFill>
              <a:schemeClr val="accent1"/>
            </a:solidFill>
            <a:prstDash val="solid"/>
            <a:round/>
            <a:headEnd type="none" w="med" len="med"/>
            <a:tailEnd type="none" w="med" len="med"/>
          </a:ln>
        </p:spPr>
        <p:txBody>
          <a:bodyPr/>
          <a:lstStyle/>
          <a:p>
            <a:endParaRPr lang="en-US"/>
          </a:p>
        </p:txBody>
      </p:sp>
      <p:sp>
        <p:nvSpPr>
          <p:cNvPr id="1433" name="Google Shape;1433;p86"/>
          <p:cNvSpPr/>
          <p:nvPr/>
        </p:nvSpPr>
        <p:spPr>
          <a:xfrm>
            <a:off x="468220" y="2345950"/>
            <a:ext cx="3178900" cy="1522600"/>
          </a:xfrm>
          <a:custGeom>
            <a:avLst/>
            <a:gdLst/>
            <a:ahLst/>
            <a:cxnLst/>
            <a:rect l="l" t="t" r="r" b="b"/>
            <a:pathLst>
              <a:path w="127156" h="60904" extrusionOk="0">
                <a:moveTo>
                  <a:pt x="127156" y="1275"/>
                </a:moveTo>
                <a:cubicBezTo>
                  <a:pt x="123734" y="1078"/>
                  <a:pt x="114915" y="-371"/>
                  <a:pt x="106622" y="90"/>
                </a:cubicBezTo>
                <a:cubicBezTo>
                  <a:pt x="98329" y="551"/>
                  <a:pt x="86351" y="1735"/>
                  <a:pt x="77400" y="4039"/>
                </a:cubicBezTo>
                <a:cubicBezTo>
                  <a:pt x="68449" y="6343"/>
                  <a:pt x="59963" y="10434"/>
                  <a:pt x="52916" y="13912"/>
                </a:cubicBezTo>
                <a:cubicBezTo>
                  <a:pt x="45869" y="17390"/>
                  <a:pt x="40491" y="21295"/>
                  <a:pt x="35120" y="24906"/>
                </a:cubicBezTo>
                <a:cubicBezTo>
                  <a:pt x="29749" y="28518"/>
                  <a:pt x="25259" y="31614"/>
                  <a:pt x="20690" y="35581"/>
                </a:cubicBezTo>
                <a:cubicBezTo>
                  <a:pt x="16121" y="39548"/>
                  <a:pt x="11154" y="44488"/>
                  <a:pt x="7706" y="48708"/>
                </a:cubicBezTo>
                <a:cubicBezTo>
                  <a:pt x="4258" y="52929"/>
                  <a:pt x="1284" y="58871"/>
                  <a:pt x="0" y="60904"/>
                </a:cubicBezTo>
              </a:path>
            </a:pathLst>
          </a:custGeom>
          <a:noFill/>
          <a:ln w="9525" cap="flat" cmpd="sng">
            <a:solidFill>
              <a:schemeClr val="accent1"/>
            </a:solidFill>
            <a:prstDash val="solid"/>
            <a:round/>
            <a:headEnd type="none" w="med" len="med"/>
            <a:tailEnd type="none" w="med" len="med"/>
          </a:ln>
        </p:spPr>
        <p:txBody>
          <a:bodyPr/>
          <a:lstStyle/>
          <a:p>
            <a:endParaRPr lang="en-US"/>
          </a:p>
        </p:txBody>
      </p:sp>
      <p:sp>
        <p:nvSpPr>
          <p:cNvPr id="1434" name="Google Shape;1434;p86"/>
          <p:cNvSpPr txBox="1"/>
          <p:nvPr/>
        </p:nvSpPr>
        <p:spPr>
          <a:xfrm>
            <a:off x="3566024" y="0"/>
            <a:ext cx="2372700" cy="29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Physical Intuition</a:t>
            </a:r>
            <a:endParaRPr sz="1800" b="1">
              <a:solidFill>
                <a:schemeClr val="dk1"/>
              </a:solidFill>
            </a:endParaRPr>
          </a:p>
        </p:txBody>
      </p:sp>
      <p:cxnSp>
        <p:nvCxnSpPr>
          <p:cNvPr id="1435" name="Google Shape;1435;p86"/>
          <p:cNvCxnSpPr/>
          <p:nvPr/>
        </p:nvCxnSpPr>
        <p:spPr>
          <a:xfrm rot="10800000" flipH="1">
            <a:off x="473770" y="2387700"/>
            <a:ext cx="3188700" cy="1500600"/>
          </a:xfrm>
          <a:prstGeom prst="straightConnector1">
            <a:avLst/>
          </a:prstGeom>
          <a:noFill/>
          <a:ln w="19050" cap="flat" cmpd="sng">
            <a:solidFill>
              <a:srgbClr val="FF0000"/>
            </a:solidFill>
            <a:prstDash val="solid"/>
            <a:round/>
            <a:headEnd type="none" w="med" len="med"/>
            <a:tailEnd type="none" w="med" len="med"/>
          </a:ln>
        </p:spPr>
      </p:cxnSp>
      <p:sp>
        <p:nvSpPr>
          <p:cNvPr id="1436" name="Google Shape;1436;p86"/>
          <p:cNvSpPr/>
          <p:nvPr/>
        </p:nvSpPr>
        <p:spPr>
          <a:xfrm>
            <a:off x="3617520" y="2328475"/>
            <a:ext cx="98700" cy="98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7" name="Google Shape;1437;p86"/>
          <p:cNvSpPr/>
          <p:nvPr/>
        </p:nvSpPr>
        <p:spPr>
          <a:xfrm>
            <a:off x="423170" y="3843250"/>
            <a:ext cx="98700" cy="98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8" name="Google Shape;1438;p86"/>
          <p:cNvSpPr txBox="1"/>
          <p:nvPr/>
        </p:nvSpPr>
        <p:spPr>
          <a:xfrm>
            <a:off x="95211" y="3810729"/>
            <a:ext cx="261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ε</a:t>
            </a:r>
            <a:endParaRPr sz="2000">
              <a:solidFill>
                <a:schemeClr val="dk1"/>
              </a:solidFill>
            </a:endParaRPr>
          </a:p>
        </p:txBody>
      </p:sp>
      <p:sp>
        <p:nvSpPr>
          <p:cNvPr id="1439" name="Google Shape;1439;p86"/>
          <p:cNvSpPr txBox="1"/>
          <p:nvPr/>
        </p:nvSpPr>
        <p:spPr>
          <a:xfrm>
            <a:off x="3753562" y="2298849"/>
            <a:ext cx="261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z</a:t>
            </a:r>
            <a:endParaRPr sz="2000">
              <a:solidFill>
                <a:schemeClr val="dk1"/>
              </a:solidFill>
            </a:endParaRPr>
          </a:p>
        </p:txBody>
      </p:sp>
      <p:pic>
        <p:nvPicPr>
          <p:cNvPr id="1440" name="Google Shape;1440;p86"/>
          <p:cNvPicPr preferRelativeResize="0"/>
          <p:nvPr/>
        </p:nvPicPr>
        <p:blipFill>
          <a:blip r:embed="rId3">
            <a:alphaModFix/>
          </a:blip>
          <a:stretch>
            <a:fillRect/>
          </a:stretch>
        </p:blipFill>
        <p:spPr>
          <a:xfrm>
            <a:off x="5308938" y="617175"/>
            <a:ext cx="3739671" cy="522950"/>
          </a:xfrm>
          <a:prstGeom prst="rect">
            <a:avLst/>
          </a:prstGeom>
          <a:noFill/>
          <a:ln>
            <a:noFill/>
          </a:ln>
        </p:spPr>
      </p:pic>
      <p:cxnSp>
        <p:nvCxnSpPr>
          <p:cNvPr id="1441" name="Google Shape;1441;p86"/>
          <p:cNvCxnSpPr/>
          <p:nvPr/>
        </p:nvCxnSpPr>
        <p:spPr>
          <a:xfrm>
            <a:off x="2689520" y="2762850"/>
            <a:ext cx="158100" cy="9900"/>
          </a:xfrm>
          <a:prstGeom prst="straightConnector1">
            <a:avLst/>
          </a:prstGeom>
          <a:noFill/>
          <a:ln w="19050" cap="flat" cmpd="sng">
            <a:solidFill>
              <a:srgbClr val="FF0000"/>
            </a:solidFill>
            <a:prstDash val="solid"/>
            <a:round/>
            <a:headEnd type="none" w="med" len="med"/>
            <a:tailEnd type="none" w="med" len="med"/>
          </a:ln>
        </p:spPr>
      </p:cxnSp>
      <p:cxnSp>
        <p:nvCxnSpPr>
          <p:cNvPr id="1442" name="Google Shape;1442;p86"/>
          <p:cNvCxnSpPr/>
          <p:nvPr/>
        </p:nvCxnSpPr>
        <p:spPr>
          <a:xfrm rot="10800000" flipH="1">
            <a:off x="2768495" y="2772625"/>
            <a:ext cx="79200" cy="138300"/>
          </a:xfrm>
          <a:prstGeom prst="straightConnector1">
            <a:avLst/>
          </a:prstGeom>
          <a:noFill/>
          <a:ln w="19050" cap="flat" cmpd="sng">
            <a:solidFill>
              <a:srgbClr val="FF0000"/>
            </a:solidFill>
            <a:prstDash val="solid"/>
            <a:round/>
            <a:headEnd type="none" w="med" len="med"/>
            <a:tailEnd type="none" w="med" len="med"/>
          </a:ln>
        </p:spPr>
      </p:cxnSp>
      <p:cxnSp>
        <p:nvCxnSpPr>
          <p:cNvPr id="1443" name="Google Shape;1443;p86"/>
          <p:cNvCxnSpPr/>
          <p:nvPr/>
        </p:nvCxnSpPr>
        <p:spPr>
          <a:xfrm>
            <a:off x="1627620" y="3260783"/>
            <a:ext cx="158100" cy="9900"/>
          </a:xfrm>
          <a:prstGeom prst="straightConnector1">
            <a:avLst/>
          </a:prstGeom>
          <a:noFill/>
          <a:ln w="19050" cap="flat" cmpd="sng">
            <a:solidFill>
              <a:srgbClr val="FF0000"/>
            </a:solidFill>
            <a:prstDash val="solid"/>
            <a:round/>
            <a:headEnd type="none" w="med" len="med"/>
            <a:tailEnd type="none" w="med" len="med"/>
          </a:ln>
        </p:spPr>
      </p:cxnSp>
      <p:cxnSp>
        <p:nvCxnSpPr>
          <p:cNvPr id="1444" name="Google Shape;1444;p86"/>
          <p:cNvCxnSpPr/>
          <p:nvPr/>
        </p:nvCxnSpPr>
        <p:spPr>
          <a:xfrm rot="10800000" flipH="1">
            <a:off x="1706595" y="3270558"/>
            <a:ext cx="79200" cy="138300"/>
          </a:xfrm>
          <a:prstGeom prst="straightConnector1">
            <a:avLst/>
          </a:prstGeom>
          <a:noFill/>
          <a:ln w="19050" cap="flat" cmpd="sng">
            <a:solidFill>
              <a:srgbClr val="FF0000"/>
            </a:solidFill>
            <a:prstDash val="solid"/>
            <a:round/>
            <a:headEnd type="none" w="med" len="med"/>
            <a:tailEnd type="none" w="med" len="med"/>
          </a:ln>
        </p:spPr>
      </p:cxnSp>
      <p:cxnSp>
        <p:nvCxnSpPr>
          <p:cNvPr id="1445" name="Google Shape;1445;p86"/>
          <p:cNvCxnSpPr/>
          <p:nvPr/>
        </p:nvCxnSpPr>
        <p:spPr>
          <a:xfrm rot="-609543">
            <a:off x="1224866" y="2950281"/>
            <a:ext cx="158180" cy="9767"/>
          </a:xfrm>
          <a:prstGeom prst="straightConnector1">
            <a:avLst/>
          </a:prstGeom>
          <a:noFill/>
          <a:ln w="9525" cap="flat" cmpd="sng">
            <a:solidFill>
              <a:schemeClr val="accent1"/>
            </a:solidFill>
            <a:prstDash val="solid"/>
            <a:round/>
            <a:headEnd type="none" w="med" len="med"/>
            <a:tailEnd type="none" w="med" len="med"/>
          </a:ln>
        </p:spPr>
      </p:cxnSp>
      <p:cxnSp>
        <p:nvCxnSpPr>
          <p:cNvPr id="1446" name="Google Shape;1446;p86"/>
          <p:cNvCxnSpPr/>
          <p:nvPr/>
        </p:nvCxnSpPr>
        <p:spPr>
          <a:xfrm rot="10185200" flipH="1">
            <a:off x="1316312" y="2951787"/>
            <a:ext cx="79264" cy="138351"/>
          </a:xfrm>
          <a:prstGeom prst="straightConnector1">
            <a:avLst/>
          </a:prstGeom>
          <a:noFill/>
          <a:ln w="9525" cap="flat" cmpd="sng">
            <a:solidFill>
              <a:schemeClr val="accent1"/>
            </a:solidFill>
            <a:prstDash val="solid"/>
            <a:round/>
            <a:headEnd type="none" w="med" len="med"/>
            <a:tailEnd type="none" w="med" len="med"/>
          </a:ln>
        </p:spPr>
      </p:cxnSp>
      <p:cxnSp>
        <p:nvCxnSpPr>
          <p:cNvPr id="1447" name="Google Shape;1447;p86"/>
          <p:cNvCxnSpPr/>
          <p:nvPr/>
        </p:nvCxnSpPr>
        <p:spPr>
          <a:xfrm rot="300445">
            <a:off x="2183415" y="2450282"/>
            <a:ext cx="158103" cy="9619"/>
          </a:xfrm>
          <a:prstGeom prst="straightConnector1">
            <a:avLst/>
          </a:prstGeom>
          <a:noFill/>
          <a:ln w="9525" cap="flat" cmpd="sng">
            <a:solidFill>
              <a:schemeClr val="accent1"/>
            </a:solidFill>
            <a:prstDash val="solid"/>
            <a:round/>
            <a:headEnd type="none" w="med" len="med"/>
            <a:tailEnd type="none" w="med" len="med"/>
          </a:ln>
        </p:spPr>
      </p:cxnSp>
      <p:cxnSp>
        <p:nvCxnSpPr>
          <p:cNvPr id="1448" name="Google Shape;1448;p86"/>
          <p:cNvCxnSpPr/>
          <p:nvPr/>
        </p:nvCxnSpPr>
        <p:spPr>
          <a:xfrm rot="-10500123" flipH="1">
            <a:off x="2255747" y="2462979"/>
            <a:ext cx="79201" cy="138547"/>
          </a:xfrm>
          <a:prstGeom prst="straightConnector1">
            <a:avLst/>
          </a:prstGeom>
          <a:noFill/>
          <a:ln w="9525" cap="flat" cmpd="sng">
            <a:solidFill>
              <a:schemeClr val="accent1"/>
            </a:solidFill>
            <a:prstDash val="solid"/>
            <a:round/>
            <a:headEnd type="none" w="med" len="med"/>
            <a:tailEnd type="none" w="med" len="med"/>
          </a:ln>
        </p:spPr>
      </p:cxnSp>
      <p:cxnSp>
        <p:nvCxnSpPr>
          <p:cNvPr id="1449" name="Google Shape;1449;p86"/>
          <p:cNvCxnSpPr/>
          <p:nvPr/>
        </p:nvCxnSpPr>
        <p:spPr>
          <a:xfrm rot="-26043">
            <a:off x="2000116" y="3654422"/>
            <a:ext cx="158405" cy="9605"/>
          </a:xfrm>
          <a:prstGeom prst="straightConnector1">
            <a:avLst/>
          </a:prstGeom>
          <a:noFill/>
          <a:ln w="9525" cap="flat" cmpd="sng">
            <a:solidFill>
              <a:schemeClr val="accent1"/>
            </a:solidFill>
            <a:prstDash val="solid"/>
            <a:round/>
            <a:headEnd type="none" w="med" len="med"/>
            <a:tailEnd type="none" w="med" len="med"/>
          </a:ln>
        </p:spPr>
      </p:cxnSp>
      <p:cxnSp>
        <p:nvCxnSpPr>
          <p:cNvPr id="1450" name="Google Shape;1450;p86"/>
          <p:cNvCxnSpPr/>
          <p:nvPr/>
        </p:nvCxnSpPr>
        <p:spPr>
          <a:xfrm rot="10760936" flipH="1">
            <a:off x="2079693" y="3663700"/>
            <a:ext cx="79205" cy="138303"/>
          </a:xfrm>
          <a:prstGeom prst="straightConnector1">
            <a:avLst/>
          </a:prstGeom>
          <a:noFill/>
          <a:ln w="9525" cap="flat" cmpd="sng">
            <a:solidFill>
              <a:schemeClr val="accent1"/>
            </a:solidFill>
            <a:prstDash val="solid"/>
            <a:round/>
            <a:headEnd type="none" w="med" len="med"/>
            <a:tailEnd type="none" w="med" len="med"/>
          </a:ln>
        </p:spPr>
      </p:cxnSp>
      <p:cxnSp>
        <p:nvCxnSpPr>
          <p:cNvPr id="1451" name="Google Shape;1451;p86"/>
          <p:cNvCxnSpPr/>
          <p:nvPr/>
        </p:nvCxnSpPr>
        <p:spPr>
          <a:xfrm rot="-372489">
            <a:off x="2865357" y="3166708"/>
            <a:ext cx="158127" cy="9675"/>
          </a:xfrm>
          <a:prstGeom prst="straightConnector1">
            <a:avLst/>
          </a:prstGeom>
          <a:noFill/>
          <a:ln w="9525" cap="flat" cmpd="sng">
            <a:solidFill>
              <a:schemeClr val="accent1"/>
            </a:solidFill>
            <a:prstDash val="solid"/>
            <a:round/>
            <a:headEnd type="none" w="med" len="med"/>
            <a:tailEnd type="none" w="med" len="med"/>
          </a:ln>
        </p:spPr>
      </p:cxnSp>
      <p:cxnSp>
        <p:nvCxnSpPr>
          <p:cNvPr id="1452" name="Google Shape;1452;p86"/>
          <p:cNvCxnSpPr/>
          <p:nvPr/>
        </p:nvCxnSpPr>
        <p:spPr>
          <a:xfrm rot="10421029" flipH="1">
            <a:off x="2952109" y="3171552"/>
            <a:ext cx="79080" cy="138482"/>
          </a:xfrm>
          <a:prstGeom prst="straightConnector1">
            <a:avLst/>
          </a:prstGeom>
          <a:noFill/>
          <a:ln w="9525" cap="flat" cmpd="sng">
            <a:solidFill>
              <a:schemeClr val="accent1"/>
            </a:solidFill>
            <a:prstDash val="solid"/>
            <a:round/>
            <a:headEnd type="none" w="med" len="med"/>
            <a:tailEnd type="none" w="med" len="med"/>
          </a:ln>
        </p:spPr>
      </p:cxnSp>
      <p:pic>
        <p:nvPicPr>
          <p:cNvPr id="1453" name="Google Shape;1453;p86"/>
          <p:cNvPicPr preferRelativeResize="0"/>
          <p:nvPr/>
        </p:nvPicPr>
        <p:blipFill>
          <a:blip r:embed="rId4">
            <a:alphaModFix/>
          </a:blip>
          <a:stretch>
            <a:fillRect/>
          </a:stretch>
        </p:blipFill>
        <p:spPr>
          <a:xfrm>
            <a:off x="72975" y="647800"/>
            <a:ext cx="3932746" cy="461700"/>
          </a:xfrm>
          <a:prstGeom prst="rect">
            <a:avLst/>
          </a:prstGeom>
          <a:noFill/>
          <a:ln>
            <a:noFill/>
          </a:ln>
        </p:spPr>
      </p:pic>
      <p:sp>
        <p:nvSpPr>
          <p:cNvPr id="1454" name="Google Shape;1454;p86"/>
          <p:cNvSpPr/>
          <p:nvPr/>
        </p:nvSpPr>
        <p:spPr>
          <a:xfrm>
            <a:off x="4159934" y="617200"/>
            <a:ext cx="1026900" cy="522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Cond OT special case</a:t>
            </a:r>
            <a:endParaRPr sz="800"/>
          </a:p>
        </p:txBody>
      </p:sp>
      <p:cxnSp>
        <p:nvCxnSpPr>
          <p:cNvPr id="1455" name="Google Shape;1455;p86"/>
          <p:cNvCxnSpPr/>
          <p:nvPr/>
        </p:nvCxnSpPr>
        <p:spPr>
          <a:xfrm rot="10800000">
            <a:off x="8504350" y="1509025"/>
            <a:ext cx="0" cy="335700"/>
          </a:xfrm>
          <a:prstGeom prst="straightConnector1">
            <a:avLst/>
          </a:prstGeom>
          <a:noFill/>
          <a:ln w="9525" cap="flat" cmpd="sng">
            <a:solidFill>
              <a:srgbClr val="FF0000"/>
            </a:solidFill>
            <a:prstDash val="solid"/>
            <a:round/>
            <a:headEnd type="none" w="med" len="med"/>
            <a:tailEnd type="triangle" w="med" len="med"/>
          </a:ln>
        </p:spPr>
      </p:cxnSp>
      <p:cxnSp>
        <p:nvCxnSpPr>
          <p:cNvPr id="1456" name="Google Shape;1456;p86"/>
          <p:cNvCxnSpPr/>
          <p:nvPr/>
        </p:nvCxnSpPr>
        <p:spPr>
          <a:xfrm rot="10800000">
            <a:off x="2886850" y="2943025"/>
            <a:ext cx="5617500" cy="0"/>
          </a:xfrm>
          <a:prstGeom prst="straightConnector1">
            <a:avLst/>
          </a:prstGeom>
          <a:noFill/>
          <a:ln w="9525" cap="flat" cmpd="sng">
            <a:solidFill>
              <a:srgbClr val="FF0000"/>
            </a:solidFill>
            <a:prstDash val="solid"/>
            <a:round/>
            <a:headEnd type="none" w="med" len="med"/>
            <a:tailEnd type="triangle" w="med" len="med"/>
          </a:ln>
        </p:spPr>
      </p:cxnSp>
      <p:cxnSp>
        <p:nvCxnSpPr>
          <p:cNvPr id="1457" name="Google Shape;1457;p86"/>
          <p:cNvCxnSpPr/>
          <p:nvPr/>
        </p:nvCxnSpPr>
        <p:spPr>
          <a:xfrm>
            <a:off x="8504339" y="2456808"/>
            <a:ext cx="0" cy="483900"/>
          </a:xfrm>
          <a:prstGeom prst="straightConnector1">
            <a:avLst/>
          </a:prstGeom>
          <a:noFill/>
          <a:ln w="9525" cap="flat" cmpd="sng">
            <a:solidFill>
              <a:srgbClr val="FF0000"/>
            </a:solidFill>
            <a:prstDash val="solid"/>
            <a:round/>
            <a:headEnd type="none" w="med" len="med"/>
            <a:tailEnd type="none" w="med" len="med"/>
          </a:ln>
        </p:spPr>
      </p:cxnSp>
      <p:sp>
        <p:nvSpPr>
          <p:cNvPr id="1458" name="Google Shape;1458;p86"/>
          <p:cNvSpPr/>
          <p:nvPr/>
        </p:nvSpPr>
        <p:spPr>
          <a:xfrm rot="5400000">
            <a:off x="3220225" y="776050"/>
            <a:ext cx="152700" cy="819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9" name="Google Shape;1459;p86"/>
          <p:cNvSpPr txBox="1"/>
          <p:nvPr/>
        </p:nvSpPr>
        <p:spPr>
          <a:xfrm>
            <a:off x="2662151" y="1188913"/>
            <a:ext cx="1167000" cy="29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rPr>
              <a:t>Changing velocity</a:t>
            </a:r>
            <a:endParaRPr sz="800">
              <a:solidFill>
                <a:schemeClr val="dk1"/>
              </a:solidFill>
            </a:endParaRPr>
          </a:p>
        </p:txBody>
      </p:sp>
      <p:sp>
        <p:nvSpPr>
          <p:cNvPr id="1460" name="Google Shape;1460;p86"/>
          <p:cNvSpPr/>
          <p:nvPr/>
        </p:nvSpPr>
        <p:spPr>
          <a:xfrm rot="5400000">
            <a:off x="8437613" y="879600"/>
            <a:ext cx="140400" cy="5112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1" name="Google Shape;1461;p86"/>
          <p:cNvSpPr txBox="1"/>
          <p:nvPr/>
        </p:nvSpPr>
        <p:spPr>
          <a:xfrm>
            <a:off x="7920838" y="1177563"/>
            <a:ext cx="1167000" cy="29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rPr>
              <a:t>Constant velocity</a:t>
            </a:r>
            <a:endParaRPr sz="800">
              <a:solidFill>
                <a:schemeClr val="dk1"/>
              </a:solidFill>
            </a:endParaRPr>
          </a:p>
        </p:txBody>
      </p:sp>
      <p:cxnSp>
        <p:nvCxnSpPr>
          <p:cNvPr id="1462" name="Google Shape;1462;p86"/>
          <p:cNvCxnSpPr>
            <a:stCxn id="1459" idx="2"/>
          </p:cNvCxnSpPr>
          <p:nvPr/>
        </p:nvCxnSpPr>
        <p:spPr>
          <a:xfrm flipH="1">
            <a:off x="2696951" y="1482913"/>
            <a:ext cx="548700" cy="878100"/>
          </a:xfrm>
          <a:prstGeom prst="straightConnector1">
            <a:avLst/>
          </a:prstGeom>
          <a:noFill/>
          <a:ln w="9525" cap="flat" cmpd="sng">
            <a:solidFill>
              <a:schemeClr val="accent1"/>
            </a:solidFill>
            <a:prstDash val="solid"/>
            <a:round/>
            <a:headEnd type="none" w="med" len="med"/>
            <a:tailEnd type="triangle" w="med" len="med"/>
          </a:ln>
        </p:spPr>
      </p:cxnSp>
      <p:cxnSp>
        <p:nvCxnSpPr>
          <p:cNvPr id="1463" name="Google Shape;1463;p86"/>
          <p:cNvCxnSpPr>
            <a:stCxn id="1459" idx="2"/>
          </p:cNvCxnSpPr>
          <p:nvPr/>
        </p:nvCxnSpPr>
        <p:spPr>
          <a:xfrm>
            <a:off x="3245651" y="1482913"/>
            <a:ext cx="223800" cy="1184700"/>
          </a:xfrm>
          <a:prstGeom prst="straightConnector1">
            <a:avLst/>
          </a:prstGeom>
          <a:noFill/>
          <a:ln w="9525" cap="flat" cmpd="sng">
            <a:solidFill>
              <a:schemeClr val="accent1"/>
            </a:solidFill>
            <a:prstDash val="solid"/>
            <a:round/>
            <a:headEnd type="none" w="med" len="med"/>
            <a:tailEnd type="triangle" w="med" len="med"/>
          </a:ln>
        </p:spPr>
      </p:cxnSp>
      <p:sp>
        <p:nvSpPr>
          <p:cNvPr id="1464" name="Google Shape;1464;p86"/>
          <p:cNvSpPr txBox="1"/>
          <p:nvPr/>
        </p:nvSpPr>
        <p:spPr>
          <a:xfrm>
            <a:off x="3548500" y="3444050"/>
            <a:ext cx="5215200" cy="109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In general, with the Conditional Flow Matching Loss CFM we are essentially predicting velocities across our path of choice. And if we take the straight </a:t>
            </a:r>
            <a:r>
              <a:rPr lang="en" sz="1500" b="1">
                <a:solidFill>
                  <a:schemeClr val="dk1"/>
                </a:solidFill>
              </a:rPr>
              <a:t>Cond OT path</a:t>
            </a:r>
            <a:r>
              <a:rPr lang="en" sz="1500">
                <a:solidFill>
                  <a:schemeClr val="dk1"/>
                </a:solidFill>
              </a:rPr>
              <a:t>, our velocity becomes constant, i.e. </a:t>
            </a:r>
            <a:r>
              <a:rPr lang="en" sz="1500" b="1">
                <a:solidFill>
                  <a:schemeClr val="dk1"/>
                </a:solidFill>
              </a:rPr>
              <a:t>(z-ε)</a:t>
            </a:r>
            <a:endParaRPr sz="1500" b="1">
              <a:solidFill>
                <a:schemeClr val="dk1"/>
              </a:solidFill>
            </a:endParaRPr>
          </a:p>
        </p:txBody>
      </p:sp>
      <p:pic>
        <p:nvPicPr>
          <p:cNvPr id="1465" name="Google Shape;1465;p86"/>
          <p:cNvPicPr preferRelativeResize="0"/>
          <p:nvPr/>
        </p:nvPicPr>
        <p:blipFill>
          <a:blip r:embed="rId5">
            <a:alphaModFix/>
          </a:blip>
          <a:stretch>
            <a:fillRect/>
          </a:stretch>
        </p:blipFill>
        <p:spPr>
          <a:xfrm>
            <a:off x="4237136" y="1861244"/>
            <a:ext cx="4571999" cy="579050"/>
          </a:xfrm>
          <a:prstGeom prst="rect">
            <a:avLst/>
          </a:prstGeom>
          <a:noFill/>
          <a:ln>
            <a:noFill/>
          </a:ln>
        </p:spPr>
      </p:pic>
      <p:sp>
        <p:nvSpPr>
          <p:cNvPr id="1466" name="Google Shape;1466;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1" name="Google Shape;1471;p87"/>
          <p:cNvSpPr txBox="1"/>
          <p:nvPr/>
        </p:nvSpPr>
        <p:spPr>
          <a:xfrm>
            <a:off x="2700744" y="0"/>
            <a:ext cx="37425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Constant-Offset Identity Proof I </a:t>
            </a:r>
            <a:endParaRPr sz="1800" b="1">
              <a:solidFill>
                <a:schemeClr val="dk1"/>
              </a:solidFill>
            </a:endParaRPr>
          </a:p>
        </p:txBody>
      </p:sp>
      <p:sp>
        <p:nvSpPr>
          <p:cNvPr id="1472" name="Google Shape;1472;p87"/>
          <p:cNvSpPr txBox="1"/>
          <p:nvPr/>
        </p:nvSpPr>
        <p:spPr>
          <a:xfrm>
            <a:off x="382050" y="923150"/>
            <a:ext cx="8379900" cy="50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Because our loss functions resemble the structure (a-b)</a:t>
            </a:r>
            <a:r>
              <a:rPr lang="en" sz="1800" baseline="30000">
                <a:solidFill>
                  <a:schemeClr val="dk1"/>
                </a:solidFill>
              </a:rPr>
              <a:t>2</a:t>
            </a:r>
            <a:r>
              <a:rPr lang="en" sz="1800">
                <a:solidFill>
                  <a:schemeClr val="dk1"/>
                </a:solidFill>
              </a:rPr>
              <a:t> we can make use of the binomial expansion formula, just treating </a:t>
            </a:r>
            <a:r>
              <a:rPr lang="en" sz="1800" b="1">
                <a:solidFill>
                  <a:schemeClr val="dk1"/>
                </a:solidFill>
              </a:rPr>
              <a:t>a</a:t>
            </a:r>
            <a:r>
              <a:rPr lang="en" sz="1800">
                <a:solidFill>
                  <a:schemeClr val="dk1"/>
                </a:solidFill>
              </a:rPr>
              <a:t> and </a:t>
            </a:r>
            <a:r>
              <a:rPr lang="en" sz="1800" b="1">
                <a:solidFill>
                  <a:schemeClr val="dk1"/>
                </a:solidFill>
              </a:rPr>
              <a:t>b</a:t>
            </a:r>
            <a:r>
              <a:rPr lang="en" sz="1800">
                <a:solidFill>
                  <a:schemeClr val="dk1"/>
                </a:solidFill>
              </a:rPr>
              <a:t> as vectors instead of scalars. We get the so-called </a:t>
            </a:r>
            <a:r>
              <a:rPr lang="en" sz="1800" b="1">
                <a:solidFill>
                  <a:schemeClr val="dk1"/>
                </a:solidFill>
              </a:rPr>
              <a:t>Squared Euclidean Norm</a:t>
            </a:r>
            <a:r>
              <a:rPr lang="en" sz="1800">
                <a:solidFill>
                  <a:schemeClr val="dk1"/>
                </a:solidFill>
              </a:rPr>
              <a:t> </a:t>
            </a:r>
            <a:r>
              <a:rPr lang="en" sz="1800" b="1">
                <a:solidFill>
                  <a:schemeClr val="dk1"/>
                </a:solidFill>
              </a:rPr>
              <a:t>Expansion </a:t>
            </a:r>
            <a:r>
              <a:rPr lang="en" sz="1800">
                <a:solidFill>
                  <a:schemeClr val="dk1"/>
                </a:solidFill>
              </a:rPr>
              <a:t>formula:</a:t>
            </a:r>
            <a:endParaRPr sz="1800">
              <a:solidFill>
                <a:schemeClr val="dk1"/>
              </a:solidFill>
            </a:endParaRPr>
          </a:p>
        </p:txBody>
      </p:sp>
      <p:pic>
        <p:nvPicPr>
          <p:cNvPr id="1473" name="Google Shape;1473;p87"/>
          <p:cNvPicPr preferRelativeResize="0"/>
          <p:nvPr/>
        </p:nvPicPr>
        <p:blipFill>
          <a:blip r:embed="rId3">
            <a:alphaModFix/>
          </a:blip>
          <a:stretch>
            <a:fillRect/>
          </a:stretch>
        </p:blipFill>
        <p:spPr>
          <a:xfrm>
            <a:off x="152400" y="4250269"/>
            <a:ext cx="3861949" cy="605800"/>
          </a:xfrm>
          <a:prstGeom prst="rect">
            <a:avLst/>
          </a:prstGeom>
          <a:noFill/>
          <a:ln>
            <a:noFill/>
          </a:ln>
        </p:spPr>
      </p:pic>
      <p:pic>
        <p:nvPicPr>
          <p:cNvPr id="1474" name="Google Shape;1474;p87"/>
          <p:cNvPicPr preferRelativeResize="0"/>
          <p:nvPr/>
        </p:nvPicPr>
        <p:blipFill>
          <a:blip r:embed="rId4">
            <a:alphaModFix/>
          </a:blip>
          <a:stretch>
            <a:fillRect/>
          </a:stretch>
        </p:blipFill>
        <p:spPr>
          <a:xfrm>
            <a:off x="4703978" y="4250269"/>
            <a:ext cx="4233749" cy="605800"/>
          </a:xfrm>
          <a:prstGeom prst="rect">
            <a:avLst/>
          </a:prstGeom>
          <a:noFill/>
          <a:ln>
            <a:noFill/>
          </a:ln>
        </p:spPr>
      </p:pic>
      <p:pic>
        <p:nvPicPr>
          <p:cNvPr id="1475" name="Google Shape;1475;p87"/>
          <p:cNvPicPr preferRelativeResize="0"/>
          <p:nvPr/>
        </p:nvPicPr>
        <p:blipFill>
          <a:blip r:embed="rId5">
            <a:alphaModFix/>
          </a:blip>
          <a:stretch>
            <a:fillRect/>
          </a:stretch>
        </p:blipFill>
        <p:spPr>
          <a:xfrm>
            <a:off x="2521000" y="2327160"/>
            <a:ext cx="4299799" cy="446150"/>
          </a:xfrm>
          <a:prstGeom prst="rect">
            <a:avLst/>
          </a:prstGeom>
          <a:noFill/>
          <a:ln>
            <a:noFill/>
          </a:ln>
        </p:spPr>
      </p:pic>
      <p:pic>
        <p:nvPicPr>
          <p:cNvPr id="1476" name="Google Shape;1476;p87"/>
          <p:cNvPicPr preferRelativeResize="0"/>
          <p:nvPr/>
        </p:nvPicPr>
        <p:blipFill>
          <a:blip r:embed="rId6">
            <a:alphaModFix/>
          </a:blip>
          <a:stretch>
            <a:fillRect/>
          </a:stretch>
        </p:blipFill>
        <p:spPr>
          <a:xfrm>
            <a:off x="7308812" y="2347734"/>
            <a:ext cx="1335839" cy="402300"/>
          </a:xfrm>
          <a:prstGeom prst="rect">
            <a:avLst/>
          </a:prstGeom>
          <a:noFill/>
          <a:ln>
            <a:noFill/>
          </a:ln>
        </p:spPr>
      </p:pic>
      <p:sp>
        <p:nvSpPr>
          <p:cNvPr id="1477" name="Google Shape;1477;p87"/>
          <p:cNvSpPr txBox="1"/>
          <p:nvPr/>
        </p:nvSpPr>
        <p:spPr>
          <a:xfrm>
            <a:off x="3266925" y="3201225"/>
            <a:ext cx="33165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Let’s apply this to both losses</a:t>
            </a:r>
            <a:endParaRPr sz="1800">
              <a:solidFill>
                <a:schemeClr val="dk1"/>
              </a:solidFill>
            </a:endParaRPr>
          </a:p>
        </p:txBody>
      </p:sp>
      <p:cxnSp>
        <p:nvCxnSpPr>
          <p:cNvPr id="1478" name="Google Shape;1478;p87"/>
          <p:cNvCxnSpPr/>
          <p:nvPr/>
        </p:nvCxnSpPr>
        <p:spPr>
          <a:xfrm flipH="1">
            <a:off x="4071699" y="3597801"/>
            <a:ext cx="1815900" cy="532800"/>
          </a:xfrm>
          <a:prstGeom prst="straightConnector1">
            <a:avLst/>
          </a:prstGeom>
          <a:noFill/>
          <a:ln w="9525" cap="flat" cmpd="sng">
            <a:solidFill>
              <a:schemeClr val="dk1"/>
            </a:solidFill>
            <a:prstDash val="solid"/>
            <a:round/>
            <a:headEnd type="none" w="med" len="med"/>
            <a:tailEnd type="triangle" w="med" len="med"/>
          </a:ln>
        </p:spPr>
      </p:cxnSp>
      <p:cxnSp>
        <p:nvCxnSpPr>
          <p:cNvPr id="1479" name="Google Shape;1479;p87"/>
          <p:cNvCxnSpPr/>
          <p:nvPr/>
        </p:nvCxnSpPr>
        <p:spPr>
          <a:xfrm>
            <a:off x="5887500" y="3597875"/>
            <a:ext cx="696000" cy="500100"/>
          </a:xfrm>
          <a:prstGeom prst="straightConnector1">
            <a:avLst/>
          </a:prstGeom>
          <a:noFill/>
          <a:ln w="9525" cap="flat" cmpd="sng">
            <a:solidFill>
              <a:schemeClr val="dk1"/>
            </a:solidFill>
            <a:prstDash val="solid"/>
            <a:round/>
            <a:headEnd type="none" w="med" len="med"/>
            <a:tailEnd type="triangle" w="med" len="med"/>
          </a:ln>
        </p:spPr>
      </p:cxnSp>
      <p:cxnSp>
        <p:nvCxnSpPr>
          <p:cNvPr id="1480" name="Google Shape;1480;p87"/>
          <p:cNvCxnSpPr/>
          <p:nvPr/>
        </p:nvCxnSpPr>
        <p:spPr>
          <a:xfrm rot="10800000" flipH="1">
            <a:off x="4691448" y="2827656"/>
            <a:ext cx="1200" cy="454800"/>
          </a:xfrm>
          <a:prstGeom prst="straightConnector1">
            <a:avLst/>
          </a:prstGeom>
          <a:noFill/>
          <a:ln w="9525" cap="flat" cmpd="sng">
            <a:solidFill>
              <a:schemeClr val="dk1"/>
            </a:solidFill>
            <a:prstDash val="solid"/>
            <a:round/>
            <a:headEnd type="none" w="med" len="med"/>
            <a:tailEnd type="triangle" w="med" len="med"/>
          </a:ln>
        </p:spPr>
      </p:cxnSp>
      <p:sp>
        <p:nvSpPr>
          <p:cNvPr id="1481" name="Google Shape;1481;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75</a:t>
            </a:fld>
            <a:endParaRPr/>
          </a:p>
        </p:txBody>
      </p:sp>
      <p:pic>
        <p:nvPicPr>
          <p:cNvPr id="1482" name="Google Shape;1482;p87"/>
          <p:cNvPicPr preferRelativeResize="0"/>
          <p:nvPr/>
        </p:nvPicPr>
        <p:blipFill>
          <a:blip r:embed="rId7">
            <a:alphaModFix/>
          </a:blip>
          <a:stretch>
            <a:fillRect/>
          </a:stretch>
        </p:blipFill>
        <p:spPr>
          <a:xfrm>
            <a:off x="8902058" y="7408"/>
            <a:ext cx="236401" cy="262376"/>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486"/>
        <p:cNvGrpSpPr/>
        <p:nvPr/>
      </p:nvGrpSpPr>
      <p:grpSpPr>
        <a:xfrm>
          <a:off x="0" y="0"/>
          <a:ext cx="0" cy="0"/>
          <a:chOff x="0" y="0"/>
          <a:chExt cx="0" cy="0"/>
        </a:xfrm>
      </p:grpSpPr>
      <p:pic>
        <p:nvPicPr>
          <p:cNvPr id="1487" name="Google Shape;1487;p88"/>
          <p:cNvPicPr preferRelativeResize="0"/>
          <p:nvPr/>
        </p:nvPicPr>
        <p:blipFill>
          <a:blip r:embed="rId3">
            <a:alphaModFix/>
          </a:blip>
          <a:stretch>
            <a:fillRect/>
          </a:stretch>
        </p:blipFill>
        <p:spPr>
          <a:xfrm>
            <a:off x="497842" y="737318"/>
            <a:ext cx="7783350" cy="722225"/>
          </a:xfrm>
          <a:prstGeom prst="rect">
            <a:avLst/>
          </a:prstGeom>
          <a:noFill/>
          <a:ln>
            <a:noFill/>
          </a:ln>
        </p:spPr>
      </p:pic>
      <p:pic>
        <p:nvPicPr>
          <p:cNvPr id="1488" name="Google Shape;1488;p88"/>
          <p:cNvPicPr preferRelativeResize="0"/>
          <p:nvPr/>
        </p:nvPicPr>
        <p:blipFill>
          <a:blip r:embed="rId4">
            <a:alphaModFix/>
          </a:blip>
          <a:stretch>
            <a:fillRect/>
          </a:stretch>
        </p:blipFill>
        <p:spPr>
          <a:xfrm>
            <a:off x="722963" y="2439468"/>
            <a:ext cx="7728049" cy="644000"/>
          </a:xfrm>
          <a:prstGeom prst="rect">
            <a:avLst/>
          </a:prstGeom>
          <a:noFill/>
          <a:ln>
            <a:noFill/>
          </a:ln>
        </p:spPr>
      </p:pic>
      <p:cxnSp>
        <p:nvCxnSpPr>
          <p:cNvPr id="1489" name="Google Shape;1489;p88"/>
          <p:cNvCxnSpPr/>
          <p:nvPr/>
        </p:nvCxnSpPr>
        <p:spPr>
          <a:xfrm>
            <a:off x="2956075" y="625268"/>
            <a:ext cx="325800" cy="947700"/>
          </a:xfrm>
          <a:prstGeom prst="straightConnector1">
            <a:avLst/>
          </a:prstGeom>
          <a:noFill/>
          <a:ln w="9525" cap="flat" cmpd="sng">
            <a:solidFill>
              <a:srgbClr val="FF0000"/>
            </a:solidFill>
            <a:prstDash val="solid"/>
            <a:round/>
            <a:headEnd type="none" w="med" len="med"/>
            <a:tailEnd type="triangle" w="med" len="med"/>
          </a:ln>
        </p:spPr>
      </p:cxnSp>
      <p:cxnSp>
        <p:nvCxnSpPr>
          <p:cNvPr id="1490" name="Google Shape;1490;p88"/>
          <p:cNvCxnSpPr/>
          <p:nvPr/>
        </p:nvCxnSpPr>
        <p:spPr>
          <a:xfrm rot="10800000" flipH="1">
            <a:off x="2956075" y="2175143"/>
            <a:ext cx="365400" cy="997200"/>
          </a:xfrm>
          <a:prstGeom prst="straightConnector1">
            <a:avLst/>
          </a:prstGeom>
          <a:noFill/>
          <a:ln w="9525" cap="flat" cmpd="sng">
            <a:solidFill>
              <a:srgbClr val="FF0000"/>
            </a:solidFill>
            <a:prstDash val="solid"/>
            <a:round/>
            <a:headEnd type="none" w="med" len="med"/>
            <a:tailEnd type="triangle" w="med" len="med"/>
          </a:ln>
        </p:spPr>
      </p:cxnSp>
      <p:sp>
        <p:nvSpPr>
          <p:cNvPr id="1491" name="Google Shape;1491;p88"/>
          <p:cNvSpPr txBox="1"/>
          <p:nvPr/>
        </p:nvSpPr>
        <p:spPr>
          <a:xfrm>
            <a:off x="2275375" y="1675163"/>
            <a:ext cx="1687200" cy="39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(1) Appears in both cases</a:t>
            </a:r>
            <a:endParaRPr sz="1000">
              <a:solidFill>
                <a:srgbClr val="FF0000"/>
              </a:solidFill>
            </a:endParaRPr>
          </a:p>
        </p:txBody>
      </p:sp>
      <p:cxnSp>
        <p:nvCxnSpPr>
          <p:cNvPr id="1492" name="Google Shape;1492;p88"/>
          <p:cNvCxnSpPr/>
          <p:nvPr/>
        </p:nvCxnSpPr>
        <p:spPr>
          <a:xfrm flipH="1">
            <a:off x="7192375" y="490718"/>
            <a:ext cx="391500" cy="1204200"/>
          </a:xfrm>
          <a:prstGeom prst="straightConnector1">
            <a:avLst/>
          </a:prstGeom>
          <a:noFill/>
          <a:ln w="9525" cap="flat" cmpd="sng">
            <a:solidFill>
              <a:srgbClr val="FF0000"/>
            </a:solidFill>
            <a:prstDash val="solid"/>
            <a:round/>
            <a:headEnd type="none" w="med" len="med"/>
            <a:tailEnd type="triangle" w="med" len="med"/>
          </a:ln>
        </p:spPr>
      </p:cxnSp>
      <p:cxnSp>
        <p:nvCxnSpPr>
          <p:cNvPr id="1493" name="Google Shape;1493;p88"/>
          <p:cNvCxnSpPr/>
          <p:nvPr/>
        </p:nvCxnSpPr>
        <p:spPr>
          <a:xfrm rot="10800000">
            <a:off x="7268600" y="2249450"/>
            <a:ext cx="689400" cy="1080900"/>
          </a:xfrm>
          <a:prstGeom prst="straightConnector1">
            <a:avLst/>
          </a:prstGeom>
          <a:noFill/>
          <a:ln w="9525" cap="flat" cmpd="sng">
            <a:solidFill>
              <a:srgbClr val="FF0000"/>
            </a:solidFill>
            <a:prstDash val="solid"/>
            <a:round/>
            <a:headEnd type="none" w="med" len="med"/>
            <a:tailEnd type="triangle" w="med" len="med"/>
          </a:ln>
        </p:spPr>
      </p:cxnSp>
      <p:sp>
        <p:nvSpPr>
          <p:cNvPr id="1494" name="Google Shape;1494;p88"/>
          <p:cNvSpPr txBox="1"/>
          <p:nvPr/>
        </p:nvSpPr>
        <p:spPr>
          <a:xfrm>
            <a:off x="6547100" y="1729550"/>
            <a:ext cx="1819800" cy="39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0000"/>
                </a:solidFill>
              </a:rPr>
              <a:t>(3) Does not depend on 𝝧</a:t>
            </a:r>
            <a:endParaRPr sz="1000">
              <a:solidFill>
                <a:srgbClr val="FF0000"/>
              </a:solidFill>
            </a:endParaRPr>
          </a:p>
        </p:txBody>
      </p:sp>
      <p:sp>
        <p:nvSpPr>
          <p:cNvPr id="1495" name="Google Shape;1495;p88"/>
          <p:cNvSpPr/>
          <p:nvPr/>
        </p:nvSpPr>
        <p:spPr>
          <a:xfrm>
            <a:off x="3894053" y="635143"/>
            <a:ext cx="2527200" cy="2517600"/>
          </a:xfrm>
          <a:prstGeom prst="rect">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0000"/>
              </a:solidFill>
            </a:endParaRPr>
          </a:p>
        </p:txBody>
      </p:sp>
      <p:pic>
        <p:nvPicPr>
          <p:cNvPr id="1496" name="Google Shape;1496;p88"/>
          <p:cNvPicPr preferRelativeResize="0"/>
          <p:nvPr/>
        </p:nvPicPr>
        <p:blipFill>
          <a:blip r:embed="rId5">
            <a:alphaModFix/>
          </a:blip>
          <a:stretch>
            <a:fillRect/>
          </a:stretch>
        </p:blipFill>
        <p:spPr>
          <a:xfrm>
            <a:off x="3091063" y="3274538"/>
            <a:ext cx="4160925" cy="445193"/>
          </a:xfrm>
          <a:prstGeom prst="rect">
            <a:avLst/>
          </a:prstGeom>
          <a:noFill/>
          <a:ln>
            <a:noFill/>
          </a:ln>
        </p:spPr>
      </p:pic>
      <p:sp>
        <p:nvSpPr>
          <p:cNvPr id="1497" name="Google Shape;1497;p88"/>
          <p:cNvSpPr txBox="1"/>
          <p:nvPr/>
        </p:nvSpPr>
        <p:spPr>
          <a:xfrm>
            <a:off x="222300" y="4051050"/>
            <a:ext cx="8699400" cy="39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Because first terms are the same </a:t>
            </a:r>
            <a:r>
              <a:rPr lang="en" sz="1100">
                <a:solidFill>
                  <a:srgbClr val="FF0000"/>
                </a:solidFill>
              </a:rPr>
              <a:t>(1)</a:t>
            </a:r>
            <a:r>
              <a:rPr lang="en" sz="1100">
                <a:solidFill>
                  <a:schemeClr val="dk1"/>
                </a:solidFill>
              </a:rPr>
              <a:t>, second terms are the same in expectation</a:t>
            </a:r>
            <a:r>
              <a:rPr lang="en" sz="1100">
                <a:solidFill>
                  <a:srgbClr val="FF0000"/>
                </a:solidFill>
              </a:rPr>
              <a:t> (2),</a:t>
            </a:r>
            <a:r>
              <a:rPr lang="en" sz="1100">
                <a:solidFill>
                  <a:schemeClr val="dk1"/>
                </a:solidFill>
              </a:rPr>
              <a:t> and third terms will also differ in expectation by some constant </a:t>
            </a:r>
            <a:r>
              <a:rPr lang="en" sz="1100" b="1">
                <a:solidFill>
                  <a:schemeClr val="dk1"/>
                </a:solidFill>
              </a:rPr>
              <a:t>C</a:t>
            </a:r>
            <a:r>
              <a:rPr lang="en" sz="1100">
                <a:solidFill>
                  <a:schemeClr val="dk1"/>
                </a:solidFill>
              </a:rPr>
              <a:t> not depending on 𝝧 </a:t>
            </a:r>
            <a:r>
              <a:rPr lang="en" sz="1100">
                <a:solidFill>
                  <a:srgbClr val="FF0000"/>
                </a:solidFill>
              </a:rPr>
              <a:t>(3)</a:t>
            </a:r>
            <a:r>
              <a:rPr lang="en" sz="1100">
                <a:solidFill>
                  <a:schemeClr val="dk1"/>
                </a:solidFill>
              </a:rPr>
              <a:t>  =&gt;</a:t>
            </a:r>
            <a:endParaRPr sz="1100">
              <a:solidFill>
                <a:schemeClr val="dk1"/>
              </a:solidFill>
            </a:endParaRPr>
          </a:p>
        </p:txBody>
      </p:sp>
      <p:sp>
        <p:nvSpPr>
          <p:cNvPr id="1498" name="Google Shape;1498;p88"/>
          <p:cNvSpPr txBox="1"/>
          <p:nvPr/>
        </p:nvSpPr>
        <p:spPr>
          <a:xfrm>
            <a:off x="2842975" y="3303639"/>
            <a:ext cx="478500" cy="30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000">
                <a:solidFill>
                  <a:srgbClr val="FF0000"/>
                </a:solidFill>
              </a:rPr>
              <a:t>(2)</a:t>
            </a:r>
            <a:endParaRPr sz="1000">
              <a:solidFill>
                <a:srgbClr val="FF0000"/>
              </a:solidFill>
            </a:endParaRPr>
          </a:p>
        </p:txBody>
      </p:sp>
      <p:pic>
        <p:nvPicPr>
          <p:cNvPr id="1499" name="Google Shape;1499;p88"/>
          <p:cNvPicPr preferRelativeResize="0"/>
          <p:nvPr/>
        </p:nvPicPr>
        <p:blipFill>
          <a:blip r:embed="rId6">
            <a:alphaModFix/>
          </a:blip>
          <a:stretch>
            <a:fillRect/>
          </a:stretch>
        </p:blipFill>
        <p:spPr>
          <a:xfrm>
            <a:off x="2842975" y="4523038"/>
            <a:ext cx="3237810" cy="391500"/>
          </a:xfrm>
          <a:prstGeom prst="rect">
            <a:avLst/>
          </a:prstGeom>
          <a:noFill/>
          <a:ln>
            <a:noFill/>
          </a:ln>
        </p:spPr>
      </p:pic>
      <p:sp>
        <p:nvSpPr>
          <p:cNvPr id="1500" name="Google Shape;1500;p88"/>
          <p:cNvSpPr txBox="1"/>
          <p:nvPr/>
        </p:nvSpPr>
        <p:spPr>
          <a:xfrm>
            <a:off x="2700744" y="0"/>
            <a:ext cx="37425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Constant-Offset Identity Proof II </a:t>
            </a:r>
            <a:endParaRPr sz="1800" b="1">
              <a:solidFill>
                <a:schemeClr val="dk1"/>
              </a:solidFill>
            </a:endParaRPr>
          </a:p>
        </p:txBody>
      </p:sp>
      <p:sp>
        <p:nvSpPr>
          <p:cNvPr id="1501" name="Google Shape;1501;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76</a:t>
            </a:fld>
            <a:endParaRPr/>
          </a:p>
        </p:txBody>
      </p:sp>
      <p:pic>
        <p:nvPicPr>
          <p:cNvPr id="1502" name="Google Shape;1502;p88"/>
          <p:cNvPicPr preferRelativeResize="0"/>
          <p:nvPr/>
        </p:nvPicPr>
        <p:blipFill>
          <a:blip r:embed="rId7">
            <a:alphaModFix/>
          </a:blip>
          <a:stretch>
            <a:fillRect/>
          </a:stretch>
        </p:blipFill>
        <p:spPr>
          <a:xfrm>
            <a:off x="8902058" y="7408"/>
            <a:ext cx="236401" cy="26237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506"/>
        <p:cNvGrpSpPr/>
        <p:nvPr/>
      </p:nvGrpSpPr>
      <p:grpSpPr>
        <a:xfrm>
          <a:off x="0" y="0"/>
          <a:ext cx="0" cy="0"/>
          <a:chOff x="0" y="0"/>
          <a:chExt cx="0" cy="0"/>
        </a:xfrm>
      </p:grpSpPr>
      <p:pic>
        <p:nvPicPr>
          <p:cNvPr id="1507" name="Google Shape;1507;p89"/>
          <p:cNvPicPr preferRelativeResize="0"/>
          <p:nvPr/>
        </p:nvPicPr>
        <p:blipFill>
          <a:blip r:embed="rId3">
            <a:alphaModFix/>
          </a:blip>
          <a:stretch>
            <a:fillRect/>
          </a:stretch>
        </p:blipFill>
        <p:spPr>
          <a:xfrm>
            <a:off x="318687" y="1646275"/>
            <a:ext cx="5800550" cy="2659799"/>
          </a:xfrm>
          <a:prstGeom prst="rect">
            <a:avLst/>
          </a:prstGeom>
          <a:noFill/>
          <a:ln>
            <a:noFill/>
          </a:ln>
        </p:spPr>
      </p:pic>
      <p:sp>
        <p:nvSpPr>
          <p:cNvPr id="1508" name="Google Shape;1508;p89"/>
          <p:cNvSpPr txBox="1"/>
          <p:nvPr/>
        </p:nvSpPr>
        <p:spPr>
          <a:xfrm>
            <a:off x="221412" y="640300"/>
            <a:ext cx="8677800" cy="70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Now that we have trained the model, we will sample from it by using the algorithm we have seen before, where we plug in our newly trained vector field </a:t>
            </a:r>
            <a:r>
              <a:rPr lang="en" sz="1800" i="1">
                <a:solidFill>
                  <a:schemeClr val="dk1"/>
                </a:solidFill>
              </a:rPr>
              <a:t>u</a:t>
            </a:r>
            <a:r>
              <a:rPr lang="en" sz="1800" i="1" baseline="-25000">
                <a:solidFill>
                  <a:schemeClr val="dk1"/>
                </a:solidFill>
              </a:rPr>
              <a:t>t</a:t>
            </a:r>
            <a:r>
              <a:rPr lang="en" sz="1800" baseline="30000">
                <a:solidFill>
                  <a:schemeClr val="dk1"/>
                </a:solidFill>
              </a:rPr>
              <a:t>𝜽</a:t>
            </a:r>
            <a:endParaRPr sz="1800" baseline="30000">
              <a:solidFill>
                <a:schemeClr val="dk1"/>
              </a:solidFill>
            </a:endParaRPr>
          </a:p>
        </p:txBody>
      </p:sp>
      <p:sp>
        <p:nvSpPr>
          <p:cNvPr id="1509" name="Google Shape;1509;p89"/>
          <p:cNvSpPr txBox="1"/>
          <p:nvPr/>
        </p:nvSpPr>
        <p:spPr>
          <a:xfrm>
            <a:off x="3397425" y="0"/>
            <a:ext cx="26208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Flow Model Sampling</a:t>
            </a:r>
            <a:endParaRPr sz="1800" b="1">
              <a:solidFill>
                <a:schemeClr val="dk1"/>
              </a:solidFill>
            </a:endParaRPr>
          </a:p>
        </p:txBody>
      </p:sp>
      <p:sp>
        <p:nvSpPr>
          <p:cNvPr id="1510" name="Google Shape;1510;p89"/>
          <p:cNvSpPr txBox="1"/>
          <p:nvPr/>
        </p:nvSpPr>
        <p:spPr>
          <a:xfrm>
            <a:off x="3930683" y="2619129"/>
            <a:ext cx="2914200" cy="2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Random initialization</a:t>
            </a:r>
            <a:endParaRPr sz="1800">
              <a:solidFill>
                <a:srgbClr val="FF0000"/>
              </a:solidFill>
            </a:endParaRPr>
          </a:p>
        </p:txBody>
      </p:sp>
      <p:sp>
        <p:nvSpPr>
          <p:cNvPr id="1511" name="Google Shape;1511;p89"/>
          <p:cNvSpPr txBox="1"/>
          <p:nvPr/>
        </p:nvSpPr>
        <p:spPr>
          <a:xfrm>
            <a:off x="3930683" y="3826352"/>
            <a:ext cx="2914200" cy="2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Return final point</a:t>
            </a:r>
            <a:endParaRPr sz="1800">
              <a:solidFill>
                <a:srgbClr val="FF0000"/>
              </a:solidFill>
            </a:endParaRPr>
          </a:p>
        </p:txBody>
      </p:sp>
      <p:sp>
        <p:nvSpPr>
          <p:cNvPr id="1512" name="Google Shape;1512;p89"/>
          <p:cNvSpPr/>
          <p:nvPr/>
        </p:nvSpPr>
        <p:spPr>
          <a:xfrm>
            <a:off x="3289104" y="2782251"/>
            <a:ext cx="369600" cy="174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3" name="Google Shape;1513;p89"/>
          <p:cNvSpPr/>
          <p:nvPr/>
        </p:nvSpPr>
        <p:spPr>
          <a:xfrm>
            <a:off x="3311012" y="3978576"/>
            <a:ext cx="369600" cy="1740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4" name="Google Shape;1514;p89"/>
          <p:cNvSpPr txBox="1"/>
          <p:nvPr/>
        </p:nvSpPr>
        <p:spPr>
          <a:xfrm>
            <a:off x="6366612" y="2619125"/>
            <a:ext cx="2408100" cy="16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accent1"/>
                </a:solidFill>
              </a:rPr>
              <a:t>One might wonder to what extent are flow models </a:t>
            </a:r>
            <a:r>
              <a:rPr lang="en" sz="900" b="1">
                <a:solidFill>
                  <a:schemeClr val="accent1"/>
                </a:solidFill>
              </a:rPr>
              <a:t>deterministic</a:t>
            </a:r>
            <a:r>
              <a:rPr lang="en" sz="900">
                <a:solidFill>
                  <a:schemeClr val="accent1"/>
                </a:solidFill>
              </a:rPr>
              <a:t>? </a:t>
            </a:r>
            <a:endParaRPr sz="900">
              <a:solidFill>
                <a:schemeClr val="accent1"/>
              </a:solidFill>
            </a:endParaRPr>
          </a:p>
          <a:p>
            <a:pPr marL="0" lvl="0" indent="0" algn="l" rtl="0">
              <a:spcBef>
                <a:spcPts val="0"/>
              </a:spcBef>
              <a:spcAft>
                <a:spcPts val="0"/>
              </a:spcAft>
              <a:buNone/>
            </a:pPr>
            <a:endParaRPr sz="900">
              <a:solidFill>
                <a:schemeClr val="accent1"/>
              </a:solidFill>
            </a:endParaRPr>
          </a:p>
          <a:p>
            <a:pPr marL="0" lvl="0" indent="0" algn="l" rtl="0">
              <a:spcBef>
                <a:spcPts val="0"/>
              </a:spcBef>
              <a:spcAft>
                <a:spcPts val="0"/>
              </a:spcAft>
              <a:buNone/>
            </a:pPr>
            <a:r>
              <a:rPr lang="en" sz="900">
                <a:solidFill>
                  <a:schemeClr val="accent1"/>
                </a:solidFill>
              </a:rPr>
              <a:t>They are in fact deterministic once you sample the initial point. So, we have a </a:t>
            </a:r>
            <a:r>
              <a:rPr lang="en" sz="900" b="1">
                <a:solidFill>
                  <a:schemeClr val="accent1"/>
                </a:solidFill>
              </a:rPr>
              <a:t>random initialization </a:t>
            </a:r>
            <a:r>
              <a:rPr lang="en" sz="900">
                <a:solidFill>
                  <a:schemeClr val="accent1"/>
                </a:solidFill>
              </a:rPr>
              <a:t>indeed! But past that, the </a:t>
            </a:r>
            <a:r>
              <a:rPr lang="en" sz="900" b="1">
                <a:solidFill>
                  <a:schemeClr val="accent1"/>
                </a:solidFill>
              </a:rPr>
              <a:t>trajectory X</a:t>
            </a:r>
            <a:r>
              <a:rPr lang="en" sz="900" b="1" baseline="-25000">
                <a:solidFill>
                  <a:schemeClr val="accent1"/>
                </a:solidFill>
              </a:rPr>
              <a:t>0</a:t>
            </a:r>
            <a:r>
              <a:rPr lang="en" sz="900" b="1">
                <a:solidFill>
                  <a:schemeClr val="accent1"/>
                </a:solidFill>
              </a:rPr>
              <a:t> to X</a:t>
            </a:r>
            <a:r>
              <a:rPr lang="en" sz="900" b="1" baseline="-25000">
                <a:solidFill>
                  <a:schemeClr val="accent1"/>
                </a:solidFill>
              </a:rPr>
              <a:t>1 </a:t>
            </a:r>
            <a:r>
              <a:rPr lang="en" sz="900">
                <a:solidFill>
                  <a:schemeClr val="accent1"/>
                </a:solidFill>
              </a:rPr>
              <a:t>is in fact deterministic, i.e. there is a one-to-one correspondence between the input and the output, which is given by the flow-map.</a:t>
            </a:r>
            <a:endParaRPr sz="900">
              <a:solidFill>
                <a:schemeClr val="accent1"/>
              </a:solidFill>
            </a:endParaRPr>
          </a:p>
        </p:txBody>
      </p:sp>
      <p:sp>
        <p:nvSpPr>
          <p:cNvPr id="1515" name="Google Shape;1515;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0" name="Google Shape;1520;p90"/>
          <p:cNvSpPr txBox="1"/>
          <p:nvPr/>
        </p:nvSpPr>
        <p:spPr>
          <a:xfrm>
            <a:off x="2021991" y="0"/>
            <a:ext cx="63798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Score Matching: Learning the Marginal Score</a:t>
            </a:r>
            <a:endParaRPr sz="1800" b="1">
              <a:solidFill>
                <a:schemeClr val="dk1"/>
              </a:solidFill>
            </a:endParaRPr>
          </a:p>
        </p:txBody>
      </p:sp>
      <p:sp>
        <p:nvSpPr>
          <p:cNvPr id="1521" name="Google Shape;1521;p90"/>
          <p:cNvSpPr txBox="1"/>
          <p:nvPr/>
        </p:nvSpPr>
        <p:spPr>
          <a:xfrm>
            <a:off x="483998" y="2989889"/>
            <a:ext cx="52152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We have a Score Network: </a:t>
            </a:r>
            <a:r>
              <a:rPr lang="en" sz="1700" b="1" i="1">
                <a:solidFill>
                  <a:schemeClr val="dk1"/>
                </a:solidFill>
              </a:rPr>
              <a:t>s</a:t>
            </a:r>
            <a:r>
              <a:rPr lang="en" sz="1700" b="1" i="1" baseline="-25000">
                <a:solidFill>
                  <a:schemeClr val="dk1"/>
                </a:solidFill>
              </a:rPr>
              <a:t>t</a:t>
            </a:r>
            <a:r>
              <a:rPr lang="en" sz="1700" b="1" baseline="30000">
                <a:solidFill>
                  <a:schemeClr val="dk1"/>
                </a:solidFill>
              </a:rPr>
              <a:t>𝞱</a:t>
            </a:r>
            <a:r>
              <a:rPr lang="en" sz="1700">
                <a:solidFill>
                  <a:schemeClr val="dk1"/>
                </a:solidFill>
              </a:rPr>
              <a:t> parametrized by 𝜽</a:t>
            </a:r>
            <a:endParaRPr sz="1700">
              <a:solidFill>
                <a:schemeClr val="dk1"/>
              </a:solidFill>
            </a:endParaRPr>
          </a:p>
        </p:txBody>
      </p:sp>
      <p:sp>
        <p:nvSpPr>
          <p:cNvPr id="1522" name="Google Shape;1522;p90"/>
          <p:cNvSpPr txBox="1"/>
          <p:nvPr/>
        </p:nvSpPr>
        <p:spPr>
          <a:xfrm>
            <a:off x="483997" y="3579304"/>
            <a:ext cx="78387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The goal is to approximate the marginal score</a:t>
            </a:r>
            <a:endParaRPr sz="1700">
              <a:solidFill>
                <a:schemeClr val="dk1"/>
              </a:solidFill>
            </a:endParaRPr>
          </a:p>
        </p:txBody>
      </p:sp>
      <p:pic>
        <p:nvPicPr>
          <p:cNvPr id="1523" name="Google Shape;1523;p90"/>
          <p:cNvPicPr preferRelativeResize="0"/>
          <p:nvPr/>
        </p:nvPicPr>
        <p:blipFill>
          <a:blip r:embed="rId3">
            <a:alphaModFix/>
          </a:blip>
          <a:stretch>
            <a:fillRect/>
          </a:stretch>
        </p:blipFill>
        <p:spPr>
          <a:xfrm>
            <a:off x="5504884" y="2568850"/>
            <a:ext cx="3595607" cy="402300"/>
          </a:xfrm>
          <a:prstGeom prst="rect">
            <a:avLst/>
          </a:prstGeom>
          <a:noFill/>
          <a:ln>
            <a:noFill/>
          </a:ln>
        </p:spPr>
      </p:pic>
      <p:pic>
        <p:nvPicPr>
          <p:cNvPr id="1524" name="Google Shape;1524;p90"/>
          <p:cNvPicPr preferRelativeResize="0"/>
          <p:nvPr/>
        </p:nvPicPr>
        <p:blipFill>
          <a:blip r:embed="rId4">
            <a:alphaModFix/>
          </a:blip>
          <a:stretch>
            <a:fillRect/>
          </a:stretch>
        </p:blipFill>
        <p:spPr>
          <a:xfrm>
            <a:off x="2073942" y="1558125"/>
            <a:ext cx="4865625" cy="446525"/>
          </a:xfrm>
          <a:prstGeom prst="rect">
            <a:avLst/>
          </a:prstGeom>
          <a:noFill/>
          <a:ln>
            <a:noFill/>
          </a:ln>
        </p:spPr>
      </p:pic>
      <p:pic>
        <p:nvPicPr>
          <p:cNvPr id="1525" name="Google Shape;1525;p90"/>
          <p:cNvPicPr preferRelativeResize="0"/>
          <p:nvPr/>
        </p:nvPicPr>
        <p:blipFill>
          <a:blip r:embed="rId5">
            <a:alphaModFix/>
          </a:blip>
          <a:stretch>
            <a:fillRect/>
          </a:stretch>
        </p:blipFill>
        <p:spPr>
          <a:xfrm>
            <a:off x="657675" y="1613999"/>
            <a:ext cx="1054485" cy="272250"/>
          </a:xfrm>
          <a:prstGeom prst="rect">
            <a:avLst/>
          </a:prstGeom>
          <a:noFill/>
          <a:ln>
            <a:noFill/>
          </a:ln>
        </p:spPr>
      </p:pic>
      <p:pic>
        <p:nvPicPr>
          <p:cNvPr id="1526" name="Google Shape;1526;p90"/>
          <p:cNvPicPr preferRelativeResize="0"/>
          <p:nvPr/>
        </p:nvPicPr>
        <p:blipFill>
          <a:blip r:embed="rId6">
            <a:alphaModFix/>
          </a:blip>
          <a:stretch>
            <a:fillRect/>
          </a:stretch>
        </p:blipFill>
        <p:spPr>
          <a:xfrm>
            <a:off x="7544146" y="1610973"/>
            <a:ext cx="942400" cy="272250"/>
          </a:xfrm>
          <a:prstGeom prst="rect">
            <a:avLst/>
          </a:prstGeom>
          <a:noFill/>
          <a:ln>
            <a:noFill/>
          </a:ln>
        </p:spPr>
      </p:pic>
      <p:sp>
        <p:nvSpPr>
          <p:cNvPr id="1527" name="Google Shape;1527;p90"/>
          <p:cNvSpPr txBox="1"/>
          <p:nvPr/>
        </p:nvSpPr>
        <p:spPr>
          <a:xfrm>
            <a:off x="526625" y="574800"/>
            <a:ext cx="8617500" cy="69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dk1"/>
                </a:solidFill>
              </a:rPr>
              <a:t>Remember: </a:t>
            </a:r>
            <a:r>
              <a:rPr lang="en" sz="1700">
                <a:solidFill>
                  <a:schemeClr val="dk1"/>
                </a:solidFill>
              </a:rPr>
              <a:t>the SDE extension trick</a:t>
            </a:r>
            <a:r>
              <a:rPr lang="en" sz="1700" b="1">
                <a:solidFill>
                  <a:schemeClr val="dk1"/>
                </a:solidFill>
              </a:rPr>
              <a:t> </a:t>
            </a:r>
            <a:r>
              <a:rPr lang="en" sz="1700">
                <a:solidFill>
                  <a:schemeClr val="dk1"/>
                </a:solidFill>
              </a:rPr>
              <a:t>we learned before shows how the marginal score function allows to extend the ODE to an SDE with arbitrary diffusion coefficient:</a:t>
            </a:r>
            <a:endParaRPr sz="1700">
              <a:solidFill>
                <a:schemeClr val="dk1"/>
              </a:solidFill>
            </a:endParaRPr>
          </a:p>
        </p:txBody>
      </p:sp>
      <p:cxnSp>
        <p:nvCxnSpPr>
          <p:cNvPr id="1528" name="Google Shape;1528;p90"/>
          <p:cNvCxnSpPr/>
          <p:nvPr/>
        </p:nvCxnSpPr>
        <p:spPr>
          <a:xfrm rot="10800000">
            <a:off x="4974200" y="2042600"/>
            <a:ext cx="793800" cy="543900"/>
          </a:xfrm>
          <a:prstGeom prst="straightConnector1">
            <a:avLst/>
          </a:prstGeom>
          <a:noFill/>
          <a:ln w="9525" cap="flat" cmpd="sng">
            <a:solidFill>
              <a:srgbClr val="FF0000"/>
            </a:solidFill>
            <a:prstDash val="solid"/>
            <a:round/>
            <a:headEnd type="none" w="med" len="med"/>
            <a:tailEnd type="triangle" w="med" len="med"/>
          </a:ln>
        </p:spPr>
      </p:cxnSp>
      <p:cxnSp>
        <p:nvCxnSpPr>
          <p:cNvPr id="1529" name="Google Shape;1529;p90"/>
          <p:cNvCxnSpPr/>
          <p:nvPr/>
        </p:nvCxnSpPr>
        <p:spPr>
          <a:xfrm flipH="1">
            <a:off x="5822285" y="2999651"/>
            <a:ext cx="6300" cy="630900"/>
          </a:xfrm>
          <a:prstGeom prst="straightConnector1">
            <a:avLst/>
          </a:prstGeom>
          <a:noFill/>
          <a:ln w="9525" cap="flat" cmpd="sng">
            <a:solidFill>
              <a:srgbClr val="FF0000"/>
            </a:solidFill>
            <a:prstDash val="solid"/>
            <a:round/>
            <a:headEnd type="none" w="med" len="med"/>
            <a:tailEnd type="triangle" w="med" len="med"/>
          </a:ln>
        </p:spPr>
      </p:cxnSp>
      <p:sp>
        <p:nvSpPr>
          <p:cNvPr id="1530" name="Google Shape;1530;p90"/>
          <p:cNvSpPr txBox="1"/>
          <p:nvPr/>
        </p:nvSpPr>
        <p:spPr>
          <a:xfrm>
            <a:off x="1711910" y="1553460"/>
            <a:ext cx="329400" cy="21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t>
            </a:r>
            <a:endParaRPr sz="1800">
              <a:solidFill>
                <a:schemeClr val="dk1"/>
              </a:solidFill>
            </a:endParaRPr>
          </a:p>
        </p:txBody>
      </p:sp>
      <p:sp>
        <p:nvSpPr>
          <p:cNvPr id="1531" name="Google Shape;1531;p90"/>
          <p:cNvSpPr txBox="1"/>
          <p:nvPr/>
        </p:nvSpPr>
        <p:spPr>
          <a:xfrm>
            <a:off x="7048299" y="1513321"/>
            <a:ext cx="5439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=&gt;</a:t>
            </a:r>
            <a:endParaRPr sz="1800">
              <a:solidFill>
                <a:schemeClr val="dk1"/>
              </a:solidFill>
            </a:endParaRPr>
          </a:p>
        </p:txBody>
      </p:sp>
      <p:pic>
        <p:nvPicPr>
          <p:cNvPr id="1532" name="Google Shape;1532;p90"/>
          <p:cNvPicPr preferRelativeResize="0"/>
          <p:nvPr/>
        </p:nvPicPr>
        <p:blipFill>
          <a:blip r:embed="rId7">
            <a:alphaModFix/>
          </a:blip>
          <a:stretch>
            <a:fillRect/>
          </a:stretch>
        </p:blipFill>
        <p:spPr>
          <a:xfrm>
            <a:off x="5059819" y="3672152"/>
            <a:ext cx="1586153" cy="272250"/>
          </a:xfrm>
          <a:prstGeom prst="rect">
            <a:avLst/>
          </a:prstGeom>
          <a:noFill/>
          <a:ln>
            <a:noFill/>
          </a:ln>
        </p:spPr>
      </p:pic>
      <p:sp>
        <p:nvSpPr>
          <p:cNvPr id="1533" name="Google Shape;1533;p90"/>
          <p:cNvSpPr txBox="1"/>
          <p:nvPr/>
        </p:nvSpPr>
        <p:spPr>
          <a:xfrm>
            <a:off x="515750" y="4076250"/>
            <a:ext cx="85848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As before, we will have a theoretical loss that is intractable because of the integral:</a:t>
            </a:r>
            <a:endParaRPr sz="1600">
              <a:solidFill>
                <a:schemeClr val="dk1"/>
              </a:solidFill>
            </a:endParaRPr>
          </a:p>
        </p:txBody>
      </p:sp>
      <p:cxnSp>
        <p:nvCxnSpPr>
          <p:cNvPr id="1534" name="Google Shape;1534;p90"/>
          <p:cNvCxnSpPr/>
          <p:nvPr/>
        </p:nvCxnSpPr>
        <p:spPr>
          <a:xfrm rot="10800000">
            <a:off x="6648675" y="3021400"/>
            <a:ext cx="1609500" cy="1131000"/>
          </a:xfrm>
          <a:prstGeom prst="straightConnector1">
            <a:avLst/>
          </a:prstGeom>
          <a:noFill/>
          <a:ln w="9525" cap="flat" cmpd="sng">
            <a:solidFill>
              <a:srgbClr val="FF0000"/>
            </a:solidFill>
            <a:prstDash val="solid"/>
            <a:round/>
            <a:headEnd type="none" w="med" len="med"/>
            <a:tailEnd type="triangle" w="med" len="med"/>
          </a:ln>
        </p:spPr>
      </p:cxnSp>
      <p:pic>
        <p:nvPicPr>
          <p:cNvPr id="1535" name="Google Shape;1535;p90"/>
          <p:cNvPicPr preferRelativeResize="0"/>
          <p:nvPr/>
        </p:nvPicPr>
        <p:blipFill>
          <a:blip r:embed="rId8">
            <a:alphaModFix/>
          </a:blip>
          <a:stretch>
            <a:fillRect/>
          </a:stretch>
        </p:blipFill>
        <p:spPr>
          <a:xfrm>
            <a:off x="2533153" y="4433703"/>
            <a:ext cx="3512664" cy="576300"/>
          </a:xfrm>
          <a:prstGeom prst="rect">
            <a:avLst/>
          </a:prstGeom>
          <a:noFill/>
          <a:ln>
            <a:noFill/>
          </a:ln>
        </p:spPr>
      </p:pic>
      <p:sp>
        <p:nvSpPr>
          <p:cNvPr id="1536" name="Google Shape;1536;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540"/>
        <p:cNvGrpSpPr/>
        <p:nvPr/>
      </p:nvGrpSpPr>
      <p:grpSpPr>
        <a:xfrm>
          <a:off x="0" y="0"/>
          <a:ext cx="0" cy="0"/>
          <a:chOff x="0" y="0"/>
          <a:chExt cx="0" cy="0"/>
        </a:xfrm>
      </p:grpSpPr>
      <p:sp>
        <p:nvSpPr>
          <p:cNvPr id="1541" name="Google Shape;1541;p91"/>
          <p:cNvSpPr txBox="1"/>
          <p:nvPr/>
        </p:nvSpPr>
        <p:spPr>
          <a:xfrm>
            <a:off x="2775466" y="0"/>
            <a:ext cx="37839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Denoising Score Matching Loss</a:t>
            </a:r>
            <a:endParaRPr sz="1800" b="1">
              <a:solidFill>
                <a:schemeClr val="dk1"/>
              </a:solidFill>
            </a:endParaRPr>
          </a:p>
        </p:txBody>
      </p:sp>
      <p:pic>
        <p:nvPicPr>
          <p:cNvPr id="1542" name="Google Shape;1542;p91"/>
          <p:cNvPicPr preferRelativeResize="0"/>
          <p:nvPr/>
        </p:nvPicPr>
        <p:blipFill>
          <a:blip r:embed="rId3">
            <a:alphaModFix/>
          </a:blip>
          <a:stretch>
            <a:fillRect/>
          </a:stretch>
        </p:blipFill>
        <p:spPr>
          <a:xfrm>
            <a:off x="1531512" y="2259350"/>
            <a:ext cx="5923025" cy="815550"/>
          </a:xfrm>
          <a:prstGeom prst="rect">
            <a:avLst/>
          </a:prstGeom>
          <a:noFill/>
          <a:ln>
            <a:noFill/>
          </a:ln>
        </p:spPr>
      </p:pic>
      <p:sp>
        <p:nvSpPr>
          <p:cNvPr id="1543" name="Google Shape;1543;p91"/>
          <p:cNvSpPr txBox="1"/>
          <p:nvPr/>
        </p:nvSpPr>
        <p:spPr>
          <a:xfrm>
            <a:off x="387150" y="748900"/>
            <a:ext cx="8610600" cy="5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 would then use the tractable version of the loss instead, just as we have done previously. This could be referred to as the “Conditional Score Matching Loss”, but the formal name in the literature is “Denoising Score Matching Loss”, i.e. L</a:t>
            </a:r>
            <a:r>
              <a:rPr lang="en" sz="1800" baseline="-25000">
                <a:solidFill>
                  <a:schemeClr val="dk1"/>
                </a:solidFill>
              </a:rPr>
              <a:t>DSM</a:t>
            </a:r>
            <a:r>
              <a:rPr lang="en" sz="1800">
                <a:solidFill>
                  <a:schemeClr val="dk1"/>
                </a:solidFill>
              </a:rPr>
              <a:t>:</a:t>
            </a:r>
            <a:endParaRPr sz="1800">
              <a:solidFill>
                <a:schemeClr val="dk1"/>
              </a:solidFill>
            </a:endParaRPr>
          </a:p>
        </p:txBody>
      </p:sp>
      <p:sp>
        <p:nvSpPr>
          <p:cNvPr id="1544" name="Google Shape;1544;p91"/>
          <p:cNvSpPr txBox="1"/>
          <p:nvPr/>
        </p:nvSpPr>
        <p:spPr>
          <a:xfrm>
            <a:off x="417876" y="3652175"/>
            <a:ext cx="8610600" cy="44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L</a:t>
            </a:r>
            <a:r>
              <a:rPr lang="en" sz="1800" baseline="-25000">
                <a:solidFill>
                  <a:schemeClr val="dk1"/>
                </a:solidFill>
              </a:rPr>
              <a:t>DSM</a:t>
            </a:r>
            <a:r>
              <a:rPr lang="en" sz="1800">
                <a:solidFill>
                  <a:schemeClr val="dk1"/>
                </a:solidFill>
              </a:rPr>
              <a:t> is tractable because we have an analytical formula for                          ,                           </a:t>
            </a:r>
            <a:endParaRPr sz="1800">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 sz="1800">
                <a:solidFill>
                  <a:schemeClr val="dk1"/>
                </a:solidFill>
              </a:rPr>
              <a:t>namely : </a:t>
            </a:r>
            <a:endParaRPr sz="1800">
              <a:solidFill>
                <a:schemeClr val="dk1"/>
              </a:solidFill>
            </a:endParaRPr>
          </a:p>
        </p:txBody>
      </p:sp>
      <p:pic>
        <p:nvPicPr>
          <p:cNvPr id="1545" name="Google Shape;1545;p91"/>
          <p:cNvPicPr preferRelativeResize="0"/>
          <p:nvPr/>
        </p:nvPicPr>
        <p:blipFill>
          <a:blip r:embed="rId4">
            <a:alphaModFix/>
          </a:blip>
          <a:stretch>
            <a:fillRect/>
          </a:stretch>
        </p:blipFill>
        <p:spPr>
          <a:xfrm>
            <a:off x="6981020" y="3717150"/>
            <a:ext cx="1543720" cy="315850"/>
          </a:xfrm>
          <a:prstGeom prst="rect">
            <a:avLst/>
          </a:prstGeom>
          <a:noFill/>
          <a:ln>
            <a:noFill/>
          </a:ln>
        </p:spPr>
      </p:pic>
      <p:cxnSp>
        <p:nvCxnSpPr>
          <p:cNvPr id="1546" name="Google Shape;1546;p91"/>
          <p:cNvCxnSpPr/>
          <p:nvPr/>
        </p:nvCxnSpPr>
        <p:spPr>
          <a:xfrm rot="10800000">
            <a:off x="6485575" y="3053975"/>
            <a:ext cx="598200" cy="511200"/>
          </a:xfrm>
          <a:prstGeom prst="straightConnector1">
            <a:avLst/>
          </a:prstGeom>
          <a:noFill/>
          <a:ln w="9525" cap="flat" cmpd="sng">
            <a:solidFill>
              <a:srgbClr val="FF0000"/>
            </a:solidFill>
            <a:prstDash val="solid"/>
            <a:round/>
            <a:headEnd type="none" w="med" len="med"/>
            <a:tailEnd type="triangle" w="med" len="med"/>
          </a:ln>
        </p:spPr>
      </p:cxnSp>
      <p:pic>
        <p:nvPicPr>
          <p:cNvPr id="1547" name="Google Shape;1547;p91"/>
          <p:cNvPicPr preferRelativeResize="0"/>
          <p:nvPr/>
        </p:nvPicPr>
        <p:blipFill>
          <a:blip r:embed="rId5">
            <a:alphaModFix/>
          </a:blip>
          <a:stretch>
            <a:fillRect/>
          </a:stretch>
        </p:blipFill>
        <p:spPr>
          <a:xfrm>
            <a:off x="1798742" y="4250223"/>
            <a:ext cx="3262200" cy="532159"/>
          </a:xfrm>
          <a:prstGeom prst="rect">
            <a:avLst/>
          </a:prstGeom>
          <a:noFill/>
          <a:ln>
            <a:noFill/>
          </a:ln>
        </p:spPr>
      </p:pic>
      <p:sp>
        <p:nvSpPr>
          <p:cNvPr id="1548" name="Google Shape;1548;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552"/>
        <p:cNvGrpSpPr/>
        <p:nvPr/>
      </p:nvGrpSpPr>
      <p:grpSpPr>
        <a:xfrm>
          <a:off x="0" y="0"/>
          <a:ext cx="0" cy="0"/>
          <a:chOff x="0" y="0"/>
          <a:chExt cx="0" cy="0"/>
        </a:xfrm>
      </p:grpSpPr>
      <p:sp>
        <p:nvSpPr>
          <p:cNvPr id="1553" name="Google Shape;1553;p92"/>
          <p:cNvSpPr txBox="1"/>
          <p:nvPr/>
        </p:nvSpPr>
        <p:spPr>
          <a:xfrm>
            <a:off x="200395" y="1281593"/>
            <a:ext cx="8160300" cy="55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Just as before the following holds:                                                   , </a:t>
            </a:r>
            <a:endParaRPr sz="1800">
              <a:solidFill>
                <a:schemeClr val="dk1"/>
              </a:solidFill>
            </a:endParaRPr>
          </a:p>
        </p:txBody>
      </p:sp>
      <p:sp>
        <p:nvSpPr>
          <p:cNvPr id="1554" name="Google Shape;1554;p92"/>
          <p:cNvSpPr txBox="1"/>
          <p:nvPr/>
        </p:nvSpPr>
        <p:spPr>
          <a:xfrm>
            <a:off x="196700" y="2107325"/>
            <a:ext cx="3907500" cy="55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With the two</a:t>
            </a:r>
            <a:r>
              <a:rPr lang="en" sz="1800" b="1">
                <a:solidFill>
                  <a:schemeClr val="dk1"/>
                </a:solidFill>
              </a:rPr>
              <a:t> </a:t>
            </a:r>
            <a:r>
              <a:rPr lang="en" sz="1800">
                <a:solidFill>
                  <a:schemeClr val="dk1"/>
                </a:solidFill>
              </a:rPr>
              <a:t>similar </a:t>
            </a:r>
            <a:r>
              <a:rPr lang="en" sz="1800" b="1">
                <a:solidFill>
                  <a:schemeClr val="dk1"/>
                </a:solidFill>
              </a:rPr>
              <a:t>properties</a:t>
            </a:r>
            <a:r>
              <a:rPr lang="en" sz="1800">
                <a:solidFill>
                  <a:schemeClr val="dk1"/>
                </a:solidFill>
              </a:rPr>
              <a:t>: </a:t>
            </a:r>
            <a:endParaRPr sz="1800">
              <a:solidFill>
                <a:schemeClr val="dk1"/>
              </a:solidFill>
            </a:endParaRPr>
          </a:p>
        </p:txBody>
      </p:sp>
      <p:pic>
        <p:nvPicPr>
          <p:cNvPr id="1555" name="Google Shape;1555;p92"/>
          <p:cNvPicPr preferRelativeResize="0"/>
          <p:nvPr/>
        </p:nvPicPr>
        <p:blipFill>
          <a:blip r:embed="rId3">
            <a:alphaModFix/>
          </a:blip>
          <a:stretch>
            <a:fillRect/>
          </a:stretch>
        </p:blipFill>
        <p:spPr>
          <a:xfrm>
            <a:off x="2451417" y="2879819"/>
            <a:ext cx="2941875" cy="468923"/>
          </a:xfrm>
          <a:prstGeom prst="rect">
            <a:avLst/>
          </a:prstGeom>
          <a:noFill/>
          <a:ln>
            <a:noFill/>
          </a:ln>
        </p:spPr>
      </p:pic>
      <p:sp>
        <p:nvSpPr>
          <p:cNvPr id="1556" name="Google Shape;1556;p92"/>
          <p:cNvSpPr txBox="1"/>
          <p:nvPr/>
        </p:nvSpPr>
        <p:spPr>
          <a:xfrm>
            <a:off x="396117" y="2911406"/>
            <a:ext cx="20553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1) For 𝚹* of L</a:t>
            </a:r>
            <a:r>
              <a:rPr lang="en" sz="1800" baseline="-25000">
                <a:solidFill>
                  <a:schemeClr val="dk1"/>
                </a:solidFill>
              </a:rPr>
              <a:t>DSM</a:t>
            </a:r>
            <a:r>
              <a:rPr lang="en" sz="1800">
                <a:solidFill>
                  <a:schemeClr val="dk1"/>
                </a:solidFill>
              </a:rPr>
              <a:t> : </a:t>
            </a:r>
            <a:endParaRPr sz="1800">
              <a:solidFill>
                <a:schemeClr val="dk1"/>
              </a:solidFill>
            </a:endParaRPr>
          </a:p>
        </p:txBody>
      </p:sp>
      <p:sp>
        <p:nvSpPr>
          <p:cNvPr id="1557" name="Google Shape;1557;p92"/>
          <p:cNvSpPr txBox="1"/>
          <p:nvPr/>
        </p:nvSpPr>
        <p:spPr>
          <a:xfrm>
            <a:off x="396117" y="3726866"/>
            <a:ext cx="4942500" cy="38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2) The gradients for the 2 losses are the same:</a:t>
            </a:r>
            <a:endParaRPr sz="1800">
              <a:solidFill>
                <a:schemeClr val="dk1"/>
              </a:solidFill>
            </a:endParaRPr>
          </a:p>
        </p:txBody>
      </p:sp>
      <p:sp>
        <p:nvSpPr>
          <p:cNvPr id="1558" name="Google Shape;1558;p92"/>
          <p:cNvSpPr txBox="1"/>
          <p:nvPr/>
        </p:nvSpPr>
        <p:spPr>
          <a:xfrm>
            <a:off x="3939009" y="0"/>
            <a:ext cx="10569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Déjà vu </a:t>
            </a:r>
            <a:endParaRPr sz="1800" b="1">
              <a:solidFill>
                <a:schemeClr val="dk1"/>
              </a:solidFill>
            </a:endParaRPr>
          </a:p>
        </p:txBody>
      </p:sp>
      <p:pic>
        <p:nvPicPr>
          <p:cNvPr id="1559" name="Google Shape;1559;p92"/>
          <p:cNvPicPr preferRelativeResize="0"/>
          <p:nvPr/>
        </p:nvPicPr>
        <p:blipFill>
          <a:blip r:embed="rId4">
            <a:alphaModFix/>
          </a:blip>
          <a:stretch>
            <a:fillRect/>
          </a:stretch>
        </p:blipFill>
        <p:spPr>
          <a:xfrm>
            <a:off x="3900863" y="1366649"/>
            <a:ext cx="2849000" cy="284900"/>
          </a:xfrm>
          <a:prstGeom prst="rect">
            <a:avLst/>
          </a:prstGeom>
          <a:noFill/>
          <a:ln>
            <a:noFill/>
          </a:ln>
        </p:spPr>
      </p:pic>
      <p:pic>
        <p:nvPicPr>
          <p:cNvPr id="1560" name="Google Shape;1560;p92"/>
          <p:cNvPicPr preferRelativeResize="0"/>
          <p:nvPr/>
        </p:nvPicPr>
        <p:blipFill>
          <a:blip r:embed="rId5">
            <a:alphaModFix/>
          </a:blip>
          <a:stretch>
            <a:fillRect/>
          </a:stretch>
        </p:blipFill>
        <p:spPr>
          <a:xfrm>
            <a:off x="7176141" y="1366646"/>
            <a:ext cx="907459" cy="284900"/>
          </a:xfrm>
          <a:prstGeom prst="rect">
            <a:avLst/>
          </a:prstGeom>
          <a:noFill/>
          <a:ln>
            <a:noFill/>
          </a:ln>
        </p:spPr>
      </p:pic>
      <p:pic>
        <p:nvPicPr>
          <p:cNvPr id="1561" name="Google Shape;1561;p92"/>
          <p:cNvPicPr preferRelativeResize="0"/>
          <p:nvPr/>
        </p:nvPicPr>
        <p:blipFill>
          <a:blip r:embed="rId6">
            <a:alphaModFix/>
          </a:blip>
          <a:stretch>
            <a:fillRect/>
          </a:stretch>
        </p:blipFill>
        <p:spPr>
          <a:xfrm>
            <a:off x="5338624" y="3774300"/>
            <a:ext cx="3118176" cy="336575"/>
          </a:xfrm>
          <a:prstGeom prst="rect">
            <a:avLst/>
          </a:prstGeom>
          <a:noFill/>
          <a:ln>
            <a:noFill/>
          </a:ln>
        </p:spPr>
      </p:pic>
      <p:sp>
        <p:nvSpPr>
          <p:cNvPr id="1562" name="Google Shape;1562;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566"/>
        <p:cNvGrpSpPr/>
        <p:nvPr/>
      </p:nvGrpSpPr>
      <p:grpSpPr>
        <a:xfrm>
          <a:off x="0" y="0"/>
          <a:ext cx="0" cy="0"/>
          <a:chOff x="0" y="0"/>
          <a:chExt cx="0" cy="0"/>
        </a:xfrm>
      </p:grpSpPr>
      <p:sp>
        <p:nvSpPr>
          <p:cNvPr id="1567" name="Google Shape;1567;p93"/>
          <p:cNvSpPr txBox="1"/>
          <p:nvPr/>
        </p:nvSpPr>
        <p:spPr>
          <a:xfrm>
            <a:off x="2474099" y="0"/>
            <a:ext cx="41958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Score Matching Training Procedure</a:t>
            </a:r>
            <a:endParaRPr sz="1800" b="1">
              <a:solidFill>
                <a:schemeClr val="dk1"/>
              </a:solidFill>
            </a:endParaRPr>
          </a:p>
        </p:txBody>
      </p:sp>
      <p:pic>
        <p:nvPicPr>
          <p:cNvPr id="1568" name="Google Shape;1568;p93"/>
          <p:cNvPicPr preferRelativeResize="0"/>
          <p:nvPr/>
        </p:nvPicPr>
        <p:blipFill>
          <a:blip r:embed="rId3">
            <a:alphaModFix/>
          </a:blip>
          <a:stretch>
            <a:fillRect/>
          </a:stretch>
        </p:blipFill>
        <p:spPr>
          <a:xfrm>
            <a:off x="1307475" y="1229225"/>
            <a:ext cx="6259749" cy="2609724"/>
          </a:xfrm>
          <a:prstGeom prst="rect">
            <a:avLst/>
          </a:prstGeom>
          <a:noFill/>
          <a:ln>
            <a:noFill/>
          </a:ln>
        </p:spPr>
      </p:pic>
      <p:sp>
        <p:nvSpPr>
          <p:cNvPr id="1569" name="Google Shape;1569;p93"/>
          <p:cNvSpPr txBox="1"/>
          <p:nvPr/>
        </p:nvSpPr>
        <p:spPr>
          <a:xfrm>
            <a:off x="195725" y="4209275"/>
            <a:ext cx="9144000" cy="3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i="1">
                <a:solidFill>
                  <a:schemeClr val="dk1"/>
                </a:solidFill>
              </a:rPr>
              <a:t>The loss here is generic, but we will get an elegant </a:t>
            </a:r>
            <a:r>
              <a:rPr lang="en" sz="1200" b="1" i="1" u="sng">
                <a:solidFill>
                  <a:schemeClr val="dk1"/>
                </a:solidFill>
              </a:rPr>
              <a:t>special case</a:t>
            </a:r>
            <a:r>
              <a:rPr lang="en" sz="1200" b="1" i="1">
                <a:solidFill>
                  <a:schemeClr val="dk1"/>
                </a:solidFill>
              </a:rPr>
              <a:t> once we choose by design Gaussian Probability Paths.</a:t>
            </a:r>
            <a:endParaRPr sz="1200" b="1" i="1">
              <a:solidFill>
                <a:schemeClr val="dk1"/>
              </a:solidFill>
            </a:endParaRPr>
          </a:p>
        </p:txBody>
      </p:sp>
      <p:sp>
        <p:nvSpPr>
          <p:cNvPr id="1570" name="Google Shape;1570;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94"/>
          <p:cNvSpPr txBox="1"/>
          <p:nvPr/>
        </p:nvSpPr>
        <p:spPr>
          <a:xfrm>
            <a:off x="1356763" y="0"/>
            <a:ext cx="68019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Denoising Score Matching for a Gaussian Probability Path</a:t>
            </a:r>
            <a:endParaRPr sz="1800" b="1">
              <a:solidFill>
                <a:schemeClr val="dk1"/>
              </a:solidFill>
            </a:endParaRPr>
          </a:p>
        </p:txBody>
      </p:sp>
      <p:pic>
        <p:nvPicPr>
          <p:cNvPr id="1576" name="Google Shape;1576;p94"/>
          <p:cNvPicPr preferRelativeResize="0"/>
          <p:nvPr/>
        </p:nvPicPr>
        <p:blipFill>
          <a:blip r:embed="rId3">
            <a:alphaModFix/>
          </a:blip>
          <a:stretch>
            <a:fillRect/>
          </a:stretch>
        </p:blipFill>
        <p:spPr>
          <a:xfrm>
            <a:off x="6005450" y="631875"/>
            <a:ext cx="2724775" cy="587700"/>
          </a:xfrm>
          <a:prstGeom prst="rect">
            <a:avLst/>
          </a:prstGeom>
          <a:noFill/>
          <a:ln>
            <a:noFill/>
          </a:ln>
        </p:spPr>
      </p:pic>
      <p:pic>
        <p:nvPicPr>
          <p:cNvPr id="1577" name="Google Shape;1577;p94"/>
          <p:cNvPicPr preferRelativeResize="0"/>
          <p:nvPr/>
        </p:nvPicPr>
        <p:blipFill>
          <a:blip r:embed="rId4">
            <a:alphaModFix/>
          </a:blip>
          <a:stretch>
            <a:fillRect/>
          </a:stretch>
        </p:blipFill>
        <p:spPr>
          <a:xfrm>
            <a:off x="369517" y="1596475"/>
            <a:ext cx="4107758" cy="807175"/>
          </a:xfrm>
          <a:prstGeom prst="rect">
            <a:avLst/>
          </a:prstGeom>
          <a:noFill/>
          <a:ln>
            <a:noFill/>
          </a:ln>
        </p:spPr>
      </p:pic>
      <p:pic>
        <p:nvPicPr>
          <p:cNvPr id="1578" name="Google Shape;1578;p94"/>
          <p:cNvPicPr preferRelativeResize="0"/>
          <p:nvPr/>
        </p:nvPicPr>
        <p:blipFill>
          <a:blip r:embed="rId5">
            <a:alphaModFix/>
          </a:blip>
          <a:stretch>
            <a:fillRect/>
          </a:stretch>
        </p:blipFill>
        <p:spPr>
          <a:xfrm>
            <a:off x="1338542" y="2801837"/>
            <a:ext cx="4429627" cy="717575"/>
          </a:xfrm>
          <a:prstGeom prst="rect">
            <a:avLst/>
          </a:prstGeom>
          <a:noFill/>
          <a:ln>
            <a:noFill/>
          </a:ln>
        </p:spPr>
      </p:pic>
      <p:pic>
        <p:nvPicPr>
          <p:cNvPr id="1579" name="Google Shape;1579;p94"/>
          <p:cNvPicPr preferRelativeResize="0"/>
          <p:nvPr/>
        </p:nvPicPr>
        <p:blipFill>
          <a:blip r:embed="rId6">
            <a:alphaModFix/>
          </a:blip>
          <a:stretch>
            <a:fillRect/>
          </a:stretch>
        </p:blipFill>
        <p:spPr>
          <a:xfrm>
            <a:off x="1406150" y="2250250"/>
            <a:ext cx="700866" cy="402300"/>
          </a:xfrm>
          <a:prstGeom prst="rect">
            <a:avLst/>
          </a:prstGeom>
          <a:noFill/>
          <a:ln>
            <a:noFill/>
          </a:ln>
        </p:spPr>
      </p:pic>
      <p:pic>
        <p:nvPicPr>
          <p:cNvPr id="1580" name="Google Shape;1580;p94"/>
          <p:cNvPicPr preferRelativeResize="0"/>
          <p:nvPr/>
        </p:nvPicPr>
        <p:blipFill>
          <a:blip r:embed="rId7">
            <a:alphaModFix/>
          </a:blip>
          <a:stretch>
            <a:fillRect/>
          </a:stretch>
        </p:blipFill>
        <p:spPr>
          <a:xfrm>
            <a:off x="1447130" y="3519412"/>
            <a:ext cx="632471" cy="454850"/>
          </a:xfrm>
          <a:prstGeom prst="rect">
            <a:avLst/>
          </a:prstGeom>
          <a:noFill/>
          <a:ln>
            <a:noFill/>
          </a:ln>
        </p:spPr>
      </p:pic>
      <p:cxnSp>
        <p:nvCxnSpPr>
          <p:cNvPr id="1581" name="Google Shape;1581;p94"/>
          <p:cNvCxnSpPr/>
          <p:nvPr/>
        </p:nvCxnSpPr>
        <p:spPr>
          <a:xfrm flipH="1">
            <a:off x="3970467" y="2925161"/>
            <a:ext cx="306000" cy="187500"/>
          </a:xfrm>
          <a:prstGeom prst="straightConnector1">
            <a:avLst/>
          </a:prstGeom>
          <a:noFill/>
          <a:ln w="9525" cap="flat" cmpd="sng">
            <a:solidFill>
              <a:schemeClr val="accent1"/>
            </a:solidFill>
            <a:prstDash val="solid"/>
            <a:round/>
            <a:headEnd type="none" w="med" len="med"/>
            <a:tailEnd type="none" w="med" len="med"/>
          </a:ln>
        </p:spPr>
      </p:cxnSp>
      <p:cxnSp>
        <p:nvCxnSpPr>
          <p:cNvPr id="1582" name="Google Shape;1582;p94"/>
          <p:cNvCxnSpPr/>
          <p:nvPr/>
        </p:nvCxnSpPr>
        <p:spPr>
          <a:xfrm flipH="1">
            <a:off x="5077067" y="2925161"/>
            <a:ext cx="306000" cy="187500"/>
          </a:xfrm>
          <a:prstGeom prst="straightConnector1">
            <a:avLst/>
          </a:prstGeom>
          <a:noFill/>
          <a:ln w="9525" cap="flat" cmpd="sng">
            <a:solidFill>
              <a:schemeClr val="accent1"/>
            </a:solidFill>
            <a:prstDash val="solid"/>
            <a:round/>
            <a:headEnd type="none" w="med" len="med"/>
            <a:tailEnd type="none" w="med" len="med"/>
          </a:ln>
        </p:spPr>
      </p:cxnSp>
      <p:cxnSp>
        <p:nvCxnSpPr>
          <p:cNvPr id="1583" name="Google Shape;1583;p94"/>
          <p:cNvCxnSpPr/>
          <p:nvPr/>
        </p:nvCxnSpPr>
        <p:spPr>
          <a:xfrm>
            <a:off x="4523292" y="2900561"/>
            <a:ext cx="148200" cy="236700"/>
          </a:xfrm>
          <a:prstGeom prst="straightConnector1">
            <a:avLst/>
          </a:prstGeom>
          <a:noFill/>
          <a:ln w="9525" cap="flat" cmpd="sng">
            <a:solidFill>
              <a:srgbClr val="FF9900"/>
            </a:solidFill>
            <a:prstDash val="solid"/>
            <a:round/>
            <a:headEnd type="none" w="med" len="med"/>
            <a:tailEnd type="none" w="med" len="med"/>
          </a:ln>
        </p:spPr>
      </p:cxnSp>
      <p:cxnSp>
        <p:nvCxnSpPr>
          <p:cNvPr id="1584" name="Google Shape;1584;p94"/>
          <p:cNvCxnSpPr/>
          <p:nvPr/>
        </p:nvCxnSpPr>
        <p:spPr>
          <a:xfrm>
            <a:off x="4671490" y="3193681"/>
            <a:ext cx="118500" cy="143700"/>
          </a:xfrm>
          <a:prstGeom prst="straightConnector1">
            <a:avLst/>
          </a:prstGeom>
          <a:noFill/>
          <a:ln w="9525" cap="flat" cmpd="sng">
            <a:solidFill>
              <a:srgbClr val="FF9900"/>
            </a:solidFill>
            <a:prstDash val="solid"/>
            <a:round/>
            <a:headEnd type="none" w="med" len="med"/>
            <a:tailEnd type="none" w="med" len="med"/>
          </a:ln>
        </p:spPr>
      </p:cxnSp>
      <p:pic>
        <p:nvPicPr>
          <p:cNvPr id="1585" name="Google Shape;1585;p94"/>
          <p:cNvPicPr preferRelativeResize="0"/>
          <p:nvPr/>
        </p:nvPicPr>
        <p:blipFill>
          <a:blip r:embed="rId8">
            <a:alphaModFix/>
          </a:blip>
          <a:stretch>
            <a:fillRect/>
          </a:stretch>
        </p:blipFill>
        <p:spPr>
          <a:xfrm>
            <a:off x="1287980" y="4032900"/>
            <a:ext cx="3523637" cy="807175"/>
          </a:xfrm>
          <a:prstGeom prst="rect">
            <a:avLst/>
          </a:prstGeom>
          <a:noFill/>
          <a:ln>
            <a:noFill/>
          </a:ln>
        </p:spPr>
      </p:pic>
      <p:pic>
        <p:nvPicPr>
          <p:cNvPr id="1586" name="Google Shape;1586;p94"/>
          <p:cNvPicPr preferRelativeResize="0"/>
          <p:nvPr/>
        </p:nvPicPr>
        <p:blipFill>
          <a:blip r:embed="rId9">
            <a:alphaModFix/>
          </a:blip>
          <a:stretch>
            <a:fillRect/>
          </a:stretch>
        </p:blipFill>
        <p:spPr>
          <a:xfrm>
            <a:off x="1603517" y="4898709"/>
            <a:ext cx="3067974" cy="180475"/>
          </a:xfrm>
          <a:prstGeom prst="rect">
            <a:avLst/>
          </a:prstGeom>
          <a:noFill/>
          <a:ln>
            <a:noFill/>
          </a:ln>
        </p:spPr>
      </p:pic>
      <p:pic>
        <p:nvPicPr>
          <p:cNvPr id="1587" name="Google Shape;1587;p94"/>
          <p:cNvPicPr preferRelativeResize="0"/>
          <p:nvPr/>
        </p:nvPicPr>
        <p:blipFill>
          <a:blip r:embed="rId10">
            <a:alphaModFix/>
          </a:blip>
          <a:stretch>
            <a:fillRect/>
          </a:stretch>
        </p:blipFill>
        <p:spPr>
          <a:xfrm>
            <a:off x="346400" y="589325"/>
            <a:ext cx="4789058" cy="608975"/>
          </a:xfrm>
          <a:prstGeom prst="rect">
            <a:avLst/>
          </a:prstGeom>
          <a:noFill/>
          <a:ln>
            <a:noFill/>
          </a:ln>
        </p:spPr>
      </p:pic>
      <p:pic>
        <p:nvPicPr>
          <p:cNvPr id="1588" name="Google Shape;1588;p94"/>
          <p:cNvPicPr preferRelativeResize="0"/>
          <p:nvPr/>
        </p:nvPicPr>
        <p:blipFill>
          <a:blip r:embed="rId11">
            <a:alphaModFix/>
          </a:blip>
          <a:stretch>
            <a:fillRect/>
          </a:stretch>
        </p:blipFill>
        <p:spPr>
          <a:xfrm>
            <a:off x="2696290" y="2484387"/>
            <a:ext cx="2380783" cy="236700"/>
          </a:xfrm>
          <a:prstGeom prst="rect">
            <a:avLst/>
          </a:prstGeom>
          <a:noFill/>
          <a:ln>
            <a:noFill/>
          </a:ln>
        </p:spPr>
      </p:pic>
      <p:sp>
        <p:nvSpPr>
          <p:cNvPr id="1589" name="Google Shape;1589;p94"/>
          <p:cNvSpPr txBox="1"/>
          <p:nvPr/>
        </p:nvSpPr>
        <p:spPr>
          <a:xfrm>
            <a:off x="2235507" y="2439692"/>
            <a:ext cx="700800" cy="23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F0000"/>
                </a:solidFill>
              </a:rPr>
              <a:t>Apply</a:t>
            </a:r>
            <a:endParaRPr sz="900">
              <a:solidFill>
                <a:srgbClr val="FF0000"/>
              </a:solidFill>
            </a:endParaRPr>
          </a:p>
        </p:txBody>
      </p:sp>
      <p:cxnSp>
        <p:nvCxnSpPr>
          <p:cNvPr id="1590" name="Google Shape;1590;p94"/>
          <p:cNvCxnSpPr/>
          <p:nvPr/>
        </p:nvCxnSpPr>
        <p:spPr>
          <a:xfrm rot="10800000">
            <a:off x="2740923" y="2160617"/>
            <a:ext cx="0" cy="243000"/>
          </a:xfrm>
          <a:prstGeom prst="straightConnector1">
            <a:avLst/>
          </a:prstGeom>
          <a:noFill/>
          <a:ln w="9525" cap="flat" cmpd="sng">
            <a:solidFill>
              <a:srgbClr val="FF0000"/>
            </a:solidFill>
            <a:prstDash val="solid"/>
            <a:round/>
            <a:headEnd type="none" w="med" len="med"/>
            <a:tailEnd type="triangle" w="med" len="med"/>
          </a:ln>
        </p:spPr>
      </p:cxnSp>
      <p:cxnSp>
        <p:nvCxnSpPr>
          <p:cNvPr id="1591" name="Google Shape;1591;p94"/>
          <p:cNvCxnSpPr/>
          <p:nvPr/>
        </p:nvCxnSpPr>
        <p:spPr>
          <a:xfrm rot="10800000" flipH="1">
            <a:off x="2857342" y="1972925"/>
            <a:ext cx="384900" cy="474000"/>
          </a:xfrm>
          <a:prstGeom prst="straightConnector1">
            <a:avLst/>
          </a:prstGeom>
          <a:noFill/>
          <a:ln w="9525" cap="flat" cmpd="sng">
            <a:solidFill>
              <a:srgbClr val="FF0000"/>
            </a:solidFill>
            <a:prstDash val="solid"/>
            <a:round/>
            <a:headEnd type="none" w="med" len="med"/>
            <a:tailEnd type="triangle" w="med" len="med"/>
          </a:ln>
        </p:spPr>
      </p:cxnSp>
      <p:cxnSp>
        <p:nvCxnSpPr>
          <p:cNvPr id="1592" name="Google Shape;1592;p94"/>
          <p:cNvCxnSpPr/>
          <p:nvPr/>
        </p:nvCxnSpPr>
        <p:spPr>
          <a:xfrm>
            <a:off x="2740917" y="2712450"/>
            <a:ext cx="0" cy="229200"/>
          </a:xfrm>
          <a:prstGeom prst="straightConnector1">
            <a:avLst/>
          </a:prstGeom>
          <a:noFill/>
          <a:ln w="9525" cap="flat" cmpd="sng">
            <a:solidFill>
              <a:srgbClr val="FF0000"/>
            </a:solidFill>
            <a:prstDash val="solid"/>
            <a:round/>
            <a:headEnd type="none" w="med" len="med"/>
            <a:tailEnd type="triangle" w="med" len="med"/>
          </a:ln>
        </p:spPr>
      </p:cxnSp>
      <p:cxnSp>
        <p:nvCxnSpPr>
          <p:cNvPr id="1593" name="Google Shape;1593;p94"/>
          <p:cNvCxnSpPr/>
          <p:nvPr/>
        </p:nvCxnSpPr>
        <p:spPr>
          <a:xfrm>
            <a:off x="2867217" y="2733225"/>
            <a:ext cx="967500" cy="207600"/>
          </a:xfrm>
          <a:prstGeom prst="straightConnector1">
            <a:avLst/>
          </a:prstGeom>
          <a:noFill/>
          <a:ln w="9525" cap="flat" cmpd="sng">
            <a:solidFill>
              <a:srgbClr val="FF0000"/>
            </a:solidFill>
            <a:prstDash val="solid"/>
            <a:round/>
            <a:headEnd type="none" w="med" len="med"/>
            <a:tailEnd type="triangle" w="med" len="med"/>
          </a:ln>
        </p:spPr>
      </p:cxnSp>
      <p:sp>
        <p:nvSpPr>
          <p:cNvPr id="1594" name="Google Shape;1594;p94"/>
          <p:cNvSpPr/>
          <p:nvPr/>
        </p:nvSpPr>
        <p:spPr>
          <a:xfrm rot="10799154">
            <a:off x="4113173" y="1105321"/>
            <a:ext cx="2438400" cy="454800"/>
          </a:xfrm>
          <a:prstGeom prst="curvedDown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5" name="Google Shape;1595;p94"/>
          <p:cNvSpPr txBox="1"/>
          <p:nvPr/>
        </p:nvSpPr>
        <p:spPr>
          <a:xfrm>
            <a:off x="6005450" y="4098152"/>
            <a:ext cx="3068100" cy="114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FF0000"/>
                </a:solidFill>
              </a:rPr>
              <a:t>Using this </a:t>
            </a:r>
            <a:r>
              <a:rPr lang="en" sz="1100" b="1">
                <a:solidFill>
                  <a:srgbClr val="FF0000"/>
                </a:solidFill>
              </a:rPr>
              <a:t>analytical formula</a:t>
            </a:r>
            <a:r>
              <a:rPr lang="en" sz="1100">
                <a:solidFill>
                  <a:srgbClr val="FF0000"/>
                </a:solidFill>
              </a:rPr>
              <a:t>, we get this final “</a:t>
            </a:r>
            <a:r>
              <a:rPr lang="en" sz="1100" b="1">
                <a:solidFill>
                  <a:srgbClr val="FF0000"/>
                </a:solidFill>
              </a:rPr>
              <a:t>Denoising Score Matching Loss</a:t>
            </a:r>
            <a:r>
              <a:rPr lang="en" sz="1100">
                <a:solidFill>
                  <a:srgbClr val="FF0000"/>
                </a:solidFill>
              </a:rPr>
              <a:t>”. We essentially predict the noise </a:t>
            </a:r>
            <a:r>
              <a:rPr lang="en">
                <a:solidFill>
                  <a:srgbClr val="FF0000"/>
                </a:solidFill>
              </a:rPr>
              <a:t>𝝴</a:t>
            </a:r>
            <a:r>
              <a:rPr lang="en" sz="1100">
                <a:solidFill>
                  <a:srgbClr val="FF0000"/>
                </a:solidFill>
              </a:rPr>
              <a:t> that was used to corrupt the data point, hence the term “denoising” in its name.</a:t>
            </a:r>
            <a:endParaRPr sz="1100">
              <a:solidFill>
                <a:srgbClr val="FF0000"/>
              </a:solidFill>
            </a:endParaRPr>
          </a:p>
        </p:txBody>
      </p:sp>
      <p:cxnSp>
        <p:nvCxnSpPr>
          <p:cNvPr id="1596" name="Google Shape;1596;p94"/>
          <p:cNvCxnSpPr>
            <a:endCxn id="1576" idx="2"/>
          </p:cNvCxnSpPr>
          <p:nvPr/>
        </p:nvCxnSpPr>
        <p:spPr>
          <a:xfrm rot="10800000">
            <a:off x="7367838" y="1219575"/>
            <a:ext cx="0" cy="2813100"/>
          </a:xfrm>
          <a:prstGeom prst="straightConnector1">
            <a:avLst/>
          </a:prstGeom>
          <a:noFill/>
          <a:ln w="9525" cap="flat" cmpd="sng">
            <a:solidFill>
              <a:srgbClr val="FF0000"/>
            </a:solidFill>
            <a:prstDash val="solid"/>
            <a:round/>
            <a:headEnd type="none" w="med" len="med"/>
            <a:tailEnd type="triangle" w="med" len="med"/>
          </a:ln>
        </p:spPr>
      </p:cxnSp>
      <p:cxnSp>
        <p:nvCxnSpPr>
          <p:cNvPr id="1597" name="Google Shape;1597;p94"/>
          <p:cNvCxnSpPr>
            <a:endCxn id="1585" idx="3"/>
          </p:cNvCxnSpPr>
          <p:nvPr/>
        </p:nvCxnSpPr>
        <p:spPr>
          <a:xfrm rot="10800000">
            <a:off x="4811617" y="4436488"/>
            <a:ext cx="1010700" cy="0"/>
          </a:xfrm>
          <a:prstGeom prst="straightConnector1">
            <a:avLst/>
          </a:prstGeom>
          <a:noFill/>
          <a:ln w="9525" cap="flat" cmpd="sng">
            <a:solidFill>
              <a:srgbClr val="FF0000"/>
            </a:solidFill>
            <a:prstDash val="solid"/>
            <a:round/>
            <a:headEnd type="none" w="med" len="med"/>
            <a:tailEnd type="triangle" w="med" len="med"/>
          </a:ln>
        </p:spPr>
      </p:cxnSp>
      <p:sp>
        <p:nvSpPr>
          <p:cNvPr id="1598" name="Google Shape;1598;p94"/>
          <p:cNvSpPr txBox="1"/>
          <p:nvPr/>
        </p:nvSpPr>
        <p:spPr>
          <a:xfrm>
            <a:off x="5033566" y="2439700"/>
            <a:ext cx="1990500" cy="23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F0000"/>
                </a:solidFill>
              </a:rPr>
              <a:t>, i.e. reparameterization trick.</a:t>
            </a:r>
            <a:endParaRPr sz="900">
              <a:solidFill>
                <a:srgbClr val="FF0000"/>
              </a:solidFill>
            </a:endParaRPr>
          </a:p>
        </p:txBody>
      </p:sp>
      <p:sp>
        <p:nvSpPr>
          <p:cNvPr id="1599" name="Google Shape;1599;p94"/>
          <p:cNvSpPr txBox="1"/>
          <p:nvPr/>
        </p:nvSpPr>
        <p:spPr>
          <a:xfrm>
            <a:off x="7681850" y="1270725"/>
            <a:ext cx="1239600" cy="498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FF0000"/>
                </a:solidFill>
              </a:rPr>
              <a:t>This is our design choice</a:t>
            </a:r>
            <a:endParaRPr sz="1200">
              <a:solidFill>
                <a:srgbClr val="FF0000"/>
              </a:solidFill>
            </a:endParaRPr>
          </a:p>
        </p:txBody>
      </p:sp>
      <p:sp>
        <p:nvSpPr>
          <p:cNvPr id="1600" name="Google Shape;1600;p94"/>
          <p:cNvSpPr txBox="1"/>
          <p:nvPr/>
        </p:nvSpPr>
        <p:spPr>
          <a:xfrm>
            <a:off x="4963300" y="1198300"/>
            <a:ext cx="902700" cy="13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rgbClr val="FF0000"/>
                </a:solidFill>
              </a:rPr>
              <a:t>Plug in</a:t>
            </a:r>
            <a:endParaRPr sz="1500">
              <a:solidFill>
                <a:srgbClr val="FF0000"/>
              </a:solidFill>
            </a:endParaRPr>
          </a:p>
        </p:txBody>
      </p:sp>
      <p:sp>
        <p:nvSpPr>
          <p:cNvPr id="1601" name="Google Shape;1601;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605"/>
        <p:cNvGrpSpPr/>
        <p:nvPr/>
      </p:nvGrpSpPr>
      <p:grpSpPr>
        <a:xfrm>
          <a:off x="0" y="0"/>
          <a:ext cx="0" cy="0"/>
          <a:chOff x="0" y="0"/>
          <a:chExt cx="0" cy="0"/>
        </a:xfrm>
      </p:grpSpPr>
      <p:pic>
        <p:nvPicPr>
          <p:cNvPr id="1606" name="Google Shape;1606;p95"/>
          <p:cNvPicPr preferRelativeResize="0"/>
          <p:nvPr/>
        </p:nvPicPr>
        <p:blipFill>
          <a:blip r:embed="rId3">
            <a:alphaModFix/>
          </a:blip>
          <a:stretch>
            <a:fillRect/>
          </a:stretch>
        </p:blipFill>
        <p:spPr>
          <a:xfrm>
            <a:off x="178775" y="1433604"/>
            <a:ext cx="7694151" cy="1420875"/>
          </a:xfrm>
          <a:prstGeom prst="rect">
            <a:avLst/>
          </a:prstGeom>
          <a:noFill/>
          <a:ln>
            <a:noFill/>
          </a:ln>
        </p:spPr>
      </p:pic>
      <p:pic>
        <p:nvPicPr>
          <p:cNvPr id="1607" name="Google Shape;1607;p95"/>
          <p:cNvPicPr preferRelativeResize="0"/>
          <p:nvPr/>
        </p:nvPicPr>
        <p:blipFill>
          <a:blip r:embed="rId4">
            <a:alphaModFix/>
          </a:blip>
          <a:stretch>
            <a:fillRect/>
          </a:stretch>
        </p:blipFill>
        <p:spPr>
          <a:xfrm>
            <a:off x="2315947" y="2647161"/>
            <a:ext cx="970675" cy="698075"/>
          </a:xfrm>
          <a:prstGeom prst="rect">
            <a:avLst/>
          </a:prstGeom>
          <a:noFill/>
          <a:ln>
            <a:noFill/>
          </a:ln>
        </p:spPr>
      </p:pic>
      <p:sp>
        <p:nvSpPr>
          <p:cNvPr id="1608" name="Google Shape;1608;p95"/>
          <p:cNvSpPr txBox="1"/>
          <p:nvPr/>
        </p:nvSpPr>
        <p:spPr>
          <a:xfrm>
            <a:off x="4032150" y="2867879"/>
            <a:ext cx="2116500" cy="86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0000"/>
                </a:solidFill>
              </a:rPr>
              <a:t>We are taking some interpolated input between data point </a:t>
            </a:r>
            <a:r>
              <a:rPr lang="en" sz="1100" b="1">
                <a:solidFill>
                  <a:srgbClr val="FF0000"/>
                </a:solidFill>
              </a:rPr>
              <a:t>z</a:t>
            </a:r>
            <a:r>
              <a:rPr lang="en" sz="1100">
                <a:solidFill>
                  <a:srgbClr val="FF0000"/>
                </a:solidFill>
              </a:rPr>
              <a:t> and noise </a:t>
            </a:r>
            <a:r>
              <a:rPr lang="en">
                <a:solidFill>
                  <a:srgbClr val="FF0000"/>
                </a:solidFill>
              </a:rPr>
              <a:t>𝝴 </a:t>
            </a:r>
            <a:r>
              <a:rPr lang="en" sz="1100">
                <a:solidFill>
                  <a:srgbClr val="FF0000"/>
                </a:solidFill>
              </a:rPr>
              <a:t> </a:t>
            </a:r>
            <a:endParaRPr sz="1100">
              <a:solidFill>
                <a:srgbClr val="FF0000"/>
              </a:solidFill>
            </a:endParaRPr>
          </a:p>
        </p:txBody>
      </p:sp>
      <p:sp>
        <p:nvSpPr>
          <p:cNvPr id="1609" name="Google Shape;1609;p95"/>
          <p:cNvSpPr txBox="1"/>
          <p:nvPr/>
        </p:nvSpPr>
        <p:spPr>
          <a:xfrm>
            <a:off x="6148650" y="2946900"/>
            <a:ext cx="21165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0000"/>
                </a:solidFill>
              </a:rPr>
              <a:t>and learn to predict negatively scaled noise -</a:t>
            </a:r>
            <a:r>
              <a:rPr lang="en">
                <a:solidFill>
                  <a:srgbClr val="FF0000"/>
                </a:solidFill>
              </a:rPr>
              <a:t>𝝴 </a:t>
            </a:r>
            <a:r>
              <a:rPr lang="en" sz="1100" b="1">
                <a:solidFill>
                  <a:srgbClr val="FF0000"/>
                </a:solidFill>
              </a:rPr>
              <a:t>/ </a:t>
            </a:r>
            <a:r>
              <a:rPr lang="en" sz="1100">
                <a:solidFill>
                  <a:srgbClr val="FF0000"/>
                </a:solidFill>
              </a:rPr>
              <a:t>𝛃</a:t>
            </a:r>
            <a:r>
              <a:rPr lang="en" sz="1100" baseline="-25000">
                <a:solidFill>
                  <a:srgbClr val="FF0000"/>
                </a:solidFill>
              </a:rPr>
              <a:t>t</a:t>
            </a:r>
            <a:endParaRPr sz="1100" baseline="-25000">
              <a:solidFill>
                <a:srgbClr val="FF0000"/>
              </a:solidFill>
            </a:endParaRPr>
          </a:p>
        </p:txBody>
      </p:sp>
      <p:sp>
        <p:nvSpPr>
          <p:cNvPr id="1610" name="Google Shape;1610;p95"/>
          <p:cNvSpPr/>
          <p:nvPr/>
        </p:nvSpPr>
        <p:spPr>
          <a:xfrm rot="5400000">
            <a:off x="5146951" y="1715430"/>
            <a:ext cx="143400" cy="18600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1" name="Google Shape;1611;p95"/>
          <p:cNvSpPr/>
          <p:nvPr/>
        </p:nvSpPr>
        <p:spPr>
          <a:xfrm rot="5400000">
            <a:off x="6926125" y="2504829"/>
            <a:ext cx="108600" cy="5547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2" name="Google Shape;1612;p95"/>
          <p:cNvSpPr txBox="1"/>
          <p:nvPr/>
        </p:nvSpPr>
        <p:spPr>
          <a:xfrm>
            <a:off x="2432981" y="0"/>
            <a:ext cx="46830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Denoising Score Matching Interpretation</a:t>
            </a:r>
            <a:endParaRPr sz="1800" b="1">
              <a:solidFill>
                <a:schemeClr val="dk1"/>
              </a:solidFill>
            </a:endParaRPr>
          </a:p>
        </p:txBody>
      </p:sp>
      <p:sp>
        <p:nvSpPr>
          <p:cNvPr id="1613" name="Google Shape;1613;p95"/>
          <p:cNvSpPr txBox="1"/>
          <p:nvPr/>
        </p:nvSpPr>
        <p:spPr>
          <a:xfrm>
            <a:off x="246700" y="4201925"/>
            <a:ext cx="85335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Note that this loss can be numerically unstable for low 𝛃, i.e. if 𝛃 approaches zero, then the loss blows up towards infinity. </a:t>
            </a:r>
            <a:endParaRPr sz="1200" b="1">
              <a:solidFill>
                <a:schemeClr val="dk1"/>
              </a:solidFill>
            </a:endParaRPr>
          </a:p>
        </p:txBody>
      </p:sp>
      <p:sp>
        <p:nvSpPr>
          <p:cNvPr id="1614" name="Google Shape;1614;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618"/>
        <p:cNvGrpSpPr/>
        <p:nvPr/>
      </p:nvGrpSpPr>
      <p:grpSpPr>
        <a:xfrm>
          <a:off x="0" y="0"/>
          <a:ext cx="0" cy="0"/>
          <a:chOff x="0" y="0"/>
          <a:chExt cx="0" cy="0"/>
        </a:xfrm>
      </p:grpSpPr>
      <p:pic>
        <p:nvPicPr>
          <p:cNvPr id="1619" name="Google Shape;1619;p96"/>
          <p:cNvPicPr preferRelativeResize="0"/>
          <p:nvPr/>
        </p:nvPicPr>
        <p:blipFill>
          <a:blip r:embed="rId3">
            <a:alphaModFix/>
          </a:blip>
          <a:stretch>
            <a:fillRect/>
          </a:stretch>
        </p:blipFill>
        <p:spPr>
          <a:xfrm>
            <a:off x="1394487" y="906864"/>
            <a:ext cx="6825325" cy="2678225"/>
          </a:xfrm>
          <a:prstGeom prst="rect">
            <a:avLst/>
          </a:prstGeom>
          <a:noFill/>
          <a:ln>
            <a:noFill/>
          </a:ln>
        </p:spPr>
      </p:pic>
      <p:sp>
        <p:nvSpPr>
          <p:cNvPr id="1620" name="Google Shape;1620;p96"/>
          <p:cNvSpPr txBox="1"/>
          <p:nvPr/>
        </p:nvSpPr>
        <p:spPr>
          <a:xfrm>
            <a:off x="932225" y="0"/>
            <a:ext cx="76215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Score Matching Training Procedure for a Gaussian Probability Path</a:t>
            </a:r>
            <a:endParaRPr sz="1800" b="1">
              <a:solidFill>
                <a:schemeClr val="dk1"/>
              </a:solidFill>
            </a:endParaRPr>
          </a:p>
        </p:txBody>
      </p:sp>
      <p:sp>
        <p:nvSpPr>
          <p:cNvPr id="1621" name="Google Shape;1621;p96"/>
          <p:cNvSpPr txBox="1"/>
          <p:nvPr/>
        </p:nvSpPr>
        <p:spPr>
          <a:xfrm>
            <a:off x="240038" y="4089675"/>
            <a:ext cx="9025500" cy="3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i="1">
                <a:solidFill>
                  <a:schemeClr val="dk1"/>
                </a:solidFill>
              </a:rPr>
              <a:t>We get an elegant </a:t>
            </a:r>
            <a:r>
              <a:rPr lang="en" sz="1200" b="1" i="1" u="sng">
                <a:solidFill>
                  <a:schemeClr val="dk1"/>
                </a:solidFill>
              </a:rPr>
              <a:t>special case</a:t>
            </a:r>
            <a:r>
              <a:rPr lang="en" sz="1200" b="1" i="1">
                <a:solidFill>
                  <a:schemeClr val="dk1"/>
                </a:solidFill>
              </a:rPr>
              <a:t> of our Score Matching Procedure if we choose by design Gaussian Probability Paths.</a:t>
            </a:r>
            <a:endParaRPr sz="1200" b="1" i="1">
              <a:solidFill>
                <a:schemeClr val="dk1"/>
              </a:solidFill>
            </a:endParaRPr>
          </a:p>
        </p:txBody>
      </p:sp>
      <p:sp>
        <p:nvSpPr>
          <p:cNvPr id="1622" name="Google Shape;1622;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84</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626"/>
        <p:cNvGrpSpPr/>
        <p:nvPr/>
      </p:nvGrpSpPr>
      <p:grpSpPr>
        <a:xfrm>
          <a:off x="0" y="0"/>
          <a:ext cx="0" cy="0"/>
          <a:chOff x="0" y="0"/>
          <a:chExt cx="0" cy="0"/>
        </a:xfrm>
      </p:grpSpPr>
      <p:sp>
        <p:nvSpPr>
          <p:cNvPr id="1627" name="Google Shape;1627;p97"/>
          <p:cNvSpPr txBox="1"/>
          <p:nvPr/>
        </p:nvSpPr>
        <p:spPr>
          <a:xfrm>
            <a:off x="1750000" y="4580719"/>
            <a:ext cx="6902700" cy="46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After training  =&gt;                      =&gt;  and therefore </a:t>
            </a:r>
            <a:endParaRPr sz="1800">
              <a:solidFill>
                <a:schemeClr val="dk1"/>
              </a:solidFill>
            </a:endParaRPr>
          </a:p>
        </p:txBody>
      </p:sp>
      <p:pic>
        <p:nvPicPr>
          <p:cNvPr id="1628" name="Google Shape;1628;p97"/>
          <p:cNvPicPr preferRelativeResize="0"/>
          <p:nvPr/>
        </p:nvPicPr>
        <p:blipFill>
          <a:blip r:embed="rId3">
            <a:alphaModFix/>
          </a:blip>
          <a:stretch>
            <a:fillRect/>
          </a:stretch>
        </p:blipFill>
        <p:spPr>
          <a:xfrm>
            <a:off x="1749996" y="990144"/>
            <a:ext cx="1164900" cy="275577"/>
          </a:xfrm>
          <a:prstGeom prst="rect">
            <a:avLst/>
          </a:prstGeom>
          <a:noFill/>
          <a:ln>
            <a:noFill/>
          </a:ln>
        </p:spPr>
      </p:pic>
      <p:pic>
        <p:nvPicPr>
          <p:cNvPr id="1629" name="Google Shape;1629;p97"/>
          <p:cNvPicPr preferRelativeResize="0"/>
          <p:nvPr/>
        </p:nvPicPr>
        <p:blipFill>
          <a:blip r:embed="rId4">
            <a:alphaModFix/>
          </a:blip>
          <a:stretch>
            <a:fillRect/>
          </a:stretch>
        </p:blipFill>
        <p:spPr>
          <a:xfrm>
            <a:off x="1729946" y="3308210"/>
            <a:ext cx="6599350" cy="969479"/>
          </a:xfrm>
          <a:prstGeom prst="rect">
            <a:avLst/>
          </a:prstGeom>
          <a:noFill/>
          <a:ln>
            <a:noFill/>
          </a:ln>
        </p:spPr>
      </p:pic>
      <p:pic>
        <p:nvPicPr>
          <p:cNvPr id="1630" name="Google Shape;1630;p97"/>
          <p:cNvPicPr preferRelativeResize="0"/>
          <p:nvPr/>
        </p:nvPicPr>
        <p:blipFill>
          <a:blip r:embed="rId5">
            <a:alphaModFix/>
          </a:blip>
          <a:stretch>
            <a:fillRect/>
          </a:stretch>
        </p:blipFill>
        <p:spPr>
          <a:xfrm>
            <a:off x="1729942" y="1627603"/>
            <a:ext cx="6902654" cy="900550"/>
          </a:xfrm>
          <a:prstGeom prst="rect">
            <a:avLst/>
          </a:prstGeom>
          <a:noFill/>
          <a:ln>
            <a:noFill/>
          </a:ln>
        </p:spPr>
      </p:pic>
      <p:pic>
        <p:nvPicPr>
          <p:cNvPr id="1631" name="Google Shape;1631;p97"/>
          <p:cNvPicPr preferRelativeResize="0"/>
          <p:nvPr/>
        </p:nvPicPr>
        <p:blipFill>
          <a:blip r:embed="rId6">
            <a:alphaModFix/>
          </a:blip>
          <a:stretch>
            <a:fillRect/>
          </a:stretch>
        </p:blipFill>
        <p:spPr>
          <a:xfrm>
            <a:off x="3658300" y="4665997"/>
            <a:ext cx="1017400" cy="292600"/>
          </a:xfrm>
          <a:prstGeom prst="rect">
            <a:avLst/>
          </a:prstGeom>
          <a:noFill/>
          <a:ln>
            <a:noFill/>
          </a:ln>
        </p:spPr>
      </p:pic>
      <p:cxnSp>
        <p:nvCxnSpPr>
          <p:cNvPr id="1632" name="Google Shape;1632;p97"/>
          <p:cNvCxnSpPr/>
          <p:nvPr/>
        </p:nvCxnSpPr>
        <p:spPr>
          <a:xfrm>
            <a:off x="3525246" y="2525904"/>
            <a:ext cx="0" cy="671400"/>
          </a:xfrm>
          <a:prstGeom prst="straightConnector1">
            <a:avLst/>
          </a:prstGeom>
          <a:noFill/>
          <a:ln w="9525" cap="flat" cmpd="sng">
            <a:solidFill>
              <a:srgbClr val="FF0000"/>
            </a:solidFill>
            <a:prstDash val="solid"/>
            <a:round/>
            <a:headEnd type="none" w="med" len="med"/>
            <a:tailEnd type="triangle" w="med" len="med"/>
          </a:ln>
        </p:spPr>
      </p:cxnSp>
      <p:cxnSp>
        <p:nvCxnSpPr>
          <p:cNvPr id="1633" name="Google Shape;1633;p97"/>
          <p:cNvCxnSpPr/>
          <p:nvPr/>
        </p:nvCxnSpPr>
        <p:spPr>
          <a:xfrm>
            <a:off x="5859421" y="2525926"/>
            <a:ext cx="0" cy="681000"/>
          </a:xfrm>
          <a:prstGeom prst="straightConnector1">
            <a:avLst/>
          </a:prstGeom>
          <a:noFill/>
          <a:ln w="9525" cap="flat" cmpd="sng">
            <a:solidFill>
              <a:srgbClr val="FF0000"/>
            </a:solidFill>
            <a:prstDash val="solid"/>
            <a:round/>
            <a:headEnd type="none" w="med" len="med"/>
            <a:tailEnd type="triangle" w="med" len="med"/>
          </a:ln>
        </p:spPr>
      </p:cxnSp>
      <p:sp>
        <p:nvSpPr>
          <p:cNvPr id="1634" name="Google Shape;1634;p97"/>
          <p:cNvSpPr txBox="1"/>
          <p:nvPr/>
        </p:nvSpPr>
        <p:spPr>
          <a:xfrm>
            <a:off x="3628295" y="2608571"/>
            <a:ext cx="20688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Plug in neural networks</a:t>
            </a:r>
            <a:endParaRPr>
              <a:solidFill>
                <a:srgbClr val="FF0000"/>
              </a:solidFill>
            </a:endParaRPr>
          </a:p>
        </p:txBody>
      </p:sp>
      <p:pic>
        <p:nvPicPr>
          <p:cNvPr id="1635" name="Google Shape;1635;p97"/>
          <p:cNvPicPr preferRelativeResize="0"/>
          <p:nvPr/>
        </p:nvPicPr>
        <p:blipFill>
          <a:blip r:embed="rId7">
            <a:alphaModFix/>
          </a:blip>
          <a:stretch>
            <a:fillRect/>
          </a:stretch>
        </p:blipFill>
        <p:spPr>
          <a:xfrm>
            <a:off x="6814397" y="4663565"/>
            <a:ext cx="1262648" cy="292600"/>
          </a:xfrm>
          <a:prstGeom prst="rect">
            <a:avLst/>
          </a:prstGeom>
          <a:noFill/>
          <a:ln>
            <a:noFill/>
          </a:ln>
        </p:spPr>
      </p:pic>
      <p:sp>
        <p:nvSpPr>
          <p:cNvPr id="1636" name="Google Shape;1636;p97"/>
          <p:cNvSpPr txBox="1"/>
          <p:nvPr/>
        </p:nvSpPr>
        <p:spPr>
          <a:xfrm>
            <a:off x="391471" y="1860374"/>
            <a:ext cx="12879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Exact result:</a:t>
            </a:r>
            <a:endParaRPr>
              <a:solidFill>
                <a:srgbClr val="FF0000"/>
              </a:solidFill>
            </a:endParaRPr>
          </a:p>
        </p:txBody>
      </p:sp>
      <p:sp>
        <p:nvSpPr>
          <p:cNvPr id="1637" name="Google Shape;1637;p97"/>
          <p:cNvSpPr txBox="1"/>
          <p:nvPr/>
        </p:nvSpPr>
        <p:spPr>
          <a:xfrm>
            <a:off x="391471" y="3553705"/>
            <a:ext cx="1287900" cy="3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Approximate:</a:t>
            </a:r>
            <a:endParaRPr>
              <a:solidFill>
                <a:srgbClr val="FF0000"/>
              </a:solidFill>
            </a:endParaRPr>
          </a:p>
        </p:txBody>
      </p:sp>
      <p:sp>
        <p:nvSpPr>
          <p:cNvPr id="1638" name="Google Shape;1638;p97"/>
          <p:cNvSpPr txBox="1"/>
          <p:nvPr/>
        </p:nvSpPr>
        <p:spPr>
          <a:xfrm>
            <a:off x="2992714" y="0"/>
            <a:ext cx="33081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Learning the Drift and Score</a:t>
            </a:r>
            <a:endParaRPr sz="1800" b="1">
              <a:solidFill>
                <a:schemeClr val="dk1"/>
              </a:solidFill>
            </a:endParaRPr>
          </a:p>
        </p:txBody>
      </p:sp>
      <p:sp>
        <p:nvSpPr>
          <p:cNvPr id="1639" name="Google Shape;1639;p97"/>
          <p:cNvSpPr txBox="1"/>
          <p:nvPr/>
        </p:nvSpPr>
        <p:spPr>
          <a:xfrm>
            <a:off x="391474" y="910438"/>
            <a:ext cx="1017300" cy="34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solidFill>
                  <a:srgbClr val="FF0000"/>
                </a:solidFill>
              </a:rPr>
              <a:t>Start with:</a:t>
            </a:r>
            <a:endParaRPr>
              <a:solidFill>
                <a:srgbClr val="FF0000"/>
              </a:solidFill>
            </a:endParaRPr>
          </a:p>
        </p:txBody>
      </p:sp>
      <p:sp>
        <p:nvSpPr>
          <p:cNvPr id="1640" name="Google Shape;1640;p97"/>
          <p:cNvSpPr txBox="1"/>
          <p:nvPr/>
        </p:nvSpPr>
        <p:spPr>
          <a:xfrm>
            <a:off x="417424" y="4613340"/>
            <a:ext cx="965400" cy="34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solidFill>
                  <a:srgbClr val="FF0000"/>
                </a:solidFill>
              </a:rPr>
              <a:t>End with:</a:t>
            </a:r>
            <a:endParaRPr>
              <a:solidFill>
                <a:srgbClr val="FF0000"/>
              </a:solidFill>
            </a:endParaRPr>
          </a:p>
        </p:txBody>
      </p:sp>
      <p:sp>
        <p:nvSpPr>
          <p:cNvPr id="1641" name="Google Shape;1641;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85</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645"/>
        <p:cNvGrpSpPr/>
        <p:nvPr/>
      </p:nvGrpSpPr>
      <p:grpSpPr>
        <a:xfrm>
          <a:off x="0" y="0"/>
          <a:ext cx="0" cy="0"/>
          <a:chOff x="0" y="0"/>
          <a:chExt cx="0" cy="0"/>
        </a:xfrm>
      </p:grpSpPr>
      <p:sp>
        <p:nvSpPr>
          <p:cNvPr id="1646" name="Google Shape;1646;p98"/>
          <p:cNvSpPr txBox="1"/>
          <p:nvPr/>
        </p:nvSpPr>
        <p:spPr>
          <a:xfrm>
            <a:off x="2503375" y="0"/>
            <a:ext cx="40758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Denoising Diffusion Models (DDMs)</a:t>
            </a:r>
            <a:endParaRPr sz="1800" b="1">
              <a:solidFill>
                <a:schemeClr val="dk1"/>
              </a:solidFill>
            </a:endParaRPr>
          </a:p>
        </p:txBody>
      </p:sp>
      <p:sp>
        <p:nvSpPr>
          <p:cNvPr id="1647" name="Google Shape;1647;p98"/>
          <p:cNvSpPr txBox="1"/>
          <p:nvPr/>
        </p:nvSpPr>
        <p:spPr>
          <a:xfrm>
            <a:off x="379375" y="837750"/>
            <a:ext cx="88791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Denoising Diffusion Models = Diffusion Models with a Gaussian Probability Path: </a:t>
            </a:r>
            <a:endParaRPr sz="1800">
              <a:solidFill>
                <a:schemeClr val="dk1"/>
              </a:solidFill>
            </a:endParaRPr>
          </a:p>
        </p:txBody>
      </p:sp>
      <p:pic>
        <p:nvPicPr>
          <p:cNvPr id="1648" name="Google Shape;1648;p98"/>
          <p:cNvPicPr preferRelativeResize="0"/>
          <p:nvPr/>
        </p:nvPicPr>
        <p:blipFill>
          <a:blip r:embed="rId3">
            <a:alphaModFix/>
          </a:blip>
          <a:stretch>
            <a:fillRect/>
          </a:stretch>
        </p:blipFill>
        <p:spPr>
          <a:xfrm>
            <a:off x="3411651" y="1316175"/>
            <a:ext cx="1606000" cy="308000"/>
          </a:xfrm>
          <a:prstGeom prst="rect">
            <a:avLst/>
          </a:prstGeom>
          <a:noFill/>
          <a:ln>
            <a:noFill/>
          </a:ln>
        </p:spPr>
      </p:pic>
      <p:sp>
        <p:nvSpPr>
          <p:cNvPr id="1649" name="Google Shape;1649;p98"/>
          <p:cNvSpPr txBox="1"/>
          <p:nvPr/>
        </p:nvSpPr>
        <p:spPr>
          <a:xfrm>
            <a:off x="412650" y="1993850"/>
            <a:ext cx="8498100" cy="40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Many people drop the word “denoising” and simply use the term “diffusion model”.</a:t>
            </a:r>
            <a:endParaRPr sz="1800">
              <a:solidFill>
                <a:schemeClr val="dk1"/>
              </a:solidFill>
            </a:endParaRPr>
          </a:p>
        </p:txBody>
      </p:sp>
      <p:sp>
        <p:nvSpPr>
          <p:cNvPr id="1650" name="Google Shape;1650;p98"/>
          <p:cNvSpPr txBox="1"/>
          <p:nvPr/>
        </p:nvSpPr>
        <p:spPr>
          <a:xfrm>
            <a:off x="411775" y="2765835"/>
            <a:ext cx="8259000" cy="56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DDMs have the special property that </a:t>
            </a:r>
            <a:r>
              <a:rPr lang="en" sz="1800" b="1">
                <a:solidFill>
                  <a:srgbClr val="FF0000"/>
                </a:solidFill>
              </a:rPr>
              <a:t>we can convert score matching to flow matching and vice-versa.</a:t>
            </a:r>
            <a:endParaRPr sz="1800" b="1">
              <a:solidFill>
                <a:srgbClr val="FF0000"/>
              </a:solidFill>
            </a:endParaRPr>
          </a:p>
        </p:txBody>
      </p:sp>
      <p:sp>
        <p:nvSpPr>
          <p:cNvPr id="1651" name="Google Shape;1651;p98"/>
          <p:cNvSpPr txBox="1"/>
          <p:nvPr/>
        </p:nvSpPr>
        <p:spPr>
          <a:xfrm>
            <a:off x="494000" y="3804425"/>
            <a:ext cx="8318700" cy="77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first generation of diffusion models only did score matching, because they were implicitly relying on the Gaussian probability path.</a:t>
            </a:r>
            <a:endParaRPr sz="1800">
              <a:solidFill>
                <a:schemeClr val="dk1"/>
              </a:solidFill>
            </a:endParaRPr>
          </a:p>
        </p:txBody>
      </p:sp>
      <p:sp>
        <p:nvSpPr>
          <p:cNvPr id="1652" name="Google Shape;1652;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86</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656"/>
        <p:cNvGrpSpPr/>
        <p:nvPr/>
      </p:nvGrpSpPr>
      <p:grpSpPr>
        <a:xfrm>
          <a:off x="0" y="0"/>
          <a:ext cx="0" cy="0"/>
          <a:chOff x="0" y="0"/>
          <a:chExt cx="0" cy="0"/>
        </a:xfrm>
      </p:grpSpPr>
      <p:sp>
        <p:nvSpPr>
          <p:cNvPr id="1657" name="Google Shape;1657;p99"/>
          <p:cNvSpPr/>
          <p:nvPr/>
        </p:nvSpPr>
        <p:spPr>
          <a:xfrm rot="-5400000">
            <a:off x="4917225" y="1844525"/>
            <a:ext cx="179100" cy="1761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8" name="Google Shape;1658;p99"/>
          <p:cNvSpPr/>
          <p:nvPr/>
        </p:nvSpPr>
        <p:spPr>
          <a:xfrm rot="-5400000">
            <a:off x="6746973" y="2499875"/>
            <a:ext cx="135000" cy="4515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59" name="Google Shape;1659;p99"/>
          <p:cNvPicPr preferRelativeResize="0"/>
          <p:nvPr/>
        </p:nvPicPr>
        <p:blipFill>
          <a:blip r:embed="rId3">
            <a:alphaModFix/>
          </a:blip>
          <a:stretch>
            <a:fillRect/>
          </a:stretch>
        </p:blipFill>
        <p:spPr>
          <a:xfrm>
            <a:off x="4753104" y="2865758"/>
            <a:ext cx="438525" cy="438525"/>
          </a:xfrm>
          <a:prstGeom prst="rect">
            <a:avLst/>
          </a:prstGeom>
          <a:noFill/>
          <a:ln>
            <a:noFill/>
          </a:ln>
        </p:spPr>
      </p:pic>
      <p:pic>
        <p:nvPicPr>
          <p:cNvPr id="1660" name="Google Shape;1660;p99"/>
          <p:cNvPicPr preferRelativeResize="0"/>
          <p:nvPr/>
        </p:nvPicPr>
        <p:blipFill>
          <a:blip r:embed="rId4">
            <a:alphaModFix/>
          </a:blip>
          <a:stretch>
            <a:fillRect/>
          </a:stretch>
        </p:blipFill>
        <p:spPr>
          <a:xfrm>
            <a:off x="6573467" y="2862308"/>
            <a:ext cx="438525" cy="419178"/>
          </a:xfrm>
          <a:prstGeom prst="rect">
            <a:avLst/>
          </a:prstGeom>
          <a:noFill/>
          <a:ln>
            <a:noFill/>
          </a:ln>
        </p:spPr>
      </p:pic>
      <p:sp>
        <p:nvSpPr>
          <p:cNvPr id="1661" name="Google Shape;1661;p99"/>
          <p:cNvSpPr txBox="1"/>
          <p:nvPr/>
        </p:nvSpPr>
        <p:spPr>
          <a:xfrm>
            <a:off x="314275" y="809708"/>
            <a:ext cx="40278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We’ve already seen that:</a:t>
            </a:r>
            <a:endParaRPr sz="1800">
              <a:solidFill>
                <a:schemeClr val="dk1"/>
              </a:solidFill>
            </a:endParaRPr>
          </a:p>
        </p:txBody>
      </p:sp>
      <p:sp>
        <p:nvSpPr>
          <p:cNvPr id="1662" name="Google Shape;1662;p99"/>
          <p:cNvSpPr txBox="1"/>
          <p:nvPr/>
        </p:nvSpPr>
        <p:spPr>
          <a:xfrm>
            <a:off x="314275" y="3438200"/>
            <a:ext cx="40278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which can be re-written as:</a:t>
            </a:r>
            <a:endParaRPr sz="1800">
              <a:solidFill>
                <a:schemeClr val="dk1"/>
              </a:solidFill>
            </a:endParaRPr>
          </a:p>
        </p:txBody>
      </p:sp>
      <p:pic>
        <p:nvPicPr>
          <p:cNvPr id="1663" name="Google Shape;1663;p99"/>
          <p:cNvPicPr preferRelativeResize="0"/>
          <p:nvPr/>
        </p:nvPicPr>
        <p:blipFill>
          <a:blip r:embed="rId5">
            <a:alphaModFix/>
          </a:blip>
          <a:stretch>
            <a:fillRect/>
          </a:stretch>
        </p:blipFill>
        <p:spPr>
          <a:xfrm>
            <a:off x="1722397" y="1468501"/>
            <a:ext cx="5508378" cy="1120450"/>
          </a:xfrm>
          <a:prstGeom prst="rect">
            <a:avLst/>
          </a:prstGeom>
          <a:noFill/>
          <a:ln>
            <a:noFill/>
          </a:ln>
        </p:spPr>
      </p:pic>
      <p:pic>
        <p:nvPicPr>
          <p:cNvPr id="1664" name="Google Shape;1664;p99"/>
          <p:cNvPicPr preferRelativeResize="0"/>
          <p:nvPr/>
        </p:nvPicPr>
        <p:blipFill>
          <a:blip r:embed="rId6">
            <a:alphaModFix/>
          </a:blip>
          <a:stretch>
            <a:fillRect/>
          </a:stretch>
        </p:blipFill>
        <p:spPr>
          <a:xfrm>
            <a:off x="2975900" y="4150319"/>
            <a:ext cx="4027800" cy="524880"/>
          </a:xfrm>
          <a:prstGeom prst="rect">
            <a:avLst/>
          </a:prstGeom>
          <a:noFill/>
          <a:ln>
            <a:noFill/>
          </a:ln>
        </p:spPr>
      </p:pic>
      <p:sp>
        <p:nvSpPr>
          <p:cNvPr id="1665" name="Google Shape;1665;p99"/>
          <p:cNvSpPr txBox="1"/>
          <p:nvPr/>
        </p:nvSpPr>
        <p:spPr>
          <a:xfrm>
            <a:off x="2581848" y="0"/>
            <a:ext cx="42135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Vector Field as a Linear Combination</a:t>
            </a:r>
            <a:endParaRPr sz="1800" b="1">
              <a:solidFill>
                <a:schemeClr val="dk1"/>
              </a:solidFill>
            </a:endParaRPr>
          </a:p>
        </p:txBody>
      </p:sp>
      <p:sp>
        <p:nvSpPr>
          <p:cNvPr id="1666" name="Google Shape;1666;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87</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670"/>
        <p:cNvGrpSpPr/>
        <p:nvPr/>
      </p:nvGrpSpPr>
      <p:grpSpPr>
        <a:xfrm>
          <a:off x="0" y="0"/>
          <a:ext cx="0" cy="0"/>
          <a:chOff x="0" y="0"/>
          <a:chExt cx="0" cy="0"/>
        </a:xfrm>
      </p:grpSpPr>
      <p:sp>
        <p:nvSpPr>
          <p:cNvPr id="1671" name="Google Shape;1671;p100"/>
          <p:cNvSpPr txBox="1"/>
          <p:nvPr/>
        </p:nvSpPr>
        <p:spPr>
          <a:xfrm>
            <a:off x="270775" y="690100"/>
            <a:ext cx="4027800" cy="44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Similarly, recall that:</a:t>
            </a:r>
            <a:endParaRPr sz="1800">
              <a:solidFill>
                <a:schemeClr val="dk1"/>
              </a:solidFill>
            </a:endParaRPr>
          </a:p>
        </p:txBody>
      </p:sp>
      <p:pic>
        <p:nvPicPr>
          <p:cNvPr id="1672" name="Google Shape;1672;p100"/>
          <p:cNvPicPr preferRelativeResize="0"/>
          <p:nvPr/>
        </p:nvPicPr>
        <p:blipFill>
          <a:blip r:embed="rId3">
            <a:alphaModFix/>
          </a:blip>
          <a:stretch>
            <a:fillRect/>
          </a:stretch>
        </p:blipFill>
        <p:spPr>
          <a:xfrm>
            <a:off x="1751650" y="1321475"/>
            <a:ext cx="6498174" cy="1001750"/>
          </a:xfrm>
          <a:prstGeom prst="rect">
            <a:avLst/>
          </a:prstGeom>
          <a:noFill/>
          <a:ln>
            <a:noFill/>
          </a:ln>
        </p:spPr>
      </p:pic>
      <p:sp>
        <p:nvSpPr>
          <p:cNvPr id="1673" name="Google Shape;1673;p100"/>
          <p:cNvSpPr/>
          <p:nvPr/>
        </p:nvSpPr>
        <p:spPr>
          <a:xfrm rot="-5400000">
            <a:off x="7667163" y="2153400"/>
            <a:ext cx="173100" cy="5127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74" name="Google Shape;1674;p100"/>
          <p:cNvPicPr preferRelativeResize="0"/>
          <p:nvPr/>
        </p:nvPicPr>
        <p:blipFill>
          <a:blip r:embed="rId4">
            <a:alphaModFix/>
          </a:blip>
          <a:stretch>
            <a:fillRect/>
          </a:stretch>
        </p:blipFill>
        <p:spPr>
          <a:xfrm>
            <a:off x="6456575" y="2629775"/>
            <a:ext cx="438525" cy="438525"/>
          </a:xfrm>
          <a:prstGeom prst="rect">
            <a:avLst/>
          </a:prstGeom>
          <a:noFill/>
          <a:ln>
            <a:noFill/>
          </a:ln>
        </p:spPr>
      </p:pic>
      <p:pic>
        <p:nvPicPr>
          <p:cNvPr id="1675" name="Google Shape;1675;p100"/>
          <p:cNvPicPr preferRelativeResize="0"/>
          <p:nvPr/>
        </p:nvPicPr>
        <p:blipFill>
          <a:blip r:embed="rId5">
            <a:alphaModFix/>
          </a:blip>
          <a:stretch>
            <a:fillRect/>
          </a:stretch>
        </p:blipFill>
        <p:spPr>
          <a:xfrm>
            <a:off x="7534463" y="2639450"/>
            <a:ext cx="438525" cy="419178"/>
          </a:xfrm>
          <a:prstGeom prst="rect">
            <a:avLst/>
          </a:prstGeom>
          <a:noFill/>
          <a:ln>
            <a:noFill/>
          </a:ln>
        </p:spPr>
      </p:pic>
      <p:sp>
        <p:nvSpPr>
          <p:cNvPr id="1676" name="Google Shape;1676;p100"/>
          <p:cNvSpPr/>
          <p:nvPr/>
        </p:nvSpPr>
        <p:spPr>
          <a:xfrm rot="-5400000">
            <a:off x="6559083" y="2031825"/>
            <a:ext cx="143400" cy="7263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7" name="Google Shape;1677;p100"/>
          <p:cNvSpPr txBox="1"/>
          <p:nvPr/>
        </p:nvSpPr>
        <p:spPr>
          <a:xfrm>
            <a:off x="270775" y="3329450"/>
            <a:ext cx="40278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Hence, the score is also of the form:</a:t>
            </a:r>
            <a:endParaRPr sz="1800">
              <a:solidFill>
                <a:schemeClr val="dk1"/>
              </a:solidFill>
            </a:endParaRPr>
          </a:p>
        </p:txBody>
      </p:sp>
      <p:pic>
        <p:nvPicPr>
          <p:cNvPr id="1678" name="Google Shape;1678;p100"/>
          <p:cNvPicPr preferRelativeResize="0"/>
          <p:nvPr/>
        </p:nvPicPr>
        <p:blipFill>
          <a:blip r:embed="rId6">
            <a:alphaModFix/>
          </a:blip>
          <a:stretch>
            <a:fillRect/>
          </a:stretch>
        </p:blipFill>
        <p:spPr>
          <a:xfrm>
            <a:off x="2694900" y="4120900"/>
            <a:ext cx="4802474" cy="658800"/>
          </a:xfrm>
          <a:prstGeom prst="rect">
            <a:avLst/>
          </a:prstGeom>
          <a:noFill/>
          <a:ln>
            <a:noFill/>
          </a:ln>
        </p:spPr>
      </p:pic>
      <p:sp>
        <p:nvSpPr>
          <p:cNvPr id="1679" name="Google Shape;1679;p100"/>
          <p:cNvSpPr txBox="1"/>
          <p:nvPr/>
        </p:nvSpPr>
        <p:spPr>
          <a:xfrm>
            <a:off x="2885735" y="0"/>
            <a:ext cx="35652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Score as a Linear Combination</a:t>
            </a:r>
            <a:endParaRPr sz="1800" b="1">
              <a:solidFill>
                <a:schemeClr val="dk1"/>
              </a:solidFill>
            </a:endParaRPr>
          </a:p>
        </p:txBody>
      </p:sp>
      <p:sp>
        <p:nvSpPr>
          <p:cNvPr id="1680" name="Google Shape;1680;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684"/>
        <p:cNvGrpSpPr/>
        <p:nvPr/>
      </p:nvGrpSpPr>
      <p:grpSpPr>
        <a:xfrm>
          <a:off x="0" y="0"/>
          <a:ext cx="0" cy="0"/>
          <a:chOff x="0" y="0"/>
          <a:chExt cx="0" cy="0"/>
        </a:xfrm>
      </p:grpSpPr>
      <p:sp>
        <p:nvSpPr>
          <p:cNvPr id="1685" name="Google Shape;1685;p101"/>
          <p:cNvSpPr txBox="1"/>
          <p:nvPr/>
        </p:nvSpPr>
        <p:spPr>
          <a:xfrm>
            <a:off x="472250" y="748775"/>
            <a:ext cx="8623200" cy="61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Notice that 𝜆</a:t>
            </a:r>
            <a:r>
              <a:rPr lang="en" sz="1800" baseline="-25000">
                <a:solidFill>
                  <a:schemeClr val="dk1"/>
                </a:solidFill>
              </a:rPr>
              <a:t>1 </a:t>
            </a:r>
            <a:r>
              <a:rPr lang="en" sz="1800">
                <a:solidFill>
                  <a:schemeClr val="dk1"/>
                </a:solidFill>
              </a:rPr>
              <a:t>and 𝜆</a:t>
            </a:r>
            <a:r>
              <a:rPr lang="en" sz="1800" baseline="-25000">
                <a:solidFill>
                  <a:schemeClr val="dk1"/>
                </a:solidFill>
              </a:rPr>
              <a:t>2  </a:t>
            </a:r>
            <a:r>
              <a:rPr lang="en" sz="1800">
                <a:solidFill>
                  <a:schemeClr val="dk1"/>
                </a:solidFill>
              </a:rPr>
              <a:t>are not exactly the same in the 2 formulas we’ve seen, but this is not the important aspect. The main idea is that we get a </a:t>
            </a:r>
            <a:r>
              <a:rPr lang="en" sz="1800" b="1">
                <a:solidFill>
                  <a:schemeClr val="dk1"/>
                </a:solidFill>
              </a:rPr>
              <a:t>linear relationship </a:t>
            </a:r>
            <a:r>
              <a:rPr lang="en" sz="1800">
                <a:solidFill>
                  <a:schemeClr val="dk1"/>
                </a:solidFill>
              </a:rPr>
              <a:t>in both cases. Hence, we can say that both                    and                       are </a:t>
            </a:r>
            <a:r>
              <a:rPr lang="en" sz="1800" b="1">
                <a:solidFill>
                  <a:schemeClr val="dk1"/>
                </a:solidFill>
              </a:rPr>
              <a:t>weighted combinations of x and z </a:t>
            </a:r>
            <a:r>
              <a:rPr lang="en" sz="1800">
                <a:solidFill>
                  <a:schemeClr val="dk1"/>
                </a:solidFill>
              </a:rPr>
              <a:t>⇒ </a:t>
            </a:r>
            <a:r>
              <a:rPr lang="en" sz="1800" b="1">
                <a:solidFill>
                  <a:srgbClr val="FF0000"/>
                </a:solidFill>
              </a:rPr>
              <a:t>we can convert them into each other</a:t>
            </a:r>
            <a:r>
              <a:rPr lang="en" sz="1800">
                <a:solidFill>
                  <a:schemeClr val="dk1"/>
                </a:solidFill>
              </a:rPr>
              <a:t>!  </a:t>
            </a:r>
            <a:endParaRPr sz="1800">
              <a:solidFill>
                <a:schemeClr val="dk1"/>
              </a:solidFill>
            </a:endParaRPr>
          </a:p>
        </p:txBody>
      </p:sp>
      <p:pic>
        <p:nvPicPr>
          <p:cNvPr id="1686" name="Google Shape;1686;p101"/>
          <p:cNvPicPr preferRelativeResize="0"/>
          <p:nvPr/>
        </p:nvPicPr>
        <p:blipFill>
          <a:blip r:embed="rId3">
            <a:alphaModFix/>
          </a:blip>
          <a:stretch>
            <a:fillRect/>
          </a:stretch>
        </p:blipFill>
        <p:spPr>
          <a:xfrm>
            <a:off x="4975594" y="1359001"/>
            <a:ext cx="1152675" cy="328425"/>
          </a:xfrm>
          <a:prstGeom prst="rect">
            <a:avLst/>
          </a:prstGeom>
          <a:noFill/>
          <a:ln>
            <a:noFill/>
          </a:ln>
        </p:spPr>
      </p:pic>
      <p:pic>
        <p:nvPicPr>
          <p:cNvPr id="1687" name="Google Shape;1687;p101"/>
          <p:cNvPicPr preferRelativeResize="0"/>
          <p:nvPr/>
        </p:nvPicPr>
        <p:blipFill>
          <a:blip r:embed="rId4">
            <a:alphaModFix/>
          </a:blip>
          <a:stretch>
            <a:fillRect/>
          </a:stretch>
        </p:blipFill>
        <p:spPr>
          <a:xfrm>
            <a:off x="6607084" y="1390750"/>
            <a:ext cx="1349300" cy="284075"/>
          </a:xfrm>
          <a:prstGeom prst="rect">
            <a:avLst/>
          </a:prstGeom>
          <a:noFill/>
          <a:ln>
            <a:noFill/>
          </a:ln>
        </p:spPr>
      </p:pic>
      <p:sp>
        <p:nvSpPr>
          <p:cNvPr id="1688" name="Google Shape;1688;p101"/>
          <p:cNvSpPr txBox="1"/>
          <p:nvPr/>
        </p:nvSpPr>
        <p:spPr>
          <a:xfrm>
            <a:off x="494002" y="2180256"/>
            <a:ext cx="3936600" cy="39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Mathematically it can be proven that:</a:t>
            </a:r>
            <a:endParaRPr sz="1800">
              <a:solidFill>
                <a:schemeClr val="dk1"/>
              </a:solidFill>
            </a:endParaRPr>
          </a:p>
        </p:txBody>
      </p:sp>
      <p:pic>
        <p:nvPicPr>
          <p:cNvPr id="1689" name="Google Shape;1689;p101"/>
          <p:cNvPicPr preferRelativeResize="0"/>
          <p:nvPr/>
        </p:nvPicPr>
        <p:blipFill>
          <a:blip r:embed="rId5">
            <a:alphaModFix/>
          </a:blip>
          <a:stretch>
            <a:fillRect/>
          </a:stretch>
        </p:blipFill>
        <p:spPr>
          <a:xfrm>
            <a:off x="2009238" y="3065099"/>
            <a:ext cx="5396974" cy="619800"/>
          </a:xfrm>
          <a:prstGeom prst="rect">
            <a:avLst/>
          </a:prstGeom>
          <a:noFill/>
          <a:ln>
            <a:noFill/>
          </a:ln>
        </p:spPr>
      </p:pic>
      <p:sp>
        <p:nvSpPr>
          <p:cNvPr id="1690" name="Google Shape;1690;p101"/>
          <p:cNvSpPr txBox="1"/>
          <p:nvPr/>
        </p:nvSpPr>
        <p:spPr>
          <a:xfrm>
            <a:off x="515750" y="3982500"/>
            <a:ext cx="7775100" cy="7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So, we can compute only the score for example, and then get the vector field </a:t>
            </a:r>
            <a:r>
              <a:rPr lang="en" sz="1800" b="1">
                <a:solidFill>
                  <a:schemeClr val="dk1"/>
                </a:solidFill>
              </a:rPr>
              <a:t>for free after training</a:t>
            </a:r>
            <a:r>
              <a:rPr lang="en" sz="1800">
                <a:solidFill>
                  <a:schemeClr val="dk1"/>
                </a:solidFill>
              </a:rPr>
              <a:t> by using the analytical formula above.</a:t>
            </a:r>
            <a:endParaRPr sz="1800">
              <a:solidFill>
                <a:schemeClr val="dk1"/>
              </a:solidFill>
            </a:endParaRPr>
          </a:p>
        </p:txBody>
      </p:sp>
      <p:sp>
        <p:nvSpPr>
          <p:cNvPr id="1691" name="Google Shape;1691;p101"/>
          <p:cNvSpPr txBox="1"/>
          <p:nvPr/>
        </p:nvSpPr>
        <p:spPr>
          <a:xfrm>
            <a:off x="1429175" y="0"/>
            <a:ext cx="6557100" cy="40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800" b="1">
                <a:solidFill>
                  <a:schemeClr val="dk1"/>
                </a:solidFill>
              </a:rPr>
              <a:t>From Score Matching to Flow Matching: Conditional Case </a:t>
            </a:r>
            <a:endParaRPr sz="1800" b="1">
              <a:solidFill>
                <a:schemeClr val="dk1"/>
              </a:solidFill>
            </a:endParaRPr>
          </a:p>
        </p:txBody>
      </p:sp>
      <p:sp>
        <p:nvSpPr>
          <p:cNvPr id="1692" name="Google Shape;1692;p101"/>
          <p:cNvSpPr/>
          <p:nvPr/>
        </p:nvSpPr>
        <p:spPr>
          <a:xfrm flipH="1">
            <a:off x="2364325" y="2830600"/>
            <a:ext cx="3599400" cy="328500"/>
          </a:xfrm>
          <a:prstGeom prst="curvedDown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3" name="Google Shape;1693;p101"/>
          <p:cNvSpPr txBox="1"/>
          <p:nvPr/>
        </p:nvSpPr>
        <p:spPr>
          <a:xfrm>
            <a:off x="3332068" y="2584652"/>
            <a:ext cx="1805100" cy="22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F0000"/>
                </a:solidFill>
              </a:rPr>
              <a:t>Train one, get the other for free!</a:t>
            </a:r>
            <a:endParaRPr sz="900">
              <a:solidFill>
                <a:srgbClr val="FF0000"/>
              </a:solidFill>
            </a:endParaRPr>
          </a:p>
        </p:txBody>
      </p:sp>
      <p:sp>
        <p:nvSpPr>
          <p:cNvPr id="1694" name="Google Shape;1694;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89</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698"/>
        <p:cNvGrpSpPr/>
        <p:nvPr/>
      </p:nvGrpSpPr>
      <p:grpSpPr>
        <a:xfrm>
          <a:off x="0" y="0"/>
          <a:ext cx="0" cy="0"/>
          <a:chOff x="0" y="0"/>
          <a:chExt cx="0" cy="0"/>
        </a:xfrm>
      </p:grpSpPr>
      <p:pic>
        <p:nvPicPr>
          <p:cNvPr id="1699" name="Google Shape;1699;p102"/>
          <p:cNvPicPr preferRelativeResize="0"/>
          <p:nvPr/>
        </p:nvPicPr>
        <p:blipFill>
          <a:blip r:embed="rId3">
            <a:alphaModFix/>
          </a:blip>
          <a:stretch>
            <a:fillRect/>
          </a:stretch>
        </p:blipFill>
        <p:spPr>
          <a:xfrm>
            <a:off x="1449160" y="1590902"/>
            <a:ext cx="6245676" cy="762250"/>
          </a:xfrm>
          <a:prstGeom prst="rect">
            <a:avLst/>
          </a:prstGeom>
          <a:noFill/>
          <a:ln>
            <a:noFill/>
          </a:ln>
        </p:spPr>
      </p:pic>
      <p:sp>
        <p:nvSpPr>
          <p:cNvPr id="1700" name="Google Shape;1700;p102"/>
          <p:cNvSpPr txBox="1"/>
          <p:nvPr/>
        </p:nvSpPr>
        <p:spPr>
          <a:xfrm>
            <a:off x="214675" y="895975"/>
            <a:ext cx="77301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And if we marginalize over the variable z, a similar formula holds:</a:t>
            </a:r>
            <a:endParaRPr sz="1800">
              <a:solidFill>
                <a:schemeClr val="dk1"/>
              </a:solidFill>
            </a:endParaRPr>
          </a:p>
        </p:txBody>
      </p:sp>
      <p:sp>
        <p:nvSpPr>
          <p:cNvPr id="1701" name="Google Shape;1701;p102"/>
          <p:cNvSpPr txBox="1"/>
          <p:nvPr/>
        </p:nvSpPr>
        <p:spPr>
          <a:xfrm>
            <a:off x="156900" y="2752700"/>
            <a:ext cx="8895000" cy="46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The approximate equivalent of this, using neural networks parametrized by 𝚹 will be:</a:t>
            </a:r>
            <a:endParaRPr sz="1800">
              <a:solidFill>
                <a:schemeClr val="dk1"/>
              </a:solidFill>
            </a:endParaRPr>
          </a:p>
        </p:txBody>
      </p:sp>
      <p:pic>
        <p:nvPicPr>
          <p:cNvPr id="1702" name="Google Shape;1702;p102"/>
          <p:cNvPicPr preferRelativeResize="0"/>
          <p:nvPr/>
        </p:nvPicPr>
        <p:blipFill>
          <a:blip r:embed="rId4">
            <a:alphaModFix/>
          </a:blip>
          <a:stretch>
            <a:fillRect/>
          </a:stretch>
        </p:blipFill>
        <p:spPr>
          <a:xfrm>
            <a:off x="1769875" y="3373594"/>
            <a:ext cx="5737974" cy="932425"/>
          </a:xfrm>
          <a:prstGeom prst="rect">
            <a:avLst/>
          </a:prstGeom>
          <a:noFill/>
          <a:ln>
            <a:noFill/>
          </a:ln>
        </p:spPr>
      </p:pic>
      <p:cxnSp>
        <p:nvCxnSpPr>
          <p:cNvPr id="1703" name="Google Shape;1703;p102"/>
          <p:cNvCxnSpPr/>
          <p:nvPr/>
        </p:nvCxnSpPr>
        <p:spPr>
          <a:xfrm rot="10800000">
            <a:off x="5887600" y="4099325"/>
            <a:ext cx="0" cy="206700"/>
          </a:xfrm>
          <a:prstGeom prst="straightConnector1">
            <a:avLst/>
          </a:prstGeom>
          <a:noFill/>
          <a:ln w="9525" cap="flat" cmpd="sng">
            <a:solidFill>
              <a:srgbClr val="FF0000"/>
            </a:solidFill>
            <a:prstDash val="solid"/>
            <a:round/>
            <a:headEnd type="none" w="med" len="med"/>
            <a:tailEnd type="triangle" w="med" len="med"/>
          </a:ln>
        </p:spPr>
      </p:cxnSp>
      <p:sp>
        <p:nvSpPr>
          <p:cNvPr id="1704" name="Google Shape;1704;p102"/>
          <p:cNvSpPr txBox="1"/>
          <p:nvPr/>
        </p:nvSpPr>
        <p:spPr>
          <a:xfrm>
            <a:off x="4647925" y="4239375"/>
            <a:ext cx="2696700" cy="29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FF0000"/>
                </a:solidFill>
              </a:rPr>
              <a:t>Hence, we only need to train just one neural net instead of two</a:t>
            </a:r>
            <a:endParaRPr sz="1200">
              <a:solidFill>
                <a:srgbClr val="FF0000"/>
              </a:solidFill>
            </a:endParaRPr>
          </a:p>
        </p:txBody>
      </p:sp>
      <p:sp>
        <p:nvSpPr>
          <p:cNvPr id="1705" name="Google Shape;1705;p102"/>
          <p:cNvSpPr txBox="1"/>
          <p:nvPr/>
        </p:nvSpPr>
        <p:spPr>
          <a:xfrm>
            <a:off x="1424513" y="0"/>
            <a:ext cx="6245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From Score Matching to Flow Matching: Marginal Case </a:t>
            </a:r>
            <a:endParaRPr sz="1800" b="1">
              <a:solidFill>
                <a:schemeClr val="dk1"/>
              </a:solidFill>
            </a:endParaRPr>
          </a:p>
        </p:txBody>
      </p:sp>
      <p:sp>
        <p:nvSpPr>
          <p:cNvPr id="1706" name="Google Shape;1706;p102"/>
          <p:cNvSpPr txBox="1"/>
          <p:nvPr/>
        </p:nvSpPr>
        <p:spPr>
          <a:xfrm>
            <a:off x="582325" y="4663475"/>
            <a:ext cx="8219700" cy="2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i="1" u="sng">
                <a:solidFill>
                  <a:schemeClr val="accent1"/>
                </a:solidFill>
              </a:rPr>
              <a:t>Note that we use the conditional formulas in the code, but the marginal object is what implicitly gets computed over large datasets.</a:t>
            </a:r>
            <a:endParaRPr sz="1000" b="1" i="1" u="sng">
              <a:solidFill>
                <a:schemeClr val="accent1"/>
              </a:solidFill>
            </a:endParaRPr>
          </a:p>
        </p:txBody>
      </p:sp>
      <p:sp>
        <p:nvSpPr>
          <p:cNvPr id="1707" name="Google Shape;1707;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90</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711"/>
        <p:cNvGrpSpPr/>
        <p:nvPr/>
      </p:nvGrpSpPr>
      <p:grpSpPr>
        <a:xfrm>
          <a:off x="0" y="0"/>
          <a:ext cx="0" cy="0"/>
          <a:chOff x="0" y="0"/>
          <a:chExt cx="0" cy="0"/>
        </a:xfrm>
      </p:grpSpPr>
      <p:sp>
        <p:nvSpPr>
          <p:cNvPr id="1712" name="Google Shape;1712;p103"/>
          <p:cNvSpPr txBox="1"/>
          <p:nvPr/>
        </p:nvSpPr>
        <p:spPr>
          <a:xfrm>
            <a:off x="140709" y="728675"/>
            <a:ext cx="9085200" cy="389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We use the convention that noise resides at time t=0 and data is at t=1. But in the literature you can also find the convention that data is at t=0 and noise at t=1. This is called </a:t>
            </a:r>
            <a:r>
              <a:rPr lang="en" sz="1500" b="1">
                <a:solidFill>
                  <a:schemeClr val="dk1"/>
                </a:solidFill>
              </a:rPr>
              <a:t>inverted time convention</a:t>
            </a:r>
            <a:r>
              <a:rPr lang="en" sz="1500">
                <a:solidFill>
                  <a:schemeClr val="dk1"/>
                </a:solidFill>
              </a:rPr>
              <a:t>.</a:t>
            </a:r>
            <a:endParaRPr sz="1500">
              <a:solidFill>
                <a:schemeClr val="dk1"/>
              </a:solidFill>
            </a:endParaRPr>
          </a:p>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None/>
            </a:pPr>
            <a:r>
              <a:rPr lang="en" sz="1500">
                <a:solidFill>
                  <a:schemeClr val="dk1"/>
                </a:solidFill>
              </a:rPr>
              <a:t>Historically, diffusion models were often introduced through discrete-time Markov noising and denoising chains. Here we use the </a:t>
            </a:r>
            <a:r>
              <a:rPr lang="en" sz="1500" b="1">
                <a:solidFill>
                  <a:schemeClr val="dk1"/>
                </a:solidFill>
              </a:rPr>
              <a:t>continuous-time ODE/SDE and stochastic interpolant viewpoint. </a:t>
            </a:r>
            <a:endParaRPr sz="1500" b="1">
              <a:solidFill>
                <a:schemeClr val="dk1"/>
              </a:solidFill>
            </a:endParaRPr>
          </a:p>
          <a:p>
            <a:pPr marL="0" lvl="0" indent="0" algn="l" rtl="0">
              <a:spcBef>
                <a:spcPts val="0"/>
              </a:spcBef>
              <a:spcAft>
                <a:spcPts val="0"/>
              </a:spcAft>
              <a:buNone/>
            </a:pPr>
            <a:endParaRPr sz="1500">
              <a:solidFill>
                <a:schemeClr val="dk1"/>
              </a:solidFill>
            </a:endParaRPr>
          </a:p>
          <a:p>
            <a:pPr marL="0" lvl="0" indent="0" algn="l" rtl="0">
              <a:spcBef>
                <a:spcPts val="0"/>
              </a:spcBef>
              <a:spcAft>
                <a:spcPts val="0"/>
              </a:spcAft>
              <a:buClr>
                <a:schemeClr val="dk1"/>
              </a:buClr>
              <a:buSzPts val="1100"/>
              <a:buFont typeface="Arial"/>
              <a:buNone/>
            </a:pPr>
            <a:r>
              <a:rPr lang="en" sz="1500">
                <a:solidFill>
                  <a:schemeClr val="dk1"/>
                </a:solidFill>
              </a:rPr>
              <a:t>Our framework also allows us to go from </a:t>
            </a:r>
            <a:r>
              <a:rPr lang="en" sz="1500" b="1">
                <a:solidFill>
                  <a:schemeClr val="dk1"/>
                </a:solidFill>
              </a:rPr>
              <a:t>arbitrary </a:t>
            </a:r>
            <a:r>
              <a:rPr lang="en" sz="1500" b="1" i="1">
                <a:solidFill>
                  <a:schemeClr val="dk1"/>
                </a:solidFill>
              </a:rPr>
              <a:t>p</a:t>
            </a:r>
            <a:r>
              <a:rPr lang="en" sz="1500" b="1" i="1" baseline="-25000">
                <a:solidFill>
                  <a:schemeClr val="dk1"/>
                </a:solidFill>
              </a:rPr>
              <a:t>init</a:t>
            </a:r>
            <a:r>
              <a:rPr lang="en" sz="1500" i="1">
                <a:solidFill>
                  <a:schemeClr val="dk1"/>
                </a:solidFill>
              </a:rPr>
              <a:t> to </a:t>
            </a:r>
            <a:r>
              <a:rPr lang="en" sz="1500" b="1" i="1">
                <a:solidFill>
                  <a:schemeClr val="dk1"/>
                </a:solidFill>
              </a:rPr>
              <a:t>arbitrary p</a:t>
            </a:r>
            <a:r>
              <a:rPr lang="en" sz="1500" b="1" i="1" baseline="-25000">
                <a:solidFill>
                  <a:schemeClr val="dk1"/>
                </a:solidFill>
              </a:rPr>
              <a:t>data</a:t>
            </a:r>
            <a:r>
              <a:rPr lang="en" sz="1500" b="1" i="1">
                <a:solidFill>
                  <a:schemeClr val="dk1"/>
                </a:solidFill>
              </a:rPr>
              <a:t>  </a:t>
            </a:r>
            <a:endParaRPr sz="1500" b="1" i="1">
              <a:solidFill>
                <a:schemeClr val="dk1"/>
              </a:solidFill>
            </a:endParaRPr>
          </a:p>
          <a:p>
            <a:pPr marL="0" lvl="0" indent="0" algn="l" rtl="0">
              <a:spcBef>
                <a:spcPts val="0"/>
              </a:spcBef>
              <a:spcAft>
                <a:spcPts val="0"/>
              </a:spcAft>
              <a:buClr>
                <a:schemeClr val="dk1"/>
              </a:buClr>
              <a:buSzPts val="1100"/>
              <a:buFont typeface="Arial"/>
              <a:buNone/>
            </a:pPr>
            <a:endParaRPr sz="1500" i="1">
              <a:solidFill>
                <a:schemeClr val="dk1"/>
              </a:solidFill>
            </a:endParaRPr>
          </a:p>
          <a:p>
            <a:pPr marL="0" lvl="0" indent="0" algn="l" rtl="0">
              <a:spcBef>
                <a:spcPts val="0"/>
              </a:spcBef>
              <a:spcAft>
                <a:spcPts val="0"/>
              </a:spcAft>
              <a:buClr>
                <a:schemeClr val="dk1"/>
              </a:buClr>
              <a:buSzPts val="1100"/>
              <a:buFont typeface="Arial"/>
              <a:buNone/>
            </a:pPr>
            <a:r>
              <a:rPr lang="en" sz="1500" i="1">
                <a:solidFill>
                  <a:schemeClr val="dk1"/>
                </a:solidFill>
              </a:rPr>
              <a:t>For example, we can go: </a:t>
            </a:r>
            <a:endParaRPr sz="1500" i="1">
              <a:solidFill>
                <a:schemeClr val="dk1"/>
              </a:solidFill>
            </a:endParaRPr>
          </a:p>
          <a:p>
            <a:pPr marL="0" lvl="0" indent="0" algn="l" rtl="0">
              <a:spcBef>
                <a:spcPts val="0"/>
              </a:spcBef>
              <a:spcAft>
                <a:spcPts val="0"/>
              </a:spcAft>
              <a:buClr>
                <a:schemeClr val="dk1"/>
              </a:buClr>
              <a:buSzPts val="1100"/>
              <a:buFont typeface="Arial"/>
              <a:buNone/>
            </a:pPr>
            <a:endParaRPr sz="1500" i="1">
              <a:solidFill>
                <a:schemeClr val="dk1"/>
              </a:solidFill>
            </a:endParaRPr>
          </a:p>
          <a:p>
            <a:pPr marL="457200" lvl="0" indent="-323850" algn="l" rtl="0">
              <a:spcBef>
                <a:spcPts val="0"/>
              </a:spcBef>
              <a:spcAft>
                <a:spcPts val="0"/>
              </a:spcAft>
              <a:buClr>
                <a:schemeClr val="dk1"/>
              </a:buClr>
              <a:buSzPts val="1500"/>
              <a:buChar char="➢"/>
            </a:pPr>
            <a:r>
              <a:rPr lang="en" sz="1500" i="1">
                <a:solidFill>
                  <a:schemeClr val="dk1"/>
                </a:solidFill>
              </a:rPr>
              <a:t>From video without audio to video with audio</a:t>
            </a:r>
            <a:endParaRPr sz="1500" i="1">
              <a:solidFill>
                <a:schemeClr val="dk1"/>
              </a:solidFill>
            </a:endParaRPr>
          </a:p>
          <a:p>
            <a:pPr marL="914400" lvl="0" indent="0" algn="l" rtl="0">
              <a:spcBef>
                <a:spcPts val="0"/>
              </a:spcBef>
              <a:spcAft>
                <a:spcPts val="0"/>
              </a:spcAft>
              <a:buClr>
                <a:schemeClr val="dk1"/>
              </a:buClr>
              <a:buSzPts val="1100"/>
              <a:buFont typeface="Arial"/>
              <a:buNone/>
            </a:pPr>
            <a:endParaRPr sz="1500" i="1">
              <a:solidFill>
                <a:schemeClr val="dk1"/>
              </a:solidFill>
            </a:endParaRPr>
          </a:p>
          <a:p>
            <a:pPr marL="457200" lvl="0" indent="-323850" algn="l" rtl="0">
              <a:spcBef>
                <a:spcPts val="0"/>
              </a:spcBef>
              <a:spcAft>
                <a:spcPts val="0"/>
              </a:spcAft>
              <a:buClr>
                <a:schemeClr val="dk1"/>
              </a:buClr>
              <a:buSzPts val="1500"/>
              <a:buChar char="➢"/>
            </a:pPr>
            <a:r>
              <a:rPr lang="en" sz="1500" i="1">
                <a:solidFill>
                  <a:schemeClr val="dk1"/>
                </a:solidFill>
              </a:rPr>
              <a:t>From low resolution data to high resolution version of the same data</a:t>
            </a:r>
            <a:endParaRPr sz="1500" i="1">
              <a:solidFill>
                <a:schemeClr val="dk1"/>
              </a:solidFill>
            </a:endParaRPr>
          </a:p>
          <a:p>
            <a:pPr marL="914400" lvl="0" indent="0" algn="l" rtl="0">
              <a:spcBef>
                <a:spcPts val="0"/>
              </a:spcBef>
              <a:spcAft>
                <a:spcPts val="0"/>
              </a:spcAft>
              <a:buClr>
                <a:schemeClr val="dk1"/>
              </a:buClr>
              <a:buSzPts val="1100"/>
              <a:buFont typeface="Arial"/>
              <a:buNone/>
            </a:pPr>
            <a:endParaRPr sz="1500" i="1">
              <a:solidFill>
                <a:schemeClr val="dk1"/>
              </a:solidFill>
            </a:endParaRPr>
          </a:p>
          <a:p>
            <a:pPr marL="457200" lvl="0" indent="-323850" algn="l" rtl="0">
              <a:spcBef>
                <a:spcPts val="0"/>
              </a:spcBef>
              <a:spcAft>
                <a:spcPts val="0"/>
              </a:spcAft>
              <a:buClr>
                <a:schemeClr val="dk1"/>
              </a:buClr>
              <a:buSzPts val="1500"/>
              <a:buChar char="➢"/>
            </a:pPr>
            <a:r>
              <a:rPr lang="en" sz="1500" i="1">
                <a:solidFill>
                  <a:schemeClr val="dk1"/>
                </a:solidFill>
              </a:rPr>
              <a:t>From partially occluded scenes in robotics, to fully visible scenes, i.e. unmasking</a:t>
            </a:r>
            <a:endParaRPr sz="1500" i="1">
              <a:solidFill>
                <a:schemeClr val="dk1"/>
              </a:solidFill>
            </a:endParaRPr>
          </a:p>
          <a:p>
            <a:pPr marL="0" lvl="0" indent="0" algn="l" rtl="0">
              <a:spcBef>
                <a:spcPts val="0"/>
              </a:spcBef>
              <a:spcAft>
                <a:spcPts val="0"/>
              </a:spcAft>
              <a:buClr>
                <a:schemeClr val="dk1"/>
              </a:buClr>
              <a:buSzPts val="1100"/>
              <a:buFont typeface="Arial"/>
              <a:buNone/>
            </a:pPr>
            <a:endParaRPr sz="1500" i="1">
              <a:solidFill>
                <a:schemeClr val="dk1"/>
              </a:solidFill>
            </a:endParaRPr>
          </a:p>
          <a:p>
            <a:pPr marL="0" lvl="0" indent="0" algn="l" rtl="0">
              <a:spcBef>
                <a:spcPts val="0"/>
              </a:spcBef>
              <a:spcAft>
                <a:spcPts val="0"/>
              </a:spcAft>
              <a:buNone/>
            </a:pPr>
            <a:endParaRPr sz="1500" b="1">
              <a:solidFill>
                <a:schemeClr val="dk1"/>
              </a:solidFill>
            </a:endParaRPr>
          </a:p>
        </p:txBody>
      </p:sp>
      <p:sp>
        <p:nvSpPr>
          <p:cNvPr id="1713" name="Google Shape;1713;p103"/>
          <p:cNvSpPr txBox="1"/>
          <p:nvPr/>
        </p:nvSpPr>
        <p:spPr>
          <a:xfrm>
            <a:off x="2549222" y="0"/>
            <a:ext cx="3969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Time Conventions and Extensions </a:t>
            </a:r>
            <a:endParaRPr sz="1800" b="1">
              <a:solidFill>
                <a:schemeClr val="dk1"/>
              </a:solidFill>
            </a:endParaRPr>
          </a:p>
        </p:txBody>
      </p:sp>
      <p:sp>
        <p:nvSpPr>
          <p:cNvPr id="1714" name="Google Shape;1714;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91</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1719" name="Google Shape;1719;p104"/>
          <p:cNvSpPr txBox="1"/>
          <p:nvPr/>
        </p:nvSpPr>
        <p:spPr>
          <a:xfrm>
            <a:off x="4046425" y="0"/>
            <a:ext cx="155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References</a:t>
            </a:r>
            <a:endParaRPr sz="1800" b="1">
              <a:solidFill>
                <a:schemeClr val="dk1"/>
              </a:solidFill>
            </a:endParaRPr>
          </a:p>
        </p:txBody>
      </p:sp>
      <p:sp>
        <p:nvSpPr>
          <p:cNvPr id="1720" name="Google Shape;1720;p104"/>
          <p:cNvSpPr txBox="1"/>
          <p:nvPr/>
        </p:nvSpPr>
        <p:spPr>
          <a:xfrm>
            <a:off x="361675" y="1035225"/>
            <a:ext cx="5309100" cy="18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https://diffusion.csail.mit.edu/2026/index.html</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4"/>
              </a:rPr>
              <a:t>https://diffusion.csail.mit.edu/2026/docs/lecture_notes.pdf</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u="sng">
                <a:solidFill>
                  <a:schemeClr val="hlink"/>
                </a:solidFill>
                <a:hlinkClick r:id="rId5"/>
              </a:rPr>
              <a:t>https://neurips.cc/media/neurips-2024/Slides/99531.pdf</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u="sng">
                <a:solidFill>
                  <a:schemeClr val="hlink"/>
                </a:solidFill>
                <a:hlinkClick r:id="rId6"/>
              </a:rPr>
              <a:t>https://github.com/facebookresearch/flow_matching</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u="sng">
                <a:solidFill>
                  <a:schemeClr val="hlink"/>
                </a:solidFill>
                <a:hlinkClick r:id="rId7"/>
              </a:rPr>
              <a:t>https://mariogemoll.com/flow-matching</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endParaRPr sz="1800">
              <a:solidFill>
                <a:schemeClr val="dk1"/>
              </a:solidFill>
            </a:endParaRPr>
          </a:p>
        </p:txBody>
      </p:sp>
      <p:sp>
        <p:nvSpPr>
          <p:cNvPr id="1721" name="Google Shape;1721;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725"/>
        <p:cNvGrpSpPr/>
        <p:nvPr/>
      </p:nvGrpSpPr>
      <p:grpSpPr>
        <a:xfrm>
          <a:off x="0" y="0"/>
          <a:ext cx="0" cy="0"/>
          <a:chOff x="0" y="0"/>
          <a:chExt cx="0" cy="0"/>
        </a:xfrm>
      </p:grpSpPr>
      <p:sp>
        <p:nvSpPr>
          <p:cNvPr id="1726" name="Google Shape;1726;p105"/>
          <p:cNvSpPr txBox="1"/>
          <p:nvPr/>
        </p:nvSpPr>
        <p:spPr>
          <a:xfrm>
            <a:off x="2860794" y="1644975"/>
            <a:ext cx="37269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      Chapter 4</a:t>
            </a:r>
            <a:endParaRPr sz="3300" b="1">
              <a:solidFill>
                <a:schemeClr val="dk1"/>
              </a:solidFill>
            </a:endParaRPr>
          </a:p>
          <a:p>
            <a:pPr marL="0" lvl="0" indent="0" algn="l" rtl="0">
              <a:spcBef>
                <a:spcPts val="0"/>
              </a:spcBef>
              <a:spcAft>
                <a:spcPts val="0"/>
              </a:spcAft>
              <a:buNone/>
            </a:pPr>
            <a:endParaRPr sz="3300" b="1">
              <a:solidFill>
                <a:schemeClr val="dk1"/>
              </a:solidFill>
            </a:endParaRPr>
          </a:p>
        </p:txBody>
      </p:sp>
      <p:sp>
        <p:nvSpPr>
          <p:cNvPr id="1727" name="Google Shape;1727;p105"/>
          <p:cNvSpPr txBox="1"/>
          <p:nvPr/>
        </p:nvSpPr>
        <p:spPr>
          <a:xfrm>
            <a:off x="943640" y="2272400"/>
            <a:ext cx="72981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2000" b="1">
                <a:solidFill>
                  <a:schemeClr val="dk1"/>
                </a:solidFill>
              </a:rPr>
              <a:t>Conditional Generation / </a:t>
            </a:r>
            <a:endParaRPr sz="2000" b="1">
              <a:solidFill>
                <a:schemeClr val="dk1"/>
              </a:solidFill>
            </a:endParaRPr>
          </a:p>
          <a:p>
            <a:pPr marL="0" lvl="0" indent="0" algn="ctr" rtl="0">
              <a:spcBef>
                <a:spcPts val="0"/>
              </a:spcBef>
              <a:spcAft>
                <a:spcPts val="0"/>
              </a:spcAft>
              <a:buClr>
                <a:schemeClr val="dk1"/>
              </a:buClr>
              <a:buSzPts val="1100"/>
              <a:buFont typeface="Arial"/>
              <a:buNone/>
            </a:pPr>
            <a:r>
              <a:rPr lang="en" sz="2000" b="1">
                <a:solidFill>
                  <a:schemeClr val="dk1"/>
                </a:solidFill>
              </a:rPr>
              <a:t>Image generation based on prompts</a:t>
            </a:r>
            <a:endParaRPr sz="2000" b="1">
              <a:solidFill>
                <a:schemeClr val="dk1"/>
              </a:solidFill>
            </a:endParaRPr>
          </a:p>
          <a:p>
            <a:pPr marL="0" lvl="0" indent="0" algn="ctr" rtl="0">
              <a:spcBef>
                <a:spcPts val="0"/>
              </a:spcBef>
              <a:spcAft>
                <a:spcPts val="0"/>
              </a:spcAft>
              <a:buNone/>
            </a:pPr>
            <a:endParaRPr sz="2000">
              <a:solidFill>
                <a:schemeClr val="dk1"/>
              </a:solidFill>
            </a:endParaRPr>
          </a:p>
        </p:txBody>
      </p:sp>
      <p:sp>
        <p:nvSpPr>
          <p:cNvPr id="1728" name="Google Shape;1728;p105"/>
          <p:cNvSpPr/>
          <p:nvPr/>
        </p:nvSpPr>
        <p:spPr>
          <a:xfrm>
            <a:off x="3057449" y="3498864"/>
            <a:ext cx="3220104" cy="365274"/>
          </a:xfrm>
          <a:prstGeom prst="rect">
            <a:avLst/>
          </a:prstGeom>
        </p:spPr>
        <p:txBody>
          <a:bodyPr>
            <a:prstTxWarp prst="textPlain">
              <a:avLst/>
            </a:prstTxWarp>
          </a:bodyPr>
          <a:lstStyle/>
          <a:p>
            <a:pPr lvl="0" algn="ctr"/>
            <a:r>
              <a:rPr b="0" i="1" dirty="0">
                <a:ln w="9525" cap="flat" cmpd="sng">
                  <a:solidFill>
                    <a:schemeClr val="dk2"/>
                  </a:solidFill>
                  <a:prstDash val="solid"/>
                  <a:round/>
                  <a:headEnd type="none" w="sm" len="sm"/>
                  <a:tailEnd type="none" w="sm" len="sm"/>
                </a:ln>
                <a:solidFill>
                  <a:srgbClr val="FF0000"/>
                </a:solidFill>
                <a:latin typeface="Arial"/>
              </a:rPr>
              <a:t>Coming Soon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732"/>
        <p:cNvGrpSpPr/>
        <p:nvPr/>
      </p:nvGrpSpPr>
      <p:grpSpPr>
        <a:xfrm>
          <a:off x="0" y="0"/>
          <a:ext cx="0" cy="0"/>
          <a:chOff x="0" y="0"/>
          <a:chExt cx="0" cy="0"/>
        </a:xfrm>
      </p:grpSpPr>
      <p:sp>
        <p:nvSpPr>
          <p:cNvPr id="1733" name="Google Shape;1733;p106"/>
          <p:cNvSpPr txBox="1"/>
          <p:nvPr/>
        </p:nvSpPr>
        <p:spPr>
          <a:xfrm>
            <a:off x="2306850" y="1981525"/>
            <a:ext cx="43332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Classifier Guidance</a:t>
            </a:r>
            <a:endParaRPr sz="3300" b="1">
              <a:solidFill>
                <a:schemeClr val="dk1"/>
              </a:solidFill>
            </a:endParaRPr>
          </a:p>
        </p:txBody>
      </p:sp>
      <p:sp>
        <p:nvSpPr>
          <p:cNvPr id="3" name="Google Shape;1728;p105">
            <a:extLst>
              <a:ext uri="{FF2B5EF4-FFF2-40B4-BE49-F238E27FC236}">
                <a16:creationId xmlns:a16="http://schemas.microsoft.com/office/drawing/2014/main" id="{8D88B660-79CD-5746-53F8-A177786E3D62}"/>
              </a:ext>
            </a:extLst>
          </p:cNvPr>
          <p:cNvSpPr/>
          <p:nvPr/>
        </p:nvSpPr>
        <p:spPr>
          <a:xfrm>
            <a:off x="2863398" y="2724876"/>
            <a:ext cx="3220104" cy="365274"/>
          </a:xfrm>
          <a:prstGeom prst="rect">
            <a:avLst/>
          </a:prstGeom>
        </p:spPr>
        <p:txBody>
          <a:bodyPr>
            <a:prstTxWarp prst="textPlain">
              <a:avLst/>
            </a:prstTxWarp>
          </a:bodyPr>
          <a:lstStyle/>
          <a:p>
            <a:pPr lvl="0" algn="ctr"/>
            <a:r>
              <a:rPr b="0" i="1" dirty="0">
                <a:ln w="9525" cap="flat" cmpd="sng">
                  <a:solidFill>
                    <a:schemeClr val="dk2"/>
                  </a:solidFill>
                  <a:prstDash val="solid"/>
                  <a:round/>
                  <a:headEnd type="none" w="sm" len="sm"/>
                  <a:tailEnd type="none" w="sm" len="sm"/>
                </a:ln>
                <a:solidFill>
                  <a:srgbClr val="FF0000"/>
                </a:solidFill>
                <a:latin typeface="Arial"/>
              </a:rPr>
              <a:t>Coming Soon</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738"/>
        <p:cNvGrpSpPr/>
        <p:nvPr/>
      </p:nvGrpSpPr>
      <p:grpSpPr>
        <a:xfrm>
          <a:off x="0" y="0"/>
          <a:ext cx="0" cy="0"/>
          <a:chOff x="0" y="0"/>
          <a:chExt cx="0" cy="0"/>
        </a:xfrm>
      </p:grpSpPr>
      <p:sp>
        <p:nvSpPr>
          <p:cNvPr id="1739" name="Google Shape;1739;p107"/>
          <p:cNvSpPr txBox="1"/>
          <p:nvPr/>
        </p:nvSpPr>
        <p:spPr>
          <a:xfrm>
            <a:off x="2074251" y="1968900"/>
            <a:ext cx="5133600" cy="4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chemeClr val="dk1"/>
                </a:solidFill>
              </a:rPr>
              <a:t>Classifier-Free Guidance</a:t>
            </a:r>
            <a:endParaRPr sz="3300" b="1">
              <a:solidFill>
                <a:schemeClr val="dk1"/>
              </a:solidFill>
            </a:endParaRPr>
          </a:p>
        </p:txBody>
      </p:sp>
      <p:sp>
        <p:nvSpPr>
          <p:cNvPr id="5" name="Google Shape;1728;p105">
            <a:extLst>
              <a:ext uri="{FF2B5EF4-FFF2-40B4-BE49-F238E27FC236}">
                <a16:creationId xmlns:a16="http://schemas.microsoft.com/office/drawing/2014/main" id="{F2671E03-CBB1-8399-63F7-38F6E26D98A2}"/>
              </a:ext>
            </a:extLst>
          </p:cNvPr>
          <p:cNvSpPr/>
          <p:nvPr/>
        </p:nvSpPr>
        <p:spPr>
          <a:xfrm>
            <a:off x="2863398" y="2724876"/>
            <a:ext cx="3220104" cy="365274"/>
          </a:xfrm>
          <a:prstGeom prst="rect">
            <a:avLst/>
          </a:prstGeom>
        </p:spPr>
        <p:txBody>
          <a:bodyPr>
            <a:prstTxWarp prst="textPlain">
              <a:avLst/>
            </a:prstTxWarp>
          </a:bodyPr>
          <a:lstStyle/>
          <a:p>
            <a:pPr lvl="0" algn="ctr"/>
            <a:r>
              <a:rPr b="0" i="1" dirty="0">
                <a:ln w="9525" cap="flat" cmpd="sng">
                  <a:solidFill>
                    <a:schemeClr val="dk2"/>
                  </a:solidFill>
                  <a:prstDash val="solid"/>
                  <a:round/>
                  <a:headEnd type="none" w="sm" len="sm"/>
                  <a:tailEnd type="none" w="sm" len="sm"/>
                </a:ln>
                <a:solidFill>
                  <a:srgbClr val="FF0000"/>
                </a:solidFill>
                <a:latin typeface="Arial"/>
              </a:rPr>
              <a:t>Coming Soon</a:t>
            </a:r>
          </a:p>
        </p:txBody>
      </p:sp>
    </p:spTree>
  </p:cSld>
  <p:clrMapOvr>
    <a:masterClrMapping/>
  </p:clrMapOvr>
</p:sld>
</file>

<file path=ppt/theme/theme1.xml><?xml version="1.0" encoding="utf-8"?>
<a:theme xmlns:a="http://schemas.openxmlformats.org/drawingml/2006/main" name="DC">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5549</Words>
  <Application>Microsoft Office PowerPoint</Application>
  <PresentationFormat>On-screen Show (16:9)</PresentationFormat>
  <Paragraphs>614</Paragraphs>
  <Slides>95</Slides>
  <Notes>95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95</vt:i4>
      </vt:variant>
    </vt:vector>
  </HeadingPairs>
  <TitlesOfParts>
    <vt:vector size="97" baseType="lpstr">
      <vt:lpstr>Arial</vt:lpstr>
      <vt:lpstr>DC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Caus, Danu</cp:lastModifiedBy>
  <cp:revision>1</cp:revision>
  <dcterms:modified xsi:type="dcterms:W3CDTF">2026-10-03T09:43:37Z</dcterms:modified>
</cp:coreProperties>
</file>