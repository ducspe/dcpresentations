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7ADA2-8298-404E-A781-78E3D48869F4}" v="4" dt="2026-10-06T13:26:20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44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us, Danu" userId="76bbb7e8-a05c-4774-86b8-3bcd1c5d58b7" providerId="ADAL" clId="{25141FD5-A6FE-43F2-8E7E-7262B0A5DBE9}"/>
    <pc:docChg chg="modSld">
      <pc:chgData name="Caus, Danu" userId="76bbb7e8-a05c-4774-86b8-3bcd1c5d58b7" providerId="ADAL" clId="{25141FD5-A6FE-43F2-8E7E-7262B0A5DBE9}" dt="2026-10-06T13:32:39.429" v="36" actId="1035"/>
      <pc:docMkLst>
        <pc:docMk/>
      </pc:docMkLst>
      <pc:sldChg chg="modSp mod">
        <pc:chgData name="Caus, Danu" userId="76bbb7e8-a05c-4774-86b8-3bcd1c5d58b7" providerId="ADAL" clId="{25141FD5-A6FE-43F2-8E7E-7262B0A5DBE9}" dt="2026-10-06T13:32:39.429" v="36" actId="1035"/>
        <pc:sldMkLst>
          <pc:docMk/>
          <pc:sldMk cId="0" sldId="256"/>
        </pc:sldMkLst>
        <pc:spChg chg="mod">
          <ac:chgData name="Caus, Danu" userId="76bbb7e8-a05c-4774-86b8-3bcd1c5d58b7" providerId="ADAL" clId="{25141FD5-A6FE-43F2-8E7E-7262B0A5DBE9}" dt="2026-10-06T13:32:39.429" v="36" actId="1035"/>
          <ac:spMkLst>
            <pc:docMk/>
            <pc:sldMk cId="0" sldId="256"/>
            <ac:spMk id="54" creationId="{00000000-0000-0000-0000-000000000000}"/>
          </ac:spMkLst>
        </pc:spChg>
      </pc:sldChg>
      <pc:sldChg chg="modSp mod">
        <pc:chgData name="Caus, Danu" userId="76bbb7e8-a05c-4774-86b8-3bcd1c5d58b7" providerId="ADAL" clId="{25141FD5-A6FE-43F2-8E7E-7262B0A5DBE9}" dt="2026-10-04T09:35:49.980" v="10" actId="1037"/>
        <pc:sldMkLst>
          <pc:docMk/>
          <pc:sldMk cId="0" sldId="280"/>
        </pc:sldMkLst>
        <pc:spChg chg="mod">
          <ac:chgData name="Caus, Danu" userId="76bbb7e8-a05c-4774-86b8-3bcd1c5d58b7" providerId="ADAL" clId="{25141FD5-A6FE-43F2-8E7E-7262B0A5DBE9}" dt="2026-10-04T09:35:49.980" v="10" actId="1037"/>
          <ac:spMkLst>
            <pc:docMk/>
            <pc:sldMk cId="0" sldId="280"/>
            <ac:spMk id="255" creationId="{00000000-0000-0000-0000-000000000000}"/>
          </ac:spMkLst>
        </pc:spChg>
      </pc:sldChg>
      <pc:sldChg chg="modSp mod">
        <pc:chgData name="Caus, Danu" userId="76bbb7e8-a05c-4774-86b8-3bcd1c5d58b7" providerId="ADAL" clId="{25141FD5-A6FE-43F2-8E7E-7262B0A5DBE9}" dt="2026-10-06T13:26:23.062" v="28" actId="20577"/>
        <pc:sldMkLst>
          <pc:docMk/>
          <pc:sldMk cId="0" sldId="297"/>
        </pc:sldMkLst>
        <pc:spChg chg="mod">
          <ac:chgData name="Caus, Danu" userId="76bbb7e8-a05c-4774-86b8-3bcd1c5d58b7" providerId="ADAL" clId="{25141FD5-A6FE-43F2-8E7E-7262B0A5DBE9}" dt="2026-10-06T13:26:09.608" v="25" actId="20577"/>
          <ac:spMkLst>
            <pc:docMk/>
            <pc:sldMk cId="0" sldId="297"/>
            <ac:spMk id="415" creationId="{00000000-0000-0000-0000-000000000000}"/>
          </ac:spMkLst>
        </pc:spChg>
        <pc:spChg chg="mod">
          <ac:chgData name="Caus, Danu" userId="76bbb7e8-a05c-4774-86b8-3bcd1c5d58b7" providerId="ADAL" clId="{25141FD5-A6FE-43F2-8E7E-7262B0A5DBE9}" dt="2026-10-06T13:26:23.062" v="28" actId="20577"/>
          <ac:spMkLst>
            <pc:docMk/>
            <pc:sldMk cId="0" sldId="297"/>
            <ac:spMk id="416" creationId="{00000000-0000-0000-0000-000000000000}"/>
          </ac:spMkLst>
        </pc:spChg>
      </pc:sldChg>
      <pc:sldChg chg="modSp mod">
        <pc:chgData name="Caus, Danu" userId="76bbb7e8-a05c-4774-86b8-3bcd1c5d58b7" providerId="ADAL" clId="{25141FD5-A6FE-43F2-8E7E-7262B0A5DBE9}" dt="2026-10-04T09:36:59.391" v="16" actId="1037"/>
        <pc:sldMkLst>
          <pc:docMk/>
          <pc:sldMk cId="0" sldId="298"/>
        </pc:sldMkLst>
        <pc:picChg chg="mod">
          <ac:chgData name="Caus, Danu" userId="76bbb7e8-a05c-4774-86b8-3bcd1c5d58b7" providerId="ADAL" clId="{25141FD5-A6FE-43F2-8E7E-7262B0A5DBE9}" dt="2026-10-04T09:36:59.391" v="16" actId="1037"/>
          <ac:picMkLst>
            <pc:docMk/>
            <pc:sldMk cId="0" sldId="298"/>
            <ac:picMk id="423" creationId="{00000000-0000-0000-0000-000000000000}"/>
          </ac:picMkLst>
        </pc:picChg>
      </pc:sldChg>
      <pc:sldChg chg="modSp mod">
        <pc:chgData name="Caus, Danu" userId="76bbb7e8-a05c-4774-86b8-3bcd1c5d58b7" providerId="ADAL" clId="{25141FD5-A6FE-43F2-8E7E-7262B0A5DBE9}" dt="2026-10-03T09:19:13.974" v="0" actId="1076"/>
        <pc:sldMkLst>
          <pc:docMk/>
          <pc:sldMk cId="0" sldId="299"/>
        </pc:sldMkLst>
        <pc:spChg chg="mod">
          <ac:chgData name="Caus, Danu" userId="76bbb7e8-a05c-4774-86b8-3bcd1c5d58b7" providerId="ADAL" clId="{25141FD5-A6FE-43F2-8E7E-7262B0A5DBE9}" dt="2026-10-03T09:19:13.974" v="0" actId="1076"/>
          <ac:spMkLst>
            <pc:docMk/>
            <pc:sldMk cId="0" sldId="299"/>
            <ac:spMk id="43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live/HnT1VWzdFWc?si=UFpn88-tfqoCicw2&amp;t=4472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mind.google/blog/alphafold-a-solution-to-a-50-year-old-grand-challenge-in-biology/?utm_source=chatgpt.com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86-021-03819-2/figures/1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yqeUH4RsJp8?si=HdVgS42s6IYCoQTT&amp;t=2353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yqeUH4RsJp8?si=xP8f2NNcNfyTD_ks&amp;t=2555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live/HnT1VWzdFWc?si=6ahkv6q_wM41T39C&amp;t=5053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Xli-4UMtF7sbY0pi&amp;t=128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VLqUBel55hr8XzY_&amp;t=218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olQKoYOxeHCqKBMf&amp;t=787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xAEug8cseT6R5I5c&amp;t=808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9Xk8Tmp3fUQxSL9q&amp;t=881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eEOiopaMBRxOJAQj&amp;t=953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R9sgcWlrdJpCW31N&amp;t=1015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ridfpMhFRH4SjKOY&amp;t=1781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x9p6lARiM5aXfeRX&amp;t=1384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8RzAPoHFJldEq26I&amp;t=1908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NPHXZPgqI2k11Ifq&amp;t=2035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vcvWHcc_sJC4611G&amp;t=2145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7OSJZVgex2B__EXi&amp;t=2155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6s_PlQVIk17iW9YH&amp;t=2366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pTw3hBN7KFLDscy1&amp;t=2505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C3Y1HCO4zGry1Jh1&amp;t=2590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-nPHDMZG79afFDwT&amp;t=2687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V-9oFSwiI8MEuwhg&amp;t=2917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4J-jJRzt1vhNGJHo&amp;t=3019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6Hl2hwAyvsqZHTBr&amp;t=3248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T6uOQ5jmTC9yELUv&amp;t=3347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mtCleM1-lpNZj3i5&amp;t=3973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s5f1HJScCh5tmfmZ&amp;t=3583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cYcmsexiO7WHTPWS&amp;t=4407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EhvG9TWsNUM108LL&amp;t=3759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dpUrNWuKP5LLEBku&amp;t=4067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youtu.be/ri39B0Voujc?si=-ojbHUBxR6nZQbsy&amp;t=4078" TargetMode="Externa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Ikn5DGEJJw?si=TuXlaEg6B7JxKZpN&amp;t=3835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1wTzqMyvCkI-1NUd&amp;t=4257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8k2zZTEYN1Xo9_aQ&amp;t=4342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b9egWGtPdqRCNS1i&amp;t=4465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nature.com/articles/s41586-021-03819-2/figures/4" TargetMode="Externa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9B0Voujc?si=YUaeSDyL42QkvOok&amp;t=4627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nature.com/articles/s41586-021-03819-2/figures/4" TargetMode="Externa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Ikn5DGEJJw?si=QW09cm7wqplvUwNA&amp;t=2441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ithub.com/aqlaboratory/openfold" TargetMode="Externa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Ikn5DGEJJw?si=AjnPvVzpm9kVguyZ&amp;t=3414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Ikn5DGEJJw?si=1GlLz3qdDAISEbUh&amp;t=3737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Ikn5DGEJJw?si=iC8fAEu0mosTauXT&amp;t=4374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Ikn5DGEJJw?si=5zw91nD9Ku4abAi1&amp;t=4611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937c1e1e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c937c1e1e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c937c1e1e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c937c1e1e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https://www.semanticscholar.org/paper/Protein-Assembly-and-Building-Blocks%3A-Beyond-the-of-Levy/86a997321430edf8815f35d5e7254c1b9e7a1dd2/figure/3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c937c1e1e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c937c1e1e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https://www.youtube.com/live/HnT1VWzdFWc?si=UFpn88-tfqoCicw2&amp;t=4472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c937c1e1e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c937c1e1e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https://deepmind.google/blog/alphafold-a-solution-to-a-50-year-old-grand-challenge-in-biology/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ed44578a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6ed44578a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6ed44578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6ed44578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https://www.nature.com/articles/s41586-021-03819-2/figures/1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ed4457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ed44578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https://youtu.be/yqeUH4RsJp8?si=HdVgS42s6IYCoQTT&amp;t=2353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6ed44578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6ed44578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https://youtu.be/yqeUH4RsJp8?si=xP8f2NNcNfyTD_ks&amp;t=2555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c937c1e1e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c937c1e1e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https://www.youtube.com/live/HnT1VWzdFWc?si=6ahkv6q_wM41T39C&amp;t=5053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6ed44578a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6ed44578a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https://youtu.be/ri39B0Voujc?si=Xli-4UMtF7sbY0pi&amp;t=128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6ed44578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6ed44578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https://youtu.be/ri39B0Voujc?si=VLqUBel55hr8XzY_&amp;t=218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6ed44578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6ed44578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https://youtu.be/ri39B0Voujc?si=olQKoYOxeHCqKBMf&amp;t=787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6ed4457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6ed4457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https://youtu.be/ri39B0Voujc?si=xAEug8cseT6R5I5c&amp;t=808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c937c1e1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c937c1e1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https://youtu.be/ri39B0Voujc?si=9Xk8Tmp3fUQxSL9q&amp;t=881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c937c1e1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c937c1e1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https://youtu.be/ri39B0Voujc?si=eEOiopaMBRxOJAQj&amp;t=953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c937c1e1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c937c1e1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https://youtu.be/ri39B0Voujc?si=R9sgcWlrdJpCW31N&amp;t=1015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6ed44578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6ed44578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https://youtu.be/ri39B0Voujc?si=THD4_Am7zqoQ8PbC&amp;t=1066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c937c1e1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c937c1e1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Standard transformers are not the right inductive bias for reasoning over graphs →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/>
              <a:t>https://youtu.be/ri39B0Voujc?si=HqV11TlXbUqS-CU7&amp;t=1226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6ed44578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6ed44578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https://youtu.be/ri39B0Voujc?si=yvpb-gDzFNT7cbUn&amp;t=1352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c937c1e1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c937c1e1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https://youtu.be/ri39B0Voujc?si=ridfpMhFRH4SjKOY&amp;t=1781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c937c1e1e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c937c1e1e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https://youtu.be/ri39B0Voujc?si=x9p6lARiM5aXfeRX&amp;t=1384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c937c1e1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cc937c1e1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https://youtu.be/ri39B0Voujc?si=8RzAPoHFJldEq26I&amp;t=1908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c937c1e1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c937c1e1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https://youtu.be/ri39B0Voujc?si=NPHXZPgqI2k11Ifq&amp;t=2035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c937c1e1e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c937c1e1e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https://youtu.be/ri39B0Voujc?si=vcvWHcc_sJC4611G&amp;t=2145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c937c1e1e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c937c1e1e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https://youtu.be/ri39B0Voujc?si=7OSJZVgex2B__EXi&amp;t=2155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c937c1e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cc937c1e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https://youtu.be/ri39B0Voujc?si=6s_PlQVIk17iW9YH&amp;t=2366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c937c1e1e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c937c1e1e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https://youtu.be/ri39B0Voujc?si=pTw3hBN7KFLDscy1&amp;t=2505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c937c1e1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c937c1e1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https://youtu.be/ri39B0Voujc?si=C3Y1HCO4zGry1Jh1&amp;t=2590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c937c1e1e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c937c1e1e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https://youtu.be/ri39B0Voujc?si=-nPHDMZG79afFDwT&amp;t=2687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c937c1e1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c937c1e1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https://youtu.be/ri39B0Voujc?si=V-9oFSwiI8MEuwhg&amp;t=2917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c937c1e1e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cc937c1e1e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https://youtu.be/ri39B0Voujc?si=4J-jJRzt1vhNGJHo&amp;t=3019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c937c1e1e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c937c1e1e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https://youtu.be/ri39B0Voujc?si=6Hl2hwAyvsqZHTBr&amp;t=3248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c937c1e1e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cc937c1e1e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https://youtu.be/ri39B0Voujc?si=T6uOQ5jmTC9yELUv&amp;t=3347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c937c1e1e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c937c1e1e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https://youtu.be/ri39B0Voujc?si=mtCleM1-lpNZj3i5&amp;t=3973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c937c1e1e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c937c1e1e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https://youtu.be/ri39B0Voujc?si=s5f1HJScCh5tmfmZ&amp;t=3583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c937c1e1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c937c1e1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https://youtu.be/ri39B0Voujc?si=cYcmsexiO7WHTPWS&amp;t=4407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loop works like this within each </a:t>
            </a:r>
            <a:r>
              <a:rPr lang="en" b="1">
                <a:solidFill>
                  <a:schemeClr val="dk1"/>
                </a:solidFill>
              </a:rPr>
              <a:t>Evoformer </a:t>
            </a:r>
            <a:r>
              <a:rPr lang="en">
                <a:solidFill>
                  <a:schemeClr val="dk1"/>
                </a:solidFill>
              </a:rPr>
              <a:t>block: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MSA representation is updated by row attention (biased by the pair representation)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MSA representation is updated by column attention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pair representation receives an update from the MSA via outer product mean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pair representation is refined by triangle updates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updated pair representation will bias the row attention in the </a:t>
            </a:r>
            <a:r>
              <a:rPr lang="en" i="1">
                <a:solidFill>
                  <a:schemeClr val="dk1"/>
                </a:solidFill>
              </a:rPr>
              <a:t>next</a:t>
            </a:r>
            <a:r>
              <a:rPr lang="en">
                <a:solidFill>
                  <a:schemeClr val="dk1"/>
                </a:solidFill>
              </a:rPr>
              <a:t> block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c937c1e1e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c937c1e1e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https://youtu.be/ri39B0Voujc?si=EhvG9TWsNUM108LL&amp;t=3759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c937c1e1e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cc937c1e1e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L</a:t>
            </a:r>
            <a:r>
              <a:rPr lang="en" dirty="0">
                <a:solidFill>
                  <a:schemeClr val="dk1"/>
                </a:solidFill>
              </a:rPr>
              <a:t> is the </a:t>
            </a:r>
            <a:r>
              <a:rPr lang="en" b="1" dirty="0">
                <a:solidFill>
                  <a:schemeClr val="dk1"/>
                </a:solidFill>
              </a:rPr>
              <a:t>protein length</a:t>
            </a:r>
            <a:r>
              <a:rPr lang="en" dirty="0">
                <a:solidFill>
                  <a:schemeClr val="dk1"/>
                </a:solidFill>
              </a:rPr>
              <a:t> (number of residues), and it is used to </a:t>
            </a:r>
            <a:r>
              <a:rPr lang="en" b="1" dirty="0">
                <a:solidFill>
                  <a:schemeClr val="dk1"/>
                </a:solidFill>
              </a:rPr>
              <a:t>normalize the sum</a:t>
            </a:r>
            <a:r>
              <a:rPr lang="en" dirty="0">
                <a:solidFill>
                  <a:schemeClr val="dk1"/>
                </a:solidFill>
              </a:rPr>
              <a:t> so that the metric does not depend on how large the protein is. We average the error across the whole protein.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Here L denotes the protein length and is used to normalize the metric so that the error becomes comparable across proteins of different sizes.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https://youtu.be/ri39B0Voujc?si=dpUrNWuKP5LLEBku&amp;t=4067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https://youtu.be/ri39B0Voujc?si=-ojbHUBxR6nZQbsy&amp;t=4078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6ed44578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c6ed44578a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https://youtu.be/kIkn5DGEJJw?si=TuXlaEg6B7JxKZpN&amp;t=3835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6ed44578a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c6ed44578a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https://youtu.be/ri39B0Voujc?si=1wTzqMyvCkI-1NUd&amp;t=4257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6ed44578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c6ed44578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https://youtu.be/ri39B0Voujc?si=8k2zZTEYN1Xo9_aQ&amp;t=4342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c937c1e1e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cc937c1e1e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https://youtu.be/ri39B0Voujc?si=b9egWGtPdqRCNS1i&amp;t=4465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https://www.nature.com/articles/s41586-021-03819-2/figures/4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cc937c1e1e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cc937c1e1e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https://youtu.be/ri39B0Voujc?si=YUaeSDyL42QkvOok&amp;t=4627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https://www.nature.com/articles/s41586-021-03819-2/figures/4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c937c1e1e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cc937c1e1e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6ed44578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6ed44578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https://youtu.be/kIkn5DGEJJw?si=QW09cm7wqplvUwNA&amp;t=2441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https://github.com/aqlaboratory/openfold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2604ae9c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2604ae9c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https://deepwiki.com/aqlaboratory/openfold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c6ed44578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c6ed44578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https://youtu.be/kIkn5DGEJJw?si=AjnPvVzpm9kVguyZ&amp;t=3414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6ed44578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c6ed44578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https://youtu.be/kIkn5DGEJJw?si=1GlLz3qdDAISEbUh&amp;t=3737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6ed44578a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c6ed44578a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https://youtu.be/kIkn5DGEJJw?si=iC8fAEu0mosTauXT&amp;t=4374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6ed44578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c6ed44578a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https://youtu.be/kIkn5DGEJJw?si=5zw91nD9Ku4abAi1&amp;t=4611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c937c1e1e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cc937c1e1e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2a2380a6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2a2380a6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c937c1e1e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cc937c1e1e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2-024-02272-z" TargetMode="External"/><Relationship Id="rId13" Type="http://schemas.openxmlformats.org/officeDocument/2006/relationships/hyperlink" Target="https://arxiv.org/abs/1811.11721" TargetMode="External"/><Relationship Id="rId3" Type="http://schemas.openxmlformats.org/officeDocument/2006/relationships/hyperlink" Target="https://nazimbouatta.scholars.harvard.edu/lectures" TargetMode="External"/><Relationship Id="rId7" Type="http://schemas.openxmlformats.org/officeDocument/2006/relationships/hyperlink" Target="https://github.com/aqlaboratory/openfold" TargetMode="External"/><Relationship Id="rId12" Type="http://schemas.openxmlformats.org/officeDocument/2006/relationships/hyperlink" Target="https://arxiv.org/abs/2106.05234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epmind.google/blog/alphafold-a-solution-to-a-50-year-old-grand-challenge-in-biology/" TargetMode="External"/><Relationship Id="rId11" Type="http://schemas.openxmlformats.org/officeDocument/2006/relationships/hyperlink" Target="https://arxiv.org/abs/2102.09844" TargetMode="External"/><Relationship Id="rId5" Type="http://schemas.openxmlformats.org/officeDocument/2006/relationships/hyperlink" Target="https://www.youtube.com/live/HnT1VWzdFWc" TargetMode="External"/><Relationship Id="rId10" Type="http://schemas.openxmlformats.org/officeDocument/2006/relationships/hyperlink" Target="https://www.biorxiv.org/content/10.1101/2021.02.12.430858v1.full" TargetMode="External"/><Relationship Id="rId4" Type="http://schemas.openxmlformats.org/officeDocument/2006/relationships/hyperlink" Target="https://www.nature.com/articles/s41586-021-03819-2" TargetMode="External"/><Relationship Id="rId9" Type="http://schemas.openxmlformats.org/officeDocument/2006/relationships/hyperlink" Target="https://deepwiki.com/aqlaboratory/openfold" TargetMode="External"/><Relationship Id="rId14" Type="http://schemas.openxmlformats.org/officeDocument/2006/relationships/hyperlink" Target="https://www.semanticscholar.org/paper/Protein-Assembly-and-Building-Blocks%3A-Beyond-the-of-Levy/86a997321430edf8815f35d5e7254c1b9e7a1dd2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16450" y="1798616"/>
            <a:ext cx="60258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solidFill>
                  <a:schemeClr val="dk1"/>
                </a:solidFill>
              </a:rPr>
              <a:t>               AlphaFold 2:</a:t>
            </a:r>
            <a:endParaRPr sz="33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chemeClr val="dk1"/>
                </a:solidFill>
              </a:rPr>
              <a:t>How domain-science-informed neural architectures </a:t>
            </a:r>
            <a:endParaRPr sz="1500" i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chemeClr val="dk1"/>
                </a:solidFill>
              </a:rPr>
              <a:t>can matter more than big data, through the lens of protein folding</a:t>
            </a:r>
            <a:endParaRPr sz="1500" i="1" dirty="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752000" y="4682400"/>
            <a:ext cx="1392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Danu Caus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4682400"/>
            <a:ext cx="16611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June 2026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317725" y="2043100"/>
            <a:ext cx="2671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chemeClr val="dk1"/>
                </a:solidFill>
              </a:rPr>
              <a:t>Introduction</a:t>
            </a:r>
            <a:endParaRPr sz="3300" b="1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290350" y="0"/>
            <a:ext cx="4563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Proteins Are Bio-LEGO-Like Structures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288" y="851600"/>
            <a:ext cx="5010726" cy="34403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25175" y="4590950"/>
            <a:ext cx="881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“Protein Assembly and Building Blocks: Beyond the Limits of the </a:t>
            </a:r>
            <a:r>
              <a:rPr lang="en" b="1"/>
              <a:t>LEGO </a:t>
            </a:r>
            <a:r>
              <a:rPr lang="en"/>
              <a:t>Brick </a:t>
            </a:r>
            <a:r>
              <a:rPr lang="en" b="1"/>
              <a:t>Metaphor</a:t>
            </a:r>
            <a:r>
              <a:rPr lang="en"/>
              <a:t>.”  by  Y. Levy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832650" y="4473825"/>
            <a:ext cx="7864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AlphaFold 1 was more like a </a:t>
            </a:r>
            <a:r>
              <a:rPr lang="en" sz="1800" b="1">
                <a:solidFill>
                  <a:schemeClr val="dk1"/>
                </a:solidFill>
              </a:rPr>
              <a:t>vision network</a:t>
            </a:r>
            <a:r>
              <a:rPr lang="en" sz="1800">
                <a:solidFill>
                  <a:schemeClr val="dk1"/>
                </a:solidFill>
              </a:rPr>
              <a:t> applied to distogram maps.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38" y="758037"/>
            <a:ext cx="7555924" cy="36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611200" y="0"/>
            <a:ext cx="267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AlphaFold 1 (2018)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2411425" y="0"/>
            <a:ext cx="4832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AlphaFold 1 vs AlphaFold 2 Performance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888" y="698925"/>
            <a:ext cx="5645124" cy="363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175350" y="4333275"/>
            <a:ext cx="892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CASP</a:t>
            </a:r>
            <a:r>
              <a:rPr lang="en">
                <a:solidFill>
                  <a:schemeClr val="dk1"/>
                </a:solidFill>
              </a:rPr>
              <a:t> is a </a:t>
            </a:r>
            <a:r>
              <a:rPr lang="en" b="1">
                <a:solidFill>
                  <a:schemeClr val="dk1"/>
                </a:solidFill>
              </a:rPr>
              <a:t>biennial international competition</a:t>
            </a:r>
            <a:r>
              <a:rPr lang="en">
                <a:solidFill>
                  <a:schemeClr val="dk1"/>
                </a:solidFill>
              </a:rPr>
              <a:t> that evaluates how well computational methods can </a:t>
            </a:r>
            <a:r>
              <a:rPr lang="en" b="1">
                <a:solidFill>
                  <a:schemeClr val="dk1"/>
                </a:solidFill>
              </a:rPr>
              <a:t>predict the 3D structure of proteins</a:t>
            </a:r>
            <a:r>
              <a:rPr lang="en">
                <a:solidFill>
                  <a:schemeClr val="dk1"/>
                </a:solidFill>
              </a:rPr>
              <a:t> from their amino-acid sequence.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3264150" y="2146425"/>
            <a:ext cx="2615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chemeClr val="dk1"/>
                </a:solidFill>
              </a:rPr>
              <a:t>AlphaFold 2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3575"/>
            <a:ext cx="8839196" cy="300979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3627725" y="0"/>
            <a:ext cx="22656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AlphaFold 2 (2020)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1723600" y="4372950"/>
            <a:ext cx="5799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“Highly accurate protein structure prediction with AlphaFold”, by John Jumper et al.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/>
        </p:nvSpPr>
        <p:spPr>
          <a:xfrm>
            <a:off x="2939634" y="0"/>
            <a:ext cx="33948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Sequence-Structure Mapping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00" y="848652"/>
            <a:ext cx="6702950" cy="265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382550" y="3686050"/>
            <a:ext cx="77685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Many different amino-acid sequences can converge to a similar 3D fold, so </a:t>
            </a:r>
            <a:r>
              <a:rPr lang="en" b="1">
                <a:solidFill>
                  <a:schemeClr val="dk1"/>
                </a:solidFill>
              </a:rPr>
              <a:t>sequence space is much larger</a:t>
            </a:r>
            <a:r>
              <a:rPr lang="en">
                <a:solidFill>
                  <a:schemeClr val="dk1"/>
                </a:solidFill>
              </a:rPr>
              <a:t> than </a:t>
            </a:r>
            <a:r>
              <a:rPr lang="en" b="1">
                <a:solidFill>
                  <a:schemeClr val="dk1"/>
                </a:solidFill>
              </a:rPr>
              <a:t>structure space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This </a:t>
            </a:r>
            <a:r>
              <a:rPr lang="en" b="1">
                <a:solidFill>
                  <a:schemeClr val="dk1"/>
                </a:solidFill>
              </a:rPr>
              <a:t>many-to-one mapping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 b="1">
                <a:solidFill>
                  <a:schemeClr val="dk1"/>
                </a:solidFill>
              </a:rPr>
              <a:t>can </a:t>
            </a:r>
            <a:r>
              <a:rPr lang="en">
                <a:solidFill>
                  <a:schemeClr val="dk1"/>
                </a:solidFill>
              </a:rPr>
              <a:t>actually </a:t>
            </a:r>
            <a:r>
              <a:rPr lang="en" b="1">
                <a:solidFill>
                  <a:schemeClr val="dk1"/>
                </a:solidFill>
              </a:rPr>
              <a:t>aid generalization</a:t>
            </a:r>
            <a:r>
              <a:rPr lang="en">
                <a:solidFill>
                  <a:schemeClr val="dk1"/>
                </a:solidFill>
              </a:rPr>
              <a:t>: diverse sequences may share the same overall fold, although predicting fine structural details remains challenging.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2467100" y="0"/>
            <a:ext cx="44361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Multiple Sequence Alignments (MSA)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32" y="890525"/>
            <a:ext cx="6814249" cy="31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16" name="Google Shape;116;p21"/>
          <p:cNvSpPr/>
          <p:nvPr/>
        </p:nvSpPr>
        <p:spPr>
          <a:xfrm>
            <a:off x="1719807" y="4147125"/>
            <a:ext cx="5605500" cy="26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7483820" y="1060650"/>
            <a:ext cx="238500" cy="3022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7621957" y="1976850"/>
            <a:ext cx="1144800" cy="1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Information across species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3262057" y="4298175"/>
            <a:ext cx="291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Information within sequence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3007725" y="0"/>
            <a:ext cx="284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Using Evolutionary Data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00" y="626125"/>
            <a:ext cx="3558425" cy="376745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/>
        </p:nvSpPr>
        <p:spPr>
          <a:xfrm>
            <a:off x="3615275" y="1071763"/>
            <a:ext cx="5370600" cy="28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BERT-style models on MSAs learned to </a:t>
            </a:r>
            <a:r>
              <a:rPr lang="en" sz="1800" b="1">
                <a:solidFill>
                  <a:schemeClr val="dk1"/>
                </a:solidFill>
              </a:rPr>
              <a:t>recover masked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 b="1">
                <a:solidFill>
                  <a:schemeClr val="dk1"/>
                </a:solidFill>
              </a:rPr>
              <a:t>evolutionary information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 b="1">
                <a:solidFill>
                  <a:schemeClr val="dk1"/>
                </a:solidFill>
              </a:rPr>
              <a:t>Axial attention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 b="1">
                <a:solidFill>
                  <a:schemeClr val="dk1"/>
                </a:solidFill>
              </a:rPr>
              <a:t>alternates between</a:t>
            </a:r>
            <a:r>
              <a:rPr lang="en" sz="1800">
                <a:solidFill>
                  <a:schemeClr val="dk1"/>
                </a:solidFill>
              </a:rPr>
              <a:t> processing </a:t>
            </a:r>
            <a:r>
              <a:rPr lang="en" sz="1800" b="1">
                <a:solidFill>
                  <a:schemeClr val="dk1"/>
                </a:solidFill>
              </a:rPr>
              <a:t>within </a:t>
            </a:r>
            <a:r>
              <a:rPr lang="en" sz="1800">
                <a:solidFill>
                  <a:schemeClr val="dk1"/>
                </a:solidFill>
              </a:rPr>
              <a:t>sequences </a:t>
            </a:r>
            <a:r>
              <a:rPr lang="en" sz="1800" b="1">
                <a:solidFill>
                  <a:schemeClr val="dk1"/>
                </a:solidFill>
              </a:rPr>
              <a:t>and across sequences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This architectural choice </a:t>
            </a:r>
            <a:r>
              <a:rPr lang="en" sz="1800" b="1">
                <a:solidFill>
                  <a:schemeClr val="dk1"/>
                </a:solidFill>
              </a:rPr>
              <a:t>aligned </a:t>
            </a:r>
            <a:r>
              <a:rPr lang="en" sz="1800">
                <a:solidFill>
                  <a:schemeClr val="dk1"/>
                </a:solidFill>
              </a:rPr>
              <a:t>the </a:t>
            </a:r>
            <a:r>
              <a:rPr lang="en" sz="1800" b="1">
                <a:solidFill>
                  <a:schemeClr val="dk1"/>
                </a:solidFill>
              </a:rPr>
              <a:t>network operations with </a:t>
            </a:r>
            <a:r>
              <a:rPr lang="en" sz="1800">
                <a:solidFill>
                  <a:schemeClr val="dk1"/>
                </a:solidFill>
              </a:rPr>
              <a:t>the </a:t>
            </a:r>
            <a:r>
              <a:rPr lang="en" sz="1800" b="1">
                <a:solidFill>
                  <a:schemeClr val="dk1"/>
                </a:solidFill>
              </a:rPr>
              <a:t>biological structure </a:t>
            </a:r>
            <a:r>
              <a:rPr lang="en" sz="1800">
                <a:solidFill>
                  <a:schemeClr val="dk1"/>
                </a:solidFill>
              </a:rPr>
              <a:t>of the problem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/>
        </p:nvSpPr>
        <p:spPr>
          <a:xfrm>
            <a:off x="1648250" y="0"/>
            <a:ext cx="593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AlphaFold 2 Links 1D, 2D, and 3D Representations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8100"/>
            <a:ext cx="7640289" cy="4473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7961725" y="1110325"/>
            <a:ext cx="10956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3D Structure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7961725" y="2659200"/>
            <a:ext cx="10593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2D</a:t>
            </a:r>
            <a:r>
              <a:rPr lang="en" sz="1100" b="1">
                <a:solidFill>
                  <a:schemeClr val="dk2"/>
                </a:solidFill>
              </a:rPr>
              <a:t> </a:t>
            </a:r>
            <a:r>
              <a:rPr lang="en" sz="1100" b="1">
                <a:solidFill>
                  <a:schemeClr val="dk1"/>
                </a:solidFill>
              </a:rPr>
              <a:t>Structure</a:t>
            </a:r>
            <a:endParaRPr sz="1100" b="1">
              <a:solidFill>
                <a:schemeClr val="dk2"/>
              </a:solidFill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7941775" y="3988150"/>
            <a:ext cx="11355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1D Structure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37" name="Google Shape;13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/>
        </p:nvSpPr>
        <p:spPr>
          <a:xfrm>
            <a:off x="0" y="988075"/>
            <a:ext cx="7419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</a:t>
            </a:r>
            <a:r>
              <a:rPr lang="en" sz="1800" b="1">
                <a:solidFill>
                  <a:schemeClr val="dk1"/>
                </a:solidFill>
              </a:rPr>
              <a:t>key inductive bias</a:t>
            </a:r>
            <a:r>
              <a:rPr lang="en" sz="1800">
                <a:solidFill>
                  <a:schemeClr val="dk1"/>
                </a:solidFill>
              </a:rPr>
              <a:t> we want to model is the idea of </a:t>
            </a:r>
            <a:r>
              <a:rPr lang="en" sz="1800" b="1">
                <a:solidFill>
                  <a:schemeClr val="dk1"/>
                </a:solidFill>
              </a:rPr>
              <a:t>co-evolution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0963"/>
            <a:ext cx="8839201" cy="249530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4239875" y="4023975"/>
            <a:ext cx="478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Note that the </a:t>
            </a:r>
            <a:r>
              <a:rPr lang="en" sz="1800" b="1">
                <a:solidFill>
                  <a:srgbClr val="FF0000"/>
                </a:solidFill>
              </a:rPr>
              <a:t>red </a:t>
            </a:r>
            <a:r>
              <a:rPr lang="en" sz="1800">
                <a:solidFill>
                  <a:schemeClr val="dk1"/>
                </a:solidFill>
              </a:rPr>
              <a:t>tokens are the </a:t>
            </a:r>
            <a:r>
              <a:rPr lang="en" sz="1800" b="1">
                <a:solidFill>
                  <a:schemeClr val="dk1"/>
                </a:solidFill>
              </a:rPr>
              <a:t>residues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1"/>
                </a:solidFill>
              </a:rPr>
              <a:t>(A residue is an amino acid unit within a protein chain)</a:t>
            </a:r>
            <a:endParaRPr sz="1500" i="1">
              <a:solidFill>
                <a:schemeClr val="dk1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365450" y="0"/>
            <a:ext cx="284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Modelling Co-Evolution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46" name="Google Shape;14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8600"/>
            <a:ext cx="8839199" cy="250630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1473335" y="0"/>
            <a:ext cx="63756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Row Attention Integrates Information Within a Sequence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53" name="Google Shape;15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9000"/>
            <a:ext cx="8839200" cy="23461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/>
          <p:nvPr/>
        </p:nvSpPr>
        <p:spPr>
          <a:xfrm>
            <a:off x="1155300" y="0"/>
            <a:ext cx="6833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Column Attention Integrates Information Across Sequences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60" name="Google Shape;16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/>
        </p:nvSpPr>
        <p:spPr>
          <a:xfrm>
            <a:off x="1409775" y="0"/>
            <a:ext cx="6606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Axial Attention Alternates Between Rows and Columns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724" y="596800"/>
            <a:ext cx="5738150" cy="3332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694050" y="4160650"/>
            <a:ext cx="7755900" cy="8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AlphaFold 2 uses </a:t>
            </a:r>
            <a:r>
              <a:rPr lang="en" b="1">
                <a:solidFill>
                  <a:schemeClr val="dk1"/>
                </a:solidFill>
              </a:rPr>
              <a:t>axial attention</a:t>
            </a:r>
            <a:r>
              <a:rPr lang="en">
                <a:solidFill>
                  <a:schemeClr val="dk1"/>
                </a:solidFill>
              </a:rPr>
              <a:t> by </a:t>
            </a:r>
            <a:r>
              <a:rPr lang="en" b="1">
                <a:solidFill>
                  <a:schemeClr val="dk1"/>
                </a:solidFill>
              </a:rPr>
              <a:t>alternating row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chemeClr val="dk1"/>
                </a:solidFill>
              </a:rPr>
              <a:t>column </a:t>
            </a:r>
            <a:r>
              <a:rPr lang="en">
                <a:solidFill>
                  <a:schemeClr val="dk1"/>
                </a:solidFill>
              </a:rPr>
              <a:t>attention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This </a:t>
            </a:r>
            <a:r>
              <a:rPr lang="en" b="1">
                <a:solidFill>
                  <a:schemeClr val="dk1"/>
                </a:solidFill>
              </a:rPr>
              <a:t>separates processing</a:t>
            </a:r>
            <a:r>
              <a:rPr lang="en">
                <a:solidFill>
                  <a:schemeClr val="dk1"/>
                </a:solidFill>
              </a:rPr>
              <a:t> across sequences from processing along residue positions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" name="Google Shape;16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400100" y="1846025"/>
            <a:ext cx="3132108" cy="208353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rgbClr val="980000"/>
                </a:solidFill>
              </a:rPr>
              <a:t>Criss-cross</a:t>
            </a:r>
            <a:r>
              <a:rPr lang="en" sz="1200" i="1">
                <a:solidFill>
                  <a:srgbClr val="980000"/>
                </a:solidFill>
              </a:rPr>
              <a:t> attends to the row and column of each position </a:t>
            </a:r>
            <a:r>
              <a:rPr lang="en" sz="1200" b="1" i="1">
                <a:solidFill>
                  <a:srgbClr val="980000"/>
                </a:solidFill>
              </a:rPr>
              <a:t>simultaneously</a:t>
            </a:r>
            <a:r>
              <a:rPr lang="en" sz="1200" i="1">
                <a:solidFill>
                  <a:srgbClr val="980000"/>
                </a:solidFill>
              </a:rPr>
              <a:t>. </a:t>
            </a:r>
            <a:r>
              <a:rPr lang="en" sz="1200" b="1" i="1">
                <a:solidFill>
                  <a:srgbClr val="980000"/>
                </a:solidFill>
              </a:rPr>
              <a:t>Axial </a:t>
            </a:r>
            <a:r>
              <a:rPr lang="en" sz="1200" i="1">
                <a:solidFill>
                  <a:srgbClr val="980000"/>
                </a:solidFill>
              </a:rPr>
              <a:t>attention </a:t>
            </a:r>
            <a:r>
              <a:rPr lang="en" sz="1200" b="1" i="1">
                <a:solidFill>
                  <a:srgbClr val="980000"/>
                </a:solidFill>
              </a:rPr>
              <a:t>alternates</a:t>
            </a:r>
            <a:r>
              <a:rPr lang="en" sz="1200" i="1">
                <a:solidFill>
                  <a:srgbClr val="980000"/>
                </a:solidFill>
              </a:rPr>
              <a:t>: first all </a:t>
            </a:r>
            <a:r>
              <a:rPr lang="en" sz="1200" b="1" i="1">
                <a:solidFill>
                  <a:srgbClr val="980000"/>
                </a:solidFill>
              </a:rPr>
              <a:t>rows</a:t>
            </a:r>
            <a:r>
              <a:rPr lang="en" sz="1200" i="1">
                <a:solidFill>
                  <a:srgbClr val="980000"/>
                </a:solidFill>
              </a:rPr>
              <a:t>, then all </a:t>
            </a:r>
            <a:r>
              <a:rPr lang="en" sz="1200" b="1" i="1">
                <a:solidFill>
                  <a:srgbClr val="980000"/>
                </a:solidFill>
              </a:rPr>
              <a:t>columns</a:t>
            </a:r>
            <a:r>
              <a:rPr lang="en" sz="1200" i="1">
                <a:solidFill>
                  <a:srgbClr val="980000"/>
                </a:solidFill>
              </a:rPr>
              <a:t>. Both achieve global coverage, but axial is simpler.</a:t>
            </a:r>
            <a:endParaRPr sz="1200" i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/>
        </p:nvSpPr>
        <p:spPr>
          <a:xfrm>
            <a:off x="2705575" y="0"/>
            <a:ext cx="46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Cropping Makes Training Tractable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00" y="987125"/>
            <a:ext cx="8839198" cy="2318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1116750" y="3722450"/>
            <a:ext cx="74241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AlphaFold uses cropping </a:t>
            </a:r>
            <a:r>
              <a:rPr lang="en" sz="1800" b="1">
                <a:solidFill>
                  <a:schemeClr val="dk1"/>
                </a:solidFill>
              </a:rPr>
              <a:t>during training</a:t>
            </a:r>
            <a:r>
              <a:rPr lang="en" sz="1800">
                <a:solidFill>
                  <a:schemeClr val="dk1"/>
                </a:solidFill>
              </a:rPr>
              <a:t>, but </a:t>
            </a:r>
            <a:r>
              <a:rPr lang="en" sz="1800" b="1">
                <a:solidFill>
                  <a:schemeClr val="dk1"/>
                </a:solidFill>
              </a:rPr>
              <a:t>not at inference</a:t>
            </a:r>
            <a:r>
              <a:rPr lang="en" sz="1800">
                <a:solidFill>
                  <a:schemeClr val="dk1"/>
                </a:solidFill>
              </a:rPr>
              <a:t> time.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7" name="Google Shape;17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/>
        </p:nvSpPr>
        <p:spPr>
          <a:xfrm>
            <a:off x="1807250" y="0"/>
            <a:ext cx="560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The Evoformer First Predicts Pairwise Distances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7175"/>
            <a:ext cx="8839199" cy="204938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 txBox="1"/>
          <p:nvPr/>
        </p:nvSpPr>
        <p:spPr>
          <a:xfrm>
            <a:off x="511400" y="3431650"/>
            <a:ext cx="79974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First conceptual step is the prediction of a distogram. The </a:t>
            </a:r>
            <a:r>
              <a:rPr lang="en" sz="1800" b="1">
                <a:solidFill>
                  <a:schemeClr val="dk1"/>
                </a:solidFill>
              </a:rPr>
              <a:t>distogram may indicate the geometry</a:t>
            </a:r>
            <a:r>
              <a:rPr lang="en" sz="1800">
                <a:solidFill>
                  <a:schemeClr val="dk1"/>
                </a:solidFill>
              </a:rPr>
              <a:t> or fold of the protein.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5" name="Google Shape;18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186" name="Google Shape;186;p29"/>
          <p:cNvSpPr txBox="1"/>
          <p:nvPr/>
        </p:nvSpPr>
        <p:spPr>
          <a:xfrm>
            <a:off x="484500" y="4278025"/>
            <a:ext cx="817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</a:rPr>
              <a:t>Note → A </a:t>
            </a:r>
            <a:r>
              <a:rPr lang="en" sz="1100" b="1" i="1">
                <a:solidFill>
                  <a:schemeClr val="dk1"/>
                </a:solidFill>
              </a:rPr>
              <a:t>distogram </a:t>
            </a:r>
            <a:r>
              <a:rPr lang="en" sz="1100" i="1">
                <a:solidFill>
                  <a:schemeClr val="dk1"/>
                </a:solidFill>
              </a:rPr>
              <a:t>is a matrix where entry (i, j) represents the predicted distance between residue i and residue j, specifically between their </a:t>
            </a:r>
            <a:r>
              <a:rPr lang="en" sz="1100" b="1" i="1">
                <a:solidFill>
                  <a:schemeClr val="dk1"/>
                </a:solidFill>
              </a:rPr>
              <a:t>C</a:t>
            </a:r>
            <a:r>
              <a:rPr lang="en" sz="1100" b="1" i="1" baseline="30000">
                <a:solidFill>
                  <a:schemeClr val="dk1"/>
                </a:solidFill>
              </a:rPr>
              <a:t>α </a:t>
            </a:r>
            <a:r>
              <a:rPr lang="en" sz="1100" i="1">
                <a:solidFill>
                  <a:schemeClr val="dk1"/>
                </a:solidFill>
              </a:rPr>
              <a:t>atoms (the central carbon of each residue's backbone). So for a protein with L residues, you get an L × L matrix.</a:t>
            </a:r>
            <a:endParaRPr sz="1100" i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/>
        </p:nvSpPr>
        <p:spPr>
          <a:xfrm>
            <a:off x="1632375" y="0"/>
            <a:ext cx="64392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MSA Transformer Helped Establish the Design Direction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075" y="1009375"/>
            <a:ext cx="6348826" cy="3449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/>
        </p:nvSpPr>
        <p:spPr>
          <a:xfrm>
            <a:off x="142425" y="757875"/>
            <a:ext cx="8918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 chemical molecule can be represented as a graph, so we need to </a:t>
            </a:r>
            <a:r>
              <a:rPr lang="en" sz="1600" b="1">
                <a:solidFill>
                  <a:schemeClr val="dk1"/>
                </a:solidFill>
              </a:rPr>
              <a:t>encode relational structure</a:t>
            </a:r>
            <a:endParaRPr sz="1600" b="1">
              <a:solidFill>
                <a:schemeClr val="dk1"/>
              </a:solidFill>
            </a:endParaRPr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863" y="1205750"/>
            <a:ext cx="4618024" cy="31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1"/>
          <p:cNvSpPr txBox="1"/>
          <p:nvPr/>
        </p:nvSpPr>
        <p:spPr>
          <a:xfrm>
            <a:off x="206125" y="4461175"/>
            <a:ext cx="82995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Standard </a:t>
            </a:r>
            <a:r>
              <a:rPr lang="en" sz="1600">
                <a:solidFill>
                  <a:schemeClr val="dk1"/>
                </a:solidFill>
              </a:rPr>
              <a:t>Transformers </a:t>
            </a:r>
            <a:r>
              <a:rPr lang="en" sz="1600" b="1">
                <a:solidFill>
                  <a:schemeClr val="dk1"/>
                </a:solidFill>
              </a:rPr>
              <a:t>do not model edge information </a:t>
            </a:r>
            <a:r>
              <a:rPr lang="en" sz="1600">
                <a:solidFill>
                  <a:schemeClr val="dk1"/>
                </a:solidFill>
              </a:rPr>
              <a:t>explicitly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3167429" y="0"/>
            <a:ext cx="30441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Proteins “are” Graphs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02" name="Google Shape;202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/>
        </p:nvSpPr>
        <p:spPr>
          <a:xfrm>
            <a:off x="2458050" y="4095775"/>
            <a:ext cx="40530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90500" marR="0" lvl="0" indent="0" algn="l" rtl="0">
              <a:lnSpc>
                <a:spcPct val="50590"/>
              </a:lnSpc>
              <a:spcBef>
                <a:spcPts val="1000"/>
              </a:spcBef>
              <a:spcAft>
                <a:spcPts val="9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Extending Transformers to encode Graph Edges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08" name="Google Shape;2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750" y="586250"/>
            <a:ext cx="4906301" cy="346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2"/>
          <p:cNvSpPr txBox="1"/>
          <p:nvPr/>
        </p:nvSpPr>
        <p:spPr>
          <a:xfrm>
            <a:off x="2509049" y="0"/>
            <a:ext cx="41259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Transformer Graph Representations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10" name="Google Shape;210;p32"/>
          <p:cNvSpPr txBox="1"/>
          <p:nvPr/>
        </p:nvSpPr>
        <p:spPr>
          <a:xfrm>
            <a:off x="888975" y="4568475"/>
            <a:ext cx="7274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90500" lvl="0" indent="0" algn="l" rtl="0">
              <a:lnSpc>
                <a:spcPct val="5059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highlight>
                  <a:srgbClr val="FFFFFF"/>
                </a:highlight>
              </a:rPr>
              <a:t>“Do Transformers Really Perform Bad for Graph Representation?” by C. Ying et al., NeurIPS 2021</a:t>
            </a:r>
            <a:endParaRPr sz="11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11" name="Google Shape;211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/>
        </p:nvSpPr>
        <p:spPr>
          <a:xfrm>
            <a:off x="3288740" y="0"/>
            <a:ext cx="3249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</p:txBody>
      </p:sp>
      <p:sp>
        <p:nvSpPr>
          <p:cNvPr id="217" name="Google Shape;217;p33"/>
          <p:cNvSpPr txBox="1"/>
          <p:nvPr/>
        </p:nvSpPr>
        <p:spPr>
          <a:xfrm>
            <a:off x="1759550" y="0"/>
            <a:ext cx="6367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MSA and Pair Representations Exchange Information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18" name="Google Shape;21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219" name="Google Shape;2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5325"/>
            <a:ext cx="8839202" cy="2556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122" y="700500"/>
            <a:ext cx="6186202" cy="3742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/>
          <p:nvPr/>
        </p:nvSpPr>
        <p:spPr>
          <a:xfrm>
            <a:off x="2804172" y="3689600"/>
            <a:ext cx="3363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0000"/>
                </a:solidFill>
              </a:rPr>
              <a:t>Bias b == Edge Information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226" name="Google Shape;226;p34"/>
          <p:cNvSpPr txBox="1"/>
          <p:nvPr/>
        </p:nvSpPr>
        <p:spPr>
          <a:xfrm>
            <a:off x="1352072" y="0"/>
            <a:ext cx="618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Attention Bias Can Encode Pairwise Edge Information </a:t>
            </a:r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/>
        </p:nvSpPr>
        <p:spPr>
          <a:xfrm>
            <a:off x="2085500" y="0"/>
            <a:ext cx="5628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The Pair Representation Is Updated from the MSA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850" y="733525"/>
            <a:ext cx="1933075" cy="410275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3175" y="2185013"/>
            <a:ext cx="6189275" cy="104075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5"/>
          <p:cNvSpPr/>
          <p:nvPr/>
        </p:nvSpPr>
        <p:spPr>
          <a:xfrm>
            <a:off x="1982150" y="3092125"/>
            <a:ext cx="1669500" cy="906300"/>
          </a:xfrm>
          <a:prstGeom prst="bentUpArrow">
            <a:avLst>
              <a:gd name="adj1" fmla="val 10529"/>
              <a:gd name="adj2" fmla="val 19301"/>
              <a:gd name="adj3" fmla="val 23684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5"/>
          <p:cNvSpPr txBox="1"/>
          <p:nvPr/>
        </p:nvSpPr>
        <p:spPr>
          <a:xfrm>
            <a:off x="4895450" y="3187525"/>
            <a:ext cx="3994200" cy="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Take the </a:t>
            </a:r>
            <a:r>
              <a:rPr lang="en" sz="1800" b="1">
                <a:solidFill>
                  <a:schemeClr val="dk1"/>
                </a:solidFill>
              </a:rPr>
              <a:t>mean </a:t>
            </a:r>
            <a:r>
              <a:rPr lang="en" sz="1800">
                <a:solidFill>
                  <a:schemeClr val="dk1"/>
                </a:solidFill>
              </a:rPr>
              <a:t>of the </a:t>
            </a:r>
            <a:r>
              <a:rPr lang="en" sz="1800" b="1">
                <a:solidFill>
                  <a:schemeClr val="dk1"/>
                </a:solidFill>
              </a:rPr>
              <a:t>outer product</a:t>
            </a:r>
            <a:r>
              <a:rPr lang="en" sz="1800">
                <a:solidFill>
                  <a:schemeClr val="dk1"/>
                </a:solidFill>
              </a:rPr>
              <a:t> of 2 columns of the MSA.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6900"/>
            <a:ext cx="8839198" cy="291633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 txBox="1"/>
          <p:nvPr/>
        </p:nvSpPr>
        <p:spPr>
          <a:xfrm>
            <a:off x="1568875" y="0"/>
            <a:ext cx="6391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Pairwise Predictions Must Be Geometrically Consistent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44" name="Google Shape;24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/>
        </p:nvSpPr>
        <p:spPr>
          <a:xfrm>
            <a:off x="1499550" y="0"/>
            <a:ext cx="6144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Triangle Constraints Enforce Geometric Consistency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547" y="613525"/>
            <a:ext cx="3501074" cy="34905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37"/>
          <p:cNvGrpSpPr/>
          <p:nvPr/>
        </p:nvGrpSpPr>
        <p:grpSpPr>
          <a:xfrm>
            <a:off x="1762388" y="4228075"/>
            <a:ext cx="5687980" cy="490800"/>
            <a:chOff x="1611338" y="4172425"/>
            <a:chExt cx="5687980" cy="490800"/>
          </a:xfrm>
        </p:grpSpPr>
        <p:pic>
          <p:nvPicPr>
            <p:cNvPr id="252" name="Google Shape;25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93493" y="4172426"/>
              <a:ext cx="1405826" cy="42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37"/>
            <p:cNvSpPr txBox="1"/>
            <p:nvPr/>
          </p:nvSpPr>
          <p:spPr>
            <a:xfrm>
              <a:off x="1611338" y="4172425"/>
              <a:ext cx="4612995" cy="49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We must </a:t>
              </a:r>
              <a:r>
                <a:rPr lang="en" sz="1800" b="1">
                  <a:solidFill>
                    <a:schemeClr val="dk1"/>
                  </a:solidFill>
                </a:rPr>
                <a:t>obey the triangle</a:t>
              </a:r>
              <a:r>
                <a:rPr lang="en" sz="1800">
                  <a:solidFill>
                    <a:schemeClr val="dk1"/>
                  </a:solidFill>
                </a:rPr>
                <a:t> </a:t>
              </a:r>
              <a:r>
                <a:rPr lang="en" sz="1800" b="1">
                  <a:solidFill>
                    <a:schemeClr val="dk1"/>
                  </a:solidFill>
                </a:rPr>
                <a:t>inequality </a:t>
              </a:r>
              <a:r>
                <a:rPr lang="en" sz="1800">
                  <a:solidFill>
                    <a:schemeClr val="dk1"/>
                  </a:solidFill>
                </a:rPr>
                <a:t>→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sp>
        <p:nvSpPr>
          <p:cNvPr id="254" name="Google Shape;254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55" name="Google Shape;255;p37"/>
          <p:cNvSpPr txBox="1"/>
          <p:nvPr/>
        </p:nvSpPr>
        <p:spPr>
          <a:xfrm>
            <a:off x="3071165" y="2780260"/>
            <a:ext cx="27984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 dirty="0">
                <a:solidFill>
                  <a:srgbClr val="FF0000"/>
                </a:solidFill>
              </a:rPr>
              <a:t>We need to correct this!</a:t>
            </a:r>
            <a:endParaRPr sz="18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/>
        </p:nvSpPr>
        <p:spPr>
          <a:xfrm>
            <a:off x="644075" y="0"/>
            <a:ext cx="779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AlphaFold 2 Enforces Triangle Constraints Through Smooth Updates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61" name="Google Shape;2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13" y="819301"/>
            <a:ext cx="7728476" cy="30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8"/>
          <p:cNvSpPr txBox="1"/>
          <p:nvPr/>
        </p:nvSpPr>
        <p:spPr>
          <a:xfrm>
            <a:off x="270000" y="4183325"/>
            <a:ext cx="846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Triangle consistency is encouraged through </a:t>
            </a:r>
            <a:r>
              <a:rPr lang="en" sz="1600" b="1"/>
              <a:t>smooth </a:t>
            </a:r>
            <a:r>
              <a:rPr lang="en" sz="1600"/>
              <a:t>updates of the 2D pair representation</a:t>
            </a:r>
            <a:endParaRPr sz="1600"/>
          </a:p>
        </p:txBody>
      </p:sp>
      <p:sp>
        <p:nvSpPr>
          <p:cNvPr id="263" name="Google Shape;263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264" name="Google Shape;264;p38"/>
          <p:cNvSpPr/>
          <p:nvPr/>
        </p:nvSpPr>
        <p:spPr>
          <a:xfrm>
            <a:off x="1565699" y="1088900"/>
            <a:ext cx="2155973" cy="75895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latin typeface="Arial"/>
              </a:rPr>
              <a:t>Expensive!</a:t>
            </a:r>
            <a:br>
              <a:rPr b="0" i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latin typeface="Arial"/>
              </a:rPr>
            </a:br>
            <a:r>
              <a:rPr b="0" i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latin typeface="Arial"/>
              </a:rPr>
              <a:t>But worth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/>
        </p:nvSpPr>
        <p:spPr>
          <a:xfrm>
            <a:off x="781725" y="0"/>
            <a:ext cx="771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The Structure Module Converts Representations into 3D Coordinates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70" name="Google Shape;27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3275"/>
            <a:ext cx="8839200" cy="289206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9"/>
          <p:cNvSpPr txBox="1"/>
          <p:nvPr/>
        </p:nvSpPr>
        <p:spPr>
          <a:xfrm>
            <a:off x="97275" y="3815576"/>
            <a:ext cx="9087900" cy="9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produce 3D structure, AlphaFold uses the </a:t>
            </a:r>
            <a:r>
              <a:rPr lang="en" b="1">
                <a:solidFill>
                  <a:schemeClr val="dk1"/>
                </a:solidFill>
              </a:rPr>
              <a:t>Pair Representation </a:t>
            </a:r>
            <a:r>
              <a:rPr lang="en">
                <a:solidFill>
                  <a:schemeClr val="dk1"/>
                </a:solidFill>
              </a:rPr>
              <a:t>together with </a:t>
            </a:r>
            <a:r>
              <a:rPr lang="en" b="1">
                <a:solidFill>
                  <a:schemeClr val="dk1"/>
                </a:solidFill>
              </a:rPr>
              <a:t>the First Row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 b="1">
                <a:solidFill>
                  <a:schemeClr val="dk1"/>
                </a:solidFill>
              </a:rPr>
              <a:t>of </a:t>
            </a:r>
            <a:r>
              <a:rPr lang="en">
                <a:solidFill>
                  <a:schemeClr val="dk1"/>
                </a:solidFill>
              </a:rPr>
              <a:t>the </a:t>
            </a:r>
            <a:r>
              <a:rPr lang="en" b="1">
                <a:solidFill>
                  <a:schemeClr val="dk1"/>
                </a:solidFill>
              </a:rPr>
              <a:t>MSA</a:t>
            </a:r>
            <a:r>
              <a:rPr lang="en">
                <a:solidFill>
                  <a:schemeClr val="dk1"/>
                </a:solidFill>
              </a:rPr>
              <a:t>, corresponding to the target sequence.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are </a:t>
            </a:r>
            <a:r>
              <a:rPr lang="en" b="1">
                <a:solidFill>
                  <a:schemeClr val="dk1"/>
                </a:solidFill>
              </a:rPr>
              <a:t>many more pairwise relationships than there are coordinates to find</a:t>
            </a:r>
            <a:r>
              <a:rPr lang="en">
                <a:solidFill>
                  <a:schemeClr val="dk1"/>
                </a:solidFill>
              </a:rPr>
              <a:t>, so the structure is heavily constrained → i.e. the model has more than enough information to pin down the 3D shape.</a:t>
            </a:r>
            <a:endParaRPr/>
          </a:p>
        </p:txBody>
      </p:sp>
      <p:sp>
        <p:nvSpPr>
          <p:cNvPr id="272" name="Google Shape;27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/>
        </p:nvSpPr>
        <p:spPr>
          <a:xfrm>
            <a:off x="1298475" y="0"/>
            <a:ext cx="6359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The Protein Backbone Provides the Structural Scaffold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78" name="Google Shape;2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038" y="1135150"/>
            <a:ext cx="6615375" cy="28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/>
        </p:nvSpPr>
        <p:spPr>
          <a:xfrm>
            <a:off x="1638600" y="0"/>
            <a:ext cx="6041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Each Residue Is Represented as a Rigid Local Frame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85" name="Google Shape;28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50" y="796325"/>
            <a:ext cx="8839202" cy="25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1"/>
          <p:cNvSpPr txBox="1"/>
          <p:nvPr/>
        </p:nvSpPr>
        <p:spPr>
          <a:xfrm>
            <a:off x="60750" y="3731075"/>
            <a:ext cx="89112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Each residue is represented by a rigid </a:t>
            </a:r>
            <a:r>
              <a:rPr lang="en" sz="1600" b="1">
                <a:solidFill>
                  <a:schemeClr val="dk1"/>
                </a:solidFill>
              </a:rPr>
              <a:t>Local Frame</a:t>
            </a:r>
            <a:r>
              <a:rPr lang="en" sz="1600">
                <a:solidFill>
                  <a:schemeClr val="dk1"/>
                </a:solidFill>
              </a:rPr>
              <a:t> (</a:t>
            </a:r>
            <a:r>
              <a:rPr lang="en" sz="1600" b="1">
                <a:solidFill>
                  <a:srgbClr val="FF0000"/>
                </a:solidFill>
              </a:rPr>
              <a:t>red</a:t>
            </a:r>
            <a:r>
              <a:rPr lang="en" sz="1600" b="1">
                <a:solidFill>
                  <a:schemeClr val="dk1"/>
                </a:solidFill>
              </a:rPr>
              <a:t> triangles</a:t>
            </a:r>
            <a:r>
              <a:rPr lang="en" sz="1600">
                <a:solidFill>
                  <a:schemeClr val="dk1"/>
                </a:solidFill>
              </a:rPr>
              <a:t>).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Structure prediction requires learning the</a:t>
            </a:r>
            <a:r>
              <a:rPr lang="en" sz="1600" b="1">
                <a:solidFill>
                  <a:schemeClr val="dk1"/>
                </a:solidFill>
              </a:rPr>
              <a:t> position and orientation</a:t>
            </a:r>
            <a:r>
              <a:rPr lang="en" sz="1600">
                <a:solidFill>
                  <a:schemeClr val="dk1"/>
                </a:solidFill>
              </a:rPr>
              <a:t> of these frames in </a:t>
            </a:r>
            <a:r>
              <a:rPr lang="en" sz="1600" b="1">
                <a:solidFill>
                  <a:schemeClr val="dk1"/>
                </a:solidFill>
              </a:rPr>
              <a:t>Euclidean Space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7" name="Google Shape;287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/>
        </p:nvSpPr>
        <p:spPr>
          <a:xfrm>
            <a:off x="191700" y="4231750"/>
            <a:ext cx="85857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Our task is to learn the </a:t>
            </a:r>
            <a:r>
              <a:rPr lang="en" sz="1600" b="1">
                <a:solidFill>
                  <a:schemeClr val="dk1"/>
                </a:solidFill>
              </a:rPr>
              <a:t>rotation matrix R </a:t>
            </a:r>
            <a:r>
              <a:rPr lang="en" sz="1600">
                <a:solidFill>
                  <a:schemeClr val="dk1"/>
                </a:solidFill>
              </a:rPr>
              <a:t>and </a:t>
            </a:r>
            <a:r>
              <a:rPr lang="en" sz="1600" b="1">
                <a:solidFill>
                  <a:schemeClr val="dk1"/>
                </a:solidFill>
              </a:rPr>
              <a:t>translation vector t </a:t>
            </a:r>
            <a:r>
              <a:rPr lang="en" sz="1600">
                <a:solidFill>
                  <a:schemeClr val="dk1"/>
                </a:solidFill>
              </a:rPr>
              <a:t>for each of the triangles.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There are 2 frames: </a:t>
            </a:r>
            <a:r>
              <a:rPr lang="en" sz="1600" b="1">
                <a:solidFill>
                  <a:schemeClr val="dk1"/>
                </a:solidFill>
              </a:rPr>
              <a:t>global </a:t>
            </a:r>
            <a:r>
              <a:rPr lang="en" sz="1600">
                <a:solidFill>
                  <a:schemeClr val="dk1"/>
                </a:solidFill>
              </a:rPr>
              <a:t>coordinates </a:t>
            </a:r>
            <a:r>
              <a:rPr lang="en" sz="1600" b="1">
                <a:solidFill>
                  <a:schemeClr val="dk1"/>
                </a:solidFill>
              </a:rPr>
              <a:t>frame </a:t>
            </a:r>
            <a:r>
              <a:rPr lang="en" sz="1600">
                <a:solidFill>
                  <a:schemeClr val="dk1"/>
                </a:solidFill>
              </a:rPr>
              <a:t>(white)</a:t>
            </a:r>
            <a:r>
              <a:rPr lang="en" sz="1600" b="1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and </a:t>
            </a:r>
            <a:r>
              <a:rPr lang="en" sz="1600" b="1">
                <a:solidFill>
                  <a:schemeClr val="dk1"/>
                </a:solidFill>
              </a:rPr>
              <a:t>local </a:t>
            </a:r>
            <a:r>
              <a:rPr lang="en" sz="1600">
                <a:solidFill>
                  <a:schemeClr val="dk1"/>
                </a:solidFill>
              </a:rPr>
              <a:t>coordinates </a:t>
            </a:r>
            <a:r>
              <a:rPr lang="en" sz="1600" b="1">
                <a:solidFill>
                  <a:schemeClr val="dk1"/>
                </a:solidFill>
              </a:rPr>
              <a:t>frame </a:t>
            </a:r>
            <a:r>
              <a:rPr lang="en" sz="1600">
                <a:solidFill>
                  <a:schemeClr val="dk1"/>
                </a:solidFill>
              </a:rPr>
              <a:t>(yellow).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175" y="557850"/>
            <a:ext cx="5645625" cy="3578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2"/>
          <p:cNvSpPr txBox="1"/>
          <p:nvPr/>
        </p:nvSpPr>
        <p:spPr>
          <a:xfrm>
            <a:off x="423975" y="0"/>
            <a:ext cx="8235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Structure Prediction Becomes Rotation and Translation of Local Frames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95" name="Google Shape;295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/>
        </p:nvSpPr>
        <p:spPr>
          <a:xfrm>
            <a:off x="2710042" y="0"/>
            <a:ext cx="349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“Black hole” Initial Conditions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498175" y="4141825"/>
            <a:ext cx="7928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Initial conditions</a:t>
            </a:r>
            <a:r>
              <a:rPr lang="en"/>
              <a:t> → </a:t>
            </a:r>
            <a:r>
              <a:rPr lang="en" b="1"/>
              <a:t>collapse all </a:t>
            </a:r>
            <a:r>
              <a:rPr lang="en"/>
              <a:t>the </a:t>
            </a:r>
            <a:r>
              <a:rPr lang="en" b="1"/>
              <a:t>triangles </a:t>
            </a:r>
            <a:r>
              <a:rPr lang="en"/>
              <a:t>(i.e. bag of words) </a:t>
            </a:r>
            <a:r>
              <a:rPr lang="en" b="1"/>
              <a:t>at </a:t>
            </a:r>
            <a:r>
              <a:rPr lang="en"/>
              <a:t>the </a:t>
            </a:r>
            <a:r>
              <a:rPr lang="en" b="1"/>
              <a:t>origin</a:t>
            </a:r>
            <a:r>
              <a:rPr lang="en"/>
              <a:t>, such that the </a:t>
            </a:r>
            <a:r>
              <a:rPr lang="en" b="1" i="1"/>
              <a:t>C</a:t>
            </a:r>
            <a:r>
              <a:rPr lang="en" sz="1600" b="1" i="1" baseline="30000"/>
              <a:t>𝞪</a:t>
            </a:r>
            <a:r>
              <a:rPr lang="en"/>
              <a:t> atom is sitting at the origin of the global reference frame, and all the local reference frames are oriented in the same direction as the global reference frame.</a:t>
            </a:r>
            <a:endParaRPr/>
          </a:p>
        </p:txBody>
      </p:sp>
      <p:sp>
        <p:nvSpPr>
          <p:cNvPr id="302" name="Google Shape;302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grpSp>
        <p:nvGrpSpPr>
          <p:cNvPr id="303" name="Google Shape;303;p43"/>
          <p:cNvGrpSpPr/>
          <p:nvPr/>
        </p:nvGrpSpPr>
        <p:grpSpPr>
          <a:xfrm>
            <a:off x="2113929" y="761150"/>
            <a:ext cx="4595949" cy="3220051"/>
            <a:chOff x="1996375" y="761150"/>
            <a:chExt cx="4595949" cy="3220051"/>
          </a:xfrm>
        </p:grpSpPr>
        <p:pic>
          <p:nvPicPr>
            <p:cNvPr id="304" name="Google Shape;30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96375" y="761150"/>
              <a:ext cx="4595949" cy="3220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43"/>
            <p:cNvSpPr/>
            <p:nvPr/>
          </p:nvSpPr>
          <p:spPr>
            <a:xfrm>
              <a:off x="4292625" y="1099715"/>
              <a:ext cx="2097347" cy="697581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solidFill>
                    <a:srgbClr val="FF0000"/>
                  </a:solidFill>
                  <a:latin typeface="Arial"/>
                </a:rPr>
                <a:t>Initially Placed</a:t>
              </a:r>
              <a:br>
                <a:rPr b="0" i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solidFill>
                    <a:srgbClr val="FF0000"/>
                  </a:solidFill>
                  <a:latin typeface="Arial"/>
                </a:rPr>
              </a:br>
              <a:r>
                <a:rPr b="0" i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solidFill>
                    <a:srgbClr val="FF0000"/>
                  </a:solidFill>
                  <a:latin typeface="Arial"/>
                </a:rPr>
                <a:t> at the Origin</a:t>
              </a:r>
            </a:p>
          </p:txBody>
        </p:sp>
        <p:cxnSp>
          <p:nvCxnSpPr>
            <p:cNvPr id="306" name="Google Shape;306;p43"/>
            <p:cNvCxnSpPr/>
            <p:nvPr/>
          </p:nvCxnSpPr>
          <p:spPr>
            <a:xfrm flipH="1">
              <a:off x="3957625" y="1794100"/>
              <a:ext cx="80610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/>
        </p:nvSpPr>
        <p:spPr>
          <a:xfrm>
            <a:off x="858775" y="0"/>
            <a:ext cx="7200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Problem Is: There Is No Meaningful Absolute Coordinate System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12" name="Google Shape;312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grpSp>
        <p:nvGrpSpPr>
          <p:cNvPr id="313" name="Google Shape;313;p44"/>
          <p:cNvGrpSpPr/>
          <p:nvPr/>
        </p:nvGrpSpPr>
        <p:grpSpPr>
          <a:xfrm>
            <a:off x="2535471" y="735672"/>
            <a:ext cx="3552202" cy="4212358"/>
            <a:chOff x="1605250" y="726547"/>
            <a:chExt cx="3552202" cy="4212358"/>
          </a:xfrm>
        </p:grpSpPr>
        <p:pic>
          <p:nvPicPr>
            <p:cNvPr id="314" name="Google Shape;314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49000" y="726547"/>
              <a:ext cx="3508449" cy="2566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05250" y="3581325"/>
              <a:ext cx="3552202" cy="1357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44"/>
            <p:cNvSpPr txBox="1"/>
            <p:nvPr/>
          </p:nvSpPr>
          <p:spPr>
            <a:xfrm>
              <a:off x="3149275" y="3882150"/>
              <a:ext cx="5079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0000"/>
                  </a:solidFill>
                </a:rPr>
                <a:t>Or </a:t>
              </a:r>
              <a:endParaRPr sz="1800" b="1">
                <a:solidFill>
                  <a:srgbClr val="FF0000"/>
                </a:solidFill>
              </a:endParaRPr>
            </a:p>
          </p:txBody>
        </p:sp>
        <p:cxnSp>
          <p:nvCxnSpPr>
            <p:cNvPr id="317" name="Google Shape;317;p44"/>
            <p:cNvCxnSpPr/>
            <p:nvPr/>
          </p:nvCxnSpPr>
          <p:spPr>
            <a:xfrm flipH="1">
              <a:off x="2401625" y="3179725"/>
              <a:ext cx="191400" cy="9030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8" name="Google Shape;318;p44"/>
            <p:cNvCxnSpPr/>
            <p:nvPr/>
          </p:nvCxnSpPr>
          <p:spPr>
            <a:xfrm>
              <a:off x="3012525" y="3179725"/>
              <a:ext cx="875400" cy="61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250" y="578775"/>
            <a:ext cx="4736527" cy="31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5"/>
          <p:cNvSpPr txBox="1"/>
          <p:nvPr/>
        </p:nvSpPr>
        <p:spPr>
          <a:xfrm>
            <a:off x="1513125" y="0"/>
            <a:ext cx="586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The Structure Module Must Be Rotation-Equivariant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25" name="Google Shape;325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326" name="Google Shape;326;p45"/>
          <p:cNvSpPr txBox="1"/>
          <p:nvPr/>
        </p:nvSpPr>
        <p:spPr>
          <a:xfrm>
            <a:off x="533550" y="3924525"/>
            <a:ext cx="8076900" cy="8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 b="1">
                <a:solidFill>
                  <a:schemeClr val="dk1"/>
                </a:solidFill>
              </a:rPr>
              <a:t>“Evoformer” </a:t>
            </a:r>
            <a:r>
              <a:rPr lang="en">
                <a:solidFill>
                  <a:schemeClr val="dk1"/>
                </a:solidFill>
              </a:rPr>
              <a:t>operates on abstract feature representations with no geometric meaning. But the </a:t>
            </a:r>
            <a:r>
              <a:rPr lang="en" b="1">
                <a:solidFill>
                  <a:schemeClr val="dk1"/>
                </a:solidFill>
              </a:rPr>
              <a:t>“Structure Module” </a:t>
            </a:r>
            <a:r>
              <a:rPr lang="en">
                <a:solidFill>
                  <a:schemeClr val="dk1"/>
                </a:solidFill>
              </a:rPr>
              <a:t>must produce actual 3D coordinates. And since a protein has no preferred orientation in space, the structure module must be </a:t>
            </a:r>
            <a:r>
              <a:rPr lang="en" b="1">
                <a:solidFill>
                  <a:schemeClr val="dk1"/>
                </a:solidFill>
              </a:rPr>
              <a:t>SE(3)-equivariant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 b="1" i="1">
                <a:solidFill>
                  <a:schemeClr val="dk1"/>
                </a:solidFill>
              </a:rPr>
              <a:t>rotating the input must rotate the output by the same amount.</a:t>
            </a:r>
            <a:r>
              <a:rPr lang="en">
                <a:solidFill>
                  <a:schemeClr val="dk1"/>
                </a:solidFill>
              </a:rPr>
              <a:t> So both paths around the diagram must agree.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/>
        </p:nvSpPr>
        <p:spPr>
          <a:xfrm>
            <a:off x="1471100" y="512250"/>
            <a:ext cx="7433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geometrically aware attention formula becomes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32" name="Google Shape;33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650" y="933588"/>
            <a:ext cx="6059024" cy="352552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6"/>
          <p:cNvSpPr txBox="1"/>
          <p:nvPr/>
        </p:nvSpPr>
        <p:spPr>
          <a:xfrm>
            <a:off x="1097438" y="4424550"/>
            <a:ext cx="668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attention is called the “</a:t>
            </a:r>
            <a:r>
              <a:rPr lang="en" b="1"/>
              <a:t>Invariant Point Attention</a:t>
            </a:r>
            <a:r>
              <a:rPr lang="en"/>
              <a:t>”. It was novel at the time.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allow the queries and keys to live in the Euclidean space.</a:t>
            </a:r>
            <a:endParaRPr/>
          </a:p>
        </p:txBody>
      </p:sp>
      <p:sp>
        <p:nvSpPr>
          <p:cNvPr id="334" name="Google Shape;334;p46"/>
          <p:cNvSpPr txBox="1"/>
          <p:nvPr/>
        </p:nvSpPr>
        <p:spPr>
          <a:xfrm>
            <a:off x="1217650" y="0"/>
            <a:ext cx="642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Invariant Point Attention Injects Geometry into Attention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35" name="Google Shape;335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/>
        </p:nvSpPr>
        <p:spPr>
          <a:xfrm>
            <a:off x="853275" y="766425"/>
            <a:ext cx="7785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type of equivariance we are using in AlphaFold 2 is </a:t>
            </a:r>
            <a:r>
              <a:rPr lang="en" sz="1800" b="1">
                <a:solidFill>
                  <a:schemeClr val="dk1"/>
                </a:solidFill>
              </a:rPr>
              <a:t>approximate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41" name="Google Shape;34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850" y="1338800"/>
            <a:ext cx="5033499" cy="293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7"/>
          <p:cNvSpPr txBox="1"/>
          <p:nvPr/>
        </p:nvSpPr>
        <p:spPr>
          <a:xfrm>
            <a:off x="548100" y="4317925"/>
            <a:ext cx="8047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Note that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we need not necessarily use sophisticated and mathematically principled techniques from </a:t>
            </a:r>
            <a:r>
              <a:rPr lang="en" sz="1800" b="1">
                <a:solidFill>
                  <a:schemeClr val="dk1"/>
                </a:solidFill>
              </a:rPr>
              <a:t>group theory</a:t>
            </a:r>
            <a:r>
              <a:rPr lang="en" sz="1800">
                <a:solidFill>
                  <a:schemeClr val="dk1"/>
                </a:solidFill>
              </a:rPr>
              <a:t> and </a:t>
            </a:r>
            <a:r>
              <a:rPr lang="en" sz="1800" b="1">
                <a:solidFill>
                  <a:schemeClr val="dk1"/>
                </a:solidFill>
              </a:rPr>
              <a:t>differential geometry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43" name="Google Shape;343;p47"/>
          <p:cNvSpPr txBox="1"/>
          <p:nvPr/>
        </p:nvSpPr>
        <p:spPr>
          <a:xfrm>
            <a:off x="1099725" y="0"/>
            <a:ext cx="69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Invariant Point Attention Was Inspired by Equivariant Models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44" name="Google Shape;344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345" name="Google Shape;345;p47"/>
          <p:cNvSpPr/>
          <p:nvPr/>
        </p:nvSpPr>
        <p:spPr>
          <a:xfrm>
            <a:off x="2021900" y="2072250"/>
            <a:ext cx="834600" cy="174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/>
          <p:nvPr/>
        </p:nvSpPr>
        <p:spPr>
          <a:xfrm>
            <a:off x="1270149" y="0"/>
            <a:ext cx="6383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BackboneUpdate Predicts Local Frame Transformations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351" name="Google Shape;35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775" y="591088"/>
            <a:ext cx="4707526" cy="350024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8"/>
          <p:cNvSpPr txBox="1"/>
          <p:nvPr/>
        </p:nvSpPr>
        <p:spPr>
          <a:xfrm>
            <a:off x="623550" y="4253125"/>
            <a:ext cx="7896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updated single representation </a:t>
            </a:r>
            <a:r>
              <a:rPr lang="en" b="1" i="1">
                <a:solidFill>
                  <a:schemeClr val="dk1"/>
                </a:solidFill>
              </a:rPr>
              <a:t>S</a:t>
            </a:r>
            <a:r>
              <a:rPr lang="en" b="1" i="1" baseline="-25000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is passed to </a:t>
            </a:r>
            <a:r>
              <a:rPr lang="en" b="1">
                <a:solidFill>
                  <a:schemeClr val="dk1"/>
                </a:solidFill>
              </a:rPr>
              <a:t>BackboneUpdate()</a:t>
            </a:r>
            <a:r>
              <a:rPr lang="en">
                <a:solidFill>
                  <a:schemeClr val="dk1"/>
                </a:solidFill>
              </a:rPr>
              <a:t>, which predicts the local </a:t>
            </a:r>
            <a:r>
              <a:rPr lang="en" b="1">
                <a:solidFill>
                  <a:schemeClr val="dk1"/>
                </a:solidFill>
              </a:rPr>
              <a:t>rotation </a:t>
            </a:r>
            <a:r>
              <a:rPr lang="en">
                <a:solidFill>
                  <a:schemeClr val="dk1"/>
                </a:solidFill>
              </a:rPr>
              <a:t>and </a:t>
            </a:r>
            <a:r>
              <a:rPr lang="en" b="1">
                <a:solidFill>
                  <a:schemeClr val="dk1"/>
                </a:solidFill>
              </a:rPr>
              <a:t>translation for each residue</a:t>
            </a:r>
            <a:r>
              <a:rPr lang="en">
                <a:solidFill>
                  <a:schemeClr val="dk1"/>
                </a:solidFill>
              </a:rPr>
              <a:t> frame.</a:t>
            </a:r>
            <a:endParaRPr sz="1700"/>
          </a:p>
        </p:txBody>
      </p:sp>
      <p:sp>
        <p:nvSpPr>
          <p:cNvPr id="353" name="Google Shape;353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/>
        </p:nvSpPr>
        <p:spPr>
          <a:xfrm>
            <a:off x="1519750" y="0"/>
            <a:ext cx="6042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Recycling Iteratively Refines the Predicted Structure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359" name="Google Shape;35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250" y="535287"/>
            <a:ext cx="5812799" cy="330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9"/>
          <p:cNvSpPr txBox="1"/>
          <p:nvPr/>
        </p:nvSpPr>
        <p:spPr>
          <a:xfrm>
            <a:off x="2380500" y="3843700"/>
            <a:ext cx="4383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There are </a:t>
            </a:r>
            <a:r>
              <a:rPr lang="en" b="1"/>
              <a:t>48 Evoformer blocks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Followed by </a:t>
            </a:r>
            <a:r>
              <a:rPr lang="en" b="1"/>
              <a:t>8 Structure module blocks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b="1"/>
              <a:t>Loss </a:t>
            </a:r>
            <a:r>
              <a:rPr lang="en"/>
              <a:t>is</a:t>
            </a:r>
            <a:r>
              <a:rPr lang="en" b="1"/>
              <a:t> </a:t>
            </a:r>
            <a:r>
              <a:rPr lang="en"/>
              <a:t>applied</a:t>
            </a:r>
            <a:r>
              <a:rPr lang="en" b="1"/>
              <a:t> after each block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b="1"/>
              <a:t>Recycling </a:t>
            </a:r>
            <a:r>
              <a:rPr lang="en"/>
              <a:t>≈ iterative refinement (3 cycles)</a:t>
            </a:r>
            <a:endParaRPr/>
          </a:p>
        </p:txBody>
      </p:sp>
      <p:sp>
        <p:nvSpPr>
          <p:cNvPr id="361" name="Google Shape;36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/>
          <p:nvPr/>
        </p:nvSpPr>
        <p:spPr>
          <a:xfrm>
            <a:off x="789675" y="0"/>
            <a:ext cx="7822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Side-chains Are Predicted from the Same Structural Representation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367" name="Google Shape;3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438" y="720775"/>
            <a:ext cx="6005373" cy="33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0"/>
          <p:cNvSpPr txBox="1"/>
          <p:nvPr/>
        </p:nvSpPr>
        <p:spPr>
          <a:xfrm>
            <a:off x="1017575" y="4257325"/>
            <a:ext cx="7006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The same single representation </a:t>
            </a:r>
            <a:r>
              <a:rPr lang="en" b="1" i="1">
                <a:solidFill>
                  <a:schemeClr val="dk1"/>
                </a:solidFill>
              </a:rPr>
              <a:t>S</a:t>
            </a:r>
            <a:r>
              <a:rPr lang="en" b="1" i="1" baseline="-25000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is used to predict side-chain torsion angles.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Because </a:t>
            </a:r>
            <a:r>
              <a:rPr lang="en" b="1">
                <a:solidFill>
                  <a:schemeClr val="dk1"/>
                </a:solidFill>
              </a:rPr>
              <a:t>side-chain geometry is largely rigid</a:t>
            </a:r>
            <a:r>
              <a:rPr lang="en">
                <a:solidFill>
                  <a:schemeClr val="dk1"/>
                </a:solidFill>
              </a:rPr>
              <a:t>, torsion prediction is sufficient.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The system is trained </a:t>
            </a:r>
            <a:r>
              <a:rPr lang="en" b="1">
                <a:solidFill>
                  <a:schemeClr val="dk1"/>
                </a:solidFill>
              </a:rPr>
              <a:t>end-to-end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1"/>
          <p:cNvSpPr txBox="1"/>
          <p:nvPr/>
        </p:nvSpPr>
        <p:spPr>
          <a:xfrm>
            <a:off x="1306400" y="0"/>
            <a:ext cx="6383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Structure Quality Can Be Measured Locally and Globally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375" name="Google Shape;37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75" y="1053925"/>
            <a:ext cx="3873225" cy="21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863" y="1064375"/>
            <a:ext cx="3873224" cy="213228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1"/>
          <p:cNvSpPr txBox="1"/>
          <p:nvPr/>
        </p:nvSpPr>
        <p:spPr>
          <a:xfrm>
            <a:off x="845550" y="4007950"/>
            <a:ext cx="74529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 b="1">
                <a:solidFill>
                  <a:schemeClr val="dk1"/>
                </a:solidFill>
              </a:rPr>
              <a:t>lDDT (i.e. Local Distance Difference Test) measures local structural accuracy.</a:t>
            </a:r>
            <a:br>
              <a:rPr lang="en" b="1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 b="1">
                <a:solidFill>
                  <a:schemeClr val="dk1"/>
                </a:solidFill>
              </a:rPr>
              <a:t>GDT (i.e. Global Distance Test) measures global structural similarity.</a:t>
            </a:r>
            <a:endParaRPr/>
          </a:p>
        </p:txBody>
      </p:sp>
      <p:sp>
        <p:nvSpPr>
          <p:cNvPr id="378" name="Google Shape;378;p51"/>
          <p:cNvSpPr txBox="1"/>
          <p:nvPr/>
        </p:nvSpPr>
        <p:spPr>
          <a:xfrm>
            <a:off x="494800" y="3289875"/>
            <a:ext cx="34746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Local Structure Accuracy (</a:t>
            </a:r>
            <a:r>
              <a:rPr lang="en" b="1">
                <a:solidFill>
                  <a:schemeClr val="dk1"/>
                </a:solidFill>
              </a:rPr>
              <a:t>lDDT / LDDT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9" name="Google Shape;379;p51"/>
          <p:cNvSpPr txBox="1"/>
          <p:nvPr/>
        </p:nvSpPr>
        <p:spPr>
          <a:xfrm>
            <a:off x="4478375" y="3186200"/>
            <a:ext cx="4475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dRMSD </a:t>
            </a:r>
            <a:r>
              <a:rPr lang="en">
                <a:solidFill>
                  <a:schemeClr val="dk1"/>
                </a:solidFill>
              </a:rPr>
              <a:t>is a more global distance-based metric,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but not the same as GDT (Global Distance Test)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Google Shape;380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098" y="698250"/>
            <a:ext cx="4765924" cy="286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2"/>
          <p:cNvSpPr txBox="1"/>
          <p:nvPr/>
        </p:nvSpPr>
        <p:spPr>
          <a:xfrm>
            <a:off x="1799250" y="0"/>
            <a:ext cx="62169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AlphaFold 2 Predicts Its Own Confidence via pLDDT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87" name="Google Shape;387;p52"/>
          <p:cNvSpPr txBox="1"/>
          <p:nvPr/>
        </p:nvSpPr>
        <p:spPr>
          <a:xfrm>
            <a:off x="2132875" y="3942775"/>
            <a:ext cx="5212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 b="1">
                <a:solidFill>
                  <a:schemeClr val="dk1"/>
                </a:solidFill>
              </a:rPr>
              <a:t>LDDT</a:t>
            </a:r>
            <a:r>
              <a:rPr lang="en">
                <a:solidFill>
                  <a:schemeClr val="dk1"/>
                </a:solidFill>
              </a:rPr>
              <a:t> = the </a:t>
            </a:r>
            <a:r>
              <a:rPr lang="en" b="1">
                <a:solidFill>
                  <a:schemeClr val="dk1"/>
                </a:solidFill>
              </a:rPr>
              <a:t>true (local) evaluation metric</a:t>
            </a:r>
            <a:br>
              <a:rPr lang="en" b="1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 b="1">
                <a:solidFill>
                  <a:schemeClr val="dk1"/>
                </a:solidFill>
              </a:rPr>
              <a:t>pLDDT</a:t>
            </a:r>
            <a:r>
              <a:rPr lang="en">
                <a:solidFill>
                  <a:schemeClr val="dk1"/>
                </a:solidFill>
              </a:rPr>
              <a:t> = the model’s </a:t>
            </a:r>
            <a:r>
              <a:rPr lang="en" b="1">
                <a:solidFill>
                  <a:schemeClr val="dk1"/>
                </a:solidFill>
              </a:rPr>
              <a:t>predicted estimate</a:t>
            </a:r>
            <a:r>
              <a:rPr lang="en">
                <a:solidFill>
                  <a:schemeClr val="dk1"/>
                </a:solidFill>
              </a:rPr>
              <a:t> of that metric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8" name="Google Shape;38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/>
        </p:nvSpPr>
        <p:spPr>
          <a:xfrm>
            <a:off x="866743" y="0"/>
            <a:ext cx="75840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The First Training Phase Combines Structural and Auxiliary Losses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394" name="Google Shape;39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00" y="1076751"/>
            <a:ext cx="7947525" cy="37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00" y="1937000"/>
            <a:ext cx="812684" cy="3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800" y="2504488"/>
            <a:ext cx="630091" cy="3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748" y="3135225"/>
            <a:ext cx="652200" cy="3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800" y="3822038"/>
            <a:ext cx="730250" cy="32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1800" y="4473839"/>
            <a:ext cx="730250" cy="36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3"/>
          <p:cNvSpPr txBox="1"/>
          <p:nvPr/>
        </p:nvSpPr>
        <p:spPr>
          <a:xfrm>
            <a:off x="1958275" y="1947763"/>
            <a:ext cx="61929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FAPE loss</a:t>
            </a:r>
            <a:r>
              <a:rPr lang="en">
                <a:solidFill>
                  <a:schemeClr val="dk1"/>
                </a:solidFill>
              </a:rPr>
              <a:t> → geometry-aware loss invariant to global rigid motions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1" name="Google Shape;401;p53"/>
          <p:cNvSpPr txBox="1"/>
          <p:nvPr/>
        </p:nvSpPr>
        <p:spPr>
          <a:xfrm>
            <a:off x="1934450" y="2557175"/>
            <a:ext cx="66450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Auxiliary loss</a:t>
            </a:r>
            <a:r>
              <a:rPr lang="en">
                <a:solidFill>
                  <a:schemeClr val="dk1"/>
                </a:solidFill>
              </a:rPr>
              <a:t> → per-block supervision during iterative refinement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2" name="Google Shape;402;p53"/>
          <p:cNvSpPr txBox="1"/>
          <p:nvPr/>
        </p:nvSpPr>
        <p:spPr>
          <a:xfrm>
            <a:off x="1958275" y="3117075"/>
            <a:ext cx="6105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Distogram loss</a:t>
            </a:r>
            <a:r>
              <a:rPr lang="en">
                <a:solidFill>
                  <a:schemeClr val="dk1"/>
                </a:solidFill>
              </a:rPr>
              <a:t> → supervision on the pair representation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3" name="Google Shape;403;p53"/>
          <p:cNvSpPr txBox="1"/>
          <p:nvPr/>
        </p:nvSpPr>
        <p:spPr>
          <a:xfrm>
            <a:off x="1946275" y="3808625"/>
            <a:ext cx="68328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Masked MSA loss</a:t>
            </a:r>
            <a:r>
              <a:rPr lang="en">
                <a:solidFill>
                  <a:schemeClr val="dk1"/>
                </a:solidFill>
              </a:rPr>
              <a:t> → recovery of masked amino acids from evolutionary context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4" name="Google Shape;404;p53"/>
          <p:cNvSpPr txBox="1"/>
          <p:nvPr/>
        </p:nvSpPr>
        <p:spPr>
          <a:xfrm>
            <a:off x="1938475" y="4510063"/>
            <a:ext cx="62325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Confidence loss</a:t>
            </a:r>
            <a:r>
              <a:rPr lang="en">
                <a:solidFill>
                  <a:schemeClr val="dk1"/>
                </a:solidFill>
              </a:rPr>
              <a:t> → supervision for confidence estimation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5" name="Google Shape;405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 txBox="1"/>
          <p:nvPr/>
        </p:nvSpPr>
        <p:spPr>
          <a:xfrm>
            <a:off x="605100" y="0"/>
            <a:ext cx="79338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The Second Training Phase Adds Experimental and Violation Losses</a:t>
            </a:r>
            <a:endParaRPr sz="1800" b="1">
              <a:solidFill>
                <a:schemeClr val="dk1"/>
              </a:solidFill>
            </a:endParaRPr>
          </a:p>
        </p:txBody>
      </p:sp>
      <p:grpSp>
        <p:nvGrpSpPr>
          <p:cNvPr id="411" name="Google Shape;411;p54"/>
          <p:cNvGrpSpPr/>
          <p:nvPr/>
        </p:nvGrpSpPr>
        <p:grpSpPr>
          <a:xfrm>
            <a:off x="147825" y="845300"/>
            <a:ext cx="8873325" cy="316943"/>
            <a:chOff x="152400" y="1190900"/>
            <a:chExt cx="8873325" cy="316943"/>
          </a:xfrm>
        </p:grpSpPr>
        <p:pic>
          <p:nvPicPr>
            <p:cNvPr id="412" name="Google Shape;412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190900"/>
              <a:ext cx="8839200" cy="3169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54"/>
            <p:cNvSpPr/>
            <p:nvPr/>
          </p:nvSpPr>
          <p:spPr>
            <a:xfrm>
              <a:off x="6322725" y="1221625"/>
              <a:ext cx="2703000" cy="2544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" name="Google Shape;41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415" name="Google Shape;415;p54"/>
          <p:cNvSpPr txBox="1"/>
          <p:nvPr/>
        </p:nvSpPr>
        <p:spPr>
          <a:xfrm>
            <a:off x="287100" y="1413725"/>
            <a:ext cx="8251800" cy="13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100" b="1" dirty="0">
                <a:solidFill>
                  <a:schemeClr val="dk1"/>
                </a:solidFill>
              </a:rPr>
              <a:t>Experimentally resolved atom loss (</a:t>
            </a:r>
            <a:r>
              <a:rPr lang="en" sz="1100" b="1" i="1" dirty="0">
                <a:solidFill>
                  <a:schemeClr val="dk1"/>
                </a:solidFill>
              </a:rPr>
              <a:t>L</a:t>
            </a:r>
            <a:r>
              <a:rPr lang="en" sz="1100" b="1" i="1" baseline="-25000" dirty="0">
                <a:solidFill>
                  <a:schemeClr val="dk1"/>
                </a:solidFill>
              </a:rPr>
              <a:t>exp_resolved</a:t>
            </a:r>
            <a:r>
              <a:rPr lang="en" sz="1100" b="1" dirty="0">
                <a:solidFill>
                  <a:schemeClr val="dk1"/>
                </a:solidFill>
              </a:rPr>
              <a:t>):</a:t>
            </a:r>
          </a:p>
          <a:p>
            <a:pPr lvl="0"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100" dirty="0"/>
              <a:t>Not every atom has </a:t>
            </a:r>
            <a:r>
              <a:rPr lang="en-US" sz="1100" b="1" dirty="0"/>
              <a:t>experimentally determined coordinates</a:t>
            </a:r>
            <a:r>
              <a:rPr lang="en-US" sz="1100" dirty="0"/>
              <a:t>. AlphaFold 2 includes an auxiliary prediction of </a:t>
            </a:r>
            <a:r>
              <a:rPr lang="en-US" sz="1100" b="1" dirty="0"/>
              <a:t>whether each atom was experimentally resolved</a:t>
            </a:r>
            <a:r>
              <a:rPr lang="en-US" sz="1100" dirty="0"/>
              <a:t>. This loss trains that prediction using </a:t>
            </a:r>
            <a:r>
              <a:rPr lang="en-US" sz="1100" b="1" dirty="0"/>
              <a:t>resolved/unresolved labels</a:t>
            </a:r>
            <a:r>
              <a:rPr lang="en-US" sz="1100" dirty="0"/>
              <a:t>. Missing coordinates are handled separately: structural losses </a:t>
            </a:r>
            <a:r>
              <a:rPr lang="en-US" sz="1100" b="1" dirty="0"/>
              <a:t>ignore comparisons</a:t>
            </a:r>
            <a:r>
              <a:rPr lang="en-US" sz="1100" dirty="0"/>
              <a:t> that require unavailable experimental coordinates.</a:t>
            </a:r>
            <a:endParaRPr lang="en" sz="1100" b="1" dirty="0">
              <a:solidFill>
                <a:schemeClr val="dk1"/>
              </a:solidFill>
            </a:endParaRPr>
          </a:p>
        </p:txBody>
      </p:sp>
      <p:sp>
        <p:nvSpPr>
          <p:cNvPr id="416" name="Google Shape;416;p54"/>
          <p:cNvSpPr txBox="1"/>
          <p:nvPr/>
        </p:nvSpPr>
        <p:spPr>
          <a:xfrm>
            <a:off x="287100" y="3073900"/>
            <a:ext cx="8450700" cy="16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100" b="1" dirty="0">
                <a:solidFill>
                  <a:schemeClr val="dk1"/>
                </a:solidFill>
              </a:rPr>
              <a:t>Violation loss (</a:t>
            </a:r>
            <a:r>
              <a:rPr lang="en" sz="1100" b="1" i="1" dirty="0">
                <a:solidFill>
                  <a:schemeClr val="dk1"/>
                </a:solidFill>
              </a:rPr>
              <a:t>L</a:t>
            </a:r>
            <a:r>
              <a:rPr lang="en" sz="1100" b="1" i="1" baseline="-25000" dirty="0">
                <a:solidFill>
                  <a:schemeClr val="dk1"/>
                </a:solidFill>
              </a:rPr>
              <a:t>viol</a:t>
            </a:r>
            <a:r>
              <a:rPr lang="en" sz="1100" b="1" dirty="0">
                <a:solidFill>
                  <a:schemeClr val="dk1"/>
                </a:solidFill>
              </a:rPr>
              <a:t>):</a:t>
            </a:r>
          </a:p>
          <a:p>
            <a:pPr lvl="0"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100" dirty="0"/>
              <a:t>A predicted protein can have the right </a:t>
            </a:r>
            <a:r>
              <a:rPr lang="en-US" sz="1100" b="1" dirty="0"/>
              <a:t>overall shape</a:t>
            </a:r>
            <a:r>
              <a:rPr lang="en-US" sz="1100" dirty="0"/>
              <a:t> but still contain </a:t>
            </a:r>
            <a:r>
              <a:rPr lang="en-US" sz="1100" b="1" dirty="0"/>
              <a:t>unrealistic local geometry</a:t>
            </a:r>
            <a:r>
              <a:rPr lang="en-US" sz="1100" dirty="0"/>
              <a:t>. This loss penalizes atoms coming too close together (</a:t>
            </a:r>
            <a:r>
              <a:rPr lang="en-US" sz="1100" b="1" dirty="0"/>
              <a:t>steric clashes</a:t>
            </a:r>
            <a:r>
              <a:rPr lang="en-US" sz="1100" dirty="0"/>
              <a:t>), incorrect </a:t>
            </a:r>
            <a:r>
              <a:rPr lang="en-US" sz="1100" b="1" dirty="0"/>
              <a:t>bond lengths</a:t>
            </a:r>
            <a:r>
              <a:rPr lang="en-US" sz="1100" dirty="0"/>
              <a:t>, and incorrect </a:t>
            </a:r>
            <a:r>
              <a:rPr lang="en-US" sz="1100" b="1" dirty="0"/>
              <a:t>bond angles</a:t>
            </a:r>
            <a:r>
              <a:rPr lang="en-US" sz="1100" dirty="0"/>
              <a:t>. During fine-tuning, it encourages </a:t>
            </a:r>
            <a:r>
              <a:rPr lang="en-US" sz="1100" b="1" dirty="0"/>
              <a:t>chemically plausible structures</a:t>
            </a:r>
            <a:r>
              <a:rPr lang="en-US" sz="1100" dirty="0"/>
              <a:t>, including in regions </a:t>
            </a:r>
            <a:r>
              <a:rPr lang="en-US" sz="1100" b="1" dirty="0"/>
              <a:t>without experimental coordinates</a:t>
            </a:r>
            <a:r>
              <a:rPr lang="en-US" sz="1100" dirty="0"/>
              <a:t>. These are </a:t>
            </a:r>
            <a:r>
              <a:rPr lang="en-US" sz="1100" b="1" dirty="0"/>
              <a:t>soft penalties</a:t>
            </a:r>
            <a:r>
              <a:rPr lang="en-US" sz="1100" dirty="0"/>
              <a:t>, so some violations can still remain.</a:t>
            </a:r>
            <a:endParaRPr sz="11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 txBox="1"/>
          <p:nvPr/>
        </p:nvSpPr>
        <p:spPr>
          <a:xfrm>
            <a:off x="1664150" y="0"/>
            <a:ext cx="6630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Ablation Studies Reveal Which Components Matter Most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22" name="Google Shape;422;p55"/>
          <p:cNvSpPr txBox="1"/>
          <p:nvPr/>
        </p:nvSpPr>
        <p:spPr>
          <a:xfrm>
            <a:off x="554600" y="4591350"/>
            <a:ext cx="8641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“Highly accurate protein structure prediction with AlphaFold” </a:t>
            </a:r>
            <a:r>
              <a:rPr lang="en">
                <a:solidFill>
                  <a:schemeClr val="dk1"/>
                </a:solidFill>
              </a:rPr>
              <a:t>by J. Jumper et al., Nature, 2021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23" name="Google Shape;42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727" y="667263"/>
            <a:ext cx="4551157" cy="380897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6"/>
          <p:cNvSpPr txBox="1"/>
          <p:nvPr/>
        </p:nvSpPr>
        <p:spPr>
          <a:xfrm>
            <a:off x="1876950" y="0"/>
            <a:ext cx="539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IPA and Recycling Are Critical for Performance 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30" name="Google Shape;430;p56"/>
          <p:cNvSpPr txBox="1"/>
          <p:nvPr/>
        </p:nvSpPr>
        <p:spPr>
          <a:xfrm>
            <a:off x="152398" y="4308862"/>
            <a:ext cx="88392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8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Remember → In </a:t>
            </a:r>
            <a:r>
              <a:rPr lang="en" sz="1100" b="1" dirty="0">
                <a:solidFill>
                  <a:schemeClr val="dk1"/>
                </a:solidFill>
              </a:rPr>
              <a:t>AlphaFold 2</a:t>
            </a:r>
            <a:r>
              <a:rPr lang="en" sz="1100" dirty="0">
                <a:solidFill>
                  <a:schemeClr val="dk1"/>
                </a:solidFill>
              </a:rPr>
              <a:t>, </a:t>
            </a:r>
            <a:r>
              <a:rPr lang="en" sz="1100" b="1" dirty="0">
                <a:solidFill>
                  <a:schemeClr val="dk1"/>
                </a:solidFill>
              </a:rPr>
              <a:t>IPA</a:t>
            </a:r>
            <a:r>
              <a:rPr lang="en" sz="1100" dirty="0">
                <a:solidFill>
                  <a:schemeClr val="dk1"/>
                </a:solidFill>
              </a:rPr>
              <a:t> stands for </a:t>
            </a:r>
            <a:r>
              <a:rPr lang="en" sz="1100" b="1" i="1" dirty="0">
                <a:solidFill>
                  <a:schemeClr val="dk1"/>
                </a:solidFill>
              </a:rPr>
              <a:t>Invariant Point Attention</a:t>
            </a:r>
            <a:r>
              <a:rPr lang="en" sz="1100" dirty="0">
                <a:solidFill>
                  <a:schemeClr val="dk1"/>
                </a:solidFill>
              </a:rPr>
              <a:t>. It’s one of the key architectural innovations that allows the model to reason directly in </a:t>
            </a:r>
            <a:r>
              <a:rPr lang="en" sz="1100" b="1" dirty="0">
                <a:solidFill>
                  <a:schemeClr val="dk1"/>
                </a:solidFill>
              </a:rPr>
              <a:t>3D space</a:t>
            </a:r>
            <a:r>
              <a:rPr lang="en" sz="1100" dirty="0">
                <a:solidFill>
                  <a:schemeClr val="dk1"/>
                </a:solidFill>
              </a:rPr>
              <a:t> while remaining consistent under rotations and translations.</a:t>
            </a:r>
            <a:endParaRPr dirty="0"/>
          </a:p>
        </p:txBody>
      </p:sp>
      <p:pic>
        <p:nvPicPr>
          <p:cNvPr id="431" name="Google Shape;43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" y="518100"/>
            <a:ext cx="3391499" cy="298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56"/>
          <p:cNvGrpSpPr/>
          <p:nvPr/>
        </p:nvGrpSpPr>
        <p:grpSpPr>
          <a:xfrm>
            <a:off x="825488" y="3505850"/>
            <a:ext cx="7493020" cy="1027525"/>
            <a:chOff x="1049350" y="3505850"/>
            <a:chExt cx="7493020" cy="1027525"/>
          </a:xfrm>
        </p:grpSpPr>
        <p:pic>
          <p:nvPicPr>
            <p:cNvPr id="433" name="Google Shape;433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49350" y="3505850"/>
              <a:ext cx="7493020" cy="1027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56"/>
            <p:cNvSpPr/>
            <p:nvPr/>
          </p:nvSpPr>
          <p:spPr>
            <a:xfrm rot="8263579">
              <a:off x="5136144" y="3827198"/>
              <a:ext cx="26759" cy="375312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435" name="Google Shape;435;p56"/>
            <p:cNvSpPr/>
            <p:nvPr/>
          </p:nvSpPr>
          <p:spPr>
            <a:xfrm rot="-8100000">
              <a:off x="5136153" y="3831882"/>
              <a:ext cx="26729" cy="375474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rgbClr val="FF0000"/>
                </a:highlight>
              </a:endParaRPr>
            </a:p>
          </p:txBody>
        </p:sp>
      </p:grpSp>
      <p:grpSp>
        <p:nvGrpSpPr>
          <p:cNvPr id="436" name="Google Shape;436;p56"/>
          <p:cNvGrpSpPr/>
          <p:nvPr/>
        </p:nvGrpSpPr>
        <p:grpSpPr>
          <a:xfrm>
            <a:off x="5448249" y="406876"/>
            <a:ext cx="3497374" cy="3182050"/>
            <a:chOff x="5448249" y="406876"/>
            <a:chExt cx="3497374" cy="3182050"/>
          </a:xfrm>
        </p:grpSpPr>
        <p:pic>
          <p:nvPicPr>
            <p:cNvPr id="437" name="Google Shape;437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48249" y="406876"/>
              <a:ext cx="3497374" cy="2927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56"/>
            <p:cNvSpPr/>
            <p:nvPr/>
          </p:nvSpPr>
          <p:spPr>
            <a:xfrm rot="5400000">
              <a:off x="6101925" y="3192776"/>
              <a:ext cx="651900" cy="1404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6"/>
            <p:cNvSpPr/>
            <p:nvPr/>
          </p:nvSpPr>
          <p:spPr>
            <a:xfrm>
              <a:off x="6004724" y="2779850"/>
              <a:ext cx="810900" cy="13770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0" name="Google Shape;440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441" name="Google Shape;441;p56"/>
          <p:cNvSpPr/>
          <p:nvPr/>
        </p:nvSpPr>
        <p:spPr>
          <a:xfrm rot="10800000" flipH="1">
            <a:off x="3460075" y="1247825"/>
            <a:ext cx="2349300" cy="2350200"/>
          </a:xfrm>
          <a:prstGeom prst="bentUpArrow">
            <a:avLst>
              <a:gd name="adj1" fmla="val 2812"/>
              <a:gd name="adj2" fmla="val 7566"/>
              <a:gd name="adj3" fmla="val 8711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56"/>
          <p:cNvSpPr/>
          <p:nvPr/>
        </p:nvSpPr>
        <p:spPr>
          <a:xfrm>
            <a:off x="5146950" y="3629075"/>
            <a:ext cx="2804700" cy="755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/>
        </p:nvSpPr>
        <p:spPr>
          <a:xfrm>
            <a:off x="3478950" y="1955650"/>
            <a:ext cx="2186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chemeClr val="dk1"/>
                </a:solidFill>
              </a:rPr>
              <a:t>OpenFold</a:t>
            </a:r>
            <a:endParaRPr sz="3300" b="1">
              <a:solidFill>
                <a:schemeClr val="dk1"/>
              </a:solidFill>
            </a:endParaRPr>
          </a:p>
        </p:txBody>
      </p:sp>
      <p:sp>
        <p:nvSpPr>
          <p:cNvPr id="448" name="Google Shape;448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012" y="570375"/>
            <a:ext cx="5171976" cy="24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8"/>
          <p:cNvSpPr txBox="1"/>
          <p:nvPr/>
        </p:nvSpPr>
        <p:spPr>
          <a:xfrm>
            <a:off x="1616450" y="0"/>
            <a:ext cx="61419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OpenFold Prioritized Reproducibility and Trainability</a:t>
            </a:r>
            <a:endParaRPr sz="1800" b="1">
              <a:solidFill>
                <a:schemeClr val="dk1"/>
              </a:solidFill>
            </a:endParaRPr>
          </a:p>
        </p:txBody>
      </p:sp>
      <p:grpSp>
        <p:nvGrpSpPr>
          <p:cNvPr id="455" name="Google Shape;455;p58"/>
          <p:cNvGrpSpPr/>
          <p:nvPr/>
        </p:nvGrpSpPr>
        <p:grpSpPr>
          <a:xfrm>
            <a:off x="1071175" y="3102425"/>
            <a:ext cx="6906260" cy="1864825"/>
            <a:chOff x="1071175" y="3102425"/>
            <a:chExt cx="6906260" cy="1864825"/>
          </a:xfrm>
        </p:grpSpPr>
        <p:pic>
          <p:nvPicPr>
            <p:cNvPr id="456" name="Google Shape;456;p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71175" y="3102425"/>
              <a:ext cx="6906260" cy="1864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58"/>
            <p:cNvSpPr/>
            <p:nvPr/>
          </p:nvSpPr>
          <p:spPr>
            <a:xfrm>
              <a:off x="6277654" y="4019425"/>
              <a:ext cx="1574100" cy="6438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8" name="Google Shape;45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/>
        </p:nvSpPr>
        <p:spPr>
          <a:xfrm>
            <a:off x="2833805" y="0"/>
            <a:ext cx="38880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Ask</a:t>
            </a:r>
            <a:r>
              <a:rPr lang="en"/>
              <a:t> </a:t>
            </a:r>
            <a:r>
              <a:rPr lang="en" sz="1800" b="1"/>
              <a:t>DeepWiki </a:t>
            </a:r>
            <a:r>
              <a:rPr lang="en" sz="1800" b="1">
                <a:solidFill>
                  <a:schemeClr val="dk1"/>
                </a:solidFill>
              </a:rPr>
              <a:t>for concrete Details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64" name="Google Shape;464;p59"/>
          <p:cNvSpPr txBox="1"/>
          <p:nvPr/>
        </p:nvSpPr>
        <p:spPr>
          <a:xfrm>
            <a:off x="383625" y="4705625"/>
            <a:ext cx="864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Append github username and repository name to the</a:t>
            </a:r>
            <a:r>
              <a:rPr lang="en" sz="1200" b="1">
                <a:solidFill>
                  <a:schemeClr val="dk1"/>
                </a:solidFill>
              </a:rPr>
              <a:t> deepwiki.com </a:t>
            </a:r>
            <a:r>
              <a:rPr lang="en" sz="1200">
                <a:solidFill>
                  <a:schemeClr val="dk1"/>
                </a:solidFill>
              </a:rPr>
              <a:t>URL </a:t>
            </a:r>
            <a:r>
              <a:rPr lang="en" sz="1200" b="1">
                <a:solidFill>
                  <a:schemeClr val="dk1"/>
                </a:solidFill>
              </a:rPr>
              <a:t>→</a:t>
            </a:r>
            <a:r>
              <a:rPr lang="en" sz="1200" b="1">
                <a:solidFill>
                  <a:srgbClr val="FF0000"/>
                </a:solidFill>
              </a:rPr>
              <a:t> https://deepwiki.com</a:t>
            </a:r>
            <a:r>
              <a:rPr lang="en" sz="1200" b="1">
                <a:solidFill>
                  <a:schemeClr val="dk1"/>
                </a:solidFill>
              </a:rPr>
              <a:t>/</a:t>
            </a:r>
            <a:r>
              <a:rPr lang="en" sz="1200" b="1">
                <a:solidFill>
                  <a:srgbClr val="A4C2F4"/>
                </a:solidFill>
              </a:rPr>
              <a:t>aqlaboratory</a:t>
            </a:r>
            <a:r>
              <a:rPr lang="en" sz="1200" b="1">
                <a:solidFill>
                  <a:schemeClr val="dk1"/>
                </a:solidFill>
              </a:rPr>
              <a:t>/</a:t>
            </a:r>
            <a:r>
              <a:rPr lang="en" sz="1200" b="1">
                <a:solidFill>
                  <a:srgbClr val="3C78D8"/>
                </a:solidFill>
              </a:rPr>
              <a:t>openfold</a:t>
            </a:r>
            <a:endParaRPr sz="1200">
              <a:solidFill>
                <a:srgbClr val="3C78D8"/>
              </a:solidFill>
            </a:endParaRPr>
          </a:p>
        </p:txBody>
      </p:sp>
      <p:pic>
        <p:nvPicPr>
          <p:cNvPr id="465" name="Google Shape;46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275" y="410700"/>
            <a:ext cx="6822200" cy="424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200" y="847975"/>
            <a:ext cx="5157949" cy="399207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0"/>
          <p:cNvSpPr txBox="1"/>
          <p:nvPr/>
        </p:nvSpPr>
        <p:spPr>
          <a:xfrm>
            <a:off x="1759525" y="0"/>
            <a:ext cx="55173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OpenFold Achieves Near-Parity with AlphaFold 2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72" name="Google Shape;472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8512" y="800300"/>
            <a:ext cx="3749975" cy="301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61"/>
          <p:cNvSpPr txBox="1"/>
          <p:nvPr/>
        </p:nvSpPr>
        <p:spPr>
          <a:xfrm>
            <a:off x="2093450" y="0"/>
            <a:ext cx="52626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Most Performance Emerges Early in Training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79" name="Google Shape;479;p61"/>
          <p:cNvSpPr txBox="1"/>
          <p:nvPr/>
        </p:nvSpPr>
        <p:spPr>
          <a:xfrm>
            <a:off x="646575" y="4067625"/>
            <a:ext cx="78705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model achieves </a:t>
            </a:r>
            <a:r>
              <a:rPr lang="en" sz="1800" b="1">
                <a:solidFill>
                  <a:schemeClr val="dk1"/>
                </a:solidFill>
              </a:rPr>
              <a:t>90%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 b="1">
                <a:solidFill>
                  <a:schemeClr val="dk1"/>
                </a:solidFill>
              </a:rPr>
              <a:t>of </a:t>
            </a:r>
            <a:r>
              <a:rPr lang="en" sz="1800">
                <a:solidFill>
                  <a:schemeClr val="dk1"/>
                </a:solidFill>
              </a:rPr>
              <a:t>the final </a:t>
            </a:r>
            <a:r>
              <a:rPr lang="en" sz="1800" b="1">
                <a:solidFill>
                  <a:schemeClr val="dk1"/>
                </a:solidFill>
              </a:rPr>
              <a:t>metric </a:t>
            </a:r>
            <a:r>
              <a:rPr lang="en" sz="1800">
                <a:solidFill>
                  <a:schemeClr val="dk1"/>
                </a:solidFill>
              </a:rPr>
              <a:t>in only </a:t>
            </a:r>
            <a:r>
              <a:rPr lang="en" sz="1800" b="1">
                <a:solidFill>
                  <a:schemeClr val="dk1"/>
                </a:solidFill>
              </a:rPr>
              <a:t>3%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 b="1">
                <a:solidFill>
                  <a:schemeClr val="dk1"/>
                </a:solidFill>
              </a:rPr>
              <a:t>of </a:t>
            </a:r>
            <a:r>
              <a:rPr lang="en" sz="1800">
                <a:solidFill>
                  <a:schemeClr val="dk1"/>
                </a:solidFill>
              </a:rPr>
              <a:t>the training </a:t>
            </a:r>
            <a:r>
              <a:rPr lang="en" sz="1800" b="1">
                <a:solidFill>
                  <a:schemeClr val="dk1"/>
                </a:solidFill>
              </a:rPr>
              <a:t>time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80" name="Google Shape;480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5102" y="1023425"/>
            <a:ext cx="5616600" cy="349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62"/>
          <p:cNvSpPr txBox="1"/>
          <p:nvPr/>
        </p:nvSpPr>
        <p:spPr>
          <a:xfrm>
            <a:off x="1845575" y="0"/>
            <a:ext cx="56166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Performance with Deliberately Reduced Datasets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87" name="Google Shape;487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00" y="1007000"/>
            <a:ext cx="2515874" cy="3848974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3"/>
          <p:cNvSpPr txBox="1"/>
          <p:nvPr/>
        </p:nvSpPr>
        <p:spPr>
          <a:xfrm>
            <a:off x="6288125" y="2208025"/>
            <a:ext cx="2037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chemeClr val="dk1"/>
                </a:solidFill>
              </a:rPr>
              <a:t>Nature is parsimonious in the structures it allows</a:t>
            </a:r>
            <a:endParaRPr sz="1800" b="1" i="1">
              <a:solidFill>
                <a:schemeClr val="dk1"/>
              </a:solidFill>
            </a:endParaRPr>
          </a:p>
        </p:txBody>
      </p:sp>
      <p:sp>
        <p:nvSpPr>
          <p:cNvPr id="494" name="Google Shape;494;p63"/>
          <p:cNvSpPr txBox="1"/>
          <p:nvPr/>
        </p:nvSpPr>
        <p:spPr>
          <a:xfrm>
            <a:off x="3512100" y="1387875"/>
            <a:ext cx="82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Class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95" name="Google Shape;495;p63"/>
          <p:cNvSpPr txBox="1"/>
          <p:nvPr/>
        </p:nvSpPr>
        <p:spPr>
          <a:xfrm>
            <a:off x="3512100" y="2643500"/>
            <a:ext cx="1580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Architecture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96" name="Google Shape;496;p63"/>
          <p:cNvSpPr txBox="1"/>
          <p:nvPr/>
        </p:nvSpPr>
        <p:spPr>
          <a:xfrm>
            <a:off x="3512100" y="3994025"/>
            <a:ext cx="2119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Topology or Fold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97" name="Google Shape;497;p63"/>
          <p:cNvSpPr txBox="1"/>
          <p:nvPr/>
        </p:nvSpPr>
        <p:spPr>
          <a:xfrm>
            <a:off x="2090825" y="0"/>
            <a:ext cx="544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Protein Fold Space Is Rich but Still Constrained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498" name="Google Shape;498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4"/>
          <p:cNvSpPr txBox="1"/>
          <p:nvPr/>
        </p:nvSpPr>
        <p:spPr>
          <a:xfrm>
            <a:off x="3258600" y="0"/>
            <a:ext cx="2790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Take-Home Messages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504" name="Google Shape;504;p64"/>
          <p:cNvSpPr txBox="1"/>
          <p:nvPr/>
        </p:nvSpPr>
        <p:spPr>
          <a:xfrm>
            <a:off x="55600" y="1166850"/>
            <a:ext cx="91440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" sz="1200">
                <a:solidFill>
                  <a:schemeClr val="dk1"/>
                </a:solidFill>
              </a:rPr>
              <a:t>AlphaFold 2 turned protein folding into a </a:t>
            </a:r>
            <a:r>
              <a:rPr lang="en" sz="1200" b="1">
                <a:solidFill>
                  <a:schemeClr val="dk1"/>
                </a:solidFill>
              </a:rPr>
              <a:t>learnable geometric reasoning</a:t>
            </a:r>
            <a:r>
              <a:rPr lang="en" sz="1200">
                <a:solidFill>
                  <a:schemeClr val="dk1"/>
                </a:solidFill>
              </a:rPr>
              <a:t> problem.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" sz="1200">
                <a:solidFill>
                  <a:schemeClr val="dk1"/>
                </a:solidFill>
              </a:rPr>
              <a:t>Its success came from combining </a:t>
            </a:r>
            <a:r>
              <a:rPr lang="en" sz="1200" b="1">
                <a:solidFill>
                  <a:schemeClr val="dk1"/>
                </a:solidFill>
              </a:rPr>
              <a:t>co-evolution (1D)</a:t>
            </a:r>
            <a:r>
              <a:rPr lang="en" sz="1200">
                <a:solidFill>
                  <a:schemeClr val="dk1"/>
                </a:solidFill>
              </a:rPr>
              <a:t>, </a:t>
            </a:r>
            <a:r>
              <a:rPr lang="en" sz="1200" b="1">
                <a:solidFill>
                  <a:schemeClr val="dk1"/>
                </a:solidFill>
              </a:rPr>
              <a:t>pairwise reasoning (2D)</a:t>
            </a:r>
            <a:r>
              <a:rPr lang="en" sz="1200">
                <a:solidFill>
                  <a:schemeClr val="dk1"/>
                </a:solidFill>
              </a:rPr>
              <a:t>, and </a:t>
            </a:r>
            <a:r>
              <a:rPr lang="en" sz="1200" b="1">
                <a:solidFill>
                  <a:schemeClr val="dk1"/>
                </a:solidFill>
              </a:rPr>
              <a:t>triangle equivariant updates (3D)</a:t>
            </a:r>
            <a:r>
              <a:rPr lang="en" sz="1200">
                <a:solidFill>
                  <a:schemeClr val="dk1"/>
                </a:solidFill>
              </a:rPr>
              <a:t>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" sz="1200">
                <a:solidFill>
                  <a:schemeClr val="dk1"/>
                </a:solidFill>
              </a:rPr>
              <a:t>The architecture works because its inductive biases</a:t>
            </a:r>
            <a:r>
              <a:rPr lang="en" sz="1200" b="1">
                <a:solidFill>
                  <a:schemeClr val="dk1"/>
                </a:solidFill>
              </a:rPr>
              <a:t> match the biology and the geometry</a:t>
            </a:r>
            <a:r>
              <a:rPr lang="en" sz="1200">
                <a:solidFill>
                  <a:schemeClr val="dk1"/>
                </a:solidFill>
              </a:rPr>
              <a:t>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" sz="1200" b="1">
                <a:solidFill>
                  <a:schemeClr val="dk1"/>
                </a:solidFill>
              </a:rPr>
              <a:t>Confidence prediction (pLDDT)</a:t>
            </a:r>
            <a:r>
              <a:rPr lang="en" sz="1200">
                <a:solidFill>
                  <a:schemeClr val="dk1"/>
                </a:solidFill>
              </a:rPr>
              <a:t> and reproducibility made the approach </a:t>
            </a:r>
            <a:r>
              <a:rPr lang="en" sz="1200" b="1">
                <a:solidFill>
                  <a:schemeClr val="dk1"/>
                </a:solidFill>
              </a:rPr>
              <a:t>scientifically useful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05" name="Google Shape;505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5"/>
          <p:cNvSpPr txBox="1"/>
          <p:nvPr/>
        </p:nvSpPr>
        <p:spPr>
          <a:xfrm>
            <a:off x="3720900" y="0"/>
            <a:ext cx="146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References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511" name="Google Shape;511;p65"/>
          <p:cNvSpPr txBox="1"/>
          <p:nvPr/>
        </p:nvSpPr>
        <p:spPr>
          <a:xfrm>
            <a:off x="118950" y="434330"/>
            <a:ext cx="8906100" cy="4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Theory material → </a:t>
            </a:r>
            <a:r>
              <a:rPr lang="en" sz="1100" u="sng" dirty="0">
                <a:solidFill>
                  <a:schemeClr val="hlink"/>
                </a:solidFill>
                <a:hlinkClick r:id="rId3"/>
              </a:rPr>
              <a:t>https://nazimbouatta.scholars.harvard.edu/lectures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“Highly accurate protein structure prediction with AlphaFold” paper, by Jumper et al. → </a:t>
            </a:r>
            <a:r>
              <a:rPr lang="en" sz="1100" u="sng" dirty="0">
                <a:solidFill>
                  <a:schemeClr val="hlink"/>
                </a:solidFill>
                <a:hlinkClick r:id="rId4"/>
              </a:rPr>
              <a:t>https://www.nature.com/articles/s41586-021-03819-2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Nobel Prize Talk → </a:t>
            </a:r>
            <a:r>
              <a:rPr lang="en" sz="1100" u="sng" dirty="0">
                <a:solidFill>
                  <a:schemeClr val="hlink"/>
                </a:solidFill>
                <a:hlinkClick r:id="rId5"/>
              </a:rPr>
              <a:t>https://www.youtube.com/live/HnT1VWzdFWc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CASP challenge blog post → </a:t>
            </a:r>
            <a:r>
              <a:rPr lang="en" sz="1100" u="sng" dirty="0">
                <a:solidFill>
                  <a:schemeClr val="hlink"/>
                </a:solidFill>
                <a:hlinkClick r:id="rId6"/>
              </a:rPr>
              <a:t>https://deepmind.google/blog/alphafold-a-solution-to-a-50-year-old-grand-challenge-in-biology/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OpenFold repository → </a:t>
            </a:r>
            <a:r>
              <a:rPr lang="en" sz="1100" u="sng" dirty="0">
                <a:solidFill>
                  <a:schemeClr val="hlink"/>
                </a:solidFill>
                <a:hlinkClick r:id="rId7"/>
              </a:rPr>
              <a:t>https://github.com/aqlaboratory/openfold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“OpenFold: retraining AlphaFold2 yields new insights into its learning mechanisms and capacity for generalization”, by Ahdritz et al. → </a:t>
            </a:r>
            <a:r>
              <a:rPr lang="en" sz="1100" u="sng" dirty="0">
                <a:solidFill>
                  <a:schemeClr val="hlink"/>
                </a:solidFill>
                <a:hlinkClick r:id="rId8"/>
              </a:rPr>
              <a:t>https://www.nature.com/articles/s41592-024-02272-z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DeepWiki → </a:t>
            </a:r>
            <a:r>
              <a:rPr lang="en" sz="1100" u="sng" dirty="0">
                <a:solidFill>
                  <a:schemeClr val="hlink"/>
                </a:solidFill>
                <a:hlinkClick r:id="rId9"/>
              </a:rPr>
              <a:t>https://deepwiki.com/aqlaboratory/openfold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“MSA Transformer” by Rao et al. → </a:t>
            </a:r>
            <a:r>
              <a:rPr lang="en" sz="1100" u="sng" dirty="0">
                <a:solidFill>
                  <a:schemeClr val="hlink"/>
                </a:solidFill>
                <a:hlinkClick r:id="rId10"/>
              </a:rPr>
              <a:t>https://www.biorxiv.org/content/10.1101/2021.02.12.430858v1.full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“E(n) Equivariant Graph Neural Networks”, by Satorras et al. → </a:t>
            </a:r>
            <a:r>
              <a:rPr lang="en" sz="1100" u="sng" dirty="0">
                <a:solidFill>
                  <a:schemeClr val="hlink"/>
                </a:solidFill>
                <a:hlinkClick r:id="rId11"/>
              </a:rPr>
              <a:t>https://arxiv.org/abs/2102.09844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“Do Transformers Really Perform Bad for Graph Representation?”, by Ying et al. → </a:t>
            </a:r>
            <a:r>
              <a:rPr lang="en" sz="1100" u="sng" dirty="0">
                <a:solidFill>
                  <a:schemeClr val="hlink"/>
                </a:solidFill>
                <a:hlinkClick r:id="rId12"/>
              </a:rPr>
              <a:t>https://arxiv.org/abs/2106.05234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“CCNet: Criss-Cross Attention for Semantic Segmentation”, by Huang et al. → </a:t>
            </a:r>
            <a:r>
              <a:rPr lang="en" sz="1100" u="sng" dirty="0">
                <a:solidFill>
                  <a:schemeClr val="hlink"/>
                </a:solidFill>
                <a:hlinkClick r:id="rId13"/>
              </a:rPr>
              <a:t>https://arxiv.org/abs/1811.11721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“Protein Assembly and Building Blocks: Beyond the Limits of the LEGO Brick Metaphor”,  by  Y. Levy → </a:t>
            </a:r>
            <a:r>
              <a:rPr lang="en" sz="1100" u="sng" dirty="0">
                <a:solidFill>
                  <a:schemeClr val="hlink"/>
                </a:solidFill>
                <a:hlinkClick r:id="rId14"/>
              </a:rPr>
              <a:t>https://www.semanticscholar.org/paper/Protein-Assembly-and-Building-Blocks%3A-Beyond-the-of-Levy/86a997321430edf8815f35d5e7254c1b9e7a1dd2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512" name="Google Shape;512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53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2842</Words>
  <Application>Microsoft Office PowerPoint</Application>
  <PresentationFormat>On-screen Show (16:9)</PresentationFormat>
  <Paragraphs>281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6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Caus, Danu</cp:lastModifiedBy>
  <cp:revision>1</cp:revision>
  <dcterms:modified xsi:type="dcterms:W3CDTF">2026-10-06T13:32:42Z</dcterms:modified>
</cp:coreProperties>
</file>