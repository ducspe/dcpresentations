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747775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orient="horz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61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us, Danu" userId="76bbb7e8-a05c-4774-86b8-3bcd1c5d58b7" providerId="ADAL" clId="{25141FD5-A6FE-43F2-8E7E-7262B0A5DBE9}"/>
    <pc:docChg chg="modSld">
      <pc:chgData name="Caus, Danu" userId="76bbb7e8-a05c-4774-86b8-3bcd1c5d58b7" providerId="ADAL" clId="{25141FD5-A6FE-43F2-8E7E-7262B0A5DBE9}" dt="2026-10-04T09:36:59.391" v="16" actId="1037"/>
      <pc:docMkLst>
        <pc:docMk/>
      </pc:docMkLst>
      <pc:sldChg chg="modSp mod">
        <pc:chgData name="Caus, Danu" userId="76bbb7e8-a05c-4774-86b8-3bcd1c5d58b7" providerId="ADAL" clId="{25141FD5-A6FE-43F2-8E7E-7262B0A5DBE9}" dt="2026-10-04T09:35:49.980" v="10" actId="1037"/>
        <pc:sldMkLst>
          <pc:docMk/>
          <pc:sldMk cId="0" sldId="280"/>
        </pc:sldMkLst>
        <pc:spChg chg="mod">
          <ac:chgData name="Caus, Danu" userId="76bbb7e8-a05c-4774-86b8-3bcd1c5d58b7" providerId="ADAL" clId="{25141FD5-A6FE-43F2-8E7E-7262B0A5DBE9}" dt="2026-10-04T09:35:49.980" v="10" actId="1037"/>
          <ac:spMkLst>
            <pc:docMk/>
            <pc:sldMk cId="0" sldId="280"/>
            <ac:spMk id="255" creationId="{00000000-0000-0000-0000-000000000000}"/>
          </ac:spMkLst>
        </pc:spChg>
      </pc:sldChg>
      <pc:sldChg chg="modSp mod">
        <pc:chgData name="Caus, Danu" userId="76bbb7e8-a05c-4774-86b8-3bcd1c5d58b7" providerId="ADAL" clId="{25141FD5-A6FE-43F2-8E7E-7262B0A5DBE9}" dt="2026-10-04T09:36:59.391" v="16" actId="1037"/>
        <pc:sldMkLst>
          <pc:docMk/>
          <pc:sldMk cId="0" sldId="298"/>
        </pc:sldMkLst>
        <pc:picChg chg="mod">
          <ac:chgData name="Caus, Danu" userId="76bbb7e8-a05c-4774-86b8-3bcd1c5d58b7" providerId="ADAL" clId="{25141FD5-A6FE-43F2-8E7E-7262B0A5DBE9}" dt="2026-10-04T09:36:59.391" v="16" actId="1037"/>
          <ac:picMkLst>
            <pc:docMk/>
            <pc:sldMk cId="0" sldId="298"/>
            <ac:picMk id="423" creationId="{00000000-0000-0000-0000-000000000000}"/>
          </ac:picMkLst>
        </pc:picChg>
      </pc:sldChg>
      <pc:sldChg chg="modSp mod">
        <pc:chgData name="Caus, Danu" userId="76bbb7e8-a05c-4774-86b8-3bcd1c5d58b7" providerId="ADAL" clId="{25141FD5-A6FE-43F2-8E7E-7262B0A5DBE9}" dt="2026-10-03T09:19:13.974" v="0" actId="1076"/>
        <pc:sldMkLst>
          <pc:docMk/>
          <pc:sldMk cId="0" sldId="299"/>
        </pc:sldMkLst>
        <pc:spChg chg="mod">
          <ac:chgData name="Caus, Danu" userId="76bbb7e8-a05c-4774-86b8-3bcd1c5d58b7" providerId="ADAL" clId="{25141FD5-A6FE-43F2-8E7E-7262B0A5DBE9}" dt="2026-10-03T09:19:13.974" v="0" actId="1076"/>
          <ac:spMkLst>
            <pc:docMk/>
            <pc:sldMk cId="0" sldId="299"/>
            <ac:spMk id="43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live/HnT1VWzdFWc?si=UFpn88-tfqoCicw2&amp;t=4472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mind.google/blog/alphafold-a-solution-to-a-50-year-old-grand-challenge-in-biology/?utm_source=chatgpt.com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s41586-021-03819-2/figures/1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yqeUH4RsJp8?si=HdVgS42s6IYCoQTT&amp;t=2353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yqeUH4RsJp8?si=xP8f2NNcNfyTD_ks&amp;t=2555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live/HnT1VWzdFWc?si=6ahkv6q_wM41T39C&amp;t=5053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Xli-4UMtF7sbY0pi&amp;t=128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VLqUBel55hr8XzY_&amp;t=218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olQKoYOxeHCqKBMf&amp;t=787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xAEug8cseT6R5I5c&amp;t=808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9Xk8Tmp3fUQxSL9q&amp;t=881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eEOiopaMBRxOJAQj&amp;t=953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R9sgcWlrdJpCW31N&amp;t=1015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ridfpMhFRH4SjKOY&amp;t=1781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x9p6lARiM5aXfeRX&amp;t=1384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8RzAPoHFJldEq26I&amp;t=1908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NPHXZPgqI2k11Ifq&amp;t=2035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vcvWHcc_sJC4611G&amp;t=2145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7OSJZVgex2B__EXi&amp;t=2155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6s_PlQVIk17iW9YH&amp;t=2366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pTw3hBN7KFLDscy1&amp;t=2505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C3Y1HCO4zGry1Jh1&amp;t=2590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-nPHDMZG79afFDwT&amp;t=2687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V-9oFSwiI8MEuwhg&amp;t=2917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4J-jJRzt1vhNGJHo&amp;t=3019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6Hl2hwAyvsqZHTBr&amp;t=3248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T6uOQ5jmTC9yELUv&amp;t=3347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mtCleM1-lpNZj3i5&amp;t=3973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s5f1HJScCh5tmfmZ&amp;t=3583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cYcmsexiO7WHTPWS&amp;t=4407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EhvG9TWsNUM108LL&amp;t=3759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dpUrNWuKP5LLEBku&amp;t=4067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youtu.be/ri39B0Voujc?si=-ojbHUBxR6nZQbsy&amp;t=4078" TargetMode="External"/></Relationships>
</file>

<file path=ppt/notesSlides/_rels/notes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Ikn5DGEJJw?si=TuXlaEg6B7JxKZpN&amp;t=3835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1wTzqMyvCkI-1NUd&amp;t=4257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8k2zZTEYN1Xo9_aQ&amp;t=4342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b9egWGtPdqRCNS1i&amp;t=4465" TargetMode="External"/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nature.com/articles/s41586-021-03819-2/figures/4" TargetMode="External"/></Relationships>
</file>

<file path=ppt/notesSlides/_rels/notes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ri39B0Voujc?si=YUaeSDyL42QkvOok&amp;t=4627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nature.com/articles/s41586-021-03819-2/figures/4" TargetMode="Externa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Ikn5DGEJJw?si=QW09cm7wqplvUwNA&amp;t=2441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aqlaboratory/openfold" TargetMode="Externa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Ikn5DGEJJw?si=AjnPvVzpm9kVguyZ&amp;t=3414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Ikn5DGEJJw?si=1GlLz3qdDAISEbUh&amp;t=3737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Ikn5DGEJJw?si=iC8fAEu0mosTauXT&amp;t=4374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Ikn5DGEJJw?si=5zw91nD9Ku4abAi1&amp;t=4611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cc937c1e1e_0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cc937c1e1e_0_2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cc937c1e1e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cc937c1e1e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https://www.semanticscholar.org/paper/Protein-Assembly-and-Building-Blocks%3A-Beyond-the-of-Levy/86a997321430edf8815f35d5e7254c1b9e7a1dd2/figure/3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cc937c1e1e_0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cc937c1e1e_0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https://www.youtube.com/live/HnT1VWzdFWc?si=UFpn88-tfqoCicw2&amp;t=4472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cc937c1e1e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cc937c1e1e_0_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chemeClr val="hlink"/>
                </a:solidFill>
                <a:hlinkClick r:id="rId3"/>
              </a:rPr>
              <a:t>https://deepmind.google/blog/alphafold-a-solution-to-a-50-year-old-grand-challenge-in-biology/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c6ed44578a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c6ed44578a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c6ed44578a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c6ed44578a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https://www.nature.com/articles/s41586-021-03819-2/figures/1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6ed44578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6ed44578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https://youtu.be/yqeUH4RsJp8?si=HdVgS42s6IYCoQTT&amp;t=2353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c6ed44578a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c6ed44578a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https://youtu.be/yqeUH4RsJp8?si=xP8f2NNcNfyTD_ks&amp;t=2555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c937c1e1e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c937c1e1e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https://www.youtube.com/live/HnT1VWzdFWc?si=6ahkv6q_wM41T39C&amp;t=5053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c6ed44578a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c6ed44578a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https://youtu.be/ri39B0Voujc?si=Xli-4UMtF7sbY0pi&amp;t=128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c6ed44578a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c6ed44578a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https://youtu.be/ri39B0Voujc?si=VLqUBel55hr8XzY_&amp;t=218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6ed44578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6ed44578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https://youtu.be/ri39B0Voujc?si=olQKoYOxeHCqKBMf&amp;t=787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c6ed4457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c6ed4457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https://youtu.be/ri39B0Voujc?si=xAEug8cseT6R5I5c&amp;t=808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cc937c1e1e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cc937c1e1e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https://youtu.be/ri39B0Voujc?si=9Xk8Tmp3fUQxSL9q&amp;t=881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c937c1e1e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c937c1e1e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https://youtu.be/ri39B0Voujc?si=eEOiopaMBRxOJAQj&amp;t=953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cc937c1e1e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cc937c1e1e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https://youtu.be/ri39B0Voujc?si=R9sgcWlrdJpCW31N&amp;t=1015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c6ed44578a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c6ed44578a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https://youtu.be/ri39B0Voujc?si=THD4_Am7zqoQ8PbC&amp;t=1066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cc937c1e1e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cc937c1e1e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Standard transformers are not the right inductive bias for reasoning over graphs →</a:t>
            </a:r>
            <a:r>
              <a:rPr lang="en" sz="1600">
                <a:solidFill>
                  <a:schemeClr val="dk1"/>
                </a:solidFill>
              </a:rPr>
              <a:t> </a:t>
            </a:r>
            <a:r>
              <a:rPr lang="en"/>
              <a:t>https://youtu.be/ri39B0Voujc?si=HqV11TlXbUqS-CU7&amp;t=1226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6ed44578a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6ed44578a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https://youtu.be/ri39B0Voujc?si=yvpb-gDzFNT7cbUn&amp;t=1352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cc937c1e1e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cc937c1e1e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https://youtu.be/ri39B0Voujc?si=ridfpMhFRH4SjKOY&amp;t=1781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c937c1e1e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c937c1e1e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https://youtu.be/ri39B0Voujc?si=x9p6lARiM5aXfeRX&amp;t=1384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cc937c1e1e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3cc937c1e1e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https://youtu.be/ri39B0Voujc?si=8RzAPoHFJldEq26I&amp;t=1908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cc937c1e1e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cc937c1e1e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https://youtu.be/ri39B0Voujc?si=NPHXZPgqI2k11Ifq&amp;t=2035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cc937c1e1e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cc937c1e1e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https://youtu.be/ri39B0Voujc?si=vcvWHcc_sJC4611G&amp;t=2145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cc937c1e1e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cc937c1e1e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https://youtu.be/ri39B0Voujc?si=7OSJZVgex2B__EXi&amp;t=2155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cc937c1e1e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cc937c1e1e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https://youtu.be/ri39B0Voujc?si=6s_PlQVIk17iW9YH&amp;t=2366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cc937c1e1e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cc937c1e1e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https://youtu.be/ri39B0Voujc?si=pTw3hBN7KFLDscy1&amp;t=2505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cc937c1e1e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cc937c1e1e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https://youtu.be/ri39B0Voujc?si=C3Y1HCO4zGry1Jh1&amp;t=2590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cc937c1e1e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cc937c1e1e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https://youtu.be/ri39B0Voujc?si=-nPHDMZG79afFDwT&amp;t=2687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cc937c1e1e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cc937c1e1e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https://youtu.be/ri39B0Voujc?si=V-9oFSwiI8MEuwhg&amp;t=2917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cc937c1e1e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3cc937c1e1e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https://youtu.be/ri39B0Voujc?si=4J-jJRzt1vhNGJHo&amp;t=3019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cc937c1e1e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cc937c1e1e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https://youtu.be/ri39B0Voujc?si=6Hl2hwAyvsqZHTBr&amp;t=3248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cc937c1e1e_0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cc937c1e1e_0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https://youtu.be/ri39B0Voujc?si=T6uOQ5jmTC9yELUv&amp;t=3347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cc937c1e1e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cc937c1e1e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https://youtu.be/ri39B0Voujc?si=mtCleM1-lpNZj3i5&amp;t=3973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cc937c1e1e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cc937c1e1e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https://youtu.be/ri39B0Voujc?si=s5f1HJScCh5tmfmZ&amp;t=3583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cc937c1e1e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3cc937c1e1e_0_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https://youtu.be/ri39B0Voujc?si=cYcmsexiO7WHTPWS&amp;t=4407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loop works like this within each </a:t>
            </a:r>
            <a:r>
              <a:rPr lang="en" b="1">
                <a:solidFill>
                  <a:schemeClr val="dk1"/>
                </a:solidFill>
              </a:rPr>
              <a:t>Evoformer </a:t>
            </a:r>
            <a:r>
              <a:rPr lang="en">
                <a:solidFill>
                  <a:schemeClr val="dk1"/>
                </a:solidFill>
              </a:rPr>
              <a:t>block: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>
                <a:solidFill>
                  <a:schemeClr val="dk1"/>
                </a:solidFill>
              </a:rPr>
              <a:t>The MSA representation is updated by row attention (biased by the pair representation)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>
                <a:solidFill>
                  <a:schemeClr val="dk1"/>
                </a:solidFill>
              </a:rPr>
              <a:t>The MSA representation is updated by column attention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>
                <a:solidFill>
                  <a:schemeClr val="dk1"/>
                </a:solidFill>
              </a:rPr>
              <a:t>The pair representation receives an update from the MSA via outer product mean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>
                <a:solidFill>
                  <a:schemeClr val="dk1"/>
                </a:solidFill>
              </a:rPr>
              <a:t>The pair representation is refined by triangle updates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>
                <a:solidFill>
                  <a:schemeClr val="dk1"/>
                </a:solidFill>
              </a:rPr>
              <a:t>The updated pair representation will bias the row attention in the </a:t>
            </a:r>
            <a:r>
              <a:rPr lang="en" i="1">
                <a:solidFill>
                  <a:schemeClr val="dk1"/>
                </a:solidFill>
              </a:rPr>
              <a:t>next</a:t>
            </a:r>
            <a:r>
              <a:rPr lang="en">
                <a:solidFill>
                  <a:schemeClr val="dk1"/>
                </a:solidFill>
              </a:rPr>
              <a:t> block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cc937c1e1e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cc937c1e1e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https://youtu.be/ri39B0Voujc?si=EhvG9TWsNUM108LL&amp;t=3759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cc937c1e1e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3cc937c1e1e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1"/>
                </a:solidFill>
              </a:rPr>
              <a:t>L</a:t>
            </a:r>
            <a:r>
              <a:rPr lang="en" dirty="0">
                <a:solidFill>
                  <a:schemeClr val="dk1"/>
                </a:solidFill>
              </a:rPr>
              <a:t> is the </a:t>
            </a:r>
            <a:r>
              <a:rPr lang="en" b="1" dirty="0">
                <a:solidFill>
                  <a:schemeClr val="dk1"/>
                </a:solidFill>
              </a:rPr>
              <a:t>protein length</a:t>
            </a:r>
            <a:r>
              <a:rPr lang="en" dirty="0">
                <a:solidFill>
                  <a:schemeClr val="dk1"/>
                </a:solidFill>
              </a:rPr>
              <a:t> (number of residues), and it is used to </a:t>
            </a:r>
            <a:r>
              <a:rPr lang="en" b="1" dirty="0">
                <a:solidFill>
                  <a:schemeClr val="dk1"/>
                </a:solidFill>
              </a:rPr>
              <a:t>normalize the sum</a:t>
            </a:r>
            <a:r>
              <a:rPr lang="en" dirty="0">
                <a:solidFill>
                  <a:schemeClr val="dk1"/>
                </a:solidFill>
              </a:rPr>
              <a:t> so that the metric does not depend on how large the protein is. We average the error across the whole protein.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Here L denotes the protein length and is used to normalize the metric so that the error becomes comparable across proteins of different sizes.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https://youtu.be/ri39B0Voujc?si=dpUrNWuKP5LLEBku&amp;t=4067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4"/>
              </a:rPr>
              <a:t>https://youtu.be/ri39B0Voujc?si=-ojbHUBxR6nZQbsy&amp;t=4078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c6ed44578a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3c6ed44578a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https://youtu.be/kIkn5DGEJJw?si=TuXlaEg6B7JxKZpN&amp;t=3835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c6ed44578a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c6ed44578a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https://youtu.be/ri39B0Voujc?si=1wTzqMyvCkI-1NUd&amp;t=4257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c6ed44578a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3c6ed44578a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https://youtu.be/ri39B0Voujc?si=8k2zZTEYN1Xo9_aQ&amp;t=4342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cc937c1e1e_0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3cc937c1e1e_0_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https://youtu.be/ri39B0Voujc?si=b9egWGtPdqRCNS1i&amp;t=4465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https://www.nature.com/articles/s41586-021-03819-2/figures/4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cc937c1e1e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3cc937c1e1e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https://youtu.be/ri39B0Voujc?si=YUaeSDyL42QkvOok&amp;t=4627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https://www.nature.com/articles/s41586-021-03819-2/figures/4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cc937c1e1e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cc937c1e1e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c6ed44578a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1" name="Google Shape;451;g3c6ed44578a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https://youtu.be/kIkn5DGEJJw?si=QW09cm7wqplvUwNA&amp;t=2441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https://github.com/aqlaboratory/openfold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d2604ae9c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3d2604ae9c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https://deepwiki.com/aqlaboratory/openfold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c6ed44578a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3c6ed44578a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https://youtu.be/kIkn5DGEJJw?si=AjnPvVzpm9kVguyZ&amp;t=3414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c6ed44578a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c6ed44578a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https://youtu.be/kIkn5DGEJJw?si=1GlLz3qdDAISEbUh&amp;t=3737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c6ed44578a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3c6ed44578a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https://youtu.be/kIkn5DGEJJw?si=iC8fAEu0mosTauXT&amp;t=4374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c6ed44578a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3c6ed44578a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https://youtu.be/kIkn5DGEJJw?si=5zw91nD9Ku4abAi1&amp;t=4611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cc937c1e1e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3cc937c1e1e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d2a2380a69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3d2a2380a69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cc937c1e1e_0_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5" name="Google Shape;515;g3cc937c1e1e_0_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5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ature.com/articles/s41592-024-02272-z" TargetMode="External"/><Relationship Id="rId13" Type="http://schemas.openxmlformats.org/officeDocument/2006/relationships/hyperlink" Target="https://arxiv.org/abs/1811.11721" TargetMode="External"/><Relationship Id="rId3" Type="http://schemas.openxmlformats.org/officeDocument/2006/relationships/hyperlink" Target="https://nazimbouatta.scholars.harvard.edu/lectures" TargetMode="External"/><Relationship Id="rId7" Type="http://schemas.openxmlformats.org/officeDocument/2006/relationships/hyperlink" Target="https://github.com/aqlaboratory/openfold" TargetMode="External"/><Relationship Id="rId12" Type="http://schemas.openxmlformats.org/officeDocument/2006/relationships/hyperlink" Target="https://arxiv.org/abs/2106.05234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eepmind.google/blog/alphafold-a-solution-to-a-50-year-old-grand-challenge-in-biology/" TargetMode="External"/><Relationship Id="rId11" Type="http://schemas.openxmlformats.org/officeDocument/2006/relationships/hyperlink" Target="https://arxiv.org/abs/2102.09844" TargetMode="External"/><Relationship Id="rId5" Type="http://schemas.openxmlformats.org/officeDocument/2006/relationships/hyperlink" Target="https://www.youtube.com/live/HnT1VWzdFWc" TargetMode="External"/><Relationship Id="rId10" Type="http://schemas.openxmlformats.org/officeDocument/2006/relationships/hyperlink" Target="https://www.biorxiv.org/content/10.1101/2021.02.12.430858v1.full" TargetMode="External"/><Relationship Id="rId4" Type="http://schemas.openxmlformats.org/officeDocument/2006/relationships/hyperlink" Target="https://www.nature.com/articles/s41586-021-03819-2" TargetMode="External"/><Relationship Id="rId9" Type="http://schemas.openxmlformats.org/officeDocument/2006/relationships/hyperlink" Target="https://deepwiki.com/aqlaboratory/openfold" TargetMode="External"/><Relationship Id="rId14" Type="http://schemas.openxmlformats.org/officeDocument/2006/relationships/hyperlink" Target="https://www.semanticscholar.org/paper/Protein-Assembly-and-Building-Blocks%3A-Beyond-the-of-Levy/86a997321430edf8815f35d5e7254c1b9e7a1dd2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DFEAFB"/>
            </a:gs>
            <a:gs pos="100000">
              <a:srgbClr val="6E9CE7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16450" y="1841700"/>
            <a:ext cx="60258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>
                <a:solidFill>
                  <a:schemeClr val="dk1"/>
                </a:solidFill>
              </a:rPr>
              <a:t>               AlphaFold 2:</a:t>
            </a:r>
            <a:endParaRPr sz="33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i="1">
                <a:solidFill>
                  <a:schemeClr val="dk1"/>
                </a:solidFill>
              </a:rPr>
              <a:t>How domain-science-informed neural architectures </a:t>
            </a:r>
            <a:endParaRPr sz="1500" i="1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i="1">
                <a:solidFill>
                  <a:schemeClr val="dk1"/>
                </a:solidFill>
              </a:rPr>
              <a:t>can matter more than big data, through the lens of protein folding</a:t>
            </a:r>
            <a:endParaRPr sz="1500" i="1">
              <a:solidFill>
                <a:schemeClr val="dk1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7752000" y="4682400"/>
            <a:ext cx="13920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Danu Caus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0" y="4682400"/>
            <a:ext cx="16611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June 2026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/>
        </p:nvSpPr>
        <p:spPr>
          <a:xfrm>
            <a:off x="3317725" y="2043100"/>
            <a:ext cx="26712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1">
                <a:solidFill>
                  <a:schemeClr val="dk1"/>
                </a:solidFill>
              </a:rPr>
              <a:t>Introduction</a:t>
            </a:r>
            <a:endParaRPr sz="3300" b="1">
              <a:solidFill>
                <a:schemeClr val="dk1"/>
              </a:solidFill>
            </a:endParaRPr>
          </a:p>
        </p:txBody>
      </p:sp>
      <p:sp>
        <p:nvSpPr>
          <p:cNvPr id="62" name="Google Shape;62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290350" y="0"/>
            <a:ext cx="45633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Proteins Are Bio-LEGO-Like Structures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6288" y="851600"/>
            <a:ext cx="5010726" cy="344030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/>
          <p:nvPr/>
        </p:nvSpPr>
        <p:spPr>
          <a:xfrm>
            <a:off x="125175" y="4590950"/>
            <a:ext cx="8811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“Protein Assembly and Building Blocks: Beyond the Limits of the </a:t>
            </a:r>
            <a:r>
              <a:rPr lang="en" b="1"/>
              <a:t>LEGO </a:t>
            </a:r>
            <a:r>
              <a:rPr lang="en"/>
              <a:t>Brick </a:t>
            </a:r>
            <a:r>
              <a:rPr lang="en" b="1"/>
              <a:t>Metaphor</a:t>
            </a:r>
            <a:r>
              <a:rPr lang="en"/>
              <a:t>.”  by  Y. Levy</a:t>
            </a:r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/>
        </p:nvSpPr>
        <p:spPr>
          <a:xfrm>
            <a:off x="832650" y="4473825"/>
            <a:ext cx="78642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AlphaFold 1 was more like a </a:t>
            </a:r>
            <a:r>
              <a:rPr lang="en" sz="1800" b="1">
                <a:solidFill>
                  <a:schemeClr val="dk1"/>
                </a:solidFill>
              </a:rPr>
              <a:t>vision network</a:t>
            </a:r>
            <a:r>
              <a:rPr lang="en" sz="1800">
                <a:solidFill>
                  <a:schemeClr val="dk1"/>
                </a:solidFill>
              </a:rPr>
              <a:t> applied to distogram maps.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76" name="Google Shape;7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0138" y="758037"/>
            <a:ext cx="7555924" cy="3627425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3611200" y="0"/>
            <a:ext cx="26796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AlphaFold 1 (2018)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78" name="Google Shape;7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/>
          <p:nvPr/>
        </p:nvSpPr>
        <p:spPr>
          <a:xfrm>
            <a:off x="2411425" y="0"/>
            <a:ext cx="4832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AlphaFold 1 vs AlphaFold 2 Performance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84" name="Google Shape;8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7888" y="698925"/>
            <a:ext cx="5645124" cy="363435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7"/>
          <p:cNvSpPr txBox="1"/>
          <p:nvPr/>
        </p:nvSpPr>
        <p:spPr>
          <a:xfrm>
            <a:off x="175350" y="4333275"/>
            <a:ext cx="8922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CASP</a:t>
            </a:r>
            <a:r>
              <a:rPr lang="en">
                <a:solidFill>
                  <a:schemeClr val="dk1"/>
                </a:solidFill>
              </a:rPr>
              <a:t> is a </a:t>
            </a:r>
            <a:r>
              <a:rPr lang="en" b="1">
                <a:solidFill>
                  <a:schemeClr val="dk1"/>
                </a:solidFill>
              </a:rPr>
              <a:t>biennial international competition</a:t>
            </a:r>
            <a:r>
              <a:rPr lang="en">
                <a:solidFill>
                  <a:schemeClr val="dk1"/>
                </a:solidFill>
              </a:rPr>
              <a:t> that evaluates how well computational methods can </a:t>
            </a:r>
            <a:r>
              <a:rPr lang="en" b="1">
                <a:solidFill>
                  <a:schemeClr val="dk1"/>
                </a:solidFill>
              </a:rPr>
              <a:t>predict the 3D structure of proteins</a:t>
            </a:r>
            <a:r>
              <a:rPr lang="en">
                <a:solidFill>
                  <a:schemeClr val="dk1"/>
                </a:solidFill>
              </a:rPr>
              <a:t> from their amino-acid sequence.</a:t>
            </a:r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/>
        </p:nvSpPr>
        <p:spPr>
          <a:xfrm>
            <a:off x="3264150" y="2146425"/>
            <a:ext cx="26157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1">
                <a:solidFill>
                  <a:schemeClr val="dk1"/>
                </a:solidFill>
              </a:rPr>
              <a:t>AlphaFold 2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92" name="Google Shape;9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33575"/>
            <a:ext cx="8839196" cy="300979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3627725" y="0"/>
            <a:ext cx="22656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AlphaFold 2 (2020)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99" name="Google Shape;9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100" name="Google Shape;100;p19"/>
          <p:cNvSpPr txBox="1"/>
          <p:nvPr/>
        </p:nvSpPr>
        <p:spPr>
          <a:xfrm>
            <a:off x="1723600" y="4372950"/>
            <a:ext cx="5799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</a:rPr>
              <a:t>“Highly accurate protein structure prediction with AlphaFold”, by John Jumper et al.</a:t>
            </a:r>
            <a:endParaRPr b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/>
          <p:nvPr/>
        </p:nvSpPr>
        <p:spPr>
          <a:xfrm>
            <a:off x="2939634" y="0"/>
            <a:ext cx="3394800" cy="41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Sequence-Structure Mapping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06" name="Google Shape;10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7700" y="848652"/>
            <a:ext cx="6702950" cy="2658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108" name="Google Shape;108;p20"/>
          <p:cNvSpPr txBox="1"/>
          <p:nvPr/>
        </p:nvSpPr>
        <p:spPr>
          <a:xfrm>
            <a:off x="382550" y="3686050"/>
            <a:ext cx="776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Many different amino-acid sequences can converge to a similar 3D fold, so </a:t>
            </a:r>
            <a:r>
              <a:rPr lang="en" b="1">
                <a:solidFill>
                  <a:schemeClr val="dk1"/>
                </a:solidFill>
              </a:rPr>
              <a:t>sequence space is much larger</a:t>
            </a:r>
            <a:r>
              <a:rPr lang="en">
                <a:solidFill>
                  <a:schemeClr val="dk1"/>
                </a:solidFill>
              </a:rPr>
              <a:t> than </a:t>
            </a:r>
            <a:r>
              <a:rPr lang="en" b="1">
                <a:solidFill>
                  <a:schemeClr val="dk1"/>
                </a:solidFill>
              </a:rPr>
              <a:t>structure space</a:t>
            </a:r>
            <a:r>
              <a:rPr lang="en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This </a:t>
            </a:r>
            <a:r>
              <a:rPr lang="en" b="1">
                <a:solidFill>
                  <a:schemeClr val="dk1"/>
                </a:solidFill>
              </a:rPr>
              <a:t>many-to-one mapping</a:t>
            </a:r>
            <a:r>
              <a:rPr lang="en">
                <a:solidFill>
                  <a:schemeClr val="dk1"/>
                </a:solidFill>
              </a:rPr>
              <a:t> </a:t>
            </a:r>
            <a:r>
              <a:rPr lang="en" b="1">
                <a:solidFill>
                  <a:schemeClr val="dk1"/>
                </a:solidFill>
              </a:rPr>
              <a:t>can </a:t>
            </a:r>
            <a:r>
              <a:rPr lang="en">
                <a:solidFill>
                  <a:schemeClr val="dk1"/>
                </a:solidFill>
              </a:rPr>
              <a:t>actually </a:t>
            </a:r>
            <a:r>
              <a:rPr lang="en" b="1">
                <a:solidFill>
                  <a:schemeClr val="dk1"/>
                </a:solidFill>
              </a:rPr>
              <a:t>aid generalization</a:t>
            </a:r>
            <a:r>
              <a:rPr lang="en">
                <a:solidFill>
                  <a:schemeClr val="dk1"/>
                </a:solidFill>
              </a:rPr>
              <a:t>: diverse sequences may share the same overall fold, although predicting fine structural details remains challenging.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/>
        </p:nvSpPr>
        <p:spPr>
          <a:xfrm>
            <a:off x="2467100" y="0"/>
            <a:ext cx="4436100" cy="41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Multiple Sequence Alignments (MSA)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14" name="Google Shape;11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1032" y="890525"/>
            <a:ext cx="6814249" cy="3178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116" name="Google Shape;116;p21"/>
          <p:cNvSpPr/>
          <p:nvPr/>
        </p:nvSpPr>
        <p:spPr>
          <a:xfrm>
            <a:off x="1719807" y="4147125"/>
            <a:ext cx="5605500" cy="2625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21"/>
          <p:cNvSpPr/>
          <p:nvPr/>
        </p:nvSpPr>
        <p:spPr>
          <a:xfrm>
            <a:off x="7483820" y="1060650"/>
            <a:ext cx="238500" cy="30222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21"/>
          <p:cNvSpPr txBox="1"/>
          <p:nvPr/>
        </p:nvSpPr>
        <p:spPr>
          <a:xfrm>
            <a:off x="7621957" y="1976850"/>
            <a:ext cx="1144800" cy="1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Information across species</a:t>
            </a:r>
            <a:endParaRPr i="1">
              <a:solidFill>
                <a:schemeClr val="dk1"/>
              </a:solidFill>
            </a:endParaRPr>
          </a:p>
        </p:txBody>
      </p:sp>
      <p:sp>
        <p:nvSpPr>
          <p:cNvPr id="119" name="Google Shape;119;p21"/>
          <p:cNvSpPr txBox="1"/>
          <p:nvPr/>
        </p:nvSpPr>
        <p:spPr>
          <a:xfrm>
            <a:off x="3262057" y="4298175"/>
            <a:ext cx="2917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Information within sequence</a:t>
            </a:r>
            <a:endParaRPr i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/>
        </p:nvSpPr>
        <p:spPr>
          <a:xfrm>
            <a:off x="3007725" y="0"/>
            <a:ext cx="2846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Using Evolutionary Data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25" name="Google Shape;12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800" y="626125"/>
            <a:ext cx="3558425" cy="3767451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 txBox="1"/>
          <p:nvPr/>
        </p:nvSpPr>
        <p:spPr>
          <a:xfrm>
            <a:off x="3615275" y="1071763"/>
            <a:ext cx="5370600" cy="28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➢"/>
            </a:pPr>
            <a:r>
              <a:rPr lang="en" sz="1800">
                <a:solidFill>
                  <a:schemeClr val="dk1"/>
                </a:solidFill>
              </a:rPr>
              <a:t>BERT-style models on MSAs learned to </a:t>
            </a:r>
            <a:r>
              <a:rPr lang="en" sz="1800" b="1">
                <a:solidFill>
                  <a:schemeClr val="dk1"/>
                </a:solidFill>
              </a:rPr>
              <a:t>recover masked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 b="1">
                <a:solidFill>
                  <a:schemeClr val="dk1"/>
                </a:solidFill>
              </a:rPr>
              <a:t>evolutionary information</a:t>
            </a:r>
            <a:br>
              <a:rPr lang="en" sz="1800">
                <a:solidFill>
                  <a:schemeClr val="dk1"/>
                </a:solidFill>
              </a:rPr>
            </a:b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➢"/>
            </a:pPr>
            <a:r>
              <a:rPr lang="en" sz="1800" b="1">
                <a:solidFill>
                  <a:schemeClr val="dk1"/>
                </a:solidFill>
              </a:rPr>
              <a:t>Axial attention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 b="1">
                <a:solidFill>
                  <a:schemeClr val="dk1"/>
                </a:solidFill>
              </a:rPr>
              <a:t>alternates between</a:t>
            </a:r>
            <a:r>
              <a:rPr lang="en" sz="1800">
                <a:solidFill>
                  <a:schemeClr val="dk1"/>
                </a:solidFill>
              </a:rPr>
              <a:t> processing </a:t>
            </a:r>
            <a:r>
              <a:rPr lang="en" sz="1800" b="1">
                <a:solidFill>
                  <a:schemeClr val="dk1"/>
                </a:solidFill>
              </a:rPr>
              <a:t>within </a:t>
            </a:r>
            <a:r>
              <a:rPr lang="en" sz="1800">
                <a:solidFill>
                  <a:schemeClr val="dk1"/>
                </a:solidFill>
              </a:rPr>
              <a:t>sequences </a:t>
            </a:r>
            <a:r>
              <a:rPr lang="en" sz="1800" b="1">
                <a:solidFill>
                  <a:schemeClr val="dk1"/>
                </a:solidFill>
              </a:rPr>
              <a:t>and across sequences</a:t>
            </a:r>
            <a:br>
              <a:rPr lang="en" sz="1800">
                <a:solidFill>
                  <a:schemeClr val="dk1"/>
                </a:solidFill>
              </a:rPr>
            </a:b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➢"/>
            </a:pPr>
            <a:r>
              <a:rPr lang="en" sz="1800">
                <a:solidFill>
                  <a:schemeClr val="dk1"/>
                </a:solidFill>
              </a:rPr>
              <a:t>This architectural choice </a:t>
            </a:r>
            <a:r>
              <a:rPr lang="en" sz="1800" b="1">
                <a:solidFill>
                  <a:schemeClr val="dk1"/>
                </a:solidFill>
              </a:rPr>
              <a:t>aligned </a:t>
            </a:r>
            <a:r>
              <a:rPr lang="en" sz="1800">
                <a:solidFill>
                  <a:schemeClr val="dk1"/>
                </a:solidFill>
              </a:rPr>
              <a:t>the </a:t>
            </a:r>
            <a:r>
              <a:rPr lang="en" sz="1800" b="1">
                <a:solidFill>
                  <a:schemeClr val="dk1"/>
                </a:solidFill>
              </a:rPr>
              <a:t>network operations with </a:t>
            </a:r>
            <a:r>
              <a:rPr lang="en" sz="1800">
                <a:solidFill>
                  <a:schemeClr val="dk1"/>
                </a:solidFill>
              </a:rPr>
              <a:t>the </a:t>
            </a:r>
            <a:r>
              <a:rPr lang="en" sz="1800" b="1">
                <a:solidFill>
                  <a:schemeClr val="dk1"/>
                </a:solidFill>
              </a:rPr>
              <a:t>biological structure </a:t>
            </a:r>
            <a:r>
              <a:rPr lang="en" sz="1800">
                <a:solidFill>
                  <a:schemeClr val="dk1"/>
                </a:solidFill>
              </a:rPr>
              <a:t>of the problem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>
              <a:solidFill>
                <a:schemeClr val="dk1"/>
              </a:solidFill>
            </a:endParaRPr>
          </a:p>
        </p:txBody>
      </p:sp>
      <p:sp>
        <p:nvSpPr>
          <p:cNvPr id="127" name="Google Shape;127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/>
          <p:nvPr/>
        </p:nvSpPr>
        <p:spPr>
          <a:xfrm>
            <a:off x="1648250" y="0"/>
            <a:ext cx="59304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AlphaFold 2 Links 1D, 2D, and 3D Representations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33" name="Google Shape;13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18100"/>
            <a:ext cx="7640289" cy="4473001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 txBox="1"/>
          <p:nvPr/>
        </p:nvSpPr>
        <p:spPr>
          <a:xfrm>
            <a:off x="7961725" y="1110325"/>
            <a:ext cx="1095600" cy="1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</a:rPr>
              <a:t>3D Structure</a:t>
            </a:r>
            <a:endParaRPr sz="1100" b="1">
              <a:solidFill>
                <a:schemeClr val="dk1"/>
              </a:solidFill>
            </a:endParaRPr>
          </a:p>
        </p:txBody>
      </p:sp>
      <p:sp>
        <p:nvSpPr>
          <p:cNvPr id="135" name="Google Shape;135;p23"/>
          <p:cNvSpPr txBox="1"/>
          <p:nvPr/>
        </p:nvSpPr>
        <p:spPr>
          <a:xfrm>
            <a:off x="7961725" y="2659200"/>
            <a:ext cx="1059300" cy="1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</a:rPr>
              <a:t>2D</a:t>
            </a:r>
            <a:r>
              <a:rPr lang="en" sz="1100" b="1">
                <a:solidFill>
                  <a:schemeClr val="dk2"/>
                </a:solidFill>
              </a:rPr>
              <a:t> </a:t>
            </a:r>
            <a:r>
              <a:rPr lang="en" sz="1100" b="1">
                <a:solidFill>
                  <a:schemeClr val="dk1"/>
                </a:solidFill>
              </a:rPr>
              <a:t>Structure</a:t>
            </a:r>
            <a:endParaRPr sz="1100" b="1">
              <a:solidFill>
                <a:schemeClr val="dk2"/>
              </a:solidFill>
            </a:endParaRPr>
          </a:p>
        </p:txBody>
      </p:sp>
      <p:sp>
        <p:nvSpPr>
          <p:cNvPr id="136" name="Google Shape;136;p23"/>
          <p:cNvSpPr txBox="1"/>
          <p:nvPr/>
        </p:nvSpPr>
        <p:spPr>
          <a:xfrm>
            <a:off x="7941775" y="3988150"/>
            <a:ext cx="1135500" cy="1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</a:rPr>
              <a:t>1D Structure</a:t>
            </a:r>
            <a:endParaRPr sz="1100" b="1">
              <a:solidFill>
                <a:schemeClr val="dk1"/>
              </a:solidFill>
            </a:endParaRPr>
          </a:p>
        </p:txBody>
      </p:sp>
      <p:sp>
        <p:nvSpPr>
          <p:cNvPr id="137" name="Google Shape;137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/>
        </p:nvSpPr>
        <p:spPr>
          <a:xfrm>
            <a:off x="0" y="988075"/>
            <a:ext cx="7419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The </a:t>
            </a:r>
            <a:r>
              <a:rPr lang="en" sz="1800" b="1">
                <a:solidFill>
                  <a:schemeClr val="dk1"/>
                </a:solidFill>
              </a:rPr>
              <a:t>key inductive bias</a:t>
            </a:r>
            <a:r>
              <a:rPr lang="en" sz="1800">
                <a:solidFill>
                  <a:schemeClr val="dk1"/>
                </a:solidFill>
              </a:rPr>
              <a:t> we want to model is the idea of </a:t>
            </a:r>
            <a:r>
              <a:rPr lang="en" sz="1800" b="1">
                <a:solidFill>
                  <a:schemeClr val="dk1"/>
                </a:solidFill>
              </a:rPr>
              <a:t>co-evolution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80963"/>
            <a:ext cx="8839201" cy="2495308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4"/>
          <p:cNvSpPr txBox="1"/>
          <p:nvPr/>
        </p:nvSpPr>
        <p:spPr>
          <a:xfrm>
            <a:off x="4239875" y="4023975"/>
            <a:ext cx="47814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Note that the </a:t>
            </a:r>
            <a:r>
              <a:rPr lang="en" sz="1800" b="1">
                <a:solidFill>
                  <a:srgbClr val="FF0000"/>
                </a:solidFill>
              </a:rPr>
              <a:t>red </a:t>
            </a:r>
            <a:r>
              <a:rPr lang="en" sz="1800">
                <a:solidFill>
                  <a:schemeClr val="dk1"/>
                </a:solidFill>
              </a:rPr>
              <a:t>tokens are the </a:t>
            </a:r>
            <a:r>
              <a:rPr lang="en" sz="1800" b="1">
                <a:solidFill>
                  <a:schemeClr val="dk1"/>
                </a:solidFill>
              </a:rPr>
              <a:t>residues</a:t>
            </a:r>
            <a:endParaRPr sz="1800" b="1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i="1">
                <a:solidFill>
                  <a:schemeClr val="dk1"/>
                </a:solidFill>
              </a:rPr>
              <a:t>(A residue is an amino acid unit within a protein chain)</a:t>
            </a:r>
            <a:endParaRPr sz="1500" i="1">
              <a:solidFill>
                <a:schemeClr val="dk1"/>
              </a:solidFill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365450" y="0"/>
            <a:ext cx="2846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Modelling Co-Evolution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146" name="Google Shape;146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18600"/>
            <a:ext cx="8839199" cy="250630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5"/>
          <p:cNvSpPr txBox="1"/>
          <p:nvPr/>
        </p:nvSpPr>
        <p:spPr>
          <a:xfrm>
            <a:off x="1473335" y="0"/>
            <a:ext cx="63756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Row Attention Integrates Information Within a Sequence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153" name="Google Shape;153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29000"/>
            <a:ext cx="8839200" cy="2346144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6"/>
          <p:cNvSpPr txBox="1"/>
          <p:nvPr/>
        </p:nvSpPr>
        <p:spPr>
          <a:xfrm>
            <a:off x="1155300" y="0"/>
            <a:ext cx="68334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Column Attention Integrates Information Across Sequences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160" name="Google Shape;160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 txBox="1"/>
          <p:nvPr/>
        </p:nvSpPr>
        <p:spPr>
          <a:xfrm>
            <a:off x="1409775" y="0"/>
            <a:ext cx="66063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Axial Attention Alternates Between Rows and Columns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66" name="Google Shape;166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724" y="596800"/>
            <a:ext cx="5738150" cy="333275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7"/>
          <p:cNvSpPr txBox="1"/>
          <p:nvPr/>
        </p:nvSpPr>
        <p:spPr>
          <a:xfrm>
            <a:off x="694050" y="4160650"/>
            <a:ext cx="7755900" cy="8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AlphaFold 2 uses </a:t>
            </a:r>
            <a:r>
              <a:rPr lang="en" b="1">
                <a:solidFill>
                  <a:schemeClr val="dk1"/>
                </a:solidFill>
              </a:rPr>
              <a:t>axial attention</a:t>
            </a:r>
            <a:r>
              <a:rPr lang="en">
                <a:solidFill>
                  <a:schemeClr val="dk1"/>
                </a:solidFill>
              </a:rPr>
              <a:t> by </a:t>
            </a:r>
            <a:r>
              <a:rPr lang="en" b="1">
                <a:solidFill>
                  <a:schemeClr val="dk1"/>
                </a:solidFill>
              </a:rPr>
              <a:t>alternating row</a:t>
            </a:r>
            <a:r>
              <a:rPr lang="en">
                <a:solidFill>
                  <a:schemeClr val="dk1"/>
                </a:solidFill>
              </a:rPr>
              <a:t> and </a:t>
            </a:r>
            <a:r>
              <a:rPr lang="en" b="1">
                <a:solidFill>
                  <a:schemeClr val="dk1"/>
                </a:solidFill>
              </a:rPr>
              <a:t>column </a:t>
            </a:r>
            <a:r>
              <a:rPr lang="en">
                <a:solidFill>
                  <a:schemeClr val="dk1"/>
                </a:solidFill>
              </a:rPr>
              <a:t>attention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This </a:t>
            </a:r>
            <a:r>
              <a:rPr lang="en" b="1">
                <a:solidFill>
                  <a:schemeClr val="dk1"/>
                </a:solidFill>
              </a:rPr>
              <a:t>separates processing</a:t>
            </a:r>
            <a:r>
              <a:rPr lang="en">
                <a:solidFill>
                  <a:schemeClr val="dk1"/>
                </a:solidFill>
              </a:rPr>
              <a:t> across sequences from processing along residue positions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" name="Google Shape;168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169" name="Google Shape;169;p27"/>
          <p:cNvSpPr/>
          <p:nvPr/>
        </p:nvSpPr>
        <p:spPr>
          <a:xfrm>
            <a:off x="400100" y="1846025"/>
            <a:ext cx="3132108" cy="2083536"/>
          </a:xfrm>
          <a:prstGeom prst="cloud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1">
                <a:solidFill>
                  <a:srgbClr val="980000"/>
                </a:solidFill>
              </a:rPr>
              <a:t>Criss-cross</a:t>
            </a:r>
            <a:r>
              <a:rPr lang="en" sz="1200" i="1">
                <a:solidFill>
                  <a:srgbClr val="980000"/>
                </a:solidFill>
              </a:rPr>
              <a:t> attends to the row and column of each position </a:t>
            </a:r>
            <a:r>
              <a:rPr lang="en" sz="1200" b="1" i="1">
                <a:solidFill>
                  <a:srgbClr val="980000"/>
                </a:solidFill>
              </a:rPr>
              <a:t>simultaneously</a:t>
            </a:r>
            <a:r>
              <a:rPr lang="en" sz="1200" i="1">
                <a:solidFill>
                  <a:srgbClr val="980000"/>
                </a:solidFill>
              </a:rPr>
              <a:t>. </a:t>
            </a:r>
            <a:r>
              <a:rPr lang="en" sz="1200" b="1" i="1">
                <a:solidFill>
                  <a:srgbClr val="980000"/>
                </a:solidFill>
              </a:rPr>
              <a:t>Axial </a:t>
            </a:r>
            <a:r>
              <a:rPr lang="en" sz="1200" i="1">
                <a:solidFill>
                  <a:srgbClr val="980000"/>
                </a:solidFill>
              </a:rPr>
              <a:t>attention </a:t>
            </a:r>
            <a:r>
              <a:rPr lang="en" sz="1200" b="1" i="1">
                <a:solidFill>
                  <a:srgbClr val="980000"/>
                </a:solidFill>
              </a:rPr>
              <a:t>alternates</a:t>
            </a:r>
            <a:r>
              <a:rPr lang="en" sz="1200" i="1">
                <a:solidFill>
                  <a:srgbClr val="980000"/>
                </a:solidFill>
              </a:rPr>
              <a:t>: first all </a:t>
            </a:r>
            <a:r>
              <a:rPr lang="en" sz="1200" b="1" i="1">
                <a:solidFill>
                  <a:srgbClr val="980000"/>
                </a:solidFill>
              </a:rPr>
              <a:t>rows</a:t>
            </a:r>
            <a:r>
              <a:rPr lang="en" sz="1200" i="1">
                <a:solidFill>
                  <a:srgbClr val="980000"/>
                </a:solidFill>
              </a:rPr>
              <a:t>, then all </a:t>
            </a:r>
            <a:r>
              <a:rPr lang="en" sz="1200" b="1" i="1">
                <a:solidFill>
                  <a:srgbClr val="980000"/>
                </a:solidFill>
              </a:rPr>
              <a:t>columns</a:t>
            </a:r>
            <a:r>
              <a:rPr lang="en" sz="1200" i="1">
                <a:solidFill>
                  <a:srgbClr val="980000"/>
                </a:solidFill>
              </a:rPr>
              <a:t>. Both achieve global coverage, but axial is simpler.</a:t>
            </a:r>
            <a:endParaRPr sz="1200" i="1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/>
        </p:nvSpPr>
        <p:spPr>
          <a:xfrm>
            <a:off x="2705575" y="0"/>
            <a:ext cx="46347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Cropping Makes Training Tractable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600" y="987125"/>
            <a:ext cx="8839198" cy="2318478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8"/>
          <p:cNvSpPr txBox="1"/>
          <p:nvPr/>
        </p:nvSpPr>
        <p:spPr>
          <a:xfrm>
            <a:off x="1116750" y="3722450"/>
            <a:ext cx="74241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AlphaFold uses cropping </a:t>
            </a:r>
            <a:r>
              <a:rPr lang="en" sz="1800" b="1">
                <a:solidFill>
                  <a:schemeClr val="dk1"/>
                </a:solidFill>
              </a:rPr>
              <a:t>during training</a:t>
            </a:r>
            <a:r>
              <a:rPr lang="en" sz="1800">
                <a:solidFill>
                  <a:schemeClr val="dk1"/>
                </a:solidFill>
              </a:rPr>
              <a:t>, but </a:t>
            </a:r>
            <a:r>
              <a:rPr lang="en" sz="1800" b="1">
                <a:solidFill>
                  <a:schemeClr val="dk1"/>
                </a:solidFill>
              </a:rPr>
              <a:t>not at inference</a:t>
            </a:r>
            <a:r>
              <a:rPr lang="en" sz="1800">
                <a:solidFill>
                  <a:schemeClr val="dk1"/>
                </a:solidFill>
              </a:rPr>
              <a:t> time.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77" name="Google Shape;17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9"/>
          <p:cNvSpPr txBox="1"/>
          <p:nvPr/>
        </p:nvSpPr>
        <p:spPr>
          <a:xfrm>
            <a:off x="1807250" y="0"/>
            <a:ext cx="56046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Evoformer First Predicts Pairwise Distances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83" name="Google Shape;183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97175"/>
            <a:ext cx="8839199" cy="204938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9"/>
          <p:cNvSpPr txBox="1"/>
          <p:nvPr/>
        </p:nvSpPr>
        <p:spPr>
          <a:xfrm>
            <a:off x="511400" y="3431650"/>
            <a:ext cx="79974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First conceptual step is the prediction of a distogram. The </a:t>
            </a:r>
            <a:r>
              <a:rPr lang="en" sz="1800" b="1">
                <a:solidFill>
                  <a:schemeClr val="dk1"/>
                </a:solidFill>
              </a:rPr>
              <a:t>distogram may indicate the geometry</a:t>
            </a:r>
            <a:r>
              <a:rPr lang="en" sz="1800">
                <a:solidFill>
                  <a:schemeClr val="dk1"/>
                </a:solidFill>
              </a:rPr>
              <a:t> or fold of the protein.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85" name="Google Shape;185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186" name="Google Shape;186;p29"/>
          <p:cNvSpPr txBox="1"/>
          <p:nvPr/>
        </p:nvSpPr>
        <p:spPr>
          <a:xfrm>
            <a:off x="484500" y="4278025"/>
            <a:ext cx="8175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i="1">
                <a:solidFill>
                  <a:schemeClr val="dk1"/>
                </a:solidFill>
              </a:rPr>
              <a:t>Note → A </a:t>
            </a:r>
            <a:r>
              <a:rPr lang="en" sz="1100" b="1" i="1">
                <a:solidFill>
                  <a:schemeClr val="dk1"/>
                </a:solidFill>
              </a:rPr>
              <a:t>distogram </a:t>
            </a:r>
            <a:r>
              <a:rPr lang="en" sz="1100" i="1">
                <a:solidFill>
                  <a:schemeClr val="dk1"/>
                </a:solidFill>
              </a:rPr>
              <a:t>is a matrix where entry (i, j) represents the predicted distance between residue i and residue j, specifically between their </a:t>
            </a:r>
            <a:r>
              <a:rPr lang="en" sz="1100" b="1" i="1">
                <a:solidFill>
                  <a:schemeClr val="dk1"/>
                </a:solidFill>
              </a:rPr>
              <a:t>C</a:t>
            </a:r>
            <a:r>
              <a:rPr lang="en" sz="1100" b="1" i="1" baseline="30000">
                <a:solidFill>
                  <a:schemeClr val="dk1"/>
                </a:solidFill>
              </a:rPr>
              <a:t>α </a:t>
            </a:r>
            <a:r>
              <a:rPr lang="en" sz="1100" i="1">
                <a:solidFill>
                  <a:schemeClr val="dk1"/>
                </a:solidFill>
              </a:rPr>
              <a:t>atoms (the central carbon of each residue's backbone). So for a protein with L residues, you get an L × L matrix.</a:t>
            </a:r>
            <a:endParaRPr sz="1100" i="1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0"/>
          <p:cNvSpPr txBox="1"/>
          <p:nvPr/>
        </p:nvSpPr>
        <p:spPr>
          <a:xfrm>
            <a:off x="1632375" y="0"/>
            <a:ext cx="6439200" cy="3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MSA Transformer Helped Establish the Design Direction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192" name="Google Shape;192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3075" y="1009375"/>
            <a:ext cx="6348826" cy="3449076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1"/>
          <p:cNvSpPr txBox="1"/>
          <p:nvPr/>
        </p:nvSpPr>
        <p:spPr>
          <a:xfrm>
            <a:off x="142425" y="757875"/>
            <a:ext cx="8918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A chemical molecule can be represented as a graph, so we need to </a:t>
            </a:r>
            <a:r>
              <a:rPr lang="en" sz="1600" b="1">
                <a:solidFill>
                  <a:schemeClr val="dk1"/>
                </a:solidFill>
              </a:rPr>
              <a:t>encode relational structure</a:t>
            </a:r>
            <a:endParaRPr sz="1600" b="1">
              <a:solidFill>
                <a:schemeClr val="dk1"/>
              </a:solidFill>
            </a:endParaRPr>
          </a:p>
        </p:txBody>
      </p:sp>
      <p:pic>
        <p:nvPicPr>
          <p:cNvPr id="199" name="Google Shape;199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6863" y="1205750"/>
            <a:ext cx="4618024" cy="317325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1"/>
          <p:cNvSpPr txBox="1"/>
          <p:nvPr/>
        </p:nvSpPr>
        <p:spPr>
          <a:xfrm>
            <a:off x="206125" y="4461175"/>
            <a:ext cx="8299500" cy="2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dk1"/>
                </a:solidFill>
              </a:rPr>
              <a:t>Standard </a:t>
            </a:r>
            <a:r>
              <a:rPr lang="en" sz="1600">
                <a:solidFill>
                  <a:schemeClr val="dk1"/>
                </a:solidFill>
              </a:rPr>
              <a:t>Transformers </a:t>
            </a:r>
            <a:r>
              <a:rPr lang="en" sz="1600" b="1">
                <a:solidFill>
                  <a:schemeClr val="dk1"/>
                </a:solidFill>
              </a:rPr>
              <a:t>do not model edge information </a:t>
            </a:r>
            <a:r>
              <a:rPr lang="en" sz="1600">
                <a:solidFill>
                  <a:schemeClr val="dk1"/>
                </a:solidFill>
              </a:rPr>
              <a:t>explicitly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3167429" y="0"/>
            <a:ext cx="3044100" cy="3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Proteins “are” Graphs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202" name="Google Shape;202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2"/>
          <p:cNvSpPr txBox="1"/>
          <p:nvPr/>
        </p:nvSpPr>
        <p:spPr>
          <a:xfrm>
            <a:off x="2458050" y="4095775"/>
            <a:ext cx="40530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90500" marR="0" lvl="0" indent="0" algn="l" rtl="0">
              <a:lnSpc>
                <a:spcPct val="50590"/>
              </a:lnSpc>
              <a:spcBef>
                <a:spcPts val="1000"/>
              </a:spcBef>
              <a:spcAft>
                <a:spcPts val="900"/>
              </a:spcAft>
              <a:buNone/>
            </a:pPr>
            <a:r>
              <a:rPr lang="en" sz="1200">
                <a:solidFill>
                  <a:schemeClr val="dk1"/>
                </a:solidFill>
                <a:highlight>
                  <a:srgbClr val="FFFFFF"/>
                </a:highlight>
              </a:rPr>
              <a:t>Extending Transformers to encode Graph Edges</a:t>
            </a:r>
            <a:endParaRPr sz="1200">
              <a:solidFill>
                <a:schemeClr val="dk1"/>
              </a:solidFill>
              <a:highlight>
                <a:srgbClr val="FFFFFF"/>
              </a:highlight>
            </a:endParaRPr>
          </a:p>
        </p:txBody>
      </p:sp>
      <p:pic>
        <p:nvPicPr>
          <p:cNvPr id="208" name="Google Shape;208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6750" y="586250"/>
            <a:ext cx="4906301" cy="346612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2"/>
          <p:cNvSpPr txBox="1"/>
          <p:nvPr/>
        </p:nvSpPr>
        <p:spPr>
          <a:xfrm>
            <a:off x="2509049" y="0"/>
            <a:ext cx="4125900" cy="3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Transformer Graph Representations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210" name="Google Shape;210;p32"/>
          <p:cNvSpPr txBox="1"/>
          <p:nvPr/>
        </p:nvSpPr>
        <p:spPr>
          <a:xfrm>
            <a:off x="888975" y="4568475"/>
            <a:ext cx="7274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90500" lvl="0" indent="0" algn="l" rtl="0">
              <a:lnSpc>
                <a:spcPct val="5059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  <a:highlight>
                  <a:srgbClr val="FFFFFF"/>
                </a:highlight>
              </a:rPr>
              <a:t>“Do Transformers Really Perform Bad for Graph Representation?” by C. Ying et al., NeurIPS 2021</a:t>
            </a:r>
            <a:endParaRPr sz="1100" b="1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</p:txBody>
      </p:sp>
      <p:sp>
        <p:nvSpPr>
          <p:cNvPr id="211" name="Google Shape;211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3"/>
          <p:cNvSpPr txBox="1"/>
          <p:nvPr/>
        </p:nvSpPr>
        <p:spPr>
          <a:xfrm>
            <a:off x="3288740" y="0"/>
            <a:ext cx="32493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1"/>
              </a:solidFill>
            </a:endParaRPr>
          </a:p>
        </p:txBody>
      </p:sp>
      <p:sp>
        <p:nvSpPr>
          <p:cNvPr id="217" name="Google Shape;217;p33"/>
          <p:cNvSpPr txBox="1"/>
          <p:nvPr/>
        </p:nvSpPr>
        <p:spPr>
          <a:xfrm>
            <a:off x="1759550" y="0"/>
            <a:ext cx="6367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MSA and Pair Representations Exchange Information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218" name="Google Shape;218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pic>
        <p:nvPicPr>
          <p:cNvPr id="219" name="Google Shape;21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55325"/>
            <a:ext cx="8839202" cy="25566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52122" y="700500"/>
            <a:ext cx="6186202" cy="37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34"/>
          <p:cNvSpPr txBox="1"/>
          <p:nvPr/>
        </p:nvSpPr>
        <p:spPr>
          <a:xfrm>
            <a:off x="2804172" y="3689600"/>
            <a:ext cx="3363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0000"/>
                </a:solidFill>
              </a:rPr>
              <a:t>Bias b == Edge Information</a:t>
            </a:r>
            <a:endParaRPr sz="1800" b="1">
              <a:solidFill>
                <a:srgbClr val="FF0000"/>
              </a:solidFill>
            </a:endParaRPr>
          </a:p>
        </p:txBody>
      </p:sp>
      <p:sp>
        <p:nvSpPr>
          <p:cNvPr id="226" name="Google Shape;226;p34"/>
          <p:cNvSpPr txBox="1"/>
          <p:nvPr/>
        </p:nvSpPr>
        <p:spPr>
          <a:xfrm>
            <a:off x="1352072" y="0"/>
            <a:ext cx="618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Attention Bias Can Encode Pairwise Edge Information </a:t>
            </a:r>
            <a:endParaRPr/>
          </a:p>
        </p:txBody>
      </p:sp>
      <p:sp>
        <p:nvSpPr>
          <p:cNvPr id="227" name="Google Shape;227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/>
          <p:nvPr/>
        </p:nvSpPr>
        <p:spPr>
          <a:xfrm>
            <a:off x="2085500" y="0"/>
            <a:ext cx="56283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Pair Representation Is Updated from the MSA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233" name="Google Shape;233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6850" y="733525"/>
            <a:ext cx="1933075" cy="41027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  <p:pic>
        <p:nvPicPr>
          <p:cNvPr id="235" name="Google Shape;235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83175" y="2185013"/>
            <a:ext cx="6189275" cy="1040756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5"/>
          <p:cNvSpPr/>
          <p:nvPr/>
        </p:nvSpPr>
        <p:spPr>
          <a:xfrm>
            <a:off x="1982150" y="3092125"/>
            <a:ext cx="1669500" cy="906300"/>
          </a:xfrm>
          <a:prstGeom prst="bentUpArrow">
            <a:avLst>
              <a:gd name="adj1" fmla="val 10529"/>
              <a:gd name="adj2" fmla="val 19301"/>
              <a:gd name="adj3" fmla="val 23684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35"/>
          <p:cNvSpPr txBox="1"/>
          <p:nvPr/>
        </p:nvSpPr>
        <p:spPr>
          <a:xfrm>
            <a:off x="4895450" y="3187525"/>
            <a:ext cx="3994200" cy="8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Take the </a:t>
            </a:r>
            <a:r>
              <a:rPr lang="en" sz="1800" b="1">
                <a:solidFill>
                  <a:schemeClr val="dk1"/>
                </a:solidFill>
              </a:rPr>
              <a:t>mean </a:t>
            </a:r>
            <a:r>
              <a:rPr lang="en" sz="1800">
                <a:solidFill>
                  <a:schemeClr val="dk1"/>
                </a:solidFill>
              </a:rPr>
              <a:t>of the </a:t>
            </a:r>
            <a:r>
              <a:rPr lang="en" sz="1800" b="1">
                <a:solidFill>
                  <a:schemeClr val="dk1"/>
                </a:solidFill>
              </a:rPr>
              <a:t>outer product</a:t>
            </a:r>
            <a:r>
              <a:rPr lang="en" sz="1800">
                <a:solidFill>
                  <a:schemeClr val="dk1"/>
                </a:solidFill>
              </a:rPr>
              <a:t> of 2 columns of the MSA.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26900"/>
            <a:ext cx="8839198" cy="2916334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6"/>
          <p:cNvSpPr txBox="1"/>
          <p:nvPr/>
        </p:nvSpPr>
        <p:spPr>
          <a:xfrm>
            <a:off x="1568875" y="0"/>
            <a:ext cx="63915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Pairwise Predictions Must Be Geometrically Consistent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244" name="Google Shape;244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7"/>
          <p:cNvSpPr txBox="1"/>
          <p:nvPr/>
        </p:nvSpPr>
        <p:spPr>
          <a:xfrm>
            <a:off x="1499550" y="0"/>
            <a:ext cx="6144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Triangle Constraints Enforce Geometric Consistency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250" name="Google Shape;25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78547" y="613525"/>
            <a:ext cx="3501074" cy="34905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1" name="Google Shape;251;p37"/>
          <p:cNvGrpSpPr/>
          <p:nvPr/>
        </p:nvGrpSpPr>
        <p:grpSpPr>
          <a:xfrm>
            <a:off x="1762388" y="4228075"/>
            <a:ext cx="5687980" cy="490800"/>
            <a:chOff x="1611338" y="4172425"/>
            <a:chExt cx="5687980" cy="490800"/>
          </a:xfrm>
        </p:grpSpPr>
        <p:pic>
          <p:nvPicPr>
            <p:cNvPr id="252" name="Google Shape;252;p3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893493" y="4172426"/>
              <a:ext cx="1405826" cy="422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3" name="Google Shape;253;p37"/>
            <p:cNvSpPr txBox="1"/>
            <p:nvPr/>
          </p:nvSpPr>
          <p:spPr>
            <a:xfrm>
              <a:off x="1611338" y="4172425"/>
              <a:ext cx="4612995" cy="49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dk1"/>
                  </a:solidFill>
                </a:rPr>
                <a:t>We must </a:t>
              </a:r>
              <a:r>
                <a:rPr lang="en" sz="1800" b="1">
                  <a:solidFill>
                    <a:schemeClr val="dk1"/>
                  </a:solidFill>
                </a:rPr>
                <a:t>obey the triangle</a:t>
              </a:r>
              <a:r>
                <a:rPr lang="en" sz="1800">
                  <a:solidFill>
                    <a:schemeClr val="dk1"/>
                  </a:solidFill>
                </a:rPr>
                <a:t> </a:t>
              </a:r>
              <a:r>
                <a:rPr lang="en" sz="1800" b="1">
                  <a:solidFill>
                    <a:schemeClr val="dk1"/>
                  </a:solidFill>
                </a:rPr>
                <a:t>inequality </a:t>
              </a:r>
              <a:r>
                <a:rPr lang="en" sz="1800">
                  <a:solidFill>
                    <a:schemeClr val="dk1"/>
                  </a:solidFill>
                </a:rPr>
                <a:t>→</a:t>
              </a:r>
              <a:endParaRPr sz="1800">
                <a:solidFill>
                  <a:schemeClr val="dk1"/>
                </a:solidFill>
              </a:endParaRPr>
            </a:p>
          </p:txBody>
        </p:sp>
      </p:grpSp>
      <p:sp>
        <p:nvSpPr>
          <p:cNvPr id="254" name="Google Shape;254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  <p:sp>
        <p:nvSpPr>
          <p:cNvPr id="255" name="Google Shape;255;p37"/>
          <p:cNvSpPr txBox="1"/>
          <p:nvPr/>
        </p:nvSpPr>
        <p:spPr>
          <a:xfrm>
            <a:off x="3071165" y="2780260"/>
            <a:ext cx="27984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 dirty="0">
                <a:solidFill>
                  <a:srgbClr val="FF0000"/>
                </a:solidFill>
              </a:rPr>
              <a:t>We need to correct this!</a:t>
            </a:r>
            <a:endParaRPr sz="1800" b="1" i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8"/>
          <p:cNvSpPr txBox="1"/>
          <p:nvPr/>
        </p:nvSpPr>
        <p:spPr>
          <a:xfrm>
            <a:off x="644075" y="0"/>
            <a:ext cx="7790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AlphaFold 2 Enforces Triangle Constraints Through Smooth Updates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261" name="Google Shape;26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1513" y="819301"/>
            <a:ext cx="7728476" cy="30981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38"/>
          <p:cNvSpPr txBox="1"/>
          <p:nvPr/>
        </p:nvSpPr>
        <p:spPr>
          <a:xfrm>
            <a:off x="270000" y="4183325"/>
            <a:ext cx="8465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Triangle consistency is encouraged through </a:t>
            </a:r>
            <a:r>
              <a:rPr lang="en" sz="1600" b="1"/>
              <a:t>smooth </a:t>
            </a:r>
            <a:r>
              <a:rPr lang="en" sz="1600"/>
              <a:t>updates of the 2D pair representation</a:t>
            </a:r>
            <a:endParaRPr sz="1600"/>
          </a:p>
        </p:txBody>
      </p:sp>
      <p:sp>
        <p:nvSpPr>
          <p:cNvPr id="263" name="Google Shape;263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  <p:sp>
        <p:nvSpPr>
          <p:cNvPr id="264" name="Google Shape;264;p38"/>
          <p:cNvSpPr/>
          <p:nvPr/>
        </p:nvSpPr>
        <p:spPr>
          <a:xfrm>
            <a:off x="1565699" y="1088900"/>
            <a:ext cx="2155973" cy="758951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1">
                <a:ln w="9525" cap="flat" cmpd="sng">
                  <a:solidFill>
                    <a:srgbClr val="FF0000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rgbClr val="FF0000"/>
                </a:solidFill>
                <a:latin typeface="Arial"/>
              </a:rPr>
              <a:t>Expensive!</a:t>
            </a:r>
            <a:br>
              <a:rPr b="0" i="1">
                <a:ln w="9525" cap="flat" cmpd="sng">
                  <a:solidFill>
                    <a:srgbClr val="FF0000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rgbClr val="FF0000"/>
                </a:solidFill>
                <a:latin typeface="Arial"/>
              </a:rPr>
            </a:br>
            <a:r>
              <a:rPr b="0" i="1">
                <a:ln w="9525" cap="flat" cmpd="sng">
                  <a:solidFill>
                    <a:srgbClr val="FF0000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rgbClr val="FF0000"/>
                </a:solidFill>
                <a:latin typeface="Arial"/>
              </a:rPr>
              <a:t>But worth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9"/>
          <p:cNvSpPr txBox="1"/>
          <p:nvPr/>
        </p:nvSpPr>
        <p:spPr>
          <a:xfrm>
            <a:off x="781725" y="0"/>
            <a:ext cx="7719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Structure Module Converts Representations into 3D Coordinates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270" name="Google Shape;270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963275"/>
            <a:ext cx="8839200" cy="2892061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39"/>
          <p:cNvSpPr txBox="1"/>
          <p:nvPr/>
        </p:nvSpPr>
        <p:spPr>
          <a:xfrm>
            <a:off x="97275" y="3815576"/>
            <a:ext cx="9087900" cy="95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produce 3D structure, AlphaFold uses the </a:t>
            </a:r>
            <a:r>
              <a:rPr lang="en" b="1">
                <a:solidFill>
                  <a:schemeClr val="dk1"/>
                </a:solidFill>
              </a:rPr>
              <a:t>Pair Representation </a:t>
            </a:r>
            <a:r>
              <a:rPr lang="en">
                <a:solidFill>
                  <a:schemeClr val="dk1"/>
                </a:solidFill>
              </a:rPr>
              <a:t>together with </a:t>
            </a:r>
            <a:r>
              <a:rPr lang="en" b="1">
                <a:solidFill>
                  <a:schemeClr val="dk1"/>
                </a:solidFill>
              </a:rPr>
              <a:t>the First Row</a:t>
            </a:r>
            <a:r>
              <a:rPr lang="en">
                <a:solidFill>
                  <a:schemeClr val="dk1"/>
                </a:solidFill>
              </a:rPr>
              <a:t> </a:t>
            </a:r>
            <a:r>
              <a:rPr lang="en" b="1">
                <a:solidFill>
                  <a:schemeClr val="dk1"/>
                </a:solidFill>
              </a:rPr>
              <a:t>of </a:t>
            </a:r>
            <a:r>
              <a:rPr lang="en">
                <a:solidFill>
                  <a:schemeClr val="dk1"/>
                </a:solidFill>
              </a:rPr>
              <a:t>the </a:t>
            </a:r>
            <a:r>
              <a:rPr lang="en" b="1">
                <a:solidFill>
                  <a:schemeClr val="dk1"/>
                </a:solidFill>
              </a:rPr>
              <a:t>MSA</a:t>
            </a:r>
            <a:r>
              <a:rPr lang="en">
                <a:solidFill>
                  <a:schemeClr val="dk1"/>
                </a:solidFill>
              </a:rPr>
              <a:t>, corresponding to the target sequence.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There are </a:t>
            </a:r>
            <a:r>
              <a:rPr lang="en" b="1">
                <a:solidFill>
                  <a:schemeClr val="dk1"/>
                </a:solidFill>
              </a:rPr>
              <a:t>many more pairwise relationships than there are coordinates to find</a:t>
            </a:r>
            <a:r>
              <a:rPr lang="en">
                <a:solidFill>
                  <a:schemeClr val="dk1"/>
                </a:solidFill>
              </a:rPr>
              <a:t>, so the structure is heavily constrained → i.e. the model has more than enough information to pin down the 3D shape.</a:t>
            </a:r>
            <a:endParaRPr/>
          </a:p>
        </p:txBody>
      </p:sp>
      <p:sp>
        <p:nvSpPr>
          <p:cNvPr id="272" name="Google Shape;272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0"/>
          <p:cNvSpPr txBox="1"/>
          <p:nvPr/>
        </p:nvSpPr>
        <p:spPr>
          <a:xfrm>
            <a:off x="1298475" y="0"/>
            <a:ext cx="63597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Protein Backbone Provides the Structural Scaffold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278" name="Google Shape;278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7038" y="1135150"/>
            <a:ext cx="6615375" cy="287320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1"/>
          <p:cNvSpPr txBox="1"/>
          <p:nvPr/>
        </p:nvSpPr>
        <p:spPr>
          <a:xfrm>
            <a:off x="1638600" y="0"/>
            <a:ext cx="60417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Each Residue Is Represented as a Rigid Local Frame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285" name="Google Shape;285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050" y="796325"/>
            <a:ext cx="8839202" cy="2554569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41"/>
          <p:cNvSpPr txBox="1"/>
          <p:nvPr/>
        </p:nvSpPr>
        <p:spPr>
          <a:xfrm>
            <a:off x="60750" y="3731075"/>
            <a:ext cx="89112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➢"/>
            </a:pPr>
            <a:r>
              <a:rPr lang="en" sz="1600">
                <a:solidFill>
                  <a:schemeClr val="dk1"/>
                </a:solidFill>
              </a:rPr>
              <a:t>Each residue is represented by a rigid </a:t>
            </a:r>
            <a:r>
              <a:rPr lang="en" sz="1600" b="1">
                <a:solidFill>
                  <a:schemeClr val="dk1"/>
                </a:solidFill>
              </a:rPr>
              <a:t>Local Frame</a:t>
            </a:r>
            <a:r>
              <a:rPr lang="en" sz="1600">
                <a:solidFill>
                  <a:schemeClr val="dk1"/>
                </a:solidFill>
              </a:rPr>
              <a:t> (</a:t>
            </a:r>
            <a:r>
              <a:rPr lang="en" sz="1600" b="1">
                <a:solidFill>
                  <a:srgbClr val="FF0000"/>
                </a:solidFill>
              </a:rPr>
              <a:t>red</a:t>
            </a:r>
            <a:r>
              <a:rPr lang="en" sz="1600" b="1">
                <a:solidFill>
                  <a:schemeClr val="dk1"/>
                </a:solidFill>
              </a:rPr>
              <a:t> triangles</a:t>
            </a:r>
            <a:r>
              <a:rPr lang="en" sz="1600">
                <a:solidFill>
                  <a:schemeClr val="dk1"/>
                </a:solidFill>
              </a:rPr>
              <a:t>).</a:t>
            </a:r>
            <a:endParaRPr sz="16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➢"/>
            </a:pPr>
            <a:r>
              <a:rPr lang="en" sz="1600">
                <a:solidFill>
                  <a:schemeClr val="dk1"/>
                </a:solidFill>
              </a:rPr>
              <a:t>Structure prediction requires learning the</a:t>
            </a:r>
            <a:r>
              <a:rPr lang="en" sz="1600" b="1">
                <a:solidFill>
                  <a:schemeClr val="dk1"/>
                </a:solidFill>
              </a:rPr>
              <a:t> position and orientation</a:t>
            </a:r>
            <a:r>
              <a:rPr lang="en" sz="1600">
                <a:solidFill>
                  <a:schemeClr val="dk1"/>
                </a:solidFill>
              </a:rPr>
              <a:t> of these frames in </a:t>
            </a:r>
            <a:r>
              <a:rPr lang="en" sz="1600" b="1">
                <a:solidFill>
                  <a:schemeClr val="dk1"/>
                </a:solidFill>
              </a:rPr>
              <a:t>Euclidean Space</a:t>
            </a:r>
            <a:r>
              <a:rPr lang="en" sz="1600">
                <a:solidFill>
                  <a:schemeClr val="dk1"/>
                </a:solidFill>
              </a:rPr>
              <a:t>.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287" name="Google Shape;287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2"/>
          <p:cNvSpPr txBox="1"/>
          <p:nvPr/>
        </p:nvSpPr>
        <p:spPr>
          <a:xfrm>
            <a:off x="191700" y="4231750"/>
            <a:ext cx="8585700" cy="7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Our task is to learn the </a:t>
            </a:r>
            <a:r>
              <a:rPr lang="en" sz="1600" b="1">
                <a:solidFill>
                  <a:schemeClr val="dk1"/>
                </a:solidFill>
              </a:rPr>
              <a:t>rotation matrix R </a:t>
            </a:r>
            <a:r>
              <a:rPr lang="en" sz="1600">
                <a:solidFill>
                  <a:schemeClr val="dk1"/>
                </a:solidFill>
              </a:rPr>
              <a:t>and </a:t>
            </a:r>
            <a:r>
              <a:rPr lang="en" sz="1600" b="1">
                <a:solidFill>
                  <a:schemeClr val="dk1"/>
                </a:solidFill>
              </a:rPr>
              <a:t>translation vector t </a:t>
            </a:r>
            <a:r>
              <a:rPr lang="en" sz="1600">
                <a:solidFill>
                  <a:schemeClr val="dk1"/>
                </a:solidFill>
              </a:rPr>
              <a:t>for each of the triangles.</a:t>
            </a:r>
            <a:endParaRPr sz="16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There are 2 frames: </a:t>
            </a:r>
            <a:r>
              <a:rPr lang="en" sz="1600" b="1">
                <a:solidFill>
                  <a:schemeClr val="dk1"/>
                </a:solidFill>
              </a:rPr>
              <a:t>global </a:t>
            </a:r>
            <a:r>
              <a:rPr lang="en" sz="1600">
                <a:solidFill>
                  <a:schemeClr val="dk1"/>
                </a:solidFill>
              </a:rPr>
              <a:t>coordinates </a:t>
            </a:r>
            <a:r>
              <a:rPr lang="en" sz="1600" b="1">
                <a:solidFill>
                  <a:schemeClr val="dk1"/>
                </a:solidFill>
              </a:rPr>
              <a:t>frame </a:t>
            </a:r>
            <a:r>
              <a:rPr lang="en" sz="1600">
                <a:solidFill>
                  <a:schemeClr val="dk1"/>
                </a:solidFill>
              </a:rPr>
              <a:t>(white)</a:t>
            </a:r>
            <a:r>
              <a:rPr lang="en" sz="1600" b="1">
                <a:solidFill>
                  <a:schemeClr val="dk1"/>
                </a:solidFill>
              </a:rPr>
              <a:t> </a:t>
            </a:r>
            <a:r>
              <a:rPr lang="en" sz="1600">
                <a:solidFill>
                  <a:schemeClr val="dk1"/>
                </a:solidFill>
              </a:rPr>
              <a:t>and </a:t>
            </a:r>
            <a:r>
              <a:rPr lang="en" sz="1600" b="1">
                <a:solidFill>
                  <a:schemeClr val="dk1"/>
                </a:solidFill>
              </a:rPr>
              <a:t>local </a:t>
            </a:r>
            <a:r>
              <a:rPr lang="en" sz="1600">
                <a:solidFill>
                  <a:schemeClr val="dk1"/>
                </a:solidFill>
              </a:rPr>
              <a:t>coordinates </a:t>
            </a:r>
            <a:r>
              <a:rPr lang="en" sz="1600" b="1">
                <a:solidFill>
                  <a:schemeClr val="dk1"/>
                </a:solidFill>
              </a:rPr>
              <a:t>frame </a:t>
            </a:r>
            <a:r>
              <a:rPr lang="en" sz="1600">
                <a:solidFill>
                  <a:schemeClr val="dk1"/>
                </a:solidFill>
              </a:rPr>
              <a:t>(yellow).</a:t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293" name="Google Shape;293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9175" y="557850"/>
            <a:ext cx="5645625" cy="3578501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42"/>
          <p:cNvSpPr txBox="1"/>
          <p:nvPr/>
        </p:nvSpPr>
        <p:spPr>
          <a:xfrm>
            <a:off x="423975" y="0"/>
            <a:ext cx="8235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Structure Prediction Becomes Rotation and Translation of Local Frames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295" name="Google Shape;295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30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3"/>
          <p:cNvSpPr txBox="1"/>
          <p:nvPr/>
        </p:nvSpPr>
        <p:spPr>
          <a:xfrm>
            <a:off x="2710042" y="0"/>
            <a:ext cx="3498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“Black hole” Initial Conditions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301" name="Google Shape;301;p43"/>
          <p:cNvSpPr txBox="1"/>
          <p:nvPr/>
        </p:nvSpPr>
        <p:spPr>
          <a:xfrm>
            <a:off x="498175" y="4141825"/>
            <a:ext cx="79287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Initial conditions</a:t>
            </a:r>
            <a:r>
              <a:rPr lang="en"/>
              <a:t> → </a:t>
            </a:r>
            <a:r>
              <a:rPr lang="en" b="1"/>
              <a:t>collapse all </a:t>
            </a:r>
            <a:r>
              <a:rPr lang="en"/>
              <a:t>the </a:t>
            </a:r>
            <a:r>
              <a:rPr lang="en" b="1"/>
              <a:t>triangles </a:t>
            </a:r>
            <a:r>
              <a:rPr lang="en"/>
              <a:t>(i.e. bag of words) </a:t>
            </a:r>
            <a:r>
              <a:rPr lang="en" b="1"/>
              <a:t>at </a:t>
            </a:r>
            <a:r>
              <a:rPr lang="en"/>
              <a:t>the </a:t>
            </a:r>
            <a:r>
              <a:rPr lang="en" b="1"/>
              <a:t>origin</a:t>
            </a:r>
            <a:r>
              <a:rPr lang="en"/>
              <a:t>, such that the </a:t>
            </a:r>
            <a:r>
              <a:rPr lang="en" b="1" i="1"/>
              <a:t>C</a:t>
            </a:r>
            <a:r>
              <a:rPr lang="en" sz="1600" b="1" i="1" baseline="30000"/>
              <a:t>𝞪</a:t>
            </a:r>
            <a:r>
              <a:rPr lang="en"/>
              <a:t> atom is sitting at the origin of the global reference frame, and all the local reference frames are oriented in the same direction as the global reference frame.</a:t>
            </a:r>
            <a:endParaRPr/>
          </a:p>
        </p:txBody>
      </p:sp>
      <p:sp>
        <p:nvSpPr>
          <p:cNvPr id="302" name="Google Shape;302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31</a:t>
            </a:fld>
            <a:endParaRPr/>
          </a:p>
        </p:txBody>
      </p:sp>
      <p:grpSp>
        <p:nvGrpSpPr>
          <p:cNvPr id="303" name="Google Shape;303;p43"/>
          <p:cNvGrpSpPr/>
          <p:nvPr/>
        </p:nvGrpSpPr>
        <p:grpSpPr>
          <a:xfrm>
            <a:off x="2113929" y="761150"/>
            <a:ext cx="4595949" cy="3220051"/>
            <a:chOff x="1996375" y="761150"/>
            <a:chExt cx="4595949" cy="3220051"/>
          </a:xfrm>
        </p:grpSpPr>
        <p:pic>
          <p:nvPicPr>
            <p:cNvPr id="304" name="Google Shape;304;p4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996375" y="761150"/>
              <a:ext cx="4595949" cy="322005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05" name="Google Shape;305;p43"/>
            <p:cNvSpPr/>
            <p:nvPr/>
          </p:nvSpPr>
          <p:spPr>
            <a:xfrm>
              <a:off x="4292625" y="1099715"/>
              <a:ext cx="2097347" cy="697581"/>
            </a:xfrm>
            <a:prstGeom prst="rect">
              <a:avLst/>
            </a:prstGeom>
          </p:spPr>
          <p:txBody>
            <a:bodyPr>
              <a:prstTxWarp prst="textPlain">
                <a:avLst/>
              </a:prstTxWarp>
            </a:bodyPr>
            <a:lstStyle/>
            <a:p>
              <a:pPr lvl="0" algn="ctr"/>
              <a:r>
                <a:rPr b="0" i="1">
                  <a:ln w="9525" cap="flat" cmpd="sng">
                    <a:solidFill>
                      <a:srgbClr val="FF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solidFill>
                    <a:srgbClr val="FF0000"/>
                  </a:solidFill>
                  <a:latin typeface="Arial"/>
                </a:rPr>
                <a:t>Initially Placed</a:t>
              </a:r>
              <a:br>
                <a:rPr b="0" i="1">
                  <a:ln w="9525" cap="flat" cmpd="sng">
                    <a:solidFill>
                      <a:srgbClr val="FF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solidFill>
                    <a:srgbClr val="FF0000"/>
                  </a:solidFill>
                  <a:latin typeface="Arial"/>
                </a:rPr>
              </a:br>
              <a:r>
                <a:rPr b="0" i="1">
                  <a:ln w="9525" cap="flat" cmpd="sng">
                    <a:solidFill>
                      <a:srgbClr val="FF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solidFill>
                    <a:srgbClr val="FF0000"/>
                  </a:solidFill>
                  <a:latin typeface="Arial"/>
                </a:rPr>
                <a:t> at the Origin</a:t>
              </a:r>
            </a:p>
          </p:txBody>
        </p:sp>
        <p:cxnSp>
          <p:nvCxnSpPr>
            <p:cNvPr id="306" name="Google Shape;306;p43"/>
            <p:cNvCxnSpPr/>
            <p:nvPr/>
          </p:nvCxnSpPr>
          <p:spPr>
            <a:xfrm flipH="1">
              <a:off x="3957625" y="1794100"/>
              <a:ext cx="80610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4"/>
          <p:cNvSpPr txBox="1"/>
          <p:nvPr/>
        </p:nvSpPr>
        <p:spPr>
          <a:xfrm>
            <a:off x="858775" y="0"/>
            <a:ext cx="7200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Problem Is: There Is No Meaningful Absolute Coordinate System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312" name="Google Shape;312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32</a:t>
            </a:fld>
            <a:endParaRPr/>
          </a:p>
        </p:txBody>
      </p:sp>
      <p:grpSp>
        <p:nvGrpSpPr>
          <p:cNvPr id="313" name="Google Shape;313;p44"/>
          <p:cNvGrpSpPr/>
          <p:nvPr/>
        </p:nvGrpSpPr>
        <p:grpSpPr>
          <a:xfrm>
            <a:off x="2535471" y="735672"/>
            <a:ext cx="3552202" cy="4212358"/>
            <a:chOff x="1605250" y="726547"/>
            <a:chExt cx="3552202" cy="4212358"/>
          </a:xfrm>
        </p:grpSpPr>
        <p:pic>
          <p:nvPicPr>
            <p:cNvPr id="314" name="Google Shape;314;p4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649000" y="726547"/>
              <a:ext cx="3508449" cy="2566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5" name="Google Shape;315;p4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605250" y="3581325"/>
              <a:ext cx="3552202" cy="13575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6" name="Google Shape;316;p44"/>
            <p:cNvSpPr txBox="1"/>
            <p:nvPr/>
          </p:nvSpPr>
          <p:spPr>
            <a:xfrm>
              <a:off x="3149275" y="3882150"/>
              <a:ext cx="507900" cy="45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>
                  <a:solidFill>
                    <a:srgbClr val="FF0000"/>
                  </a:solidFill>
                </a:rPr>
                <a:t>Or </a:t>
              </a:r>
              <a:endParaRPr sz="1800" b="1">
                <a:solidFill>
                  <a:srgbClr val="FF0000"/>
                </a:solidFill>
              </a:endParaRPr>
            </a:p>
          </p:txBody>
        </p:sp>
        <p:cxnSp>
          <p:nvCxnSpPr>
            <p:cNvPr id="317" name="Google Shape;317;p44"/>
            <p:cNvCxnSpPr/>
            <p:nvPr/>
          </p:nvCxnSpPr>
          <p:spPr>
            <a:xfrm flipH="1">
              <a:off x="2401625" y="3179725"/>
              <a:ext cx="191400" cy="9030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18" name="Google Shape;318;p44"/>
            <p:cNvCxnSpPr/>
            <p:nvPr/>
          </p:nvCxnSpPr>
          <p:spPr>
            <a:xfrm>
              <a:off x="3012525" y="3179725"/>
              <a:ext cx="875400" cy="61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323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78250" y="578775"/>
            <a:ext cx="4736527" cy="3132675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45"/>
          <p:cNvSpPr txBox="1"/>
          <p:nvPr/>
        </p:nvSpPr>
        <p:spPr>
          <a:xfrm>
            <a:off x="1513125" y="0"/>
            <a:ext cx="5866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Structure Module Must Be Rotation-Equivariant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325" name="Google Shape;325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33</a:t>
            </a:fld>
            <a:endParaRPr/>
          </a:p>
        </p:txBody>
      </p:sp>
      <p:sp>
        <p:nvSpPr>
          <p:cNvPr id="326" name="Google Shape;326;p45"/>
          <p:cNvSpPr txBox="1"/>
          <p:nvPr/>
        </p:nvSpPr>
        <p:spPr>
          <a:xfrm>
            <a:off x="533550" y="3924525"/>
            <a:ext cx="8076900" cy="8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</a:t>
            </a:r>
            <a:r>
              <a:rPr lang="en" b="1">
                <a:solidFill>
                  <a:schemeClr val="dk1"/>
                </a:solidFill>
              </a:rPr>
              <a:t>“Evoformer” </a:t>
            </a:r>
            <a:r>
              <a:rPr lang="en">
                <a:solidFill>
                  <a:schemeClr val="dk1"/>
                </a:solidFill>
              </a:rPr>
              <a:t>operates on abstract feature representations with no geometric meaning. But the </a:t>
            </a:r>
            <a:r>
              <a:rPr lang="en" b="1">
                <a:solidFill>
                  <a:schemeClr val="dk1"/>
                </a:solidFill>
              </a:rPr>
              <a:t>“Structure Module” </a:t>
            </a:r>
            <a:r>
              <a:rPr lang="en">
                <a:solidFill>
                  <a:schemeClr val="dk1"/>
                </a:solidFill>
              </a:rPr>
              <a:t>must produce actual 3D coordinates. And since a protein has no preferred orientation in space, the structure module must be </a:t>
            </a:r>
            <a:r>
              <a:rPr lang="en" b="1">
                <a:solidFill>
                  <a:schemeClr val="dk1"/>
                </a:solidFill>
              </a:rPr>
              <a:t>SE(3)-equivariant</a:t>
            </a:r>
            <a:r>
              <a:rPr lang="en">
                <a:solidFill>
                  <a:schemeClr val="dk1"/>
                </a:solidFill>
              </a:rPr>
              <a:t>: </a:t>
            </a:r>
            <a:r>
              <a:rPr lang="en" b="1" i="1">
                <a:solidFill>
                  <a:schemeClr val="dk1"/>
                </a:solidFill>
              </a:rPr>
              <a:t>rotating the input must rotate the output by the same amount.</a:t>
            </a:r>
            <a:r>
              <a:rPr lang="en">
                <a:solidFill>
                  <a:schemeClr val="dk1"/>
                </a:solidFill>
              </a:rPr>
              <a:t> So both paths around the diagram must agree.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6"/>
          <p:cNvSpPr txBox="1"/>
          <p:nvPr/>
        </p:nvSpPr>
        <p:spPr>
          <a:xfrm>
            <a:off x="1471100" y="512250"/>
            <a:ext cx="7433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The geometrically aware attention formula becomes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332" name="Google Shape;332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7650" y="933588"/>
            <a:ext cx="6059024" cy="3525524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46"/>
          <p:cNvSpPr txBox="1"/>
          <p:nvPr/>
        </p:nvSpPr>
        <p:spPr>
          <a:xfrm>
            <a:off x="1097438" y="4424550"/>
            <a:ext cx="6681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attention is called the “</a:t>
            </a:r>
            <a:r>
              <a:rPr lang="en" b="1"/>
              <a:t>Invariant Point Attention</a:t>
            </a:r>
            <a:r>
              <a:rPr lang="en"/>
              <a:t>”. It was novel at the time.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allow the queries and keys to live in the Euclidean space.</a:t>
            </a:r>
            <a:endParaRPr/>
          </a:p>
        </p:txBody>
      </p:sp>
      <p:sp>
        <p:nvSpPr>
          <p:cNvPr id="334" name="Google Shape;334;p46"/>
          <p:cNvSpPr txBox="1"/>
          <p:nvPr/>
        </p:nvSpPr>
        <p:spPr>
          <a:xfrm>
            <a:off x="1217650" y="0"/>
            <a:ext cx="642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Invariant Point Attention Injects Geometry into Attention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335" name="Google Shape;335;p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34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7"/>
          <p:cNvSpPr txBox="1"/>
          <p:nvPr/>
        </p:nvSpPr>
        <p:spPr>
          <a:xfrm>
            <a:off x="853275" y="766425"/>
            <a:ext cx="7785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The type of equivariance we are using in AlphaFold 2 is </a:t>
            </a:r>
            <a:r>
              <a:rPr lang="en" sz="1800" b="1">
                <a:solidFill>
                  <a:schemeClr val="dk1"/>
                </a:solidFill>
              </a:rPr>
              <a:t>approximate</a:t>
            </a:r>
            <a:r>
              <a:rPr lang="en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341" name="Google Shape;341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2850" y="1338800"/>
            <a:ext cx="5033499" cy="2934925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47"/>
          <p:cNvSpPr txBox="1"/>
          <p:nvPr/>
        </p:nvSpPr>
        <p:spPr>
          <a:xfrm>
            <a:off x="548100" y="4317925"/>
            <a:ext cx="80478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Note that</a:t>
            </a:r>
            <a:r>
              <a:rPr lang="en" sz="1100">
                <a:solidFill>
                  <a:schemeClr val="dk1"/>
                </a:solidFill>
              </a:rPr>
              <a:t> </a:t>
            </a:r>
            <a:r>
              <a:rPr lang="en" sz="1800">
                <a:solidFill>
                  <a:schemeClr val="dk1"/>
                </a:solidFill>
              </a:rPr>
              <a:t>we need not necessarily use sophisticated and mathematically principled techniques from </a:t>
            </a:r>
            <a:r>
              <a:rPr lang="en" sz="1800" b="1">
                <a:solidFill>
                  <a:schemeClr val="dk1"/>
                </a:solidFill>
              </a:rPr>
              <a:t>group theory</a:t>
            </a:r>
            <a:r>
              <a:rPr lang="en" sz="1800">
                <a:solidFill>
                  <a:schemeClr val="dk1"/>
                </a:solidFill>
              </a:rPr>
              <a:t> and </a:t>
            </a:r>
            <a:r>
              <a:rPr lang="en" sz="1800" b="1">
                <a:solidFill>
                  <a:schemeClr val="dk1"/>
                </a:solidFill>
              </a:rPr>
              <a:t>differential geometry</a:t>
            </a:r>
            <a:r>
              <a:rPr lang="en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343" name="Google Shape;343;p47"/>
          <p:cNvSpPr txBox="1"/>
          <p:nvPr/>
        </p:nvSpPr>
        <p:spPr>
          <a:xfrm>
            <a:off x="1099725" y="0"/>
            <a:ext cx="69402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Invariant Point Attention Was Inspired by Equivariant Models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344" name="Google Shape;344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35</a:t>
            </a:fld>
            <a:endParaRPr/>
          </a:p>
        </p:txBody>
      </p:sp>
      <p:sp>
        <p:nvSpPr>
          <p:cNvPr id="345" name="Google Shape;345;p47"/>
          <p:cNvSpPr/>
          <p:nvPr/>
        </p:nvSpPr>
        <p:spPr>
          <a:xfrm>
            <a:off x="2021900" y="2072250"/>
            <a:ext cx="834600" cy="1749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8"/>
          <p:cNvSpPr txBox="1"/>
          <p:nvPr/>
        </p:nvSpPr>
        <p:spPr>
          <a:xfrm>
            <a:off x="1270149" y="0"/>
            <a:ext cx="63837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BackboneUpdate Predicts Local Frame Transformations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351" name="Google Shape;351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6775" y="591088"/>
            <a:ext cx="4707526" cy="3500249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48"/>
          <p:cNvSpPr txBox="1"/>
          <p:nvPr/>
        </p:nvSpPr>
        <p:spPr>
          <a:xfrm>
            <a:off x="623550" y="4253125"/>
            <a:ext cx="7896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updated single representation </a:t>
            </a:r>
            <a:r>
              <a:rPr lang="en" b="1" i="1">
                <a:solidFill>
                  <a:schemeClr val="dk1"/>
                </a:solidFill>
              </a:rPr>
              <a:t>S</a:t>
            </a:r>
            <a:r>
              <a:rPr lang="en" b="1" i="1" baseline="-25000">
                <a:solidFill>
                  <a:schemeClr val="dk1"/>
                </a:solidFill>
              </a:rPr>
              <a:t>i</a:t>
            </a:r>
            <a:r>
              <a:rPr lang="en">
                <a:solidFill>
                  <a:schemeClr val="dk1"/>
                </a:solidFill>
              </a:rPr>
              <a:t> is passed to </a:t>
            </a:r>
            <a:r>
              <a:rPr lang="en" b="1">
                <a:solidFill>
                  <a:schemeClr val="dk1"/>
                </a:solidFill>
              </a:rPr>
              <a:t>BackboneUpdate()</a:t>
            </a:r>
            <a:r>
              <a:rPr lang="en">
                <a:solidFill>
                  <a:schemeClr val="dk1"/>
                </a:solidFill>
              </a:rPr>
              <a:t>, which predicts the local </a:t>
            </a:r>
            <a:r>
              <a:rPr lang="en" b="1">
                <a:solidFill>
                  <a:schemeClr val="dk1"/>
                </a:solidFill>
              </a:rPr>
              <a:t>rotation </a:t>
            </a:r>
            <a:r>
              <a:rPr lang="en">
                <a:solidFill>
                  <a:schemeClr val="dk1"/>
                </a:solidFill>
              </a:rPr>
              <a:t>and </a:t>
            </a:r>
            <a:r>
              <a:rPr lang="en" b="1">
                <a:solidFill>
                  <a:schemeClr val="dk1"/>
                </a:solidFill>
              </a:rPr>
              <a:t>translation for each residue</a:t>
            </a:r>
            <a:r>
              <a:rPr lang="en">
                <a:solidFill>
                  <a:schemeClr val="dk1"/>
                </a:solidFill>
              </a:rPr>
              <a:t> frame.</a:t>
            </a:r>
            <a:endParaRPr sz="1700"/>
          </a:p>
        </p:txBody>
      </p:sp>
      <p:sp>
        <p:nvSpPr>
          <p:cNvPr id="353" name="Google Shape;353;p4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36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/>
          <p:nvPr/>
        </p:nvSpPr>
        <p:spPr>
          <a:xfrm>
            <a:off x="1519750" y="0"/>
            <a:ext cx="6042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Recycling Iteratively Refines the Predicted Structure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359" name="Google Shape;359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9250" y="535287"/>
            <a:ext cx="5812799" cy="3308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/>
          <p:nvPr/>
        </p:nvSpPr>
        <p:spPr>
          <a:xfrm>
            <a:off x="2380500" y="3843700"/>
            <a:ext cx="43830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There are </a:t>
            </a:r>
            <a:r>
              <a:rPr lang="en" b="1"/>
              <a:t>48 Evoformer blocks</a:t>
            </a:r>
            <a:endParaRPr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Followed by </a:t>
            </a:r>
            <a:r>
              <a:rPr lang="en" b="1"/>
              <a:t>8 Structure module blocks</a:t>
            </a:r>
            <a:endParaRPr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 b="1"/>
              <a:t>Loss </a:t>
            </a:r>
            <a:r>
              <a:rPr lang="en"/>
              <a:t>is</a:t>
            </a:r>
            <a:r>
              <a:rPr lang="en" b="1"/>
              <a:t> </a:t>
            </a:r>
            <a:r>
              <a:rPr lang="en"/>
              <a:t>applied</a:t>
            </a:r>
            <a:r>
              <a:rPr lang="en" b="1"/>
              <a:t> after each block</a:t>
            </a:r>
            <a:endParaRPr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 b="1"/>
              <a:t>Recycling </a:t>
            </a:r>
            <a:r>
              <a:rPr lang="en"/>
              <a:t>≈ iterative refinement (3 cycles)</a:t>
            </a:r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37</a:t>
            </a:fld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0"/>
          <p:cNvSpPr txBox="1"/>
          <p:nvPr/>
        </p:nvSpPr>
        <p:spPr>
          <a:xfrm>
            <a:off x="789675" y="0"/>
            <a:ext cx="78225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Side-chains Are Predicted from the Same Structural Representation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367" name="Google Shape;367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0438" y="720775"/>
            <a:ext cx="6005373" cy="332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50"/>
          <p:cNvSpPr txBox="1"/>
          <p:nvPr/>
        </p:nvSpPr>
        <p:spPr>
          <a:xfrm>
            <a:off x="1017575" y="4257325"/>
            <a:ext cx="70065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The same single representation </a:t>
            </a:r>
            <a:r>
              <a:rPr lang="en" b="1" i="1">
                <a:solidFill>
                  <a:schemeClr val="dk1"/>
                </a:solidFill>
              </a:rPr>
              <a:t>S</a:t>
            </a:r>
            <a:r>
              <a:rPr lang="en" b="1" i="1" baseline="-25000">
                <a:solidFill>
                  <a:schemeClr val="dk1"/>
                </a:solidFill>
              </a:rPr>
              <a:t>i</a:t>
            </a:r>
            <a:r>
              <a:rPr lang="en">
                <a:solidFill>
                  <a:schemeClr val="dk1"/>
                </a:solidFill>
              </a:rPr>
              <a:t> is used to predict side-chain torsion angles.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Because </a:t>
            </a:r>
            <a:r>
              <a:rPr lang="en" b="1">
                <a:solidFill>
                  <a:schemeClr val="dk1"/>
                </a:solidFill>
              </a:rPr>
              <a:t>side-chain geometry is largely rigid</a:t>
            </a:r>
            <a:r>
              <a:rPr lang="en">
                <a:solidFill>
                  <a:schemeClr val="dk1"/>
                </a:solidFill>
              </a:rPr>
              <a:t>, torsion prediction is sufficient.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>
                <a:solidFill>
                  <a:schemeClr val="dk1"/>
                </a:solidFill>
              </a:rPr>
              <a:t>The system is trained </a:t>
            </a:r>
            <a:r>
              <a:rPr lang="en" b="1">
                <a:solidFill>
                  <a:schemeClr val="dk1"/>
                </a:solidFill>
              </a:rPr>
              <a:t>end-to-end</a:t>
            </a:r>
            <a:r>
              <a:rPr lang="en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69" name="Google Shape;369;p5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38</a:t>
            </a:fld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51"/>
          <p:cNvSpPr txBox="1"/>
          <p:nvPr/>
        </p:nvSpPr>
        <p:spPr>
          <a:xfrm>
            <a:off x="1306400" y="0"/>
            <a:ext cx="63837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Structure Quality Can Be Measured Locally and Globally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375" name="Google Shape;375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5475" y="1053925"/>
            <a:ext cx="3873225" cy="21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39863" y="1064375"/>
            <a:ext cx="3873224" cy="2132280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51"/>
          <p:cNvSpPr txBox="1"/>
          <p:nvPr/>
        </p:nvSpPr>
        <p:spPr>
          <a:xfrm>
            <a:off x="845550" y="4007950"/>
            <a:ext cx="7452900" cy="8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 b="1">
                <a:solidFill>
                  <a:schemeClr val="dk1"/>
                </a:solidFill>
              </a:rPr>
              <a:t>lDDT (i.e. Local Distance Difference Test) measures local structural accuracy.</a:t>
            </a:r>
            <a:br>
              <a:rPr lang="en" b="1">
                <a:solidFill>
                  <a:schemeClr val="dk1"/>
                </a:solidFill>
              </a:rPr>
            </a:br>
            <a:endParaRPr b="1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 b="1">
                <a:solidFill>
                  <a:schemeClr val="dk1"/>
                </a:solidFill>
              </a:rPr>
              <a:t>GDT (i.e. Global Distance Test) measures global structural similarity.</a:t>
            </a:r>
            <a:endParaRPr/>
          </a:p>
        </p:txBody>
      </p:sp>
      <p:sp>
        <p:nvSpPr>
          <p:cNvPr id="378" name="Google Shape;378;p51"/>
          <p:cNvSpPr txBox="1"/>
          <p:nvPr/>
        </p:nvSpPr>
        <p:spPr>
          <a:xfrm>
            <a:off x="494800" y="3289875"/>
            <a:ext cx="3474600" cy="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Local Structure Accuracy (</a:t>
            </a:r>
            <a:r>
              <a:rPr lang="en" b="1">
                <a:solidFill>
                  <a:schemeClr val="dk1"/>
                </a:solidFill>
              </a:rPr>
              <a:t>lDDT / LDDT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79" name="Google Shape;379;p51"/>
          <p:cNvSpPr txBox="1"/>
          <p:nvPr/>
        </p:nvSpPr>
        <p:spPr>
          <a:xfrm>
            <a:off x="4478375" y="3186200"/>
            <a:ext cx="4475700" cy="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dRMSD </a:t>
            </a:r>
            <a:r>
              <a:rPr lang="en">
                <a:solidFill>
                  <a:schemeClr val="dk1"/>
                </a:solidFill>
              </a:rPr>
              <a:t>is a more global distance-based metric, </a:t>
            </a:r>
            <a:endParaRPr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but not the same as GDT (Global Distance Test)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80" name="Google Shape;380;p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39</a:t>
            </a:fld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30098" y="698250"/>
            <a:ext cx="4765924" cy="2864275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52"/>
          <p:cNvSpPr txBox="1"/>
          <p:nvPr/>
        </p:nvSpPr>
        <p:spPr>
          <a:xfrm>
            <a:off x="1799250" y="0"/>
            <a:ext cx="62169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AlphaFold 2 Predicts Its Own Confidence via pLDDT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387" name="Google Shape;387;p52"/>
          <p:cNvSpPr txBox="1"/>
          <p:nvPr/>
        </p:nvSpPr>
        <p:spPr>
          <a:xfrm>
            <a:off x="2132875" y="3942775"/>
            <a:ext cx="52125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 b="1">
                <a:solidFill>
                  <a:schemeClr val="dk1"/>
                </a:solidFill>
              </a:rPr>
              <a:t>LDDT</a:t>
            </a:r>
            <a:r>
              <a:rPr lang="en">
                <a:solidFill>
                  <a:schemeClr val="dk1"/>
                </a:solidFill>
              </a:rPr>
              <a:t> = the </a:t>
            </a:r>
            <a:r>
              <a:rPr lang="en" b="1">
                <a:solidFill>
                  <a:schemeClr val="dk1"/>
                </a:solidFill>
              </a:rPr>
              <a:t>true (local) evaluation metric</a:t>
            </a:r>
            <a:br>
              <a:rPr lang="en" b="1">
                <a:solidFill>
                  <a:schemeClr val="dk1"/>
                </a:solidFill>
              </a:rPr>
            </a:br>
            <a:endParaRPr b="1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➢"/>
            </a:pPr>
            <a:r>
              <a:rPr lang="en" b="1">
                <a:solidFill>
                  <a:schemeClr val="dk1"/>
                </a:solidFill>
              </a:rPr>
              <a:t>pLDDT</a:t>
            </a:r>
            <a:r>
              <a:rPr lang="en">
                <a:solidFill>
                  <a:schemeClr val="dk1"/>
                </a:solidFill>
              </a:rPr>
              <a:t> = the model’s </a:t>
            </a:r>
            <a:r>
              <a:rPr lang="en" b="1">
                <a:solidFill>
                  <a:schemeClr val="dk1"/>
                </a:solidFill>
              </a:rPr>
              <a:t>predicted estimate</a:t>
            </a:r>
            <a:r>
              <a:rPr lang="en">
                <a:solidFill>
                  <a:schemeClr val="dk1"/>
                </a:solidFill>
              </a:rPr>
              <a:t> of that metric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88" name="Google Shape;388;p5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40</a:t>
            </a:fld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3"/>
          <p:cNvSpPr txBox="1"/>
          <p:nvPr/>
        </p:nvSpPr>
        <p:spPr>
          <a:xfrm>
            <a:off x="866743" y="0"/>
            <a:ext cx="7584000" cy="3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First Training Phase Combines Structural and Auxiliary Losses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394" name="Google Shape;394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800" y="1076751"/>
            <a:ext cx="7947525" cy="372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1800" y="1937000"/>
            <a:ext cx="812684" cy="326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5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1800" y="2504488"/>
            <a:ext cx="630091" cy="32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5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0748" y="3135225"/>
            <a:ext cx="652200" cy="32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p5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31800" y="3822038"/>
            <a:ext cx="730250" cy="322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9" name="Google Shape;399;p5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1800" y="4473839"/>
            <a:ext cx="730250" cy="362336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53"/>
          <p:cNvSpPr txBox="1"/>
          <p:nvPr/>
        </p:nvSpPr>
        <p:spPr>
          <a:xfrm>
            <a:off x="1958275" y="1947763"/>
            <a:ext cx="6192900" cy="3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FAPE loss</a:t>
            </a:r>
            <a:r>
              <a:rPr lang="en">
                <a:solidFill>
                  <a:schemeClr val="dk1"/>
                </a:solidFill>
              </a:rPr>
              <a:t> → geometry-aware loss invariant to global rigid motions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01" name="Google Shape;401;p53"/>
          <p:cNvSpPr txBox="1"/>
          <p:nvPr/>
        </p:nvSpPr>
        <p:spPr>
          <a:xfrm>
            <a:off x="1934450" y="2557175"/>
            <a:ext cx="6645000" cy="3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Auxiliary loss</a:t>
            </a:r>
            <a:r>
              <a:rPr lang="en">
                <a:solidFill>
                  <a:schemeClr val="dk1"/>
                </a:solidFill>
              </a:rPr>
              <a:t> → per-block supervision during iterative refinement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02" name="Google Shape;402;p53"/>
          <p:cNvSpPr txBox="1"/>
          <p:nvPr/>
        </p:nvSpPr>
        <p:spPr>
          <a:xfrm>
            <a:off x="1958275" y="3117075"/>
            <a:ext cx="6105300" cy="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Distogram loss</a:t>
            </a:r>
            <a:r>
              <a:rPr lang="en">
                <a:solidFill>
                  <a:schemeClr val="dk1"/>
                </a:solidFill>
              </a:rPr>
              <a:t> → supervision on the pair representation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03" name="Google Shape;403;p53"/>
          <p:cNvSpPr txBox="1"/>
          <p:nvPr/>
        </p:nvSpPr>
        <p:spPr>
          <a:xfrm>
            <a:off x="1946275" y="3808625"/>
            <a:ext cx="6832800" cy="3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Masked MSA loss</a:t>
            </a:r>
            <a:r>
              <a:rPr lang="en">
                <a:solidFill>
                  <a:schemeClr val="dk1"/>
                </a:solidFill>
              </a:rPr>
              <a:t> → recovery of masked amino acids from evolutionary context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04" name="Google Shape;404;p53"/>
          <p:cNvSpPr txBox="1"/>
          <p:nvPr/>
        </p:nvSpPr>
        <p:spPr>
          <a:xfrm>
            <a:off x="1938475" y="4510063"/>
            <a:ext cx="6232500" cy="3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Confidence loss</a:t>
            </a:r>
            <a:r>
              <a:rPr lang="en">
                <a:solidFill>
                  <a:schemeClr val="dk1"/>
                </a:solidFill>
              </a:rPr>
              <a:t> → supervision for confidence estimation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05" name="Google Shape;405;p5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41</a:t>
            </a:fld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4"/>
          <p:cNvSpPr txBox="1"/>
          <p:nvPr/>
        </p:nvSpPr>
        <p:spPr>
          <a:xfrm>
            <a:off x="605100" y="0"/>
            <a:ext cx="7933800" cy="3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The Second Training Phase Adds Experimental and Violation Losses</a:t>
            </a:r>
            <a:endParaRPr sz="1800" b="1">
              <a:solidFill>
                <a:schemeClr val="dk1"/>
              </a:solidFill>
            </a:endParaRPr>
          </a:p>
        </p:txBody>
      </p:sp>
      <p:grpSp>
        <p:nvGrpSpPr>
          <p:cNvPr id="411" name="Google Shape;411;p54"/>
          <p:cNvGrpSpPr/>
          <p:nvPr/>
        </p:nvGrpSpPr>
        <p:grpSpPr>
          <a:xfrm>
            <a:off x="147825" y="845300"/>
            <a:ext cx="8873325" cy="316943"/>
            <a:chOff x="152400" y="1190900"/>
            <a:chExt cx="8873325" cy="316943"/>
          </a:xfrm>
        </p:grpSpPr>
        <p:pic>
          <p:nvPicPr>
            <p:cNvPr id="412" name="Google Shape;412;p5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52400" y="1190900"/>
              <a:ext cx="8839200" cy="31694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3" name="Google Shape;413;p54"/>
            <p:cNvSpPr/>
            <p:nvPr/>
          </p:nvSpPr>
          <p:spPr>
            <a:xfrm>
              <a:off x="6322725" y="1221625"/>
              <a:ext cx="2703000" cy="254400"/>
            </a:xfrm>
            <a:prstGeom prst="rect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4" name="Google Shape;414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42</a:t>
            </a:fld>
            <a:endParaRPr/>
          </a:p>
        </p:txBody>
      </p:sp>
      <p:sp>
        <p:nvSpPr>
          <p:cNvPr id="415" name="Google Shape;415;p54"/>
          <p:cNvSpPr txBox="1"/>
          <p:nvPr/>
        </p:nvSpPr>
        <p:spPr>
          <a:xfrm>
            <a:off x="287100" y="1413725"/>
            <a:ext cx="8251800" cy="13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>
                <a:solidFill>
                  <a:schemeClr val="dk1"/>
                </a:solidFill>
              </a:rPr>
              <a:t>Experimentally resolved atom loss (</a:t>
            </a:r>
            <a:r>
              <a:rPr lang="en" sz="1100" b="1" i="1">
                <a:solidFill>
                  <a:schemeClr val="dk1"/>
                </a:solidFill>
              </a:rPr>
              <a:t>L</a:t>
            </a:r>
            <a:r>
              <a:rPr lang="en" sz="1100" b="1" i="1" baseline="-25000">
                <a:solidFill>
                  <a:schemeClr val="dk1"/>
                </a:solidFill>
              </a:rPr>
              <a:t>exp_resolved</a:t>
            </a:r>
            <a:r>
              <a:rPr lang="en" sz="1100" b="1">
                <a:solidFill>
                  <a:schemeClr val="dk1"/>
                </a:solidFill>
              </a:rPr>
              <a:t>):</a:t>
            </a:r>
            <a:endParaRPr sz="11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Not every atom in a protein is visible in experimental data. Some regions are floppy or disordered → they move around so much that X-ray crystallography or cryo-EM can't pin them down. </a:t>
            </a:r>
            <a:r>
              <a:rPr lang="en" sz="1100" b="1">
                <a:solidFill>
                  <a:schemeClr val="dk1"/>
                </a:solidFill>
              </a:rPr>
              <a:t>It would be unfair to penalize the model for getting these regions "wrong" when even nature hasn't settled on a fixed position for them. </a:t>
            </a:r>
            <a:r>
              <a:rPr lang="en" sz="1100">
                <a:solidFill>
                  <a:schemeClr val="dk1"/>
                </a:solidFill>
              </a:rPr>
              <a:t>So this loss only </a:t>
            </a:r>
            <a:r>
              <a:rPr lang="en" sz="1100" b="1">
                <a:solidFill>
                  <a:schemeClr val="dk1"/>
                </a:solidFill>
              </a:rPr>
              <a:t>counts errors where we actually have reliable experimental ground truth.</a:t>
            </a:r>
            <a:r>
              <a:rPr lang="en" sz="1100">
                <a:solidFill>
                  <a:schemeClr val="dk1"/>
                </a:solidFill>
              </a:rPr>
              <a:t> 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416" name="Google Shape;416;p54"/>
          <p:cNvSpPr txBox="1"/>
          <p:nvPr/>
        </p:nvSpPr>
        <p:spPr>
          <a:xfrm>
            <a:off x="287100" y="3073900"/>
            <a:ext cx="8450700" cy="16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>
                <a:solidFill>
                  <a:schemeClr val="dk1"/>
                </a:solidFill>
              </a:rPr>
              <a:t>Violation loss (</a:t>
            </a:r>
            <a:r>
              <a:rPr lang="en" sz="1100" b="1" i="1">
                <a:solidFill>
                  <a:schemeClr val="dk1"/>
                </a:solidFill>
              </a:rPr>
              <a:t>L</a:t>
            </a:r>
            <a:r>
              <a:rPr lang="en" sz="1100" b="1" i="1" baseline="-25000">
                <a:solidFill>
                  <a:schemeClr val="dk1"/>
                </a:solidFill>
              </a:rPr>
              <a:t>viol</a:t>
            </a:r>
            <a:r>
              <a:rPr lang="en" sz="1100" b="1">
                <a:solidFill>
                  <a:schemeClr val="dk1"/>
                </a:solidFill>
              </a:rPr>
              <a:t>):</a:t>
            </a:r>
            <a:endParaRPr sz="11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This loss enforces basic physical and chemical reality. Even if the predicted structure looks good in terms of overall shape, it might contain local absurdities:</a:t>
            </a:r>
            <a:r>
              <a:rPr lang="en" sz="1100" b="1">
                <a:solidFill>
                  <a:schemeClr val="dk1"/>
                </a:solidFill>
              </a:rPr>
              <a:t> two atoms occupying the same space</a:t>
            </a:r>
            <a:r>
              <a:rPr lang="en" sz="1100">
                <a:solidFill>
                  <a:schemeClr val="dk1"/>
                </a:solidFill>
              </a:rPr>
              <a:t> (steric clashes), </a:t>
            </a:r>
            <a:r>
              <a:rPr lang="en" sz="1100" b="1">
                <a:solidFill>
                  <a:schemeClr val="dk1"/>
                </a:solidFill>
              </a:rPr>
              <a:t>bonds that are too long or too short </a:t>
            </a:r>
            <a:r>
              <a:rPr lang="en" sz="1100">
                <a:solidFill>
                  <a:schemeClr val="dk1"/>
                </a:solidFill>
              </a:rPr>
              <a:t>(invalid bond lengths), or</a:t>
            </a:r>
            <a:r>
              <a:rPr lang="en" sz="1100" b="1">
                <a:solidFill>
                  <a:schemeClr val="dk1"/>
                </a:solidFill>
              </a:rPr>
              <a:t> backbone angles that are physically impossible</a:t>
            </a:r>
            <a:r>
              <a:rPr lang="en" sz="1100">
                <a:solidFill>
                  <a:schemeClr val="dk1"/>
                </a:solidFill>
              </a:rPr>
              <a:t> (torsion outliers). This is like a spell-checker for chemistry → the model might write a grammatically correct sentence, but </a:t>
            </a:r>
            <a:r>
              <a:rPr lang="en" sz="1100" b="1">
                <a:solidFill>
                  <a:schemeClr val="dk1"/>
                </a:solidFill>
              </a:rPr>
              <a:t>this loss catches the typos at the atomic level.</a:t>
            </a:r>
            <a:r>
              <a:rPr lang="en" sz="1100">
                <a:solidFill>
                  <a:schemeClr val="dk1"/>
                </a:solidFill>
              </a:rPr>
              <a:t> </a:t>
            </a:r>
            <a:r>
              <a:rPr lang="en" sz="1100" b="1">
                <a:solidFill>
                  <a:schemeClr val="dk1"/>
                </a:solidFill>
              </a:rPr>
              <a:t>It has a high weight of 1.0 because these violations are non-negotiable</a:t>
            </a:r>
            <a:r>
              <a:rPr lang="en" sz="1100">
                <a:solidFill>
                  <a:schemeClr val="dk1"/>
                </a:solidFill>
              </a:rPr>
              <a:t>: a structure with atoms passing through each other is simply not a real protein, no matter how good the fold looks from a distance.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55"/>
          <p:cNvSpPr txBox="1"/>
          <p:nvPr/>
        </p:nvSpPr>
        <p:spPr>
          <a:xfrm>
            <a:off x="1664150" y="0"/>
            <a:ext cx="66303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Ablation Studies Reveal Which Components Matter Most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22" name="Google Shape;422;p55"/>
          <p:cNvSpPr txBox="1"/>
          <p:nvPr/>
        </p:nvSpPr>
        <p:spPr>
          <a:xfrm>
            <a:off x="554600" y="4591350"/>
            <a:ext cx="8641500" cy="4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“Highly accurate protein structure prediction with AlphaFold” </a:t>
            </a:r>
            <a:r>
              <a:rPr lang="en">
                <a:solidFill>
                  <a:schemeClr val="dk1"/>
                </a:solidFill>
              </a:rPr>
              <a:t>by J. Jumper et al., Nature, 2021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423" name="Google Shape;423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0727" y="667263"/>
            <a:ext cx="4551157" cy="3808974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43</a:t>
            </a:fld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56"/>
          <p:cNvSpPr txBox="1"/>
          <p:nvPr/>
        </p:nvSpPr>
        <p:spPr>
          <a:xfrm>
            <a:off x="1876950" y="0"/>
            <a:ext cx="5390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IPA and Recycling Are Critical for Performance 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30" name="Google Shape;430;p56"/>
          <p:cNvSpPr txBox="1"/>
          <p:nvPr/>
        </p:nvSpPr>
        <p:spPr>
          <a:xfrm>
            <a:off x="152398" y="4308862"/>
            <a:ext cx="88392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38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chemeClr val="dk1"/>
                </a:solidFill>
              </a:rPr>
              <a:t>Remember → In </a:t>
            </a:r>
            <a:r>
              <a:rPr lang="en" sz="1100" b="1" dirty="0">
                <a:solidFill>
                  <a:schemeClr val="dk1"/>
                </a:solidFill>
              </a:rPr>
              <a:t>AlphaFold 2</a:t>
            </a:r>
            <a:r>
              <a:rPr lang="en" sz="1100" dirty="0">
                <a:solidFill>
                  <a:schemeClr val="dk1"/>
                </a:solidFill>
              </a:rPr>
              <a:t>, </a:t>
            </a:r>
            <a:r>
              <a:rPr lang="en" sz="1100" b="1" dirty="0">
                <a:solidFill>
                  <a:schemeClr val="dk1"/>
                </a:solidFill>
              </a:rPr>
              <a:t>IPA</a:t>
            </a:r>
            <a:r>
              <a:rPr lang="en" sz="1100" dirty="0">
                <a:solidFill>
                  <a:schemeClr val="dk1"/>
                </a:solidFill>
              </a:rPr>
              <a:t> stands for </a:t>
            </a:r>
            <a:r>
              <a:rPr lang="en" sz="1100" b="1" i="1" dirty="0">
                <a:solidFill>
                  <a:schemeClr val="dk1"/>
                </a:solidFill>
              </a:rPr>
              <a:t>Invariant Point Attention</a:t>
            </a:r>
            <a:r>
              <a:rPr lang="en" sz="1100" dirty="0">
                <a:solidFill>
                  <a:schemeClr val="dk1"/>
                </a:solidFill>
              </a:rPr>
              <a:t>. It’s one of the key architectural innovations that allows the model to reason directly in </a:t>
            </a:r>
            <a:r>
              <a:rPr lang="en" sz="1100" b="1" dirty="0">
                <a:solidFill>
                  <a:schemeClr val="dk1"/>
                </a:solidFill>
              </a:rPr>
              <a:t>3D space</a:t>
            </a:r>
            <a:r>
              <a:rPr lang="en" sz="1100" dirty="0">
                <a:solidFill>
                  <a:schemeClr val="dk1"/>
                </a:solidFill>
              </a:rPr>
              <a:t> while remaining consistent under rotations and translations.</a:t>
            </a:r>
            <a:endParaRPr dirty="0"/>
          </a:p>
        </p:txBody>
      </p:sp>
      <p:pic>
        <p:nvPicPr>
          <p:cNvPr id="431" name="Google Shape;431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6000" y="518100"/>
            <a:ext cx="3391499" cy="298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32" name="Google Shape;432;p56"/>
          <p:cNvGrpSpPr/>
          <p:nvPr/>
        </p:nvGrpSpPr>
        <p:grpSpPr>
          <a:xfrm>
            <a:off x="825488" y="3505850"/>
            <a:ext cx="7493020" cy="1027525"/>
            <a:chOff x="1049350" y="3505850"/>
            <a:chExt cx="7493020" cy="1027525"/>
          </a:xfrm>
        </p:grpSpPr>
        <p:pic>
          <p:nvPicPr>
            <p:cNvPr id="433" name="Google Shape;433;p5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049350" y="3505850"/>
              <a:ext cx="7493020" cy="10275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34" name="Google Shape;434;p56"/>
            <p:cNvSpPr/>
            <p:nvPr/>
          </p:nvSpPr>
          <p:spPr>
            <a:xfrm rot="8263579">
              <a:off x="5136144" y="3827198"/>
              <a:ext cx="26759" cy="375312"/>
            </a:xfrm>
            <a:prstGeom prst="rect">
              <a:avLst/>
            </a:prstGeom>
            <a:solidFill>
              <a:srgbClr val="FF0000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highlight>
                  <a:srgbClr val="FF0000"/>
                </a:highlight>
              </a:endParaRPr>
            </a:p>
          </p:txBody>
        </p:sp>
        <p:sp>
          <p:nvSpPr>
            <p:cNvPr id="435" name="Google Shape;435;p56"/>
            <p:cNvSpPr/>
            <p:nvPr/>
          </p:nvSpPr>
          <p:spPr>
            <a:xfrm rot="-8100000">
              <a:off x="5136153" y="3831882"/>
              <a:ext cx="26729" cy="375474"/>
            </a:xfrm>
            <a:prstGeom prst="rect">
              <a:avLst/>
            </a:prstGeom>
            <a:solidFill>
              <a:srgbClr val="FF0000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highlight>
                  <a:srgbClr val="FF0000"/>
                </a:highlight>
              </a:endParaRPr>
            </a:p>
          </p:txBody>
        </p:sp>
      </p:grpSp>
      <p:grpSp>
        <p:nvGrpSpPr>
          <p:cNvPr id="436" name="Google Shape;436;p56"/>
          <p:cNvGrpSpPr/>
          <p:nvPr/>
        </p:nvGrpSpPr>
        <p:grpSpPr>
          <a:xfrm>
            <a:off x="5448249" y="406876"/>
            <a:ext cx="3497374" cy="3182050"/>
            <a:chOff x="5448249" y="406876"/>
            <a:chExt cx="3497374" cy="3182050"/>
          </a:xfrm>
        </p:grpSpPr>
        <p:pic>
          <p:nvPicPr>
            <p:cNvPr id="437" name="Google Shape;437;p5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448249" y="406876"/>
              <a:ext cx="3497374" cy="292704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38" name="Google Shape;438;p56"/>
            <p:cNvSpPr/>
            <p:nvPr/>
          </p:nvSpPr>
          <p:spPr>
            <a:xfrm rot="5400000">
              <a:off x="6101925" y="3192776"/>
              <a:ext cx="651900" cy="1404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56"/>
            <p:cNvSpPr/>
            <p:nvPr/>
          </p:nvSpPr>
          <p:spPr>
            <a:xfrm>
              <a:off x="6004724" y="2779850"/>
              <a:ext cx="810900" cy="137700"/>
            </a:xfrm>
            <a:prstGeom prst="rect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0" name="Google Shape;440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44</a:t>
            </a:fld>
            <a:endParaRPr/>
          </a:p>
        </p:txBody>
      </p:sp>
      <p:sp>
        <p:nvSpPr>
          <p:cNvPr id="441" name="Google Shape;441;p56"/>
          <p:cNvSpPr/>
          <p:nvPr/>
        </p:nvSpPr>
        <p:spPr>
          <a:xfrm rot="10800000" flipH="1">
            <a:off x="3460075" y="1247825"/>
            <a:ext cx="2349300" cy="2350200"/>
          </a:xfrm>
          <a:prstGeom prst="bentUpArrow">
            <a:avLst>
              <a:gd name="adj1" fmla="val 2812"/>
              <a:gd name="adj2" fmla="val 7566"/>
              <a:gd name="adj3" fmla="val 8711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56"/>
          <p:cNvSpPr/>
          <p:nvPr/>
        </p:nvSpPr>
        <p:spPr>
          <a:xfrm>
            <a:off x="5146950" y="3629075"/>
            <a:ext cx="2804700" cy="7554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57"/>
          <p:cNvSpPr txBox="1"/>
          <p:nvPr/>
        </p:nvSpPr>
        <p:spPr>
          <a:xfrm>
            <a:off x="3478950" y="1955650"/>
            <a:ext cx="2186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1">
                <a:solidFill>
                  <a:schemeClr val="dk1"/>
                </a:solidFill>
              </a:rPr>
              <a:t>OpenFold</a:t>
            </a:r>
            <a:endParaRPr sz="3300" b="1">
              <a:solidFill>
                <a:schemeClr val="dk1"/>
              </a:solidFill>
            </a:endParaRPr>
          </a:p>
        </p:txBody>
      </p:sp>
      <p:sp>
        <p:nvSpPr>
          <p:cNvPr id="448" name="Google Shape;448;p5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45</a:t>
            </a:fld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6012" y="570375"/>
            <a:ext cx="5171976" cy="2467775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58"/>
          <p:cNvSpPr txBox="1"/>
          <p:nvPr/>
        </p:nvSpPr>
        <p:spPr>
          <a:xfrm>
            <a:off x="1616450" y="0"/>
            <a:ext cx="6141900" cy="5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OpenFold Prioritized Reproducibility and Trainability</a:t>
            </a:r>
            <a:endParaRPr sz="1800" b="1">
              <a:solidFill>
                <a:schemeClr val="dk1"/>
              </a:solidFill>
            </a:endParaRPr>
          </a:p>
        </p:txBody>
      </p:sp>
      <p:grpSp>
        <p:nvGrpSpPr>
          <p:cNvPr id="455" name="Google Shape;455;p58"/>
          <p:cNvGrpSpPr/>
          <p:nvPr/>
        </p:nvGrpSpPr>
        <p:grpSpPr>
          <a:xfrm>
            <a:off x="1071175" y="3102425"/>
            <a:ext cx="6906260" cy="1864825"/>
            <a:chOff x="1071175" y="3102425"/>
            <a:chExt cx="6906260" cy="1864825"/>
          </a:xfrm>
        </p:grpSpPr>
        <p:pic>
          <p:nvPicPr>
            <p:cNvPr id="456" name="Google Shape;456;p5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071175" y="3102425"/>
              <a:ext cx="6906260" cy="18648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57" name="Google Shape;457;p58"/>
            <p:cNvSpPr/>
            <p:nvPr/>
          </p:nvSpPr>
          <p:spPr>
            <a:xfrm>
              <a:off x="6277654" y="4019425"/>
              <a:ext cx="1574100" cy="643800"/>
            </a:xfrm>
            <a:prstGeom prst="rect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8" name="Google Shape;458;p5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46</a:t>
            </a:fld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9"/>
          <p:cNvSpPr txBox="1"/>
          <p:nvPr/>
        </p:nvSpPr>
        <p:spPr>
          <a:xfrm>
            <a:off x="2833805" y="0"/>
            <a:ext cx="3888000" cy="5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Ask</a:t>
            </a:r>
            <a:r>
              <a:rPr lang="en"/>
              <a:t> </a:t>
            </a:r>
            <a:r>
              <a:rPr lang="en" sz="1800" b="1"/>
              <a:t>DeepWiki </a:t>
            </a:r>
            <a:r>
              <a:rPr lang="en" sz="1800" b="1">
                <a:solidFill>
                  <a:schemeClr val="dk1"/>
                </a:solidFill>
              </a:rPr>
              <a:t>for concrete Details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64" name="Google Shape;464;p59"/>
          <p:cNvSpPr txBox="1"/>
          <p:nvPr/>
        </p:nvSpPr>
        <p:spPr>
          <a:xfrm>
            <a:off x="383625" y="4705625"/>
            <a:ext cx="8642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Append github username and repository name to the</a:t>
            </a:r>
            <a:r>
              <a:rPr lang="en" sz="1200" b="1">
                <a:solidFill>
                  <a:schemeClr val="dk1"/>
                </a:solidFill>
              </a:rPr>
              <a:t> deepwiki.com </a:t>
            </a:r>
            <a:r>
              <a:rPr lang="en" sz="1200">
                <a:solidFill>
                  <a:schemeClr val="dk1"/>
                </a:solidFill>
              </a:rPr>
              <a:t>URL </a:t>
            </a:r>
            <a:r>
              <a:rPr lang="en" sz="1200" b="1">
                <a:solidFill>
                  <a:schemeClr val="dk1"/>
                </a:solidFill>
              </a:rPr>
              <a:t>→</a:t>
            </a:r>
            <a:r>
              <a:rPr lang="en" sz="1200" b="1">
                <a:solidFill>
                  <a:srgbClr val="FF0000"/>
                </a:solidFill>
              </a:rPr>
              <a:t> https://deepwiki.com</a:t>
            </a:r>
            <a:r>
              <a:rPr lang="en" sz="1200" b="1">
                <a:solidFill>
                  <a:schemeClr val="dk1"/>
                </a:solidFill>
              </a:rPr>
              <a:t>/</a:t>
            </a:r>
            <a:r>
              <a:rPr lang="en" sz="1200" b="1">
                <a:solidFill>
                  <a:srgbClr val="A4C2F4"/>
                </a:solidFill>
              </a:rPr>
              <a:t>aqlaboratory</a:t>
            </a:r>
            <a:r>
              <a:rPr lang="en" sz="1200" b="1">
                <a:solidFill>
                  <a:schemeClr val="dk1"/>
                </a:solidFill>
              </a:rPr>
              <a:t>/</a:t>
            </a:r>
            <a:r>
              <a:rPr lang="en" sz="1200" b="1">
                <a:solidFill>
                  <a:srgbClr val="3C78D8"/>
                </a:solidFill>
              </a:rPr>
              <a:t>openfold</a:t>
            </a:r>
            <a:endParaRPr sz="1200">
              <a:solidFill>
                <a:srgbClr val="3C78D8"/>
              </a:solidFill>
            </a:endParaRPr>
          </a:p>
        </p:txBody>
      </p:sp>
      <p:pic>
        <p:nvPicPr>
          <p:cNvPr id="465" name="Google Shape;465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2275" y="410700"/>
            <a:ext cx="6822200" cy="4247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39200" y="847975"/>
            <a:ext cx="5157949" cy="3992076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60"/>
          <p:cNvSpPr txBox="1"/>
          <p:nvPr/>
        </p:nvSpPr>
        <p:spPr>
          <a:xfrm>
            <a:off x="1759525" y="0"/>
            <a:ext cx="55173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OpenFold Achieves Near-Parity with AlphaFold 2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72" name="Google Shape;472;p6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48</a:t>
            </a:fld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7" name="Google Shape;47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58512" y="800300"/>
            <a:ext cx="3749975" cy="3014250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p61"/>
          <p:cNvSpPr txBox="1"/>
          <p:nvPr/>
        </p:nvSpPr>
        <p:spPr>
          <a:xfrm>
            <a:off x="2093450" y="0"/>
            <a:ext cx="5262600" cy="4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Most Performance Emerges Early in Training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79" name="Google Shape;479;p61"/>
          <p:cNvSpPr txBox="1"/>
          <p:nvPr/>
        </p:nvSpPr>
        <p:spPr>
          <a:xfrm>
            <a:off x="646575" y="4067625"/>
            <a:ext cx="7870500" cy="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The model achieves </a:t>
            </a:r>
            <a:r>
              <a:rPr lang="en" sz="1800" b="1">
                <a:solidFill>
                  <a:schemeClr val="dk1"/>
                </a:solidFill>
              </a:rPr>
              <a:t>90%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 b="1">
                <a:solidFill>
                  <a:schemeClr val="dk1"/>
                </a:solidFill>
              </a:rPr>
              <a:t>of </a:t>
            </a:r>
            <a:r>
              <a:rPr lang="en" sz="1800">
                <a:solidFill>
                  <a:schemeClr val="dk1"/>
                </a:solidFill>
              </a:rPr>
              <a:t>the final </a:t>
            </a:r>
            <a:r>
              <a:rPr lang="en" sz="1800" b="1">
                <a:solidFill>
                  <a:schemeClr val="dk1"/>
                </a:solidFill>
              </a:rPr>
              <a:t>metric </a:t>
            </a:r>
            <a:r>
              <a:rPr lang="en" sz="1800">
                <a:solidFill>
                  <a:schemeClr val="dk1"/>
                </a:solidFill>
              </a:rPr>
              <a:t>in only </a:t>
            </a:r>
            <a:r>
              <a:rPr lang="en" sz="1800" b="1">
                <a:solidFill>
                  <a:schemeClr val="dk1"/>
                </a:solidFill>
              </a:rPr>
              <a:t>3%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 b="1">
                <a:solidFill>
                  <a:schemeClr val="dk1"/>
                </a:solidFill>
              </a:rPr>
              <a:t>of </a:t>
            </a:r>
            <a:r>
              <a:rPr lang="en" sz="1800">
                <a:solidFill>
                  <a:schemeClr val="dk1"/>
                </a:solidFill>
              </a:rPr>
              <a:t>the training </a:t>
            </a:r>
            <a:r>
              <a:rPr lang="en" sz="1800" b="1">
                <a:solidFill>
                  <a:schemeClr val="dk1"/>
                </a:solidFill>
              </a:rPr>
              <a:t>time</a:t>
            </a:r>
            <a:r>
              <a:rPr lang="en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480" name="Google Shape;480;p6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49</a:t>
            </a:fld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5" name="Google Shape;485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55102" y="1023425"/>
            <a:ext cx="5616600" cy="34931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62"/>
          <p:cNvSpPr txBox="1"/>
          <p:nvPr/>
        </p:nvSpPr>
        <p:spPr>
          <a:xfrm>
            <a:off x="1845575" y="0"/>
            <a:ext cx="56166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Performance with Deliberately Reduced Datasets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87" name="Google Shape;487;p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50</a:t>
            </a:fld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2" name="Google Shape;492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400" y="1007000"/>
            <a:ext cx="2515874" cy="3848974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63"/>
          <p:cNvSpPr txBox="1"/>
          <p:nvPr/>
        </p:nvSpPr>
        <p:spPr>
          <a:xfrm>
            <a:off x="6288125" y="2208025"/>
            <a:ext cx="2037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chemeClr val="dk1"/>
                </a:solidFill>
              </a:rPr>
              <a:t>Nature is parsimonious in the structures it allows</a:t>
            </a:r>
            <a:endParaRPr sz="1800" b="1" i="1">
              <a:solidFill>
                <a:schemeClr val="dk1"/>
              </a:solidFill>
            </a:endParaRPr>
          </a:p>
        </p:txBody>
      </p:sp>
      <p:sp>
        <p:nvSpPr>
          <p:cNvPr id="494" name="Google Shape;494;p63"/>
          <p:cNvSpPr txBox="1"/>
          <p:nvPr/>
        </p:nvSpPr>
        <p:spPr>
          <a:xfrm>
            <a:off x="3512100" y="1387875"/>
            <a:ext cx="826800" cy="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Class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95" name="Google Shape;495;p63"/>
          <p:cNvSpPr txBox="1"/>
          <p:nvPr/>
        </p:nvSpPr>
        <p:spPr>
          <a:xfrm>
            <a:off x="3512100" y="2643500"/>
            <a:ext cx="1580700" cy="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Architecture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96" name="Google Shape;496;p63"/>
          <p:cNvSpPr txBox="1"/>
          <p:nvPr/>
        </p:nvSpPr>
        <p:spPr>
          <a:xfrm>
            <a:off x="3512100" y="3994025"/>
            <a:ext cx="2119800" cy="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Topology or Fold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97" name="Google Shape;497;p63"/>
          <p:cNvSpPr txBox="1"/>
          <p:nvPr/>
        </p:nvSpPr>
        <p:spPr>
          <a:xfrm>
            <a:off x="2090825" y="0"/>
            <a:ext cx="5448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Protein Fold Space Is Rich but Still Constrained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498" name="Google Shape;498;p6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51</a:t>
            </a:fld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64"/>
          <p:cNvSpPr txBox="1"/>
          <p:nvPr/>
        </p:nvSpPr>
        <p:spPr>
          <a:xfrm>
            <a:off x="3258600" y="0"/>
            <a:ext cx="27903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Take-Home Messages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504" name="Google Shape;504;p64"/>
          <p:cNvSpPr txBox="1"/>
          <p:nvPr/>
        </p:nvSpPr>
        <p:spPr>
          <a:xfrm>
            <a:off x="55600" y="1166850"/>
            <a:ext cx="9144000" cy="25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048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➢"/>
            </a:pPr>
            <a:r>
              <a:rPr lang="en" sz="1200">
                <a:solidFill>
                  <a:schemeClr val="dk1"/>
                </a:solidFill>
              </a:rPr>
              <a:t>AlphaFold 2 turned protein folding into a </a:t>
            </a:r>
            <a:r>
              <a:rPr lang="en" sz="1200" b="1">
                <a:solidFill>
                  <a:schemeClr val="dk1"/>
                </a:solidFill>
              </a:rPr>
              <a:t>learnable geometric reasoning</a:t>
            </a:r>
            <a:r>
              <a:rPr lang="en" sz="1200">
                <a:solidFill>
                  <a:schemeClr val="dk1"/>
                </a:solidFill>
              </a:rPr>
              <a:t> problem.</a:t>
            </a:r>
            <a:br>
              <a:rPr lang="en" sz="1200">
                <a:solidFill>
                  <a:schemeClr val="dk1"/>
                </a:solidFill>
              </a:rPr>
            </a:br>
            <a:endParaRPr sz="1200">
              <a:solidFill>
                <a:schemeClr val="dk1"/>
              </a:solidFill>
            </a:endParaRPr>
          </a:p>
          <a:p>
            <a:pPr marL="457200" lvl="0" indent="-3048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➢"/>
            </a:pPr>
            <a:r>
              <a:rPr lang="en" sz="1200">
                <a:solidFill>
                  <a:schemeClr val="dk1"/>
                </a:solidFill>
              </a:rPr>
              <a:t>Its success came from combining </a:t>
            </a:r>
            <a:r>
              <a:rPr lang="en" sz="1200" b="1">
                <a:solidFill>
                  <a:schemeClr val="dk1"/>
                </a:solidFill>
              </a:rPr>
              <a:t>co-evolution (1D)</a:t>
            </a:r>
            <a:r>
              <a:rPr lang="en" sz="1200">
                <a:solidFill>
                  <a:schemeClr val="dk1"/>
                </a:solidFill>
              </a:rPr>
              <a:t>, </a:t>
            </a:r>
            <a:r>
              <a:rPr lang="en" sz="1200" b="1">
                <a:solidFill>
                  <a:schemeClr val="dk1"/>
                </a:solidFill>
              </a:rPr>
              <a:t>pairwise reasoning (2D)</a:t>
            </a:r>
            <a:r>
              <a:rPr lang="en" sz="1200">
                <a:solidFill>
                  <a:schemeClr val="dk1"/>
                </a:solidFill>
              </a:rPr>
              <a:t>, and </a:t>
            </a:r>
            <a:r>
              <a:rPr lang="en" sz="1200" b="1">
                <a:solidFill>
                  <a:schemeClr val="dk1"/>
                </a:solidFill>
              </a:rPr>
              <a:t>triangle equivariant updates (3D)</a:t>
            </a:r>
            <a:r>
              <a:rPr lang="en" sz="1200">
                <a:solidFill>
                  <a:schemeClr val="dk1"/>
                </a:solidFill>
              </a:rPr>
              <a:t>.</a:t>
            </a:r>
            <a:br>
              <a:rPr lang="en" sz="1200">
                <a:solidFill>
                  <a:schemeClr val="dk1"/>
                </a:solidFill>
              </a:rPr>
            </a:br>
            <a:endParaRPr sz="1200">
              <a:solidFill>
                <a:schemeClr val="dk1"/>
              </a:solidFill>
            </a:endParaRPr>
          </a:p>
          <a:p>
            <a:pPr marL="457200" lvl="0" indent="-3048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➢"/>
            </a:pPr>
            <a:r>
              <a:rPr lang="en" sz="1200">
                <a:solidFill>
                  <a:schemeClr val="dk1"/>
                </a:solidFill>
              </a:rPr>
              <a:t>The architecture works because its inductive biases</a:t>
            </a:r>
            <a:r>
              <a:rPr lang="en" sz="1200" b="1">
                <a:solidFill>
                  <a:schemeClr val="dk1"/>
                </a:solidFill>
              </a:rPr>
              <a:t> match the biology and the geometry</a:t>
            </a:r>
            <a:r>
              <a:rPr lang="en" sz="1200">
                <a:solidFill>
                  <a:schemeClr val="dk1"/>
                </a:solidFill>
              </a:rPr>
              <a:t>.</a:t>
            </a:r>
            <a:br>
              <a:rPr lang="en" sz="1200">
                <a:solidFill>
                  <a:schemeClr val="dk1"/>
                </a:solidFill>
              </a:rPr>
            </a:br>
            <a:endParaRPr sz="1200">
              <a:solidFill>
                <a:schemeClr val="dk1"/>
              </a:solidFill>
            </a:endParaRPr>
          </a:p>
          <a:p>
            <a:pPr marL="457200" lvl="0" indent="-3048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➢"/>
            </a:pPr>
            <a:r>
              <a:rPr lang="en" sz="1200" b="1">
                <a:solidFill>
                  <a:schemeClr val="dk1"/>
                </a:solidFill>
              </a:rPr>
              <a:t>Confidence prediction (pLDDT)</a:t>
            </a:r>
            <a:r>
              <a:rPr lang="en" sz="1200">
                <a:solidFill>
                  <a:schemeClr val="dk1"/>
                </a:solidFill>
              </a:rPr>
              <a:t> and reproducibility made the approach </a:t>
            </a:r>
            <a:r>
              <a:rPr lang="en" sz="1200" b="1">
                <a:solidFill>
                  <a:schemeClr val="dk1"/>
                </a:solidFill>
              </a:rPr>
              <a:t>scientifically useful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505" name="Google Shape;505;p6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52</a:t>
            </a:fld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65"/>
          <p:cNvSpPr txBox="1"/>
          <p:nvPr/>
        </p:nvSpPr>
        <p:spPr>
          <a:xfrm>
            <a:off x="3720900" y="0"/>
            <a:ext cx="14676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</a:rPr>
              <a:t>References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511" name="Google Shape;511;p65"/>
          <p:cNvSpPr txBox="1"/>
          <p:nvPr/>
        </p:nvSpPr>
        <p:spPr>
          <a:xfrm>
            <a:off x="118950" y="434330"/>
            <a:ext cx="8906100" cy="46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Theory material → </a:t>
            </a:r>
            <a:r>
              <a:rPr lang="en" sz="1100" u="sng" dirty="0">
                <a:solidFill>
                  <a:schemeClr val="hlink"/>
                </a:solidFill>
                <a:hlinkClick r:id="rId3"/>
              </a:rPr>
              <a:t>https://nazimbouatta.scholars.harvard.edu/lectures</a:t>
            </a: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“Highly accurate protein structure prediction with AlphaFold” paper, by Jumper et al. → </a:t>
            </a:r>
            <a:r>
              <a:rPr lang="en" sz="1100" u="sng" dirty="0">
                <a:solidFill>
                  <a:schemeClr val="hlink"/>
                </a:solidFill>
                <a:hlinkClick r:id="rId4"/>
              </a:rPr>
              <a:t>https://www.nature.com/articles/s41586-021-03819-2</a:t>
            </a: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Nobel Prize Talk → </a:t>
            </a:r>
            <a:r>
              <a:rPr lang="en" sz="1100" u="sng" dirty="0">
                <a:solidFill>
                  <a:schemeClr val="hlink"/>
                </a:solidFill>
                <a:hlinkClick r:id="rId5"/>
              </a:rPr>
              <a:t>https://www.youtube.com/live/HnT1VWzdFWc</a:t>
            </a: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CASP challenge blog post → </a:t>
            </a:r>
            <a:r>
              <a:rPr lang="en" sz="1100" u="sng" dirty="0">
                <a:solidFill>
                  <a:schemeClr val="hlink"/>
                </a:solidFill>
                <a:hlinkClick r:id="rId6"/>
              </a:rPr>
              <a:t>https://deepmind.google/blog/alphafold-a-solution-to-a-50-year-old-grand-challenge-in-biology/</a:t>
            </a: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OpenFold repository → </a:t>
            </a:r>
            <a:r>
              <a:rPr lang="en" sz="1100" u="sng" dirty="0">
                <a:solidFill>
                  <a:schemeClr val="hlink"/>
                </a:solidFill>
                <a:hlinkClick r:id="rId7"/>
              </a:rPr>
              <a:t>https://github.com/aqlaboratory/openfold</a:t>
            </a: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“OpenFold: retraining AlphaFold2 yields new insights into its learning mechanisms and capacity for generalization”, by Ahdritz et al. → </a:t>
            </a:r>
            <a:r>
              <a:rPr lang="en" sz="1100" u="sng" dirty="0">
                <a:solidFill>
                  <a:schemeClr val="hlink"/>
                </a:solidFill>
                <a:hlinkClick r:id="rId8"/>
              </a:rPr>
              <a:t>https://www.nature.com/articles/s41592-024-02272-z</a:t>
            </a: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DeepWiki → </a:t>
            </a:r>
            <a:r>
              <a:rPr lang="en" sz="1100" u="sng" dirty="0">
                <a:solidFill>
                  <a:schemeClr val="hlink"/>
                </a:solidFill>
                <a:hlinkClick r:id="rId9"/>
              </a:rPr>
              <a:t>https://deepwiki.com/aqlaboratory/openfold</a:t>
            </a: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“MSA Transformer” by Rao et al. → </a:t>
            </a:r>
            <a:r>
              <a:rPr lang="en" sz="1100" u="sng" dirty="0">
                <a:solidFill>
                  <a:schemeClr val="hlink"/>
                </a:solidFill>
                <a:hlinkClick r:id="rId10"/>
              </a:rPr>
              <a:t>https://www.biorxiv.org/content/10.1101/2021.02.12.430858v1.full</a:t>
            </a: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“E(n) Equivariant Graph Neural Networks”, by Satorras et al. → </a:t>
            </a:r>
            <a:r>
              <a:rPr lang="en" sz="1100" u="sng" dirty="0">
                <a:solidFill>
                  <a:schemeClr val="hlink"/>
                </a:solidFill>
                <a:hlinkClick r:id="rId11"/>
              </a:rPr>
              <a:t>https://arxiv.org/abs/2102.09844</a:t>
            </a: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“Do Transformers Really Perform Bad for Graph Representation?”, by Ying et al. → </a:t>
            </a:r>
            <a:r>
              <a:rPr lang="en" sz="1100" u="sng" dirty="0">
                <a:solidFill>
                  <a:schemeClr val="hlink"/>
                </a:solidFill>
                <a:hlinkClick r:id="rId12"/>
              </a:rPr>
              <a:t>https://arxiv.org/abs/2106.05234</a:t>
            </a: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“CCNet: Criss-Cross Attention for Semantic Segmentation”, by Huang et al. → </a:t>
            </a:r>
            <a:r>
              <a:rPr lang="en" sz="1100" u="sng" dirty="0">
                <a:solidFill>
                  <a:schemeClr val="hlink"/>
                </a:solidFill>
                <a:hlinkClick r:id="rId13"/>
              </a:rPr>
              <a:t>https://arxiv.org/abs/1811.11721</a:t>
            </a: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“Protein Assembly and Building Blocks: Beyond the Limits of the LEGO Brick Metaphor”,  by  Y. Levy → </a:t>
            </a:r>
            <a:r>
              <a:rPr lang="en" sz="1100" u="sng" dirty="0">
                <a:solidFill>
                  <a:schemeClr val="hlink"/>
                </a:solidFill>
                <a:hlinkClick r:id="rId14"/>
              </a:rPr>
              <a:t>https://www.semanticscholar.org/paper/Protein-Assembly-and-Building-Blocks%3A-Beyond-the-of-Levy/86a997321430edf8815f35d5e7254c1b9e7a1dd2</a:t>
            </a: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/>
          </a:p>
        </p:txBody>
      </p:sp>
      <p:sp>
        <p:nvSpPr>
          <p:cNvPr id="512" name="Google Shape;512;p6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>
                <a:solidFill>
                  <a:srgbClr val="000000"/>
                </a:solidFill>
              </a:rPr>
              <a:t>53</a:t>
            </a:fld>
            <a:endParaRPr sz="11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7" name="Google Shape;517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2933</Words>
  <Application>Microsoft Office PowerPoint</Application>
  <PresentationFormat>On-screen Show (16:9)</PresentationFormat>
  <Paragraphs>281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6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Caus, Danu</cp:lastModifiedBy>
  <cp:revision>1</cp:revision>
  <dcterms:modified xsi:type="dcterms:W3CDTF">2026-10-04T09:37:09Z</dcterms:modified>
</cp:coreProperties>
</file>